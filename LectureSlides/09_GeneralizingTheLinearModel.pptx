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308" r:id="rId2"/>
    <p:sldId id="262" r:id="rId3"/>
    <p:sldId id="316" r:id="rId4"/>
    <p:sldId id="263" r:id="rId5"/>
    <p:sldId id="310" r:id="rId6"/>
    <p:sldId id="268" r:id="rId7"/>
    <p:sldId id="332" r:id="rId8"/>
    <p:sldId id="309" r:id="rId9"/>
    <p:sldId id="269" r:id="rId10"/>
    <p:sldId id="311" r:id="rId11"/>
    <p:sldId id="312" r:id="rId12"/>
    <p:sldId id="313" r:id="rId13"/>
    <p:sldId id="314" r:id="rId14"/>
    <p:sldId id="270" r:id="rId15"/>
    <p:sldId id="330" r:id="rId16"/>
    <p:sldId id="315" r:id="rId17"/>
    <p:sldId id="317" r:id="rId18"/>
    <p:sldId id="271" r:id="rId19"/>
    <p:sldId id="272" r:id="rId20"/>
    <p:sldId id="274" r:id="rId21"/>
    <p:sldId id="275" r:id="rId22"/>
    <p:sldId id="273" r:id="rId23"/>
    <p:sldId id="276" r:id="rId24"/>
    <p:sldId id="277" r:id="rId25"/>
    <p:sldId id="318" r:id="rId26"/>
    <p:sldId id="278" r:id="rId27"/>
    <p:sldId id="279" r:id="rId28"/>
    <p:sldId id="319" r:id="rId29"/>
    <p:sldId id="333" r:id="rId30"/>
    <p:sldId id="281" r:id="rId31"/>
    <p:sldId id="282" r:id="rId32"/>
    <p:sldId id="334" r:id="rId33"/>
    <p:sldId id="283" r:id="rId34"/>
    <p:sldId id="321" r:id="rId35"/>
    <p:sldId id="323" r:id="rId36"/>
    <p:sldId id="324" r:id="rId37"/>
    <p:sldId id="322" r:id="rId38"/>
    <p:sldId id="335" r:id="rId39"/>
    <p:sldId id="288" r:id="rId40"/>
    <p:sldId id="289" r:id="rId41"/>
    <p:sldId id="325" r:id="rId42"/>
    <p:sldId id="299" r:id="rId43"/>
    <p:sldId id="290" r:id="rId44"/>
    <p:sldId id="348" r:id="rId45"/>
    <p:sldId id="292" r:id="rId46"/>
    <p:sldId id="293" r:id="rId47"/>
    <p:sldId id="294" r:id="rId48"/>
    <p:sldId id="347" r:id="rId49"/>
    <p:sldId id="349" r:id="rId50"/>
    <p:sldId id="291" r:id="rId51"/>
    <p:sldId id="326" r:id="rId52"/>
    <p:sldId id="336" r:id="rId53"/>
    <p:sldId id="302" r:id="rId54"/>
    <p:sldId id="331" r:id="rId55"/>
    <p:sldId id="303" r:id="rId56"/>
    <p:sldId id="304" r:id="rId57"/>
    <p:sldId id="305" r:id="rId58"/>
    <p:sldId id="306" r:id="rId59"/>
    <p:sldId id="338" r:id="rId60"/>
    <p:sldId id="340" r:id="rId61"/>
    <p:sldId id="339" r:id="rId62"/>
    <p:sldId id="344" r:id="rId63"/>
    <p:sldId id="345" r:id="rId64"/>
    <p:sldId id="343" r:id="rId65"/>
    <p:sldId id="346" r:id="rId66"/>
    <p:sldId id="342" r:id="rId67"/>
    <p:sldId id="337" r:id="rId68"/>
    <p:sldId id="341" r:id="rId69"/>
    <p:sldId id="327" r:id="rId70"/>
    <p:sldId id="307" r:id="rId7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662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A2D0-143A-5033-A151-C00AE65F2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2EC15-735D-51A5-B4B3-92246BC7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ED2B2-61AA-73A3-8092-15345BC9A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4F46F-5F83-B736-7BED-F5607764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9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en.wikipedia.org/wiki/Ordinal_regression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en.wikipedia.org/wiki/Iverson_bracket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ogistic_distribution" TargetMode="External"/><Relationship Id="rId2" Type="http://schemas.openxmlformats.org/officeDocument/2006/relationships/hyperlink" Target="https://en.wikipedia.org/wiki/Ordered_lo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ordinal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 value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Example: Ranked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741" t="-1752" b="-7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Can formulate GLM</a:t>
            </a:r>
            <a:r>
              <a:rPr dirty="0"/>
              <a:t> for </a:t>
            </a:r>
            <a:r>
              <a:rPr lang="en-US" dirty="0"/>
              <a:t>any response in the </a:t>
            </a:r>
            <a:r>
              <a:rPr dirty="0"/>
              <a:t>exponential distribution</a:t>
            </a:r>
            <a:r>
              <a:rPr lang="en-US" dirty="0"/>
              <a:t> family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General form for </a:t>
                </a:r>
                <a:r>
                  <a:rPr lang="en-US" b="1" dirty="0"/>
                  <a:t>link function to transform to a Normally distributed response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ar-AE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Fit a linear a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vector value model coefficients by transforming the response with a link faction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To find the value of the response variable from the </a:t>
                </a:r>
                <a:r>
                  <a:rPr lang="en-US" b="1" dirty="0"/>
                  <a:t>linear model </a:t>
                </a:r>
                <a:r>
                  <a:rPr lang="en-US" dirty="0"/>
                  <a:t>we apply the </a:t>
                </a:r>
                <a:r>
                  <a:rPr lang="en-US" b="1" dirty="0"/>
                  <a:t>inverse link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72997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72997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518185" y="1699953"/>
            <a:ext cx="3917550" cy="4773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464879" y="2966163"/>
            <a:ext cx="1019837" cy="13522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b="1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Binary Responses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</a:t>
            </a:r>
            <a:r>
              <a:rPr lang="en-US" sz="3200" dirty="0"/>
              <a:t>Binary Response</a:t>
            </a:r>
            <a:endParaRPr sz="3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</a:t>
            </a:r>
            <a:r>
              <a:rPr lang="en-US" sz="1800" dirty="0"/>
              <a:t>a binary </a:t>
            </a:r>
            <a:r>
              <a:rPr lang="en-US" sz="1800" dirty="0" err="1"/>
              <a:t>respose</a:t>
            </a:r>
            <a:r>
              <a:rPr sz="1800" dirty="0"/>
              <a:t>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adjusted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F-test, or other significance tests</a:t>
                </a:r>
              </a:p>
              <a:p>
                <a:pPr lvl="0"/>
                <a:r>
                  <a:rPr lang="en-US" dirty="0"/>
                  <a:t>Since GLMs have nonlinear responses we must use another approach, </a:t>
                </a:r>
                <a:r>
                  <a:rPr lang="en-US" b="1" dirty="0"/>
                  <a:t>deviance</a:t>
                </a:r>
                <a:r>
                  <a:rPr lang="en-US" dirty="0"/>
                  <a:t>, for evaluation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simple terms, deviance is </a:t>
                </a:r>
                <a:r>
                  <a:rPr lang="en-US" b="1" dirty="0"/>
                  <a:t>2 times the 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by defining some notation</a:t>
                </a:r>
              </a:p>
              <a:p>
                <a:pPr lvl="1"/>
                <a:r>
                  <a:rPr lang="en-US" dirty="0"/>
                  <a:t>The likelihood of the model is written </a:t>
                </a:r>
                <a14:m>
                  <m:oMath xmlns:m="http://schemas.openxmlformats.org/officeDocument/2006/math">
                    <m:r>
                      <a:rPr lang="ar-A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likelihood of the reference model is written,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Rearranging terms gives the typical formulation of deviance </a:t>
                </a:r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Residuals are the </a:t>
                </a:r>
                <a:r>
                  <a:rPr lang="en-US" dirty="0" err="1"/>
                  <a:t>diference</a:t>
                </a:r>
                <a:r>
                  <a:rPr lang="en-US" dirty="0"/>
                  <a:t> between the perfect fit and the model fit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deviance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We apply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 to the difference of null and residual deviance to determine significance of the model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2329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62749-E9EF-79D9-CEDC-2C25A5E70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4CC48-4444-2C88-28A1-F7868963A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Residual Deviance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44E43-7E1D-35AB-CE59-B24D64BD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669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Residual deviance</a:t>
            </a:r>
            <a:r>
              <a:rPr lang="en-US" dirty="0"/>
              <a:t> uses a </a:t>
            </a:r>
            <a:r>
              <a:rPr lang="en-US" b="1" dirty="0"/>
              <a:t>saturated model</a:t>
            </a:r>
            <a:r>
              <a:rPr lang="en-US" dirty="0"/>
              <a:t> as a reference</a:t>
            </a:r>
          </a:p>
          <a:p>
            <a:r>
              <a:rPr lang="en-US" dirty="0"/>
              <a:t>Saturated model has a degree of freedom (parameter) for each observation used to fit</a:t>
            </a:r>
          </a:p>
          <a:p>
            <a:r>
              <a:rPr lang="en-US" dirty="0"/>
              <a:t>Model has a perfect fit to training data</a:t>
            </a:r>
          </a:p>
          <a:p>
            <a:r>
              <a:rPr lang="en-US" dirty="0"/>
              <a:t>But poor </a:t>
            </a:r>
            <a:r>
              <a:rPr lang="en-US" b="1" dirty="0"/>
              <a:t>generalization</a:t>
            </a:r>
            <a:r>
              <a:rPr lang="en-US" dirty="0"/>
              <a:t> or accuracy for new observations</a:t>
            </a:r>
          </a:p>
        </p:txBody>
      </p:sp>
    </p:spTree>
    <p:extLst>
      <p:ext uri="{BB962C8B-B14F-4D97-AF65-F5344CB8AC3E}">
        <p14:creationId xmlns:p14="http://schemas.microsoft.com/office/powerpoint/2010/main" val="199555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cases,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970E-6073-DE47-4325-947568798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F4D85-89AA-A0D0-35C7-E90A3BF2F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Null Deviance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6E5553-7E60-9818-80E3-C217280CBD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Null model explains none of the variance of the data</a:t>
                </a:r>
              </a:p>
              <a:p>
                <a:r>
                  <a:rPr lang="en-US" dirty="0"/>
                  <a:t>Example: for Normally distributed response null model is the mean of response vector, e.g. the intercept term</a:t>
                </a:r>
              </a:p>
              <a:p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</a:p>
              <a:p>
                <a:r>
                  <a:rPr lang="en-US" b="1" dirty="0"/>
                  <a:t>Null Deviance </a:t>
                </a:r>
                <a:r>
                  <a:rPr lang="en-US" dirty="0"/>
                  <a:t>is computed for the </a:t>
                </a:r>
                <a:r>
                  <a:rPr lang="en-US" dirty="0" err="1"/>
                  <a:t>satuated</a:t>
                </a:r>
                <a:r>
                  <a:rPr lang="en-US" dirty="0"/>
                  <a:t> model with respect to the null model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6E5553-7E60-9818-80E3-C217280CBD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1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35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2B4C-A29C-CE44-9BFC-645662813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557DA-63E0-D900-F0BF-64C0CD2CD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Likelihood Ratio Test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710F15-D525-A089-7470-FDBD1E38F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Likelihood ratio test statistic </a:t>
                </a:r>
                <a:r>
                  <a:rPr lang="en-US" dirty="0"/>
                  <a:t>is the difference between null deviance and residual deviance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observations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for the null model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for the model  </a:t>
                </a:r>
              </a:p>
              <a:p>
                <a:pPr lvl="1"/>
                <a:r>
                  <a:rPr lang="en-US" dirty="0"/>
                  <a:t>The difference is then just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DoF</a:t>
                </a:r>
              </a:p>
              <a:p>
                <a:pPr lvl="1"/>
                <a:endParaRPr lang="ar-A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710F15-D525-A089-7470-FDBD1E38F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1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42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Likelihood Ratio Test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deviance statistic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0"/>
                <a:r>
                  <a:rPr lang="en-US" dirty="0"/>
                  <a:t>Can apply a significance test on a model</a:t>
                </a:r>
              </a:p>
              <a:p>
                <a:pPr lvl="0"/>
                <a:r>
                  <a:rPr lang="en-US" dirty="0"/>
                  <a:t>A model with small difference is little better that informed guessing</a:t>
                </a:r>
              </a:p>
              <a:p>
                <a:pPr lvl="1"/>
                <a:r>
                  <a:rPr lang="en-US"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is </a:t>
                </a:r>
                <a:r>
                  <a:rPr lang="en-US" b="1" dirty="0"/>
                  <a:t>not significantly different </a:t>
                </a:r>
                <a:r>
                  <a:rPr lang="en-US" dirty="0"/>
                  <a:t>than the reference model</a:t>
                </a:r>
              </a:p>
              <a:p>
                <a:pPr lvl="0"/>
                <a:r>
                  <a:rPr lang="en-US" dirty="0"/>
                  <a:t>A model with </a:t>
                </a:r>
                <a:r>
                  <a:rPr lang="en-US"/>
                  <a:t>large difference </a:t>
                </a:r>
                <a:r>
                  <a:rPr lang="en-US" dirty="0"/>
                  <a:t>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Exhibits a </a:t>
                </a:r>
                <a:r>
                  <a:rPr lang="en-US" b="1" dirty="0"/>
                  <a:t>statistically significant improvement </a:t>
                </a:r>
                <a:r>
                  <a:rPr lang="en-US" dirty="0"/>
                  <a:t>in accuracy compared to reference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Residual 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null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b="1" i="1">
                            <a:latin typeface="Cambria Math" panose="02040503050406030204" pitchFamily="18" charset="0"/>
                          </a:rPr>
                          <m:t>𝛃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b="1" i="1">
                              <a:latin typeface="Cambria Math" panose="02040503050406030204" pitchFamily="18" charset="0"/>
                            </a:rPr>
                            <m:t>𝛃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b="1" i="1">
                                      <a:latin typeface="Cambria Math" panose="02040503050406030204" pitchFamily="18" charset="0"/>
                                    </a:rPr>
                                    <m:t>𝛃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 err="1"/>
                  <a:t>Intersept</a:t>
                </a:r>
                <a:r>
                  <a:rPr lang="en-US" dirty="0"/>
                  <a:t>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233982" y="4354676"/>
            <a:ext cx="1626491" cy="2662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070E2-70F7-A018-6E47-2030E69C1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Ordinal variables are commonly encountered </a:t>
            </a:r>
          </a:p>
          <a:p>
            <a:pPr lvl="0"/>
            <a:r>
              <a:rPr lang="en-US" dirty="0"/>
              <a:t>Levels in online reviews; e.g. 1-5 stars</a:t>
            </a:r>
          </a:p>
          <a:p>
            <a:pPr lvl="0"/>
            <a:r>
              <a:rPr lang="en-US" dirty="0"/>
              <a:t>Satisfaction levels in surveys; e.g. very dissatisfied, dissatisfied, okay, satisfied, very satisfied    </a:t>
            </a:r>
          </a:p>
          <a:p>
            <a:pPr lvl="0"/>
            <a:r>
              <a:rPr lang="en-US" dirty="0"/>
              <a:t>Bond ratings; AAA, AA+, AA, AA-, A+, A, A-, ….</a:t>
            </a:r>
          </a:p>
          <a:p>
            <a:pPr lvl="0"/>
            <a:r>
              <a:rPr lang="en-US" dirty="0"/>
              <a:t>Grades at Harvard University, A, A-, B+, B, B-, … </a:t>
            </a:r>
          </a:p>
          <a:p>
            <a:pPr lvl="0"/>
            <a:r>
              <a:rPr lang="en-US" dirty="0"/>
              <a:t>And many more…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to we deal with rank as a response variable?  </a:t>
                </a:r>
              </a:p>
              <a:p>
                <a:pPr lvl="0"/>
                <a:r>
                  <a:rPr lang="en-US" dirty="0"/>
                  <a:t>The rank in the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Ranks do not have numeric variables  </a:t>
                </a:r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ranks from range of the log odds</a:t>
                </a:r>
              </a:p>
              <a:p>
                <a:pPr lvl="1"/>
                <a:r>
                  <a:rPr lang="en-US" dirty="0"/>
                  <a:t>Probit model estimates ranks from ranges of the CDF of the normal distribution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29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9AF8-25BB-3132-9B5A-4F1FBD5E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F13C-0089-D0B2-3D87-51B73163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probit model </a:t>
                </a:r>
                <a:r>
                  <a:rPr lang="en-US" dirty="0"/>
                  <a:t>is formulated as a GLM </a:t>
                </a:r>
              </a:p>
              <a:p>
                <a:pPr lvl="0"/>
                <a:r>
                  <a:rPr lang="en-US" dirty="0"/>
                  <a:t>Given observation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, response,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and model parameter vector,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dirty="0"/>
                  <a:t>, we can define a set of thresholds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a model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model sets thresholds on the </a:t>
                </a:r>
                <a:r>
                  <a:rPr lang="en-US" b="1" dirty="0"/>
                  <a:t>cumulative distribution function (CDF)</a:t>
                </a:r>
                <a:r>
                  <a:rPr lang="en-US" dirty="0"/>
                  <a:t> of the linear model 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73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C5F53-5048-9C7C-C417-62762B61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53DD1-3795-9AF9-3CA7-0F9F2597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ordered probit model is formulated as a GLM </a:t>
                </a:r>
              </a:p>
              <a:p>
                <a:pPr lvl="0"/>
                <a:r>
                  <a:rPr lang="en-US" dirty="0"/>
                  <a:t>Given the logistic inverse link function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latent since it is a computed value and cannot be observed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US" dirty="0"/>
                  <a:t>, a zero-centered normally distributed residual   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97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C0B9-E721-649D-60BA-9A45C7EF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4AFA6-1E05-7368-3C7E-D72A1F21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 probit model uses thresholds on a latent variable</a:t>
                </a:r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thresholds,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to the latent variable we can estimate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of the response,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1111" t="-2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45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ECAC0-FBCC-B2A7-27B8-6A2122C9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9B3D-D43B-4317-702E-12706370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fit the ordered probit model by </a:t>
                </a:r>
                <a:r>
                  <a:rPr lang="en-US" b="1" dirty="0"/>
                  <a:t>maximizing the log likelihood </a:t>
                </a:r>
              </a:p>
              <a:p>
                <a:r>
                  <a:rPr lang="en-US" dirty="0"/>
                  <a:t>Given the foregoing, we can work out the conditional distribution of the linear response,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Normal CDF,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r>
                  <a:rPr lang="en-US" dirty="0"/>
                  <a:t>,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log likelihood  for a single training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,is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an </a:t>
                </a:r>
                <a:r>
                  <a:rPr lang="en-US" dirty="0">
                    <a:hlinkClick r:id="rId2"/>
                  </a:rPr>
                  <a:t>Iverson bracket </a:t>
                </a:r>
                <a:r>
                  <a:rPr lang="en-US" dirty="0"/>
                  <a:t>for the discrete response for the response in the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3"/>
                <a:stretch>
                  <a:fillRect l="-963" t="-2707" r="-1630" b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67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1743-5875-BD53-F2EA-2B4B47D9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B323-2ACC-B70F-17DC-69440F929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logit model </a:t>
                </a:r>
                <a:r>
                  <a:rPr lang="en-US" dirty="0"/>
                  <a:t>is based on log proportional odds</a:t>
                </a:r>
              </a:p>
              <a:p>
                <a:pPr lvl="0"/>
                <a:r>
                  <a:rPr lang="en-US" dirty="0"/>
                  <a:t>For n-level ordered ranks,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for observation,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 can define the ordered log odds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ordered logit model is then constructed by imposing a set of </a:t>
                </a:r>
                <a:r>
                  <a:rPr lang="en-US" b="1" dirty="0"/>
                  <a:t>thresholds on a latent variable</a:t>
                </a:r>
                <a:r>
                  <a:rPr lang="en-US" dirty="0"/>
                  <a:t>, but with the error term,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is assumed to follow a standard </a:t>
                </a:r>
                <a:r>
                  <a:rPr lang="en-US" dirty="0">
                    <a:hlinkClick r:id="rId3"/>
                  </a:rPr>
                  <a:t>logistic distribution </a:t>
                </a:r>
                <a:endParaRPr lang="en-US" b="1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  <a:blipFill>
                <a:blip r:embed="rId4"/>
                <a:stretch>
                  <a:fillRect l="-741" t="-2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DF9F-0D35-8607-ECFE-29787603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1BC6E-6224-5F9F-39DD-4192D8F4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7750-2A74-A281-31F4-891FD144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81283262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8184</TotalTime>
  <Words>4133</Words>
  <Application>Microsoft Office PowerPoint</Application>
  <PresentationFormat>On-screen Show (16:9)</PresentationFormat>
  <Paragraphs>502</Paragraphs>
  <Slides>70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5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Binary Responses</vt:lpstr>
      <vt:lpstr>Evaluation of Binary Response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Properties of Deviance</vt:lpstr>
      <vt:lpstr>What is Deviance?</vt:lpstr>
      <vt:lpstr>Residual Deviance</vt:lpstr>
      <vt:lpstr>Residual Deviance</vt:lpstr>
      <vt:lpstr>Residual Deviance</vt:lpstr>
      <vt:lpstr>Residual Deviance</vt:lpstr>
      <vt:lpstr>Null Deviance</vt:lpstr>
      <vt:lpstr>Likelihood Ratio Test</vt:lpstr>
      <vt:lpstr>Likelihood Ratio Test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260</cp:revision>
  <dcterms:created xsi:type="dcterms:W3CDTF">2024-08-16T02:30:27Z</dcterms:created>
  <dcterms:modified xsi:type="dcterms:W3CDTF">2026-10-07T15:27:50Z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