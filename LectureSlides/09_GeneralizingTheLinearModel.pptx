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308" r:id="rId2"/>
    <p:sldId id="257" r:id="rId3"/>
    <p:sldId id="328" r:id="rId4"/>
    <p:sldId id="258" r:id="rId5"/>
    <p:sldId id="260" r:id="rId6"/>
    <p:sldId id="329" r:id="rId7"/>
    <p:sldId id="262" r:id="rId8"/>
    <p:sldId id="316" r:id="rId9"/>
    <p:sldId id="263" r:id="rId10"/>
    <p:sldId id="310" r:id="rId11"/>
    <p:sldId id="268" r:id="rId12"/>
    <p:sldId id="332" r:id="rId13"/>
    <p:sldId id="309" r:id="rId14"/>
    <p:sldId id="269" r:id="rId15"/>
    <p:sldId id="311" r:id="rId16"/>
    <p:sldId id="312" r:id="rId17"/>
    <p:sldId id="313" r:id="rId18"/>
    <p:sldId id="314" r:id="rId19"/>
    <p:sldId id="270" r:id="rId20"/>
    <p:sldId id="330" r:id="rId21"/>
    <p:sldId id="315" r:id="rId22"/>
    <p:sldId id="317" r:id="rId23"/>
    <p:sldId id="271" r:id="rId24"/>
    <p:sldId id="272" r:id="rId25"/>
    <p:sldId id="274" r:id="rId26"/>
    <p:sldId id="275" r:id="rId27"/>
    <p:sldId id="273" r:id="rId28"/>
    <p:sldId id="276" r:id="rId29"/>
    <p:sldId id="277" r:id="rId30"/>
    <p:sldId id="318" r:id="rId31"/>
    <p:sldId id="278" r:id="rId32"/>
    <p:sldId id="279" r:id="rId33"/>
    <p:sldId id="319" r:id="rId34"/>
    <p:sldId id="333" r:id="rId35"/>
    <p:sldId id="281" r:id="rId36"/>
    <p:sldId id="282" r:id="rId37"/>
    <p:sldId id="334" r:id="rId38"/>
    <p:sldId id="283" r:id="rId39"/>
    <p:sldId id="321" r:id="rId40"/>
    <p:sldId id="323" r:id="rId41"/>
    <p:sldId id="324" r:id="rId42"/>
    <p:sldId id="322" r:id="rId43"/>
    <p:sldId id="335" r:id="rId44"/>
    <p:sldId id="288" r:id="rId45"/>
    <p:sldId id="289" r:id="rId46"/>
    <p:sldId id="325" r:id="rId47"/>
    <p:sldId id="290" r:id="rId48"/>
    <p:sldId id="291" r:id="rId49"/>
    <p:sldId id="292" r:id="rId50"/>
    <p:sldId id="293" r:id="rId51"/>
    <p:sldId id="294" r:id="rId52"/>
    <p:sldId id="299" r:id="rId53"/>
    <p:sldId id="326" r:id="rId54"/>
    <p:sldId id="336" r:id="rId55"/>
    <p:sldId id="302" r:id="rId56"/>
    <p:sldId id="331" r:id="rId57"/>
    <p:sldId id="303" r:id="rId58"/>
    <p:sldId id="304" r:id="rId59"/>
    <p:sldId id="305" r:id="rId60"/>
    <p:sldId id="306" r:id="rId61"/>
    <p:sldId id="338" r:id="rId62"/>
    <p:sldId id="339" r:id="rId63"/>
    <p:sldId id="340" r:id="rId64"/>
    <p:sldId id="337" r:id="rId65"/>
    <p:sldId id="327" r:id="rId66"/>
    <p:sldId id="307" r:id="rId6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3" d="100"/>
          <a:sy n="93" d="100"/>
        </p:scale>
        <p:origin x="53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Linear models are a flexible and widely used class of models</a:t>
            </a:r>
          </a:p>
          <a:p>
            <a:pPr lvl="0"/>
            <a:r>
              <a:rPr lang="en-US" dirty="0"/>
              <a:t>Fit model coefficients by </a:t>
            </a:r>
            <a:r>
              <a:rPr lang="en-US" b="1" dirty="0"/>
              <a:t>least squares</a:t>
            </a:r>
            <a:r>
              <a:rPr lang="en-US" dirty="0"/>
              <a:t> estimation</a:t>
            </a:r>
          </a:p>
          <a:p>
            <a:pPr lvl="1"/>
            <a:r>
              <a:rPr lang="en-US" dirty="0"/>
              <a:t>Least squares computes maximum likelihood </a:t>
            </a:r>
            <a:r>
              <a:rPr lang="en-US" b="1" dirty="0"/>
              <a:t>point estimate </a:t>
            </a:r>
          </a:p>
          <a:p>
            <a:pPr lvl="1"/>
            <a:r>
              <a:rPr lang="en-US" dirty="0"/>
              <a:t>Produces Normally distributed residuals</a:t>
            </a:r>
          </a:p>
          <a:p>
            <a:pPr lvl="0"/>
            <a:r>
              <a:rPr lang="en-US" dirty="0"/>
              <a:t>Can use many types of predictor variables, linear and nonlinear</a:t>
            </a:r>
          </a:p>
          <a:p>
            <a:pPr lvl="1"/>
            <a:r>
              <a:rPr lang="en-US" b="1" dirty="0"/>
              <a:t>Model is linear in parameters</a:t>
            </a:r>
            <a:endParaRPr lang="ar-AE" b="1" dirty="0"/>
          </a:p>
          <a:p>
            <a:pPr lvl="0"/>
            <a:r>
              <a:rPr lang="en-US" dirty="0"/>
              <a:t>We prefer the simplest model that does the job</a:t>
            </a:r>
          </a:p>
          <a:p>
            <a:pPr lvl="1"/>
            <a:r>
              <a:rPr lang="en-US" dirty="0"/>
              <a:t>Parsimonious model has the fewest parameters required to explain the data</a:t>
            </a:r>
          </a:p>
          <a:p>
            <a:pPr lvl="1"/>
            <a:r>
              <a:rPr lang="en-US" dirty="0"/>
              <a:t>The principle of </a:t>
            </a:r>
            <a:r>
              <a:rPr lang="en-US" b="1" dirty="0"/>
              <a:t>Occam’s razor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5E0C-230E-A1DA-22EE-8125D462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B3934-5528-A0FF-93FF-90091BE0A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803B6-BEF1-D7FF-3A7D-CBEBF018D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94518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Linear models are interpretable and idea for inference</a:t>
            </a:r>
          </a:p>
          <a:p>
            <a:pPr lvl="0"/>
            <a:r>
              <a:rPr lang="en-US" dirty="0"/>
              <a:t>Repose to changes in independent variables is predictable</a:t>
            </a:r>
          </a:p>
          <a:p>
            <a:pPr lvl="1"/>
            <a:r>
              <a:rPr lang="en-US" dirty="0"/>
              <a:t>Model parameters provide </a:t>
            </a:r>
            <a:r>
              <a:rPr lang="en-US" b="1" dirty="0"/>
              <a:t>quantitative sensitivity </a:t>
            </a:r>
            <a:r>
              <a:rPr lang="en-US" dirty="0"/>
              <a:t>to changes in independent variables </a:t>
            </a:r>
          </a:p>
          <a:p>
            <a:pPr lvl="0"/>
            <a:r>
              <a:rPr lang="en-US" dirty="0"/>
              <a:t>Model fit can be tested</a:t>
            </a:r>
          </a:p>
          <a:p>
            <a:pPr lvl="1"/>
            <a:r>
              <a:rPr lang="en-US" dirty="0"/>
              <a:t>Reject hypothesis of null model</a:t>
            </a:r>
          </a:p>
          <a:p>
            <a:pPr lvl="1"/>
            <a:r>
              <a:rPr lang="en-US" dirty="0"/>
              <a:t>Reject hypothesis of non-significant model coefficients </a:t>
            </a:r>
          </a:p>
          <a:p>
            <a:pPr lvl="1"/>
            <a:r>
              <a:rPr lang="en-US" dirty="0"/>
              <a:t>Compare models by variance explained, properties of residuals and confidence intervals of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30034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When evaluating any machine learning model consider </a:t>
            </a:r>
            <a:r>
              <a:rPr b="1" dirty="0"/>
              <a:t>all evaluation methods available</a:t>
            </a:r>
          </a:p>
          <a:p>
            <a:pPr lvl="0"/>
            <a:r>
              <a:rPr dirty="0"/>
              <a:t>No one method best all of the time</a:t>
            </a:r>
          </a:p>
          <a:p>
            <a:pPr lvl="0"/>
            <a:r>
              <a:rPr lang="en-US" dirty="0"/>
              <a:t>Test for h</a:t>
            </a:r>
            <a:r>
              <a:rPr dirty="0"/>
              <a:t>omoscedastic Normally distributed residuals</a:t>
            </a:r>
            <a:endParaRPr lang="en-US" dirty="0"/>
          </a:p>
          <a:p>
            <a:pPr lvl="1"/>
            <a:r>
              <a:rPr lang="en-US" dirty="0"/>
              <a:t>Residual Plots</a:t>
            </a:r>
          </a:p>
          <a:p>
            <a:pPr lvl="1"/>
            <a:r>
              <a:rPr lang="en-US" dirty="0"/>
              <a:t>Formal tests – Omnibus, Jarque-Bera, etc. </a:t>
            </a:r>
            <a:endParaRPr dirty="0"/>
          </a:p>
          <a:p>
            <a:pPr lvl="0"/>
            <a:r>
              <a:rPr lang="en-US" dirty="0"/>
              <a:t>Are</a:t>
            </a:r>
            <a:r>
              <a:rPr dirty="0"/>
              <a:t> model and its coefficients </a:t>
            </a:r>
            <a:r>
              <a:rPr lang="en-US" dirty="0"/>
              <a:t>statistically </a:t>
            </a:r>
            <a:r>
              <a:rPr dirty="0"/>
              <a:t>significant?</a:t>
            </a:r>
          </a:p>
          <a:p>
            <a:pPr lvl="1"/>
            <a:r>
              <a:rPr dirty="0"/>
              <a:t>F</a:t>
            </a:r>
            <a:r>
              <a:rPr lang="en-US" dirty="0"/>
              <a:t>-</a:t>
            </a:r>
            <a:r>
              <a:rPr dirty="0"/>
              <a:t>test </a:t>
            </a:r>
            <a:r>
              <a:rPr lang="en-US" dirty="0"/>
              <a:t>on model significance</a:t>
            </a:r>
            <a:endParaRPr dirty="0"/>
          </a:p>
          <a:p>
            <a:pPr lvl="1"/>
            <a:r>
              <a:rPr dirty="0"/>
              <a:t>t-test on model parameter </a:t>
            </a:r>
            <a:r>
              <a:rPr lang="en-US" dirty="0"/>
              <a:t>significance</a:t>
            </a:r>
            <a:endParaRPr dirty="0"/>
          </a:p>
          <a:p>
            <a:pPr lvl="0"/>
            <a:r>
              <a:rPr b="1" dirty="0"/>
              <a:t>Different methods highlight different problems</a:t>
            </a:r>
            <a:r>
              <a:rPr dirty="0"/>
              <a:t> with your model</a:t>
            </a:r>
          </a:p>
          <a:p>
            <a:pPr lvl="0"/>
            <a:r>
              <a:rPr dirty="0"/>
              <a:t>Don’t forget to check that the </a:t>
            </a:r>
            <a:r>
              <a:rPr b="1" dirty="0"/>
              <a:t>model must make sense</a:t>
            </a:r>
            <a:r>
              <a:rPr dirty="0"/>
              <a:t> for your application!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There are a number of assumptions in linear models that you overlook at your peril!</a:t>
            </a:r>
          </a:p>
          <a:p>
            <a:pPr lvl="0"/>
            <a:r>
              <a:rPr dirty="0"/>
              <a:t>The </a:t>
            </a:r>
            <a:r>
              <a:rPr lang="en-US" dirty="0"/>
              <a:t>independent</a:t>
            </a:r>
            <a:r>
              <a:rPr dirty="0"/>
              <a:t> or predictor variables should be </a:t>
            </a:r>
            <a:r>
              <a:rPr b="1" dirty="0"/>
              <a:t>independent</a:t>
            </a:r>
            <a:r>
              <a:rPr dirty="0"/>
              <a:t> of one another</a:t>
            </a:r>
          </a:p>
          <a:p>
            <a:pPr lvl="1"/>
            <a:r>
              <a:rPr dirty="0"/>
              <a:t>This is rarely true in practice</a:t>
            </a:r>
          </a:p>
          <a:p>
            <a:pPr lvl="1"/>
            <a:r>
              <a:rPr b="1" dirty="0"/>
              <a:t>Multi-collinearity</a:t>
            </a:r>
            <a:r>
              <a:rPr dirty="0"/>
              <a:t> between features makes the model </a:t>
            </a:r>
            <a:r>
              <a:rPr b="1" dirty="0"/>
              <a:t>under-determined</a:t>
            </a:r>
          </a:p>
          <a:p>
            <a:pPr lvl="0"/>
            <a:r>
              <a:rPr dirty="0"/>
              <a:t>We </a:t>
            </a:r>
            <a:r>
              <a:rPr lang="en-US" dirty="0"/>
              <a:t>want </a:t>
            </a:r>
            <a:r>
              <a:rPr dirty="0"/>
              <a:t>numeric features or predictors have </a:t>
            </a:r>
            <a:r>
              <a:rPr b="1" dirty="0"/>
              <a:t>zero mean</a:t>
            </a:r>
            <a:r>
              <a:rPr dirty="0"/>
              <a:t> and about the </a:t>
            </a:r>
            <a:r>
              <a:rPr b="1" dirty="0"/>
              <a:t>same scale</a:t>
            </a:r>
          </a:p>
          <a:p>
            <a:pPr lvl="1"/>
            <a:r>
              <a:rPr lang="en-US" dirty="0"/>
              <a:t>Intercept is the mean of the response variable</a:t>
            </a:r>
          </a:p>
          <a:p>
            <a:pPr lvl="1"/>
            <a:r>
              <a:rPr lang="en-US" dirty="0"/>
              <a:t>Predictors </a:t>
            </a:r>
            <a:r>
              <a:rPr dirty="0"/>
              <a:t>with a large numeric range </a:t>
            </a:r>
            <a:r>
              <a:rPr lang="en-US" dirty="0"/>
              <a:t>must not </a:t>
            </a:r>
            <a:r>
              <a:rPr dirty="0"/>
              <a:t>dominate training</a:t>
            </a:r>
          </a:p>
          <a:p>
            <a:pPr lvl="0"/>
            <a:r>
              <a:rPr dirty="0"/>
              <a:t>Values of each predictor or </a:t>
            </a:r>
            <a:r>
              <a:rPr lang="en-US" dirty="0"/>
              <a:t>independent variables</a:t>
            </a:r>
            <a:r>
              <a:rPr dirty="0"/>
              <a:t> should be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If variance changes with sample, the coefficient </a:t>
            </a:r>
            <a:r>
              <a:rPr lang="en-US" dirty="0"/>
              <a:t>can</a:t>
            </a:r>
            <a:r>
              <a:rPr dirty="0"/>
              <a:t>not</a:t>
            </a:r>
            <a:r>
              <a:rPr lang="en-US" dirty="0"/>
              <a:t> be</a:t>
            </a:r>
            <a:r>
              <a:rPr dirty="0"/>
              <a:t> constant</a:t>
            </a:r>
          </a:p>
          <a:p>
            <a:pPr lvl="1"/>
            <a:r>
              <a:rPr dirty="0"/>
              <a:t>If </a:t>
            </a:r>
            <a:r>
              <a:rPr lang="en-US" dirty="0"/>
              <a:t>predictor values have </a:t>
            </a:r>
            <a:r>
              <a:rPr b="1" dirty="0"/>
              <a:t>serial correlation</a:t>
            </a:r>
            <a:r>
              <a:rPr dirty="0"/>
              <a:t> the </a:t>
            </a:r>
            <a:r>
              <a:rPr dirty="0" err="1"/>
              <a:t>iid</a:t>
            </a:r>
            <a:r>
              <a:rPr dirty="0"/>
              <a:t> assumption is violated - use time series models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3FD5D-2916-D92A-E234-E7CBB1C5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9C41-4EF1-29A0-34CF-4C4EBDBB4D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52065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2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Use GLM framework</a:t>
            </a:r>
            <a:r>
              <a:rPr dirty="0"/>
              <a:t> for all exponential family response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General form for </a:t>
                </a:r>
                <a:r>
                  <a:rPr b="1" dirty="0"/>
                  <a:t>link function</a:t>
                </a:r>
                <a:r>
                  <a:rPr lang="en-US" b="1" dirty="0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dirty="0"/>
                  <a:t> </a:t>
                </a:r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link function </a:t>
                </a:r>
                <a:r>
                  <a:rPr dirty="0"/>
                  <a:t>map</a:t>
                </a:r>
                <a:r>
                  <a:rPr lang="en-US" dirty="0"/>
                  <a:t>s</a:t>
                </a:r>
                <a:r>
                  <a:rPr dirty="0"/>
                  <a:t> response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to a model linear in the model coefficients </a:t>
                </a:r>
                <a:endParaRPr dirty="0"/>
              </a:p>
              <a:p>
                <a:pPr lvl="0"/>
                <a:r>
                  <a:rPr lang="en-US" dirty="0"/>
                  <a:t>Example: we fit a</a:t>
                </a:r>
                <a:r>
                  <a:rPr dirty="0"/>
                  <a:t> linear </a:t>
                </a:r>
                <a:r>
                  <a:rPr lang="en-US" dirty="0"/>
                  <a:t>a </a:t>
                </a:r>
                <a:r>
                  <a:rPr dirty="0"/>
                  <a:t>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using the link function,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en-US" dirty="0"/>
                  <a:t> the, possible vector valued, model coefficients </a:t>
                </a:r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lvl="1"/>
                <a:r>
                  <a:rPr dirty="0"/>
                  <a:t>To find the value of the response variable we apply the </a:t>
                </a:r>
                <a:r>
                  <a:rPr b="1" dirty="0"/>
                  <a:t>inverse link function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r="-1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358342" y="1699953"/>
            <a:ext cx="4077393" cy="5403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391593" y="2867891"/>
            <a:ext cx="1093123" cy="1450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2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Classifiers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error metrics like RMSE</a:t>
                </a:r>
              </a:p>
              <a:p>
                <a:pPr lvl="0"/>
                <a:r>
                  <a:rPr lang="en-US" dirty="0"/>
                  <a:t>Must use another metric, </a:t>
                </a:r>
                <a:r>
                  <a:rPr lang="en-US" b="1" dirty="0"/>
                  <a:t>deviance</a:t>
                </a:r>
                <a:r>
                  <a:rPr lang="en-US" dirty="0"/>
                  <a:t>, for GLM given a nonlinear mapping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summary, deviance is the </a:t>
                </a:r>
                <a:r>
                  <a:rPr lang="en-US" b="1" dirty="0"/>
                  <a:t>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with by defining some notation</a:t>
                </a:r>
              </a:p>
              <a:p>
                <a:pPr lvl="1"/>
                <a:r>
                  <a:rPr lang="en-US" dirty="0"/>
                  <a:t>The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reference model is written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ar-AE" dirty="0"/>
                  <a:t>: </a:t>
                </a:r>
                <a:r>
                  <a:rPr lang="en-US" dirty="0"/>
                  <a:t>Some sources use notation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370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the factor of 2 scales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have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with 1 </a:t>
                </a:r>
                <a:r>
                  <a:rPr lang="en-US" dirty="0" err="1"/>
                  <a:t>DoF</a:t>
                </a:r>
                <a:endParaRPr lang="ar-AE" dirty="0"/>
              </a:p>
              <a:p>
                <a:r>
                  <a:rPr lang="en-US" dirty="0"/>
                  <a:t>Rearranging terms gives a formulation of deviance </a:t>
                </a:r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Model has a perfect fit to training data</a:t>
                </a:r>
              </a:p>
              <a:p>
                <a:pPr lvl="1"/>
                <a:r>
                  <a:rPr lang="en-US" dirty="0"/>
                  <a:t>But poor </a:t>
                </a:r>
                <a:r>
                  <a:rPr lang="en-US" b="1" dirty="0"/>
                  <a:t>generalization</a:t>
                </a:r>
                <a:r>
                  <a:rPr lang="en-US" dirty="0"/>
                  <a:t> or accuracy for new observations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model</a:t>
                </a:r>
                <a:r>
                  <a:rPr lang="en-US" dirty="0"/>
                  <a:t> as a reference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1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Example: for Normally distributed response null model is the mean of response vector</a:t>
                </a:r>
              </a:p>
              <a:p>
                <a:pPr lvl="1"/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741" t="-2496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What is Deviance?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deviance</a:t>
                </a:r>
                <a:r>
                  <a:rPr lang="en-US" dirty="0"/>
                  <a:t> </a:t>
                </a:r>
                <a:r>
                  <a:rPr dirty="0"/>
                  <a:t>statistic</a:t>
                </a:r>
                <a:r>
                  <a:rPr lang="en-US" dirty="0"/>
                  <a:t> is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distributed</a:t>
                </a:r>
                <a:r>
                  <a:rPr lang="en-US" dirty="0"/>
                  <a:t> with 1 </a:t>
                </a:r>
                <a:r>
                  <a:rPr lang="en-US" dirty="0" err="1"/>
                  <a:t>DoF</a:t>
                </a:r>
                <a:endParaRPr dirty="0"/>
              </a:p>
              <a:p>
                <a:pPr lvl="0"/>
                <a:r>
                  <a:rPr dirty="0"/>
                  <a:t>Can apply a significance test on a model</a:t>
                </a:r>
              </a:p>
              <a:p>
                <a:pPr lvl="0"/>
                <a:r>
                  <a:rPr dirty="0"/>
                  <a:t>A model with small deviance is little better that informed guessing</a:t>
                </a:r>
              </a:p>
              <a:p>
                <a:pPr lvl="1"/>
                <a:r>
                  <a:rPr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and is </a:t>
                </a:r>
                <a:r>
                  <a:rPr b="1" dirty="0"/>
                  <a:t>not significant</a:t>
                </a:r>
                <a:r>
                  <a:rPr lang="en-US" b="1" dirty="0"/>
                  <a:t>ly different </a:t>
                </a:r>
                <a:r>
                  <a:rPr lang="en-US" dirty="0"/>
                  <a:t>than the reference model</a:t>
                </a:r>
                <a:endParaRPr dirty="0"/>
              </a:p>
              <a:p>
                <a:pPr lvl="0"/>
                <a:r>
                  <a:rPr dirty="0"/>
                  <a:t>A model with large deviance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:r>
                  <a:rPr dirty="0"/>
                  <a:t>Exhibits a </a:t>
                </a:r>
                <a:r>
                  <a:rPr lang="en-US" b="1" dirty="0"/>
                  <a:t>statistically </a:t>
                </a:r>
                <a:r>
                  <a:rPr b="1" dirty="0"/>
                  <a:t>significant improvement </a:t>
                </a:r>
                <a:r>
                  <a:rPr dirty="0"/>
                  <a:t>in accuracy</a:t>
                </a:r>
                <a:r>
                  <a:rPr lang="en-US" dirty="0"/>
                  <a:t> compared to reference model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pPr lvl="1"/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𝐗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 b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negative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saturated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Intersect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443154" y="4291584"/>
            <a:ext cx="1417319" cy="3293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create a model for ordered responses? </a:t>
                </a:r>
              </a:p>
              <a:p>
                <a:pPr lvl="0"/>
                <a:r>
                  <a:rPr lang="en-US" dirty="0"/>
                  <a:t>The rank in the n-level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probabilities of the ranks      </a:t>
                </a:r>
              </a:p>
              <a:p>
                <a:pPr lvl="1"/>
                <a:r>
                  <a:rPr lang="en-US" dirty="0"/>
                  <a:t>Probit model estimates log odds of the ranks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6070E2-70F7-A018-6E47-2030E69C17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create a model for ordered responses? </a:t>
                </a:r>
              </a:p>
              <a:p>
                <a:pPr lvl="0"/>
                <a:r>
                  <a:rPr lang="en-US" dirty="0"/>
                  <a:t>The rank in the n-level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uses proportional odds of the ranks      </a:t>
                </a:r>
              </a:p>
              <a:p>
                <a:pPr lvl="1"/>
                <a:r>
                  <a:rPr lang="en-US" dirty="0"/>
                  <a:t>Probit model estimates ranks based on order CDF of the </a:t>
                </a:r>
                <a:r>
                  <a:rPr lang="en-US"/>
                  <a:t>Normal distribution 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6070E2-70F7-A018-6E47-2030E69C17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6949</TotalTime>
  <Words>3850</Words>
  <Application>Microsoft Office PowerPoint</Application>
  <PresentationFormat>On-screen Show (16:9)</PresentationFormat>
  <Paragraphs>486</Paragraphs>
  <Slides>66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Review</vt:lpstr>
      <vt:lpstr>Review</vt:lpstr>
      <vt:lpstr>Review</vt:lpstr>
      <vt:lpstr>Review</vt:lpstr>
      <vt:lpstr>Introduction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Classifiers</vt:lpstr>
      <vt:lpstr>Evaluation of Classifiers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What is Deviance?</vt:lpstr>
      <vt:lpstr>What is Deviance?</vt:lpstr>
      <vt:lpstr>Residual Deviance</vt:lpstr>
      <vt:lpstr>Residual Deviance</vt:lpstr>
      <vt:lpstr>Residual Deviance</vt:lpstr>
      <vt:lpstr>Properties of Deviance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208</cp:revision>
  <dcterms:created xsi:type="dcterms:W3CDTF">2024-08-16T02:30:27Z</dcterms:created>
  <dcterms:modified xsi:type="dcterms:W3CDTF">2026-09-30T03:06:37Z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