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308" r:id="rId2"/>
    <p:sldId id="257" r:id="rId3"/>
    <p:sldId id="328" r:id="rId4"/>
    <p:sldId id="258" r:id="rId5"/>
    <p:sldId id="260" r:id="rId6"/>
    <p:sldId id="329" r:id="rId7"/>
    <p:sldId id="262" r:id="rId8"/>
    <p:sldId id="316" r:id="rId9"/>
    <p:sldId id="263" r:id="rId10"/>
    <p:sldId id="310" r:id="rId11"/>
    <p:sldId id="268" r:id="rId12"/>
    <p:sldId id="332" r:id="rId13"/>
    <p:sldId id="309" r:id="rId14"/>
    <p:sldId id="269" r:id="rId15"/>
    <p:sldId id="311" r:id="rId16"/>
    <p:sldId id="312" r:id="rId17"/>
    <p:sldId id="313" r:id="rId18"/>
    <p:sldId id="314" r:id="rId19"/>
    <p:sldId id="270" r:id="rId20"/>
    <p:sldId id="330" r:id="rId21"/>
    <p:sldId id="315" r:id="rId22"/>
    <p:sldId id="317" r:id="rId23"/>
    <p:sldId id="271" r:id="rId24"/>
    <p:sldId id="272" r:id="rId25"/>
    <p:sldId id="274" r:id="rId26"/>
    <p:sldId id="275" r:id="rId27"/>
    <p:sldId id="273" r:id="rId28"/>
    <p:sldId id="276" r:id="rId29"/>
    <p:sldId id="277" r:id="rId30"/>
    <p:sldId id="318" r:id="rId31"/>
    <p:sldId id="278" r:id="rId32"/>
    <p:sldId id="279" r:id="rId33"/>
    <p:sldId id="319" r:id="rId34"/>
    <p:sldId id="333" r:id="rId35"/>
    <p:sldId id="281" r:id="rId36"/>
    <p:sldId id="282" r:id="rId37"/>
    <p:sldId id="334" r:id="rId38"/>
    <p:sldId id="283" r:id="rId39"/>
    <p:sldId id="321" r:id="rId40"/>
    <p:sldId id="323" r:id="rId41"/>
    <p:sldId id="324" r:id="rId42"/>
    <p:sldId id="322" r:id="rId43"/>
    <p:sldId id="335" r:id="rId44"/>
    <p:sldId id="288" r:id="rId45"/>
    <p:sldId id="289" r:id="rId46"/>
    <p:sldId id="325" r:id="rId47"/>
    <p:sldId id="290" r:id="rId48"/>
    <p:sldId id="291" r:id="rId49"/>
    <p:sldId id="292" r:id="rId50"/>
    <p:sldId id="293" r:id="rId51"/>
    <p:sldId id="294" r:id="rId52"/>
    <p:sldId id="299" r:id="rId53"/>
    <p:sldId id="326" r:id="rId54"/>
    <p:sldId id="336" r:id="rId55"/>
    <p:sldId id="302" r:id="rId56"/>
    <p:sldId id="331" r:id="rId57"/>
    <p:sldId id="303" r:id="rId58"/>
    <p:sldId id="304" r:id="rId59"/>
    <p:sldId id="305" r:id="rId60"/>
    <p:sldId id="306" r:id="rId61"/>
    <p:sldId id="338" r:id="rId62"/>
    <p:sldId id="340" r:id="rId63"/>
    <p:sldId id="339" r:id="rId64"/>
    <p:sldId id="344" r:id="rId65"/>
    <p:sldId id="345" r:id="rId66"/>
    <p:sldId id="343" r:id="rId67"/>
    <p:sldId id="346" r:id="rId68"/>
    <p:sldId id="342" r:id="rId69"/>
    <p:sldId id="337" r:id="rId70"/>
    <p:sldId id="341" r:id="rId71"/>
    <p:sldId id="327" r:id="rId72"/>
    <p:sldId id="307" r:id="rId7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A2D0-143A-5033-A151-C00AE65F2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2EC15-735D-51A5-B4B3-92246BC7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ED2B2-61AA-73A3-8092-15345BC9A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4F46F-5F83-B736-7BED-F5607764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9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en.wikipedia.org/wiki/Ordinal_regression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en.wikipedia.org/wiki/Iverson_bracket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ogistic_distribution" TargetMode="External"/><Relationship Id="rId2" Type="http://schemas.openxmlformats.org/officeDocument/2006/relationships/hyperlink" Target="https://en.wikipedia.org/wiki/Ordered_lo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Linear models are a flexible and widely used class of models</a:t>
            </a:r>
          </a:p>
          <a:p>
            <a:pPr lvl="0"/>
            <a:r>
              <a:rPr lang="en-US" dirty="0"/>
              <a:t>Fit model coefficients by </a:t>
            </a:r>
            <a:r>
              <a:rPr lang="en-US" b="1" dirty="0"/>
              <a:t>least squares</a:t>
            </a:r>
            <a:r>
              <a:rPr lang="en-US" dirty="0"/>
              <a:t> estimation</a:t>
            </a:r>
          </a:p>
          <a:p>
            <a:pPr lvl="1"/>
            <a:r>
              <a:rPr lang="en-US" dirty="0"/>
              <a:t>Least squares computes maximum likelihood </a:t>
            </a:r>
            <a:r>
              <a:rPr lang="en-US" b="1" dirty="0"/>
              <a:t>point estimate </a:t>
            </a:r>
          </a:p>
          <a:p>
            <a:pPr lvl="1"/>
            <a:r>
              <a:rPr lang="en-US" dirty="0"/>
              <a:t>Produces Normally distributed residuals</a:t>
            </a:r>
          </a:p>
          <a:p>
            <a:pPr lvl="0"/>
            <a:r>
              <a:rPr lang="en-US" dirty="0"/>
              <a:t>Can use many types of predictor variables, linear and nonlinear</a:t>
            </a:r>
          </a:p>
          <a:p>
            <a:pPr lvl="1"/>
            <a:r>
              <a:rPr lang="en-US" b="1" dirty="0"/>
              <a:t>Model is linear in parameters</a:t>
            </a:r>
            <a:endParaRPr lang="ar-AE" b="1" dirty="0"/>
          </a:p>
          <a:p>
            <a:pPr lvl="0"/>
            <a:r>
              <a:rPr lang="en-US" dirty="0"/>
              <a:t>We prefer the simplest model that does the job</a:t>
            </a:r>
          </a:p>
          <a:p>
            <a:pPr lvl="1"/>
            <a:r>
              <a:rPr lang="en-US" dirty="0"/>
              <a:t>Parsimonious model has the fewest parameters required to explain the data</a:t>
            </a:r>
          </a:p>
          <a:p>
            <a:pPr lvl="1"/>
            <a:r>
              <a:rPr lang="en-US" dirty="0"/>
              <a:t>The principle of </a:t>
            </a:r>
            <a:r>
              <a:rPr lang="en-US" b="1" dirty="0"/>
              <a:t>Occam’s razor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5E0C-230E-A1DA-22EE-8125D462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3934-5528-A0FF-93FF-90091BE0A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803B6-BEF1-D7FF-3A7D-CBEBF018D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Linear models are interpretable and idea for inference</a:t>
            </a:r>
          </a:p>
          <a:p>
            <a:pPr lvl="0"/>
            <a:r>
              <a:rPr lang="en-US" dirty="0"/>
              <a:t>Repose to changes in independent variables is predictable</a:t>
            </a:r>
          </a:p>
          <a:p>
            <a:pPr lvl="1"/>
            <a:r>
              <a:rPr lang="en-US" dirty="0"/>
              <a:t>Model parameters provide </a:t>
            </a:r>
            <a:r>
              <a:rPr lang="en-US" b="1" dirty="0"/>
              <a:t>quantitative sensitivity </a:t>
            </a:r>
            <a:r>
              <a:rPr lang="en-US" dirty="0"/>
              <a:t>to changes in independent variables </a:t>
            </a:r>
          </a:p>
          <a:p>
            <a:pPr lvl="0"/>
            <a:r>
              <a:rPr lang="en-US" dirty="0"/>
              <a:t>Model fit can be tested</a:t>
            </a:r>
          </a:p>
          <a:p>
            <a:pPr lvl="1"/>
            <a:r>
              <a:rPr lang="en-US" dirty="0"/>
              <a:t>Reject hypothesis of null model</a:t>
            </a:r>
          </a:p>
          <a:p>
            <a:pPr lvl="1"/>
            <a:r>
              <a:rPr lang="en-US" dirty="0"/>
              <a:t>Reject hypothesis of non-significant model coefficients </a:t>
            </a:r>
          </a:p>
          <a:p>
            <a:pPr lvl="1"/>
            <a:r>
              <a:rPr lang="en-US" dirty="0"/>
              <a:t>Compare models by variance explained, properties of residuals and confidence intervals of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30034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When evaluating any machine learning model consider </a:t>
            </a:r>
            <a:r>
              <a:rPr b="1" dirty="0"/>
              <a:t>all evaluation methods available</a:t>
            </a:r>
          </a:p>
          <a:p>
            <a:pPr lvl="0"/>
            <a:r>
              <a:rPr dirty="0"/>
              <a:t>No one method best all of the time</a:t>
            </a:r>
          </a:p>
          <a:p>
            <a:pPr lvl="0"/>
            <a:r>
              <a:rPr lang="en-US" dirty="0"/>
              <a:t>Test for h</a:t>
            </a:r>
            <a:r>
              <a:rPr dirty="0"/>
              <a:t>omoscedastic Normally distributed residuals</a:t>
            </a:r>
            <a:endParaRPr lang="en-US" dirty="0"/>
          </a:p>
          <a:p>
            <a:pPr lvl="1"/>
            <a:r>
              <a:rPr lang="en-US" dirty="0"/>
              <a:t>Residual Plots</a:t>
            </a:r>
          </a:p>
          <a:p>
            <a:pPr lvl="1"/>
            <a:r>
              <a:rPr lang="en-US" dirty="0"/>
              <a:t>Formal tests – Omnibus, Jarque-Bera, etc. </a:t>
            </a:r>
            <a:endParaRPr dirty="0"/>
          </a:p>
          <a:p>
            <a:pPr lvl="0"/>
            <a:r>
              <a:rPr lang="en-US" dirty="0"/>
              <a:t>Are</a:t>
            </a:r>
            <a:r>
              <a:rPr dirty="0"/>
              <a:t> model and its coefficients </a:t>
            </a:r>
            <a:r>
              <a:rPr lang="en-US" dirty="0"/>
              <a:t>statistically </a:t>
            </a:r>
            <a:r>
              <a:rPr dirty="0"/>
              <a:t>significant?</a:t>
            </a:r>
          </a:p>
          <a:p>
            <a:pPr lvl="1"/>
            <a:r>
              <a:rPr dirty="0"/>
              <a:t>F</a:t>
            </a:r>
            <a:r>
              <a:rPr lang="en-US" dirty="0"/>
              <a:t>-</a:t>
            </a:r>
            <a:r>
              <a:rPr dirty="0"/>
              <a:t>test </a:t>
            </a:r>
            <a:r>
              <a:rPr lang="en-US" dirty="0"/>
              <a:t>on model significance</a:t>
            </a:r>
            <a:endParaRPr dirty="0"/>
          </a:p>
          <a:p>
            <a:pPr lvl="1"/>
            <a:r>
              <a:rPr dirty="0"/>
              <a:t>t-test on model parameter </a:t>
            </a:r>
            <a:r>
              <a:rPr lang="en-US" dirty="0"/>
              <a:t>significance</a:t>
            </a:r>
            <a:endParaRPr dirty="0"/>
          </a:p>
          <a:p>
            <a:pPr lvl="0"/>
            <a:r>
              <a:rPr b="1" dirty="0"/>
              <a:t>Different methods highlight different problems</a:t>
            </a:r>
            <a:r>
              <a:rPr dirty="0"/>
              <a:t> with your model</a:t>
            </a:r>
          </a:p>
          <a:p>
            <a:pPr lvl="0"/>
            <a:r>
              <a:rPr dirty="0"/>
              <a:t>Don’t forget to check that the </a:t>
            </a:r>
            <a:r>
              <a:rPr b="1" dirty="0"/>
              <a:t>model must make sense</a:t>
            </a:r>
            <a:r>
              <a:rPr dirty="0"/>
              <a:t> for your application!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</a:t>
            </a:r>
            <a:r>
              <a:rPr lang="en-US" dirty="0"/>
              <a:t>independent</a:t>
            </a:r>
            <a:r>
              <a:rPr dirty="0"/>
              <a:t>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Multi-collinearity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</a:t>
            </a:r>
            <a:r>
              <a:rPr lang="en-US" dirty="0"/>
              <a:t>want </a:t>
            </a:r>
            <a:r>
              <a:rPr dirty="0"/>
              <a:t>numeric features or predictors have </a:t>
            </a:r>
            <a:r>
              <a:rPr b="1" dirty="0"/>
              <a:t>zero mean</a:t>
            </a:r>
            <a:r>
              <a:rPr dirty="0"/>
              <a:t> and about the </a:t>
            </a:r>
            <a:r>
              <a:rPr b="1" dirty="0"/>
              <a:t>same scale</a:t>
            </a:r>
          </a:p>
          <a:p>
            <a:pPr lvl="1"/>
            <a:r>
              <a:rPr lang="en-US" dirty="0"/>
              <a:t>Intercept is the mean of the response variable</a:t>
            </a:r>
          </a:p>
          <a:p>
            <a:pPr lvl="1"/>
            <a:r>
              <a:rPr lang="en-US" dirty="0"/>
              <a:t>Predictors </a:t>
            </a:r>
            <a:r>
              <a:rPr dirty="0"/>
              <a:t>with a large numeric range </a:t>
            </a:r>
            <a:r>
              <a:rPr lang="en-US" dirty="0"/>
              <a:t>must not </a:t>
            </a:r>
            <a:r>
              <a:rPr dirty="0"/>
              <a:t>dominate training</a:t>
            </a:r>
          </a:p>
          <a:p>
            <a:pPr lvl="0"/>
            <a:r>
              <a:rPr dirty="0"/>
              <a:t>Values of each predictor or </a:t>
            </a:r>
            <a:r>
              <a:rPr lang="en-US" dirty="0"/>
              <a:t>independent variables</a:t>
            </a:r>
            <a:r>
              <a:rPr dirty="0"/>
              <a:t>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coefficient </a:t>
            </a:r>
            <a:r>
              <a:rPr lang="en-US" dirty="0"/>
              <a:t>can</a:t>
            </a:r>
            <a:r>
              <a:rPr dirty="0"/>
              <a:t>not</a:t>
            </a:r>
            <a:r>
              <a:rPr lang="en-US" dirty="0"/>
              <a:t> be</a:t>
            </a:r>
            <a:r>
              <a:rPr dirty="0"/>
              <a:t> constant</a:t>
            </a:r>
          </a:p>
          <a:p>
            <a:pPr lvl="1"/>
            <a:r>
              <a:rPr dirty="0"/>
              <a:t>If </a:t>
            </a:r>
            <a:r>
              <a:rPr lang="en-US" dirty="0"/>
              <a:t>predictor values have </a:t>
            </a:r>
            <a:r>
              <a:rPr b="1" dirty="0"/>
              <a:t>serial correlation</a:t>
            </a:r>
            <a:r>
              <a:rPr dirty="0"/>
              <a:t> the </a:t>
            </a:r>
            <a:r>
              <a:rPr dirty="0" err="1"/>
              <a:t>iid</a:t>
            </a:r>
            <a:r>
              <a:rPr dirty="0"/>
              <a:t> assumption is violated - use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3FD5D-2916-D92A-E234-E7CBB1C5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9C41-4EF1-29A0-34CF-4C4EBDBB4D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52065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 b="-1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Use GLM framework</a:t>
            </a:r>
            <a:r>
              <a:rPr dirty="0"/>
              <a:t> for all exponential family response distributions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General form for </a:t>
                </a:r>
                <a:r>
                  <a:rPr b="1" dirty="0"/>
                  <a:t>link function</a:t>
                </a:r>
                <a:r>
                  <a:rPr lang="en-US" b="1" dirty="0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dirty="0"/>
                  <a:t> </a:t>
                </a:r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link function </a:t>
                </a:r>
                <a:r>
                  <a:rPr dirty="0"/>
                  <a:t>map</a:t>
                </a:r>
                <a:r>
                  <a:rPr lang="en-US" dirty="0"/>
                  <a:t>s</a:t>
                </a:r>
                <a:r>
                  <a:rPr dirty="0"/>
                  <a:t>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to a model linear in the model coefficients </a:t>
                </a:r>
                <a:endParaRPr dirty="0"/>
              </a:p>
              <a:p>
                <a:pPr lvl="0"/>
                <a:r>
                  <a:rPr lang="en-US" dirty="0"/>
                  <a:t>Example: we fit a</a:t>
                </a:r>
                <a:r>
                  <a:rPr dirty="0"/>
                  <a:t> linear </a:t>
                </a:r>
                <a:r>
                  <a:rPr lang="en-US" dirty="0"/>
                  <a:t>a </a:t>
                </a:r>
                <a:r>
                  <a:rPr dirty="0"/>
                  <a:t>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using the link function,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 the, possible vector valued, model coefficients 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lvl="1"/>
                <a:r>
                  <a:rPr dirty="0"/>
                  <a:t>To find the value of the response variable we apply the </a:t>
                </a:r>
                <a:r>
                  <a:rPr b="1" dirty="0"/>
                  <a:t>inverse link function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358342" y="1699953"/>
            <a:ext cx="4077393" cy="5403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391593" y="2867891"/>
            <a:ext cx="1093123" cy="14505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2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Classifiers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error metrics like RMSE</a:t>
                </a:r>
              </a:p>
              <a:p>
                <a:pPr lvl="0"/>
                <a:r>
                  <a:rPr lang="en-US" dirty="0"/>
                  <a:t>Must use another metric, </a:t>
                </a:r>
                <a:r>
                  <a:rPr lang="en-US" b="1" dirty="0"/>
                  <a:t>deviance</a:t>
                </a:r>
                <a:r>
                  <a:rPr lang="en-US" dirty="0"/>
                  <a:t>, for GLM given a nonlinear mapping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summary, deviance is the </a:t>
                </a:r>
                <a:r>
                  <a:rPr lang="en-US" b="1" dirty="0"/>
                  <a:t>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with by defining some notation</a:t>
                </a:r>
              </a:p>
              <a:p>
                <a:pPr lvl="1"/>
                <a:r>
                  <a:rPr lang="en-US" dirty="0"/>
                  <a:t>The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reference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ar-AE" dirty="0"/>
                  <a:t>: </a:t>
                </a:r>
                <a:r>
                  <a:rPr lang="en-US" dirty="0"/>
                  <a:t>Some sources use notation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370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the factor of 2 scales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have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with 1 </a:t>
                </a:r>
                <a:r>
                  <a:rPr lang="en-US" dirty="0" err="1"/>
                  <a:t>DoF</a:t>
                </a:r>
                <a:endParaRPr lang="ar-AE" dirty="0"/>
              </a:p>
              <a:p>
                <a:r>
                  <a:rPr lang="en-US" dirty="0"/>
                  <a:t>Rearranging terms gives a formulation of deviance </a:t>
                </a:r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Model has a perfect fit to training data</a:t>
                </a:r>
              </a:p>
              <a:p>
                <a:pPr lvl="1"/>
                <a:r>
                  <a:rPr lang="en-US" dirty="0"/>
                  <a:t>But poor </a:t>
                </a:r>
                <a:r>
                  <a:rPr lang="en-US" b="1" dirty="0"/>
                  <a:t>generalization</a:t>
                </a:r>
                <a:r>
                  <a:rPr lang="en-US" dirty="0"/>
                  <a:t> or accuracy for new observations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model</a:t>
                </a:r>
                <a:r>
                  <a:rPr lang="en-US" dirty="0"/>
                  <a:t> as a reference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1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Example: for Normally distributed response null model is the mean of response vector</a:t>
                </a:r>
              </a:p>
              <a:p>
                <a:pPr lvl="1"/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741" t="-2496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deviance</a:t>
                </a:r>
                <a:r>
                  <a:rPr lang="en-US" dirty="0"/>
                  <a:t> </a:t>
                </a:r>
                <a:r>
                  <a:rPr dirty="0"/>
                  <a:t>statistic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distributed</a:t>
                </a:r>
                <a:r>
                  <a:rPr lang="en-US" dirty="0"/>
                  <a:t> with 1 </a:t>
                </a:r>
                <a:r>
                  <a:rPr lang="en-US" dirty="0" err="1"/>
                  <a:t>DoF</a:t>
                </a:r>
                <a:endParaRPr dirty="0"/>
              </a:p>
              <a:p>
                <a:pPr lvl="0"/>
                <a:r>
                  <a:rPr dirty="0"/>
                  <a:t>Can apply a significance test on a model</a:t>
                </a:r>
              </a:p>
              <a:p>
                <a:pPr lvl="0"/>
                <a:r>
                  <a:rPr dirty="0"/>
                  <a:t>A model with small deviance is little better that informed guessing</a:t>
                </a:r>
              </a:p>
              <a:p>
                <a:pPr lvl="1"/>
                <a:r>
                  <a:rPr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and is </a:t>
                </a:r>
                <a:r>
                  <a:rPr b="1" dirty="0"/>
                  <a:t>not significant</a:t>
                </a:r>
                <a:r>
                  <a:rPr lang="en-US" b="1" dirty="0"/>
                  <a:t>ly different </a:t>
                </a:r>
                <a:r>
                  <a:rPr lang="en-US" dirty="0"/>
                  <a:t>than the reference model</a:t>
                </a:r>
                <a:endParaRPr dirty="0"/>
              </a:p>
              <a:p>
                <a:pPr lvl="0"/>
                <a:r>
                  <a:rPr dirty="0"/>
                  <a:t>A model with large deviance 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:r>
                  <a:rPr dirty="0"/>
                  <a:t>Exhibits a </a:t>
                </a:r>
                <a:r>
                  <a:rPr lang="en-US" b="1" dirty="0"/>
                  <a:t>statistically </a:t>
                </a:r>
                <a:r>
                  <a:rPr b="1" dirty="0"/>
                  <a:t>significant improvement </a:t>
                </a:r>
                <a:r>
                  <a:rPr dirty="0"/>
                  <a:t>in accuracy</a:t>
                </a:r>
                <a:r>
                  <a:rPr lang="en-US" dirty="0"/>
                  <a:t> compared to reference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pPr lvl="1"/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 b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negative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saturated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Intersect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443154" y="4291584"/>
            <a:ext cx="1417319" cy="329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070E2-70F7-A018-6E47-2030E69C1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Ordinal variables are commonly encountered </a:t>
            </a:r>
          </a:p>
          <a:p>
            <a:pPr lvl="0"/>
            <a:r>
              <a:rPr lang="en-US" dirty="0"/>
              <a:t>Levels in online reviews; e.g. 1-5 stars</a:t>
            </a:r>
          </a:p>
          <a:p>
            <a:pPr lvl="0"/>
            <a:r>
              <a:rPr lang="en-US" dirty="0"/>
              <a:t>Satisfaction levels in surveys; e.g. very dissatisfied, dissatisfied, okay, satisfied, very satisfied    </a:t>
            </a:r>
          </a:p>
          <a:p>
            <a:pPr lvl="0"/>
            <a:r>
              <a:rPr lang="en-US" dirty="0"/>
              <a:t>Bond ratings; AAA, AA+, AA, AA-, A+, A, A-, ….</a:t>
            </a:r>
          </a:p>
          <a:p>
            <a:pPr lvl="0"/>
            <a:r>
              <a:rPr lang="en-US" dirty="0"/>
              <a:t>Grades at Harvard University, A, A-, B+, B, B-, … </a:t>
            </a:r>
          </a:p>
          <a:p>
            <a:pPr lvl="0"/>
            <a:r>
              <a:rPr lang="en-US" dirty="0"/>
              <a:t>And many more…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to we deal with rank as a response variable?  </a:t>
                </a:r>
              </a:p>
              <a:p>
                <a:pPr lvl="0"/>
                <a:r>
                  <a:rPr lang="en-US" dirty="0"/>
                  <a:t>The rank in the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Ranks do not have numeric variables  </a:t>
                </a:r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ranks from range of the log odds</a:t>
                </a:r>
              </a:p>
              <a:p>
                <a:pPr lvl="1"/>
                <a:r>
                  <a:rPr lang="en-US" dirty="0"/>
                  <a:t>Probit model estimates ranks from ranges of the CDF of the normal distribution 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29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9AF8-25BB-3132-9B5A-4F1FBD5E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F13C-0089-D0B2-3D87-51B73163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probit model </a:t>
                </a:r>
                <a:r>
                  <a:rPr lang="en-US" dirty="0"/>
                  <a:t>is formulated as a GLM </a:t>
                </a:r>
              </a:p>
              <a:p>
                <a:pPr lvl="0"/>
                <a:r>
                  <a:rPr lang="en-US" dirty="0"/>
                  <a:t>Given observation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, response,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and model parameter vector,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dirty="0"/>
                  <a:t>, we can define a set of thresholds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a model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model sets thresholds on the </a:t>
                </a:r>
                <a:r>
                  <a:rPr lang="en-US" b="1" dirty="0"/>
                  <a:t>cumulative distribution function (CDF)</a:t>
                </a:r>
                <a:r>
                  <a:rPr lang="en-US" dirty="0"/>
                  <a:t> of the linear model  </a:t>
                </a:r>
              </a:p>
              <a:p>
                <a:pPr lvl="0"/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73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C5F53-5048-9C7C-C417-62762B61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53DD1-3795-9AF9-3CA7-0F9F2597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ordered probit model is formulated as a GLM </a:t>
                </a:r>
              </a:p>
              <a:p>
                <a:pPr lvl="0"/>
                <a:r>
                  <a:rPr lang="en-US" dirty="0"/>
                  <a:t>Given the logistic inverse link function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latent since it is a computed value and cannot be observed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US" dirty="0"/>
                  <a:t>, a zero-centered normally distributed residual   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97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C0B9-E721-649D-60BA-9A45C7EF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4AFA6-1E05-7368-3C7E-D72A1F21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 probit model uses thresholds on a latent variable</a:t>
                </a:r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thresholds,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to the latent variable we can estimate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of the response,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1111" t="-2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45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ECAC0-FBCC-B2A7-27B8-6A2122C9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9B3D-D43B-4317-702E-12706370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fit the ordered probit model by </a:t>
                </a:r>
                <a:r>
                  <a:rPr lang="en-US" b="1" dirty="0"/>
                  <a:t>maximizing the log likelihood </a:t>
                </a:r>
              </a:p>
              <a:p>
                <a:r>
                  <a:rPr lang="en-US" dirty="0"/>
                  <a:t>Given the foregoing, we can work out the conditional distribution of the linear response,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Normal CDF,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r>
                  <a:rPr lang="en-US" dirty="0"/>
                  <a:t>,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log likelihood  for a single training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,is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an </a:t>
                </a:r>
                <a:r>
                  <a:rPr lang="en-US" dirty="0">
                    <a:hlinkClick r:id="rId2"/>
                  </a:rPr>
                  <a:t>Iverson bracket </a:t>
                </a:r>
                <a:r>
                  <a:rPr lang="en-US" dirty="0"/>
                  <a:t>for the discrete response for the response in the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3"/>
                <a:stretch>
                  <a:fillRect l="-963" t="-2707" r="-1630" b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67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1743-5875-BD53-F2EA-2B4B47D9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B323-2ACC-B70F-17DC-69440F929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logit model </a:t>
                </a:r>
                <a:r>
                  <a:rPr lang="en-US" dirty="0"/>
                  <a:t>is based on log proportional odds</a:t>
                </a:r>
              </a:p>
              <a:p>
                <a:pPr lvl="0"/>
                <a:r>
                  <a:rPr lang="en-US" dirty="0"/>
                  <a:t>For n-level ordered ranks,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for observation,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 can define the ordered log odds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ordered logit model is then constructed by imposing a set of </a:t>
                </a:r>
                <a:r>
                  <a:rPr lang="en-US" b="1" dirty="0"/>
                  <a:t>thresholds on a latent variable</a:t>
                </a:r>
                <a:r>
                  <a:rPr lang="en-US" dirty="0"/>
                  <a:t>, but with the error term,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is assumed to follow a standard </a:t>
                </a:r>
                <a:r>
                  <a:rPr lang="en-US" dirty="0">
                    <a:hlinkClick r:id="rId3"/>
                  </a:rPr>
                  <a:t>logistic distribution </a:t>
                </a:r>
                <a:endParaRPr lang="en-US" b="1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  <a:blipFill>
                <a:blip r:embed="rId4"/>
                <a:stretch>
                  <a:fillRect l="-741" t="-2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DF9F-0D35-8607-ECFE-29787603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1BC6E-6224-5F9F-39DD-4192D8F4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7750-2A74-A281-31F4-891FD144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8128326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7483</TotalTime>
  <Words>4310</Words>
  <Application>Microsoft Office PowerPoint</Application>
  <PresentationFormat>On-screen Show (16:9)</PresentationFormat>
  <Paragraphs>530</Paragraphs>
  <Slides>72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Review</vt:lpstr>
      <vt:lpstr>Review</vt:lpstr>
      <vt:lpstr>Review</vt:lpstr>
      <vt:lpstr>Review</vt:lpstr>
      <vt:lpstr>Introduction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Classifiers</vt:lpstr>
      <vt:lpstr>Evaluation of Classifiers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What is Deviance?</vt:lpstr>
      <vt:lpstr>What is Deviance?</vt:lpstr>
      <vt:lpstr>Residual Deviance</vt:lpstr>
      <vt:lpstr>Residual Deviance</vt:lpstr>
      <vt:lpstr>Residual Deviance</vt:lpstr>
      <vt:lpstr>Properties of Deviance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237</cp:revision>
  <dcterms:created xsi:type="dcterms:W3CDTF">2024-08-16T02:30:27Z</dcterms:created>
  <dcterms:modified xsi:type="dcterms:W3CDTF">2026-10-01T17:36:49Z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