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4"/>
  </p:notesMasterIdLst>
  <p:sldIdLst>
    <p:sldId id="308" r:id="rId2"/>
    <p:sldId id="257" r:id="rId3"/>
    <p:sldId id="328" r:id="rId4"/>
    <p:sldId id="258" r:id="rId5"/>
    <p:sldId id="260" r:id="rId6"/>
    <p:sldId id="329" r:id="rId7"/>
    <p:sldId id="262" r:id="rId8"/>
    <p:sldId id="316" r:id="rId9"/>
    <p:sldId id="263" r:id="rId10"/>
    <p:sldId id="310" r:id="rId11"/>
    <p:sldId id="268" r:id="rId12"/>
    <p:sldId id="332" r:id="rId13"/>
    <p:sldId id="309" r:id="rId14"/>
    <p:sldId id="269" r:id="rId15"/>
    <p:sldId id="311" r:id="rId16"/>
    <p:sldId id="312" r:id="rId17"/>
    <p:sldId id="313" r:id="rId18"/>
    <p:sldId id="314" r:id="rId19"/>
    <p:sldId id="270" r:id="rId20"/>
    <p:sldId id="330" r:id="rId21"/>
    <p:sldId id="315" r:id="rId22"/>
    <p:sldId id="317" r:id="rId23"/>
    <p:sldId id="271" r:id="rId24"/>
    <p:sldId id="272" r:id="rId25"/>
    <p:sldId id="274" r:id="rId26"/>
    <p:sldId id="275" r:id="rId27"/>
    <p:sldId id="273" r:id="rId28"/>
    <p:sldId id="276" r:id="rId29"/>
    <p:sldId id="277" r:id="rId30"/>
    <p:sldId id="318" r:id="rId31"/>
    <p:sldId id="278" r:id="rId32"/>
    <p:sldId id="279" r:id="rId33"/>
    <p:sldId id="319" r:id="rId34"/>
    <p:sldId id="333" r:id="rId35"/>
    <p:sldId id="281" r:id="rId36"/>
    <p:sldId id="282" r:id="rId37"/>
    <p:sldId id="334" r:id="rId38"/>
    <p:sldId id="283" r:id="rId39"/>
    <p:sldId id="321" r:id="rId40"/>
    <p:sldId id="323" r:id="rId41"/>
    <p:sldId id="324" r:id="rId42"/>
    <p:sldId id="322" r:id="rId43"/>
    <p:sldId id="335" r:id="rId44"/>
    <p:sldId id="288" r:id="rId45"/>
    <p:sldId id="289" r:id="rId46"/>
    <p:sldId id="325" r:id="rId47"/>
    <p:sldId id="290" r:id="rId48"/>
    <p:sldId id="291" r:id="rId49"/>
    <p:sldId id="292" r:id="rId50"/>
    <p:sldId id="293" r:id="rId51"/>
    <p:sldId id="294" r:id="rId52"/>
    <p:sldId id="299" r:id="rId53"/>
    <p:sldId id="326" r:id="rId54"/>
    <p:sldId id="336" r:id="rId55"/>
    <p:sldId id="302" r:id="rId56"/>
    <p:sldId id="331" r:id="rId57"/>
    <p:sldId id="303" r:id="rId58"/>
    <p:sldId id="304" r:id="rId59"/>
    <p:sldId id="305" r:id="rId60"/>
    <p:sldId id="306" r:id="rId61"/>
    <p:sldId id="338" r:id="rId62"/>
    <p:sldId id="340" r:id="rId63"/>
    <p:sldId id="339" r:id="rId64"/>
    <p:sldId id="344" r:id="rId65"/>
    <p:sldId id="345" r:id="rId66"/>
    <p:sldId id="343" r:id="rId67"/>
    <p:sldId id="346" r:id="rId68"/>
    <p:sldId id="342" r:id="rId69"/>
    <p:sldId id="337" r:id="rId70"/>
    <p:sldId id="341" r:id="rId71"/>
    <p:sldId id="327" r:id="rId72"/>
    <p:sldId id="307" r:id="rId7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93" d="100"/>
          <a:sy n="93" d="100"/>
        </p:scale>
        <p:origin x="53" y="9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BCC803-D91A-40A8-8BFC-49FB40BF658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9D3DEE-884F-4AC4-B40C-E4221C798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733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3A2D0-143A-5033-A151-C00AE65F2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42EC15-735D-51A5-B4B3-92246BC764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AED2B2-61AA-73A3-8092-15345BC9A0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64F46F-5F83-B736-7BED-F560776446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9D3DEE-884F-4AC4-B40C-E4221C7984B1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390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B7169-E60F-930B-6A0C-55E8CD261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8183DB-E2EE-CC1D-04EF-C374A527EE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2BFB3D-B3D9-2BC3-5D34-CE5CAB41BD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50127-2018-926A-87DD-BC8E86BAFF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9D3DEE-884F-4AC4-B40C-E4221C7984B1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3882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9D3DEE-884F-4AC4-B40C-E4221C7984B1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094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patsy.readthedocs.io/en/latest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hyperlink" Target="https://patsy.readthedocs.io/en/latest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Generalized_linear_model" TargetMode="External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modules/linear_model.html#generalized-linear-regression" TargetMode="External"/><Relationship Id="rId4" Type="http://schemas.openxmlformats.org/officeDocument/2006/relationships/hyperlink" Target="https://www.statsmodels.org/stable/glm.html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Logistic_regression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0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en.wikipedia.org/wiki/Poisson_distributio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8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8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hyperlink" Target="https://en.wikipedia.org/wiki/Ordinal_regression" TargetMode="Externa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en.wikipedia.org/wiki/Iverson_bracket" TargetMode="Externa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ogistic_distribution" TargetMode="External"/><Relationship Id="rId2" Type="http://schemas.openxmlformats.org/officeDocument/2006/relationships/hyperlink" Target="https://en.wikipedia.org/wiki/Ordered_logi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Models Categorical Variables and Nonlinear Responses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</a:t>
            </a:r>
            <a:r>
              <a:rPr lang="en-US" sz="1100"/>
              <a:t>2024, 2026 </a:t>
            </a:r>
            <a:r>
              <a:rPr lang="en-US" sz="1100" dirty="0"/>
              <a:t>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30"/>
            <a:ext cx="8229600" cy="3945188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dirty="0"/>
              <a:t>Linear models are a flexible and widely used class of models</a:t>
            </a:r>
          </a:p>
          <a:p>
            <a:pPr lvl="0"/>
            <a:r>
              <a:rPr lang="en-US" dirty="0"/>
              <a:t>Fit model coefficients by </a:t>
            </a:r>
            <a:r>
              <a:rPr lang="en-US" b="1" dirty="0"/>
              <a:t>least squares</a:t>
            </a:r>
            <a:r>
              <a:rPr lang="en-US" dirty="0"/>
              <a:t> estimation</a:t>
            </a:r>
          </a:p>
          <a:p>
            <a:pPr lvl="1"/>
            <a:r>
              <a:rPr lang="en-US" dirty="0"/>
              <a:t>Least squares computes maximum likelihood </a:t>
            </a:r>
            <a:r>
              <a:rPr lang="en-US" b="1" dirty="0"/>
              <a:t>point estimate </a:t>
            </a:r>
          </a:p>
          <a:p>
            <a:pPr lvl="1"/>
            <a:r>
              <a:rPr lang="en-US" dirty="0"/>
              <a:t>Produces Normally distributed residuals</a:t>
            </a:r>
          </a:p>
          <a:p>
            <a:pPr lvl="0"/>
            <a:r>
              <a:rPr lang="en-US" dirty="0"/>
              <a:t>Can use many types of predictor variables, linear and nonlinear</a:t>
            </a:r>
          </a:p>
          <a:p>
            <a:pPr lvl="1"/>
            <a:r>
              <a:rPr lang="en-US" b="1" dirty="0"/>
              <a:t>Model is linear in parameters</a:t>
            </a:r>
            <a:endParaRPr lang="ar-AE" b="1" dirty="0"/>
          </a:p>
          <a:p>
            <a:pPr lvl="0"/>
            <a:r>
              <a:rPr lang="en-US" dirty="0"/>
              <a:t>We prefer the simplest model that does the job</a:t>
            </a:r>
          </a:p>
          <a:p>
            <a:pPr lvl="1"/>
            <a:r>
              <a:rPr lang="en-US" dirty="0"/>
              <a:t>Parsimonious model has the fewest parameters required to explain the data</a:t>
            </a:r>
          </a:p>
          <a:p>
            <a:pPr lvl="1"/>
            <a:r>
              <a:rPr lang="en-US" dirty="0"/>
              <a:t>The principle of </a:t>
            </a:r>
            <a:r>
              <a:rPr lang="en-US" b="1" dirty="0"/>
              <a:t>Occam’s razor</a:t>
            </a:r>
            <a:endParaRPr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4FB5E0C-230E-A1DA-22EE-8125D4625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B3934-5528-A0FF-93FF-90091BE0A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4803B6-BEF1-D7FF-3A7D-CBEBF018D0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30"/>
            <a:ext cx="8229600" cy="394518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Linear models are interpretable and idea for inference</a:t>
            </a:r>
          </a:p>
          <a:p>
            <a:pPr lvl="0"/>
            <a:r>
              <a:rPr lang="en-US" dirty="0"/>
              <a:t>Repose to changes in independent variables is predictable</a:t>
            </a:r>
          </a:p>
          <a:p>
            <a:pPr lvl="1"/>
            <a:r>
              <a:rPr lang="en-US" dirty="0"/>
              <a:t>Model parameters provide </a:t>
            </a:r>
            <a:r>
              <a:rPr lang="en-US" b="1" dirty="0"/>
              <a:t>quantitative sensitivity </a:t>
            </a:r>
            <a:r>
              <a:rPr lang="en-US" dirty="0"/>
              <a:t>to changes in independent variables </a:t>
            </a:r>
          </a:p>
          <a:p>
            <a:pPr lvl="0"/>
            <a:r>
              <a:rPr lang="en-US" dirty="0"/>
              <a:t>Model fit can be tested</a:t>
            </a:r>
          </a:p>
          <a:p>
            <a:pPr lvl="1"/>
            <a:r>
              <a:rPr lang="en-US" dirty="0"/>
              <a:t>Reject hypothesis of null model</a:t>
            </a:r>
          </a:p>
          <a:p>
            <a:pPr lvl="1"/>
            <a:r>
              <a:rPr lang="en-US" dirty="0"/>
              <a:t>Reject hypothesis of non-significant model coefficients </a:t>
            </a:r>
          </a:p>
          <a:p>
            <a:pPr lvl="1"/>
            <a:r>
              <a:rPr lang="en-US" dirty="0"/>
              <a:t>Compare models by variance explained, properties of residuals and confidence intervals of model parameters</a:t>
            </a:r>
          </a:p>
        </p:txBody>
      </p:sp>
    </p:spTree>
    <p:extLst>
      <p:ext uri="{BB962C8B-B14F-4D97-AF65-F5344CB8AC3E}">
        <p14:creationId xmlns:p14="http://schemas.microsoft.com/office/powerpoint/2010/main" val="2300349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When evaluating any machine learning model consider </a:t>
            </a:r>
            <a:r>
              <a:rPr b="1" dirty="0"/>
              <a:t>all evaluation methods available</a:t>
            </a:r>
          </a:p>
          <a:p>
            <a:pPr lvl="0"/>
            <a:r>
              <a:rPr dirty="0"/>
              <a:t>No one method best all of the time</a:t>
            </a:r>
          </a:p>
          <a:p>
            <a:pPr lvl="0"/>
            <a:r>
              <a:rPr lang="en-US" dirty="0"/>
              <a:t>Test for h</a:t>
            </a:r>
            <a:r>
              <a:rPr dirty="0"/>
              <a:t>omoscedastic Normally distributed residuals</a:t>
            </a:r>
            <a:endParaRPr lang="en-US" dirty="0"/>
          </a:p>
          <a:p>
            <a:pPr lvl="1"/>
            <a:r>
              <a:rPr lang="en-US" dirty="0"/>
              <a:t>Residual Plots</a:t>
            </a:r>
          </a:p>
          <a:p>
            <a:pPr lvl="1"/>
            <a:r>
              <a:rPr lang="en-US" dirty="0"/>
              <a:t>Formal tests – Omnibus, Jarque-Bera, etc. </a:t>
            </a:r>
            <a:endParaRPr dirty="0"/>
          </a:p>
          <a:p>
            <a:pPr lvl="0"/>
            <a:r>
              <a:rPr lang="en-US" dirty="0"/>
              <a:t>Are</a:t>
            </a:r>
            <a:r>
              <a:rPr dirty="0"/>
              <a:t> model and its coefficients </a:t>
            </a:r>
            <a:r>
              <a:rPr lang="en-US" dirty="0"/>
              <a:t>statistically </a:t>
            </a:r>
            <a:r>
              <a:rPr dirty="0"/>
              <a:t>significant?</a:t>
            </a:r>
          </a:p>
          <a:p>
            <a:pPr lvl="1"/>
            <a:r>
              <a:rPr dirty="0"/>
              <a:t>F</a:t>
            </a:r>
            <a:r>
              <a:rPr lang="en-US" dirty="0"/>
              <a:t>-</a:t>
            </a:r>
            <a:r>
              <a:rPr dirty="0"/>
              <a:t>test </a:t>
            </a:r>
            <a:r>
              <a:rPr lang="en-US" dirty="0"/>
              <a:t>on model significance</a:t>
            </a:r>
            <a:endParaRPr dirty="0"/>
          </a:p>
          <a:p>
            <a:pPr lvl="1"/>
            <a:r>
              <a:rPr dirty="0"/>
              <a:t>t-test on model parameter </a:t>
            </a:r>
            <a:r>
              <a:rPr lang="en-US" dirty="0"/>
              <a:t>significance</a:t>
            </a:r>
            <a:endParaRPr dirty="0"/>
          </a:p>
          <a:p>
            <a:pPr lvl="0"/>
            <a:r>
              <a:rPr b="1" dirty="0"/>
              <a:t>Different methods highlight different problems</a:t>
            </a:r>
            <a:r>
              <a:rPr dirty="0"/>
              <a:t> with your model</a:t>
            </a:r>
          </a:p>
          <a:p>
            <a:pPr lvl="0"/>
            <a:r>
              <a:rPr dirty="0"/>
              <a:t>Don’t forget to check that the </a:t>
            </a:r>
            <a:r>
              <a:rPr b="1" dirty="0"/>
              <a:t>model must make sense</a:t>
            </a:r>
            <a:r>
              <a:rPr dirty="0"/>
              <a:t> for your application!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dirty="0"/>
              <a:t>There are a number of assumptions in linear models that you overlook at your peril!</a:t>
            </a:r>
          </a:p>
          <a:p>
            <a:pPr lvl="0"/>
            <a:r>
              <a:rPr dirty="0"/>
              <a:t>The </a:t>
            </a:r>
            <a:r>
              <a:rPr lang="en-US" dirty="0"/>
              <a:t>independent</a:t>
            </a:r>
            <a:r>
              <a:rPr dirty="0"/>
              <a:t> or predictor variables should be </a:t>
            </a:r>
            <a:r>
              <a:rPr b="1" dirty="0"/>
              <a:t>independent</a:t>
            </a:r>
            <a:r>
              <a:rPr dirty="0"/>
              <a:t> of one another</a:t>
            </a:r>
          </a:p>
          <a:p>
            <a:pPr lvl="1"/>
            <a:r>
              <a:rPr dirty="0"/>
              <a:t>This is rarely true in practice</a:t>
            </a:r>
          </a:p>
          <a:p>
            <a:pPr lvl="1"/>
            <a:r>
              <a:rPr b="1" dirty="0"/>
              <a:t>Multi-collinearity</a:t>
            </a:r>
            <a:r>
              <a:rPr dirty="0"/>
              <a:t> between features makes the model </a:t>
            </a:r>
            <a:r>
              <a:rPr b="1" dirty="0"/>
              <a:t>under-determined</a:t>
            </a:r>
          </a:p>
          <a:p>
            <a:pPr lvl="0"/>
            <a:r>
              <a:rPr dirty="0"/>
              <a:t>We </a:t>
            </a:r>
            <a:r>
              <a:rPr lang="en-US" dirty="0"/>
              <a:t>want </a:t>
            </a:r>
            <a:r>
              <a:rPr dirty="0"/>
              <a:t>numeric features or predictors have </a:t>
            </a:r>
            <a:r>
              <a:rPr b="1" dirty="0"/>
              <a:t>zero mean</a:t>
            </a:r>
            <a:r>
              <a:rPr dirty="0"/>
              <a:t> and about the </a:t>
            </a:r>
            <a:r>
              <a:rPr b="1" dirty="0"/>
              <a:t>same scale</a:t>
            </a:r>
          </a:p>
          <a:p>
            <a:pPr lvl="1"/>
            <a:r>
              <a:rPr lang="en-US" dirty="0"/>
              <a:t>Intercept is the mean of the response variable</a:t>
            </a:r>
          </a:p>
          <a:p>
            <a:pPr lvl="1"/>
            <a:r>
              <a:rPr lang="en-US" dirty="0"/>
              <a:t>Predictors </a:t>
            </a:r>
            <a:r>
              <a:rPr dirty="0"/>
              <a:t>with a large numeric range </a:t>
            </a:r>
            <a:r>
              <a:rPr lang="en-US" dirty="0"/>
              <a:t>must not </a:t>
            </a:r>
            <a:r>
              <a:rPr dirty="0"/>
              <a:t>dominate training</a:t>
            </a:r>
          </a:p>
          <a:p>
            <a:pPr lvl="0"/>
            <a:r>
              <a:rPr dirty="0"/>
              <a:t>Values of each predictor or </a:t>
            </a:r>
            <a:r>
              <a:rPr lang="en-US" dirty="0"/>
              <a:t>independent variables</a:t>
            </a:r>
            <a:r>
              <a:rPr dirty="0"/>
              <a:t> should be </a:t>
            </a:r>
            <a:r>
              <a:rPr dirty="0" err="1"/>
              <a:t>iid</a:t>
            </a:r>
            <a:endParaRPr dirty="0"/>
          </a:p>
          <a:p>
            <a:pPr lvl="1"/>
            <a:r>
              <a:rPr dirty="0"/>
              <a:t>If variance changes with sample, the coefficient </a:t>
            </a:r>
            <a:r>
              <a:rPr lang="en-US" dirty="0"/>
              <a:t>can</a:t>
            </a:r>
            <a:r>
              <a:rPr dirty="0"/>
              <a:t>not</a:t>
            </a:r>
            <a:r>
              <a:rPr lang="en-US" dirty="0"/>
              <a:t> be</a:t>
            </a:r>
            <a:r>
              <a:rPr dirty="0"/>
              <a:t> constant</a:t>
            </a:r>
          </a:p>
          <a:p>
            <a:pPr lvl="1"/>
            <a:r>
              <a:rPr dirty="0"/>
              <a:t>If </a:t>
            </a:r>
            <a:r>
              <a:rPr lang="en-US" dirty="0"/>
              <a:t>predictor values have </a:t>
            </a:r>
            <a:r>
              <a:rPr b="1" dirty="0"/>
              <a:t>serial correlation</a:t>
            </a:r>
            <a:r>
              <a:rPr dirty="0"/>
              <a:t> the </a:t>
            </a:r>
            <a:r>
              <a:rPr dirty="0" err="1"/>
              <a:t>iid</a:t>
            </a:r>
            <a:r>
              <a:rPr dirty="0"/>
              <a:t> assumption is violated - use time series models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23FD5D-2916-D92A-E234-E7CBB1C5E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A9C41-4EF1-29A0-34CF-4C4EBDBB4D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7520654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874769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lang="en-US" dirty="0"/>
              <a:t>Generalize the linear model to accommodate </a:t>
            </a:r>
            <a:r>
              <a:rPr lang="en-US" b="1" dirty="0"/>
              <a:t>non-Normally distributed variables</a:t>
            </a:r>
          </a:p>
          <a:p>
            <a:pPr lvl="0"/>
            <a:r>
              <a:rPr dirty="0"/>
              <a:t>Working with categorical variables</a:t>
            </a:r>
          </a:p>
          <a:p>
            <a:pPr lvl="1"/>
            <a:r>
              <a:rPr b="1" dirty="0"/>
              <a:t>One-hot encoding</a:t>
            </a:r>
            <a:r>
              <a:rPr lang="en-US" dirty="0"/>
              <a:t> of categorical variables</a:t>
            </a:r>
            <a:endParaRPr dirty="0"/>
          </a:p>
          <a:p>
            <a:pPr lvl="1"/>
            <a:r>
              <a:rPr dirty="0"/>
              <a:t>Working with </a:t>
            </a:r>
            <a:r>
              <a:rPr b="1" dirty="0"/>
              <a:t>contrasts</a:t>
            </a:r>
            <a:endParaRPr dirty="0"/>
          </a:p>
          <a:p>
            <a:pPr lvl="1"/>
            <a:r>
              <a:rPr lang="en-US" dirty="0"/>
              <a:t>Interpreting </a:t>
            </a:r>
            <a:r>
              <a:rPr lang="en-US" b="1" dirty="0"/>
              <a:t>e</a:t>
            </a:r>
            <a:r>
              <a:rPr b="1" dirty="0"/>
              <a:t>ffect </a:t>
            </a:r>
            <a:r>
              <a:rPr lang="en-US" b="1" dirty="0"/>
              <a:t>sizes</a:t>
            </a:r>
            <a:r>
              <a:rPr dirty="0"/>
              <a:t> </a:t>
            </a:r>
            <a:endParaRPr lang="en-US" dirty="0"/>
          </a:p>
          <a:p>
            <a:pPr lvl="1"/>
            <a:r>
              <a:rPr lang="en-US" dirty="0"/>
              <a:t>Applying </a:t>
            </a:r>
            <a:r>
              <a:rPr lang="en-US" b="1" dirty="0"/>
              <a:t>effect a</a:t>
            </a:r>
            <a:r>
              <a:rPr b="1" dirty="0"/>
              <a:t>djustments</a:t>
            </a:r>
          </a:p>
          <a:p>
            <a:pPr lvl="0"/>
            <a:r>
              <a:rPr dirty="0"/>
              <a:t>Building models with nonlinear </a:t>
            </a:r>
            <a:r>
              <a:rPr lang="en-US" dirty="0"/>
              <a:t>and</a:t>
            </a:r>
            <a:r>
              <a:rPr dirty="0"/>
              <a:t> non-Normal response</a:t>
            </a:r>
          </a:p>
          <a:p>
            <a:pPr lvl="1"/>
            <a:r>
              <a:rPr dirty="0"/>
              <a:t>Use </a:t>
            </a:r>
            <a:r>
              <a:rPr b="1" dirty="0"/>
              <a:t>generalized linear model (GLM)</a:t>
            </a:r>
            <a:r>
              <a:rPr dirty="0"/>
              <a:t> for nonlinear response</a:t>
            </a:r>
          </a:p>
          <a:p>
            <a:pPr lvl="1"/>
            <a:r>
              <a:rPr lang="en-US" dirty="0"/>
              <a:t>GLM for Binomial, categorical, Poisson, ordinal etc., regression</a:t>
            </a:r>
          </a:p>
          <a:p>
            <a:pPr lvl="1"/>
            <a:r>
              <a:rPr b="1" dirty="0"/>
              <a:t>Link function</a:t>
            </a:r>
            <a:r>
              <a:rPr dirty="0"/>
              <a:t> transforms nonlinear model to linear model</a:t>
            </a:r>
          </a:p>
          <a:p>
            <a:pPr lvl="1"/>
            <a:r>
              <a:rPr dirty="0"/>
              <a:t>Evaluating </a:t>
            </a:r>
            <a:r>
              <a:rPr lang="en-US" dirty="0"/>
              <a:t>nonlinear</a:t>
            </a:r>
            <a:r>
              <a:rPr dirty="0"/>
              <a:t> response models</a:t>
            </a:r>
          </a:p>
          <a:p>
            <a:pPr lvl="1"/>
            <a:r>
              <a:rPr dirty="0"/>
              <a:t>Compare model performance with </a:t>
            </a:r>
            <a:r>
              <a:rPr b="1" dirty="0"/>
              <a:t>deviance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890FB-523D-75F9-98C2-8A82368556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Working with Categorical Variables </a:t>
            </a:r>
          </a:p>
        </p:txBody>
      </p:sp>
    </p:spTree>
    <p:extLst>
      <p:ext uri="{BB962C8B-B14F-4D97-AF65-F5344CB8AC3E}">
        <p14:creationId xmlns:p14="http://schemas.microsoft.com/office/powerpoint/2010/main" val="5994672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701033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Linear models, like nearly all machine learning models, use numeric features</a:t>
            </a:r>
          </a:p>
          <a:p>
            <a:pPr lvl="0"/>
            <a:r>
              <a:rPr dirty="0"/>
              <a:t>How </a:t>
            </a:r>
            <a:r>
              <a:rPr lang="en-US" dirty="0"/>
              <a:t>do we use</a:t>
            </a:r>
            <a:r>
              <a:rPr dirty="0"/>
              <a:t> categorical </a:t>
            </a:r>
            <a:r>
              <a:rPr lang="en-US" dirty="0" err="1"/>
              <a:t>indendent</a:t>
            </a:r>
            <a:r>
              <a:rPr lang="en-US" dirty="0"/>
              <a:t> </a:t>
            </a:r>
            <a:r>
              <a:rPr dirty="0"/>
              <a:t>variables in linear models?</a:t>
            </a:r>
          </a:p>
          <a:p>
            <a:pPr lvl="0"/>
            <a:r>
              <a:rPr dirty="0"/>
              <a:t>Need to transform categories to numeric variables with </a:t>
            </a:r>
            <a:r>
              <a:rPr b="1" dirty="0"/>
              <a:t>one hot encoding</a:t>
            </a:r>
          </a:p>
          <a:p>
            <a:pPr lvl="1"/>
            <a:r>
              <a:rPr dirty="0"/>
              <a:t>Each category becomes a binary </a:t>
            </a:r>
            <a:r>
              <a:rPr b="1" dirty="0"/>
              <a:t>dummy variable</a:t>
            </a:r>
            <a:r>
              <a:rPr dirty="0"/>
              <a:t>, encoded [0,1]</a:t>
            </a:r>
          </a:p>
          <a:p>
            <a:pPr lvl="1"/>
            <a:r>
              <a:rPr dirty="0"/>
              <a:t>Only one dummy variable has nonzero value</a:t>
            </a:r>
            <a:r>
              <a:rPr lang="en-US" dirty="0"/>
              <a:t>,</a:t>
            </a:r>
            <a:r>
              <a:rPr dirty="0"/>
              <a:t> encod</a:t>
            </a:r>
            <a:r>
              <a:rPr lang="en-US" dirty="0"/>
              <a:t>ing</a:t>
            </a:r>
            <a:r>
              <a:rPr dirty="0"/>
              <a:t> the category</a:t>
            </a:r>
            <a:endParaRPr lang="en-US" dirty="0"/>
          </a:p>
          <a:p>
            <a:pPr marL="342900" lvl="1" indent="0">
              <a:buNone/>
            </a:pPr>
            <a:r>
              <a:rPr lang="en-US" dirty="0">
                <a:solidFill>
                  <a:schemeClr val="tx2"/>
                </a:solidFill>
              </a:rPr>
              <a:t>Note: for high-cardinality categorical variables use embedding algorithms – beyond the scope of this course</a:t>
            </a: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2" y="841248"/>
            <a:ext cx="8229600" cy="1876044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We can construct the model matrices for the auto data using the </a:t>
            </a:r>
            <a:r>
              <a:rPr lang="en-US" sz="2000" dirty="0">
                <a:hlinkClick r:id="rId2"/>
              </a:rPr>
              <a:t>patsy package</a:t>
            </a:r>
            <a:endParaRPr lang="en-US" sz="2000" dirty="0"/>
          </a:p>
          <a:p>
            <a:pPr marL="0" lvl="0" indent="0">
              <a:buNone/>
            </a:pPr>
            <a:r>
              <a:rPr lang="en-US" sz="2000" dirty="0"/>
              <a:t>Create design matrix </a:t>
            </a:r>
            <a:r>
              <a:rPr lang="en-US" sz="2000" b="1" dirty="0"/>
              <a:t>with an intercept term</a:t>
            </a:r>
            <a:endParaRPr sz="2000" b="1" dirty="0"/>
          </a:p>
          <a:p>
            <a:pPr lvl="0" indent="0">
              <a:buNone/>
            </a:pPr>
            <a:r>
              <a:rPr sz="1600" b="1" dirty="0">
                <a:solidFill>
                  <a:srgbClr val="008000"/>
                </a:solidFill>
                <a:latin typeface="Courier"/>
              </a:rPr>
              <a:t>from</a:t>
            </a:r>
            <a:r>
              <a:rPr sz="1600" dirty="0">
                <a:latin typeface="Courier"/>
              </a:rPr>
              <a:t> patsy </a:t>
            </a:r>
            <a:r>
              <a:rPr sz="1600" b="1" dirty="0">
                <a:solidFill>
                  <a:srgbClr val="008000"/>
                </a:solidFill>
                <a:latin typeface="Courier"/>
              </a:rPr>
              <a:t>import</a:t>
            </a:r>
            <a:r>
              <a:rPr sz="1600" dirty="0">
                <a:latin typeface="Courier"/>
              </a:rPr>
              <a:t> </a:t>
            </a:r>
            <a:r>
              <a:rPr sz="1600" dirty="0" err="1">
                <a:latin typeface="Courier"/>
              </a:rPr>
              <a:t>dmatrices</a:t>
            </a:r>
            <a:br>
              <a:rPr sz="1600" dirty="0"/>
            </a:br>
            <a:r>
              <a:rPr lang="en-US" sz="1600" dirty="0">
                <a:latin typeface="Courier"/>
              </a:rPr>
              <a:t>Y, X = </a:t>
            </a:r>
            <a:r>
              <a:rPr lang="en-US" sz="1600" dirty="0" err="1">
                <a:latin typeface="Courier"/>
              </a:rPr>
              <a:t>dmatrices</a:t>
            </a:r>
            <a:r>
              <a:rPr lang="en-US" sz="1600" dirty="0">
                <a:latin typeface="Courier"/>
              </a:rPr>
              <a:t>('</a:t>
            </a:r>
            <a:r>
              <a:rPr lang="en-US" sz="1600" dirty="0" err="1">
                <a:latin typeface="Courier"/>
              </a:rPr>
              <a:t>city_mpg</a:t>
            </a:r>
            <a:r>
              <a:rPr lang="en-US" sz="1600" dirty="0">
                <a:latin typeface="Courier"/>
              </a:rPr>
              <a:t> ~ C(</a:t>
            </a:r>
            <a:r>
              <a:rPr lang="en-US" sz="1600" dirty="0" err="1">
                <a:latin typeface="Courier"/>
              </a:rPr>
              <a:t>body_style</a:t>
            </a:r>
            <a:r>
              <a:rPr lang="en-US" sz="1600" dirty="0">
                <a:latin typeface="Courier"/>
              </a:rPr>
              <a:t>) + </a:t>
            </a:r>
            <a:r>
              <a:rPr lang="en-US" sz="1600" dirty="0" err="1">
                <a:latin typeface="Courier"/>
              </a:rPr>
              <a:t>curb_weight</a:t>
            </a:r>
            <a:r>
              <a:rPr lang="en-US" sz="1600" dirty="0">
                <a:latin typeface="Courier"/>
              </a:rPr>
              <a:t> + </a:t>
            </a:r>
            <a:r>
              <a:rPr lang="en-US" sz="1600" dirty="0" err="1">
                <a:latin typeface="Courier"/>
              </a:rPr>
              <a:t>engine_size</a:t>
            </a:r>
            <a:r>
              <a:rPr lang="en-US" sz="1600" dirty="0">
                <a:latin typeface="Courier"/>
              </a:rPr>
              <a:t>', data=</a:t>
            </a:r>
            <a:r>
              <a:rPr lang="en-US" sz="1600" dirty="0" err="1">
                <a:latin typeface="Courier"/>
              </a:rPr>
              <a:t>auto_data</a:t>
            </a:r>
            <a:r>
              <a:rPr lang="en-US" sz="1600" dirty="0">
                <a:latin typeface="Courier"/>
              </a:rPr>
              <a:t>) </a:t>
            </a:r>
            <a:r>
              <a:rPr sz="1600" dirty="0">
                <a:solidFill>
                  <a:srgbClr val="008000"/>
                </a:solidFill>
                <a:latin typeface="Courier"/>
              </a:rPr>
              <a:t>print</a:t>
            </a:r>
            <a:r>
              <a:rPr sz="1600" dirty="0">
                <a:latin typeface="Courier"/>
              </a:rPr>
              <a:t>(X[:</a:t>
            </a:r>
            <a:r>
              <a:rPr sz="1600" dirty="0">
                <a:solidFill>
                  <a:srgbClr val="40A070"/>
                </a:solidFill>
                <a:latin typeface="Courier"/>
              </a:rPr>
              <a:t>5</a:t>
            </a:r>
            <a:r>
              <a:rPr sz="1600" dirty="0">
                <a:latin typeface="Courier"/>
              </a:rPr>
              <a:t>])</a:t>
            </a:r>
            <a:endParaRPr lang="en-US" sz="1600" dirty="0">
              <a:latin typeface="Courier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8752" y="2619756"/>
                <a:ext cx="6325616" cy="4754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The design matrix,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/>
                  <a:t>:</a:t>
                </a:r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752" y="2619756"/>
                <a:ext cx="6325616" cy="475488"/>
              </a:xfrm>
              <a:prstGeom prst="rect">
                <a:avLst/>
              </a:prstGeom>
              <a:blipFill>
                <a:blip r:embed="rId3"/>
                <a:stretch>
                  <a:fillRect l="-963" t="-7692" b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54368" y="2607564"/>
                <a:ext cx="2082800" cy="3684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Repones array,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/>
                  <a:t>: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4368" y="2607564"/>
                <a:ext cx="2082800" cy="368429"/>
              </a:xfrm>
              <a:prstGeom prst="rect">
                <a:avLst/>
              </a:prstGeom>
              <a:blipFill>
                <a:blip r:embed="rId4"/>
                <a:stretch>
                  <a:fillRect l="-2924" t="-10000" b="-3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22BB4F01-7E7C-C3FD-B9A1-43827B10A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118" y="2956824"/>
            <a:ext cx="663650" cy="12580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E39820D-4D9C-D60B-7091-3688658BA9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752" y="2956824"/>
            <a:ext cx="6140704" cy="1275689"/>
          </a:xfrm>
          <a:prstGeom prst="rect">
            <a:avLst/>
          </a:prstGeom>
        </p:spPr>
      </p:pic>
      <p:sp>
        <p:nvSpPr>
          <p:cNvPr id="8" name="Left Brace 7">
            <a:extLst>
              <a:ext uri="{FF2B5EF4-FFF2-40B4-BE49-F238E27FC236}">
                <a16:creationId xmlns:a16="http://schemas.microsoft.com/office/drawing/2014/main" id="{5E7C84B9-374D-EBC1-47CC-4225C2F79852}"/>
              </a:ext>
            </a:extLst>
          </p:cNvPr>
          <p:cNvSpPr/>
          <p:nvPr/>
        </p:nvSpPr>
        <p:spPr>
          <a:xfrm rot="16200000">
            <a:off x="2811511" y="2848356"/>
            <a:ext cx="239298" cy="290779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0014CD9-889D-8BE3-7334-04C2AA4A7901}"/>
              </a:ext>
            </a:extLst>
          </p:cNvPr>
          <p:cNvSpPr txBox="1">
            <a:spLocks/>
          </p:cNvSpPr>
          <p:nvPr/>
        </p:nvSpPr>
        <p:spPr>
          <a:xfrm>
            <a:off x="516682" y="4421421"/>
            <a:ext cx="4907372" cy="5161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b="1" dirty="0"/>
              <a:t>Wait! Why are there only 4 dummy variables for 5 levels of the `</a:t>
            </a:r>
            <a:r>
              <a:rPr lang="en-US" sz="2000" b="1" dirty="0" err="1"/>
              <a:t>body_style</a:t>
            </a:r>
            <a:r>
              <a:rPr lang="en-US" sz="2000" b="1" dirty="0"/>
              <a:t>`?</a:t>
            </a:r>
            <a:endParaRPr lang="en-US" sz="1600" b="1" dirty="0">
              <a:latin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662289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 animBg="1"/>
      <p:bldP spid="9" grpId="0" build="allAtOnce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happened to the coefficient for the first level of `</a:t>
                </a:r>
                <a:r>
                  <a:rPr lang="en-US" dirty="0" err="1"/>
                  <a:t>body_style</a:t>
                </a:r>
                <a:r>
                  <a:rPr lang="en-US" dirty="0"/>
                  <a:t>`?</a:t>
                </a:r>
              </a:p>
              <a:p>
                <a:pPr lvl="0"/>
                <a:r>
                  <a:rPr lang="en-US" dirty="0"/>
                  <a:t>Consider the following possible ways we can encode responses to a categorical variable - often called </a:t>
                </a:r>
                <a:r>
                  <a:rPr lang="en-US" b="1" dirty="0"/>
                  <a:t>treatments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  <a:p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treatments have effect sizes,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/>
                  <a:t>, and parameter are the mean response estimates,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ar-A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Alternative encoding is a treatment with intercept,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contrasts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The intercept is the </a:t>
                </a:r>
                <a:r>
                  <a:rPr lang="en-US" b="1" dirty="0"/>
                  <a:t>mean response</a:t>
                </a:r>
                <a:r>
                  <a:rPr lang="en-US" dirty="0"/>
                  <a:t> of the first level,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  <a:blipFill>
                <a:blip r:embed="rId2"/>
                <a:stretch>
                  <a:fillRect l="-1111" t="-2077" b="-1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90417-B8CA-AC0D-609B-8076AF89A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510A9-F83C-9E4E-5C37-44644CB0A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15595F-95D8-476F-D36C-48DFB95939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happened to the coefficient for the first level of `</a:t>
                </a:r>
                <a:r>
                  <a:rPr lang="en-US" dirty="0" err="1"/>
                  <a:t>body_style</a:t>
                </a:r>
                <a:r>
                  <a:rPr lang="en-US" dirty="0"/>
                  <a:t>`?</a:t>
                </a:r>
                <a:endParaRPr lang="ar-AE" dirty="0"/>
              </a:p>
              <a:p>
                <a:pPr lvl="0"/>
                <a:r>
                  <a:rPr lang="en-US" dirty="0"/>
                  <a:t>The intercept is the </a:t>
                </a:r>
                <a:r>
                  <a:rPr lang="en-US" b="1" dirty="0"/>
                  <a:t>mean response</a:t>
                </a:r>
                <a:r>
                  <a:rPr lang="en-US" dirty="0"/>
                  <a:t> of the first level,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The other coefficients are </a:t>
                </a:r>
                <a:r>
                  <a:rPr lang="en-US" b="1" dirty="0"/>
                  <a:t>contrasts</a:t>
                </a:r>
                <a:r>
                  <a:rPr lang="en-US" dirty="0"/>
                  <a:t> with respect to the mean of the first level.</a:t>
                </a:r>
              </a:p>
              <a:p>
                <a:pPr lvl="0"/>
                <a:r>
                  <a:rPr lang="en-US" dirty="0"/>
                  <a:t>The effect sizes and contrasts are related: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15595F-95D8-476F-D36C-48DFB95939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  <a:blipFill>
                <a:blip r:embed="rId2"/>
                <a:stretch>
                  <a:fillRect l="-1111" t="-1187" r="-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0376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2" y="841247"/>
            <a:ext cx="8229600" cy="1849257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We can construct the model matrices for the auto data using the </a:t>
            </a:r>
            <a:r>
              <a:rPr lang="en-US" sz="2000" dirty="0">
                <a:hlinkClick r:id="rId2"/>
              </a:rPr>
              <a:t>patsy package</a:t>
            </a:r>
            <a:endParaRPr lang="en-US" sz="2000" dirty="0"/>
          </a:p>
          <a:p>
            <a:pPr marL="0" lvl="0" indent="0">
              <a:buNone/>
            </a:pPr>
            <a:r>
              <a:rPr lang="en-US" sz="2000" dirty="0"/>
              <a:t>Design matrix with </a:t>
            </a:r>
            <a:r>
              <a:rPr lang="en-US" sz="2000" b="1" dirty="0"/>
              <a:t>no intercept term</a:t>
            </a:r>
            <a:endParaRPr sz="2000" b="1" dirty="0"/>
          </a:p>
          <a:p>
            <a:pPr lvl="0" indent="0">
              <a:buNone/>
            </a:pPr>
            <a:r>
              <a:rPr sz="1600" b="1" dirty="0">
                <a:solidFill>
                  <a:srgbClr val="008000"/>
                </a:solidFill>
                <a:latin typeface="Courier"/>
              </a:rPr>
              <a:t>from</a:t>
            </a:r>
            <a:r>
              <a:rPr sz="1600" dirty="0">
                <a:latin typeface="Courier"/>
              </a:rPr>
              <a:t> patsy </a:t>
            </a:r>
            <a:r>
              <a:rPr sz="1600" b="1" dirty="0">
                <a:solidFill>
                  <a:srgbClr val="008000"/>
                </a:solidFill>
                <a:latin typeface="Courier"/>
              </a:rPr>
              <a:t>import</a:t>
            </a:r>
            <a:r>
              <a:rPr sz="1600" dirty="0">
                <a:latin typeface="Courier"/>
              </a:rPr>
              <a:t> </a:t>
            </a:r>
            <a:r>
              <a:rPr sz="1600" dirty="0" err="1">
                <a:latin typeface="Courier"/>
              </a:rPr>
              <a:t>dmatrices</a:t>
            </a:r>
            <a:br>
              <a:rPr sz="1600" dirty="0"/>
            </a:br>
            <a:r>
              <a:rPr lang="en-US" sz="1600" dirty="0">
                <a:latin typeface="Courier"/>
              </a:rPr>
              <a:t>Y, X = </a:t>
            </a:r>
            <a:r>
              <a:rPr lang="en-US" sz="1600" dirty="0" err="1">
                <a:latin typeface="Courier"/>
              </a:rPr>
              <a:t>dmatrices</a:t>
            </a:r>
            <a:r>
              <a:rPr lang="en-US" sz="1600" dirty="0">
                <a:latin typeface="Courier"/>
              </a:rPr>
              <a:t>('</a:t>
            </a:r>
            <a:r>
              <a:rPr lang="en-US" sz="1600" dirty="0" err="1">
                <a:latin typeface="Courier"/>
              </a:rPr>
              <a:t>city_mpg</a:t>
            </a:r>
            <a:r>
              <a:rPr lang="en-US" sz="1600" dirty="0">
                <a:latin typeface="Courier"/>
              </a:rPr>
              <a:t> ~ </a:t>
            </a:r>
            <a:r>
              <a:rPr lang="en-US" sz="1600" b="1" dirty="0">
                <a:solidFill>
                  <a:srgbClr val="C00000"/>
                </a:solidFill>
                <a:latin typeface="Courier"/>
              </a:rPr>
              <a:t>-1</a:t>
            </a:r>
            <a:r>
              <a:rPr lang="en-US" sz="1600" dirty="0">
                <a:latin typeface="Courier"/>
              </a:rPr>
              <a:t> + C(</a:t>
            </a:r>
            <a:r>
              <a:rPr lang="en-US" sz="1600" dirty="0" err="1">
                <a:latin typeface="Courier"/>
              </a:rPr>
              <a:t>body_style</a:t>
            </a:r>
            <a:r>
              <a:rPr lang="en-US" sz="1600" dirty="0">
                <a:latin typeface="Courier"/>
              </a:rPr>
              <a:t>) + </a:t>
            </a:r>
            <a:r>
              <a:rPr lang="en-US" sz="1600" dirty="0" err="1">
                <a:latin typeface="Courier"/>
              </a:rPr>
              <a:t>curb_weight</a:t>
            </a:r>
            <a:r>
              <a:rPr lang="en-US" sz="1600" dirty="0">
                <a:latin typeface="Courier"/>
              </a:rPr>
              <a:t> + </a:t>
            </a:r>
            <a:r>
              <a:rPr lang="en-US" sz="1600" dirty="0" err="1">
                <a:latin typeface="Courier"/>
              </a:rPr>
              <a:t>engine_size</a:t>
            </a:r>
            <a:r>
              <a:rPr lang="en-US" sz="1600" dirty="0">
                <a:latin typeface="Courier"/>
              </a:rPr>
              <a:t>', data=</a:t>
            </a:r>
            <a:r>
              <a:rPr lang="en-US" sz="1600" dirty="0" err="1">
                <a:latin typeface="Courier"/>
              </a:rPr>
              <a:t>auto_data</a:t>
            </a:r>
            <a:r>
              <a:rPr lang="en-US" sz="1600" dirty="0">
                <a:latin typeface="Courier"/>
              </a:rPr>
              <a:t>) </a:t>
            </a:r>
            <a:r>
              <a:rPr sz="1600" dirty="0">
                <a:solidFill>
                  <a:srgbClr val="008000"/>
                </a:solidFill>
                <a:latin typeface="Courier"/>
              </a:rPr>
              <a:t>print</a:t>
            </a:r>
            <a:r>
              <a:rPr sz="1600" dirty="0">
                <a:latin typeface="Courier"/>
              </a:rPr>
              <a:t>(X[:</a:t>
            </a:r>
            <a:r>
              <a:rPr sz="1600" dirty="0">
                <a:solidFill>
                  <a:srgbClr val="40A070"/>
                </a:solidFill>
                <a:latin typeface="Courier"/>
              </a:rPr>
              <a:t>5</a:t>
            </a:r>
            <a:r>
              <a:rPr sz="1600" dirty="0">
                <a:latin typeface="Courier"/>
              </a:rPr>
              <a:t>])</a:t>
            </a:r>
            <a:endParaRPr lang="en-US" sz="1600" dirty="0">
              <a:latin typeface="Courier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2656" y="2580894"/>
                <a:ext cx="6325616" cy="4754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The design matrix,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/>
                  <a:t>:</a:t>
                </a:r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656" y="2580894"/>
                <a:ext cx="6325616" cy="475488"/>
              </a:xfrm>
              <a:prstGeom prst="rect">
                <a:avLst/>
              </a:prstGeom>
              <a:blipFill>
                <a:blip r:embed="rId3"/>
                <a:stretch>
                  <a:fillRect l="-963" t="-6410" b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48272" y="2568702"/>
                <a:ext cx="2082800" cy="3684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Repones array,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/>
                  <a:t>: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8272" y="2568702"/>
                <a:ext cx="2082800" cy="368429"/>
              </a:xfrm>
              <a:prstGeom prst="rect">
                <a:avLst/>
              </a:prstGeom>
              <a:blipFill>
                <a:blip r:embed="rId4"/>
                <a:stretch>
                  <a:fillRect l="-2924" t="-8197" b="-36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25C9995F-03B5-0A28-6028-D7C629D0A1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752" y="2937131"/>
            <a:ext cx="5949696" cy="12269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BB4F01-7E7C-C3FD-B9A1-43827B10A1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4268" y="2937131"/>
            <a:ext cx="663650" cy="1258050"/>
          </a:xfrm>
          <a:prstGeom prst="rect">
            <a:avLst/>
          </a:prstGeom>
        </p:spPr>
      </p:pic>
      <p:sp>
        <p:nvSpPr>
          <p:cNvPr id="14" name="Left Brace 13">
            <a:extLst>
              <a:ext uri="{FF2B5EF4-FFF2-40B4-BE49-F238E27FC236}">
                <a16:creationId xmlns:a16="http://schemas.microsoft.com/office/drawing/2014/main" id="{4F06B619-4D57-F002-E436-82429BABFF3A}"/>
              </a:ext>
            </a:extLst>
          </p:cNvPr>
          <p:cNvSpPr/>
          <p:nvPr/>
        </p:nvSpPr>
        <p:spPr>
          <a:xfrm rot="16200000">
            <a:off x="2371583" y="2390016"/>
            <a:ext cx="239298" cy="387299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6ED3BF5-A872-A8EF-DEBC-A2509C67058B}"/>
              </a:ext>
            </a:extLst>
          </p:cNvPr>
          <p:cNvSpPr txBox="1">
            <a:spLocks/>
          </p:cNvSpPr>
          <p:nvPr/>
        </p:nvSpPr>
        <p:spPr>
          <a:xfrm>
            <a:off x="554735" y="4410673"/>
            <a:ext cx="4494784" cy="5161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There are now 5 dummy variables for 5 levels of the `</a:t>
            </a:r>
            <a:r>
              <a:rPr lang="en-US" sz="2000" dirty="0" err="1"/>
              <a:t>body_style</a:t>
            </a:r>
            <a:r>
              <a:rPr lang="en-US" sz="2000" dirty="0"/>
              <a:t>`</a:t>
            </a:r>
            <a:endParaRPr lang="en-US" sz="1600" dirty="0">
              <a:latin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1485807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4" grpId="0" animBg="1"/>
      <p:bldP spid="1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1664"/>
                <a:ext cx="8229600" cy="3742943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In a linear model we can sometimes relate the coefficient values to an effect size</a:t>
                </a:r>
              </a:p>
              <a:p>
                <a:pPr lvl="0"/>
                <a:r>
                  <a:rPr lang="en-US" dirty="0"/>
                  <a:t>Start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treatments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with effect sizes,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With </a:t>
                </a:r>
                <a:r>
                  <a:rPr lang="en-US" b="1" dirty="0"/>
                  <a:t>no intercept term</a:t>
                </a:r>
                <a:r>
                  <a:rPr lang="en-US" dirty="0"/>
                  <a:t> the means represent the effect sizes and parameter values: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b="1" dirty="0"/>
                  <a:t>With intercept term </a:t>
                </a:r>
                <a:r>
                  <a:rPr lang="en-US" dirty="0"/>
                  <a:t>compute effect sizes using contrasts,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1664"/>
                <a:ext cx="8229600" cy="3742943"/>
              </a:xfrm>
              <a:blipFill>
                <a:blip r:embed="rId2"/>
                <a:stretch>
                  <a:fillRect l="-667" t="-21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2" y="943495"/>
            <a:ext cx="4747341" cy="4115423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  <a:p>
            <a:pPr marL="0" lvl="0" indent="0">
              <a:buNone/>
            </a:pP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city_mpg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~ C(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fuel_type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) + 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+ I(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**2)</a:t>
            </a:r>
          </a:p>
          <a:p>
            <a:pPr marL="0" lvl="0" indent="0">
              <a:buNone/>
            </a:pPr>
            <a:endParaRPr lang="en-US" sz="1800" dirty="0"/>
          </a:p>
          <a:p>
            <a:r>
              <a:rPr lang="en-US" sz="1800" dirty="0"/>
              <a:t>All coefficients are significant    </a:t>
            </a:r>
          </a:p>
          <a:p>
            <a:r>
              <a:rPr lang="en-US" sz="1800" dirty="0"/>
              <a:t>The </a:t>
            </a:r>
            <a:r>
              <a:rPr lang="en-US" sz="1800" b="1" dirty="0"/>
              <a:t>intercept</a:t>
            </a:r>
            <a:r>
              <a:rPr lang="en-US" sz="1800" dirty="0"/>
              <a:t> is the </a:t>
            </a:r>
            <a:r>
              <a:rPr lang="en-US" sz="1800" b="1" dirty="0"/>
              <a:t>mean</a:t>
            </a:r>
            <a:r>
              <a:rPr lang="en-US" sz="1800" dirty="0"/>
              <a:t> for the diesel cars </a:t>
            </a:r>
          </a:p>
          <a:p>
            <a:r>
              <a:rPr lang="en-US" sz="1800" dirty="0"/>
              <a:t>The coefficient for gas cars is the </a:t>
            </a:r>
            <a:r>
              <a:rPr lang="en-US" sz="1800" b="1" dirty="0"/>
              <a:t>contrast</a:t>
            </a:r>
            <a:r>
              <a:rPr lang="en-US" sz="1800" dirty="0"/>
              <a:t> with respect to diesel cars   </a:t>
            </a:r>
          </a:p>
          <a:p>
            <a:r>
              <a:rPr lang="en-US" sz="1800" dirty="0"/>
              <a:t>Coefficients for centered </a:t>
            </a:r>
            <a:r>
              <a:rPr lang="en-US" sz="1800" dirty="0" err="1"/>
              <a:t>curb_weight</a:t>
            </a:r>
            <a:r>
              <a:rPr lang="en-US" sz="1800" dirty="0"/>
              <a:t> variables  </a:t>
            </a:r>
          </a:p>
          <a:p>
            <a:pPr marL="628650" lvl="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7BA786E-4AC1-0CFF-9A6A-B1C1453EFB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741619"/>
            <a:ext cx="3256707" cy="4317299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029791-CDA2-D90B-CCCF-A541AC861542}"/>
              </a:ext>
            </a:extLst>
          </p:cNvPr>
          <p:cNvCxnSpPr>
            <a:cxnSpLocks/>
          </p:cNvCxnSpPr>
          <p:nvPr/>
        </p:nvCxnSpPr>
        <p:spPr>
          <a:xfrm>
            <a:off x="3645131" y="2693324"/>
            <a:ext cx="4434101" cy="2701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B747618-8024-53AB-E10B-3DC09D2F6F71}"/>
              </a:ext>
            </a:extLst>
          </p:cNvPr>
          <p:cNvCxnSpPr>
            <a:cxnSpLocks/>
          </p:cNvCxnSpPr>
          <p:nvPr/>
        </p:nvCxnSpPr>
        <p:spPr>
          <a:xfrm>
            <a:off x="5055616" y="3013364"/>
            <a:ext cx="1235271" cy="2701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78BB682-2BE0-74A1-3E96-CAD524EB3019}"/>
              </a:ext>
            </a:extLst>
          </p:cNvPr>
          <p:cNvCxnSpPr>
            <a:cxnSpLocks/>
          </p:cNvCxnSpPr>
          <p:nvPr/>
        </p:nvCxnSpPr>
        <p:spPr>
          <a:xfrm>
            <a:off x="4742411" y="3423123"/>
            <a:ext cx="1109749" cy="432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FCDC2-F37A-B09A-93CD-DCCB6631A556}"/>
              </a:ext>
            </a:extLst>
          </p:cNvPr>
          <p:cNvCxnSpPr>
            <a:cxnSpLocks/>
          </p:cNvCxnSpPr>
          <p:nvPr/>
        </p:nvCxnSpPr>
        <p:spPr>
          <a:xfrm flipV="1">
            <a:off x="4443153" y="3743163"/>
            <a:ext cx="1529542" cy="2136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09D5FF4-32C1-D03C-9C44-405490EA678B}"/>
              </a:ext>
            </a:extLst>
          </p:cNvPr>
          <p:cNvCxnSpPr>
            <a:cxnSpLocks/>
          </p:cNvCxnSpPr>
          <p:nvPr/>
        </p:nvCxnSpPr>
        <p:spPr>
          <a:xfrm flipV="1">
            <a:off x="4443153" y="3926043"/>
            <a:ext cx="1409007" cy="7600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2543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F7449C-A9DC-DEAC-4D2F-8282EBBAE6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1502" y="674425"/>
            <a:ext cx="3320623" cy="440811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933D92-929C-6A9B-7C55-6D7574767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752" y="796544"/>
            <a:ext cx="4858143" cy="4262374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without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  <a:p>
            <a:pPr marL="0" lvl="0" indent="0">
              <a:buNone/>
            </a:pP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city_mpg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~ -1 + C(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fuel_type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) + 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+ I(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**2)</a:t>
            </a:r>
          </a:p>
          <a:p>
            <a:pPr marL="0" lvl="0" indent="0">
              <a:buNone/>
            </a:pPr>
            <a:endParaRPr lang="en-US" sz="1800" dirty="0"/>
          </a:p>
          <a:p>
            <a:r>
              <a:rPr lang="en-US" sz="1800" dirty="0"/>
              <a:t>All coefficients are significant    </a:t>
            </a:r>
          </a:p>
          <a:p>
            <a:r>
              <a:rPr lang="en-US" sz="1800" dirty="0"/>
              <a:t>The coefficients for diesel and gas cars are the means for each fuel type </a:t>
            </a:r>
          </a:p>
          <a:p>
            <a:r>
              <a:rPr lang="en-US" sz="1800" dirty="0"/>
              <a:t>Coefficients for centered </a:t>
            </a:r>
            <a:r>
              <a:rPr lang="en-US" sz="1800" dirty="0" err="1"/>
              <a:t>curb_weight</a:t>
            </a:r>
            <a:r>
              <a:rPr lang="en-US" sz="1800" dirty="0"/>
              <a:t> variables are the same as model with contrasts</a:t>
            </a:r>
          </a:p>
          <a:p>
            <a:pPr marL="628650" lvl="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DD18BEA-D338-EC38-171B-99074FC75054}"/>
              </a:ext>
            </a:extLst>
          </p:cNvPr>
          <p:cNvCxnSpPr>
            <a:cxnSpLocks/>
          </p:cNvCxnSpPr>
          <p:nvPr/>
        </p:nvCxnSpPr>
        <p:spPr>
          <a:xfrm>
            <a:off x="3756614" y="2571750"/>
            <a:ext cx="4302575" cy="3559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B3B12D3-6C7D-039C-3255-6F13884C22BC}"/>
              </a:ext>
            </a:extLst>
          </p:cNvPr>
          <p:cNvCxnSpPr>
            <a:cxnSpLocks/>
          </p:cNvCxnSpPr>
          <p:nvPr/>
        </p:nvCxnSpPr>
        <p:spPr>
          <a:xfrm>
            <a:off x="5173426" y="2927731"/>
            <a:ext cx="678734" cy="2851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3D58036-EB5A-102C-65D4-AA23B481A3CA}"/>
              </a:ext>
            </a:extLst>
          </p:cNvPr>
          <p:cNvCxnSpPr>
            <a:cxnSpLocks/>
          </p:cNvCxnSpPr>
          <p:nvPr/>
        </p:nvCxnSpPr>
        <p:spPr>
          <a:xfrm>
            <a:off x="5130615" y="2892829"/>
            <a:ext cx="721545" cy="5694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B2CB184-A08F-E7D7-9EC5-99160C64BBC9}"/>
              </a:ext>
            </a:extLst>
          </p:cNvPr>
          <p:cNvCxnSpPr>
            <a:cxnSpLocks/>
          </p:cNvCxnSpPr>
          <p:nvPr/>
        </p:nvCxnSpPr>
        <p:spPr>
          <a:xfrm>
            <a:off x="4493029" y="3549535"/>
            <a:ext cx="1359131" cy="1317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F3E1C5E-0726-F614-B5BE-CDDABC22BD97}"/>
              </a:ext>
            </a:extLst>
          </p:cNvPr>
          <p:cNvCxnSpPr>
            <a:cxnSpLocks/>
          </p:cNvCxnSpPr>
          <p:nvPr/>
        </p:nvCxnSpPr>
        <p:spPr>
          <a:xfrm>
            <a:off x="4493029" y="3562453"/>
            <a:ext cx="1288473" cy="30705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6633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1" y="760617"/>
            <a:ext cx="8544837" cy="38333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7BA786E-4AC1-0CFF-9A6A-B1C1453EFB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6784" y="1516634"/>
            <a:ext cx="2672083" cy="35422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DFC3795-1870-6E13-B5FE-812EB8B8A7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751" y="1543054"/>
            <a:ext cx="2648493" cy="3515864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029791-CDA2-D90B-CCCF-A541AC861542}"/>
              </a:ext>
            </a:extLst>
          </p:cNvPr>
          <p:cNvCxnSpPr>
            <a:cxnSpLocks/>
          </p:cNvCxnSpPr>
          <p:nvPr/>
        </p:nvCxnSpPr>
        <p:spPr>
          <a:xfrm>
            <a:off x="2876204" y="1806956"/>
            <a:ext cx="504166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15E8E46-956E-9186-C4FA-61DD07F26476}"/>
              </a:ext>
            </a:extLst>
          </p:cNvPr>
          <p:cNvCxnSpPr>
            <a:cxnSpLocks/>
          </p:cNvCxnSpPr>
          <p:nvPr/>
        </p:nvCxnSpPr>
        <p:spPr>
          <a:xfrm>
            <a:off x="2876203" y="2179644"/>
            <a:ext cx="504166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572209B-826E-EE7D-0DD0-1D2BF2C6D2CB}"/>
              </a:ext>
            </a:extLst>
          </p:cNvPr>
          <p:cNvCxnSpPr>
            <a:cxnSpLocks/>
          </p:cNvCxnSpPr>
          <p:nvPr/>
        </p:nvCxnSpPr>
        <p:spPr>
          <a:xfrm>
            <a:off x="2917767" y="2443942"/>
            <a:ext cx="4962698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A0A046A9-3484-AE18-3D71-197EA6B070B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33898" y="1129977"/>
                <a:ext cx="3560581" cy="41307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800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𝑎𝑑𝑗</m:t>
                        </m:r>
                      </m:sub>
                      <m:sup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800" dirty="0"/>
                  <a:t>, F-statistic and p-value, and log likelihood are identical </a:t>
                </a:r>
              </a:p>
              <a:p>
                <a:pPr marL="628650" indent="-285750">
                  <a:buFont typeface="Arial" panose="020B0604020202020204" pitchFamily="34" charset="0"/>
                  <a:buChar char="•"/>
                </a:pPr>
                <a:endParaRPr lang="en-US" sz="1800" dirty="0">
                  <a:latin typeface="Courier"/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A0A046A9-3484-AE18-3D71-197EA6B07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3898" y="1129977"/>
                <a:ext cx="3560581" cy="413077"/>
              </a:xfrm>
              <a:prstGeom prst="rect">
                <a:avLst/>
              </a:prstGeom>
              <a:blipFill>
                <a:blip r:embed="rId4"/>
                <a:stretch>
                  <a:fillRect l="-1370" t="-2941" b="-89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2F59DD1-AD45-1B3D-39AF-225046CA6BED}"/>
              </a:ext>
            </a:extLst>
          </p:cNvPr>
          <p:cNvSpPr txBox="1">
            <a:spLocks/>
          </p:cNvSpPr>
          <p:nvPr/>
        </p:nvSpPr>
        <p:spPr>
          <a:xfrm>
            <a:off x="3226116" y="2977158"/>
            <a:ext cx="3246232" cy="5738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800" dirty="0"/>
              <a:t>Intercept and mean of diesel coefficients identical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14E23A7-C21F-9638-F896-88EE7C829C17}"/>
              </a:ext>
            </a:extLst>
          </p:cNvPr>
          <p:cNvCxnSpPr>
            <a:cxnSpLocks/>
          </p:cNvCxnSpPr>
          <p:nvPr/>
        </p:nvCxnSpPr>
        <p:spPr>
          <a:xfrm>
            <a:off x="1625138" y="3570316"/>
            <a:ext cx="5586153" cy="2120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2196991A-9A18-AEC1-0871-FE5B7E7E2AB8}"/>
              </a:ext>
            </a:extLst>
          </p:cNvPr>
          <p:cNvSpPr txBox="1">
            <a:spLocks/>
          </p:cNvSpPr>
          <p:nvPr/>
        </p:nvSpPr>
        <p:spPr>
          <a:xfrm>
            <a:off x="3226116" y="4092562"/>
            <a:ext cx="3246232" cy="5847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800" dirty="0"/>
              <a:t>Coefficients of weight variables identical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631263B-8B14-C570-FBEE-0CB326133D25}"/>
              </a:ext>
            </a:extLst>
          </p:cNvPr>
          <p:cNvCxnSpPr>
            <a:cxnSpLocks/>
          </p:cNvCxnSpPr>
          <p:nvPr/>
        </p:nvCxnSpPr>
        <p:spPr>
          <a:xfrm>
            <a:off x="1658389" y="3943003"/>
            <a:ext cx="555290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363541F-D4D4-E86C-CD15-EA9C6F29078B}"/>
              </a:ext>
            </a:extLst>
          </p:cNvPr>
          <p:cNvCxnSpPr>
            <a:cxnSpLocks/>
          </p:cNvCxnSpPr>
          <p:nvPr/>
        </p:nvCxnSpPr>
        <p:spPr>
          <a:xfrm>
            <a:off x="1669473" y="4100944"/>
            <a:ext cx="555290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1094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2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1" y="760617"/>
            <a:ext cx="8544837" cy="38333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429414-9F38-B51C-CFDC-E57BC46F5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129" y="1183219"/>
            <a:ext cx="3885460" cy="3921603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A1022FA-3E11-ECAC-A3C8-7C2EDC34925B}"/>
              </a:ext>
            </a:extLst>
          </p:cNvPr>
          <p:cNvSpPr txBox="1">
            <a:spLocks/>
          </p:cNvSpPr>
          <p:nvPr/>
        </p:nvSpPr>
        <p:spPr>
          <a:xfrm>
            <a:off x="270256" y="1995424"/>
            <a:ext cx="4675632" cy="19669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Plot of regression model prediction on scatter plot of observations </a:t>
            </a:r>
          </a:p>
          <a:p>
            <a:r>
              <a:rPr lang="en-US" sz="2000" dirty="0"/>
              <a:t>Model computes response (predictions) specific to fuel type</a:t>
            </a:r>
          </a:p>
          <a:p>
            <a:r>
              <a:rPr lang="en-US" sz="2000" dirty="0"/>
              <a:t>Response is identical between models</a:t>
            </a:r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8486601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In a linear model we can </a:t>
            </a:r>
            <a:r>
              <a:rPr lang="en-US" dirty="0"/>
              <a:t>often</a:t>
            </a:r>
            <a:r>
              <a:rPr dirty="0"/>
              <a:t> relate the coefficient values to an effect size</a:t>
            </a:r>
          </a:p>
          <a:p>
            <a:pPr lvl="0"/>
            <a:r>
              <a:rPr dirty="0"/>
              <a:t>Assumes the </a:t>
            </a:r>
            <a:r>
              <a:rPr b="1" dirty="0"/>
              <a:t>treatments are orthogonal</a:t>
            </a:r>
          </a:p>
          <a:p>
            <a:pPr lvl="1"/>
            <a:r>
              <a:rPr dirty="0"/>
              <a:t>In other words, applied one at a time</a:t>
            </a:r>
          </a:p>
          <a:p>
            <a:pPr lvl="1"/>
            <a:r>
              <a:rPr dirty="0"/>
              <a:t>e.g. a case can only be in one category</a:t>
            </a:r>
          </a:p>
          <a:p>
            <a:pPr lvl="0"/>
            <a:r>
              <a:rPr dirty="0"/>
              <a:t>Assumes that the model coefficients are </a:t>
            </a:r>
            <a:r>
              <a:rPr b="1" dirty="0"/>
              <a:t>statistically independent</a:t>
            </a:r>
          </a:p>
          <a:p>
            <a:pPr lvl="1"/>
            <a:r>
              <a:rPr dirty="0"/>
              <a:t>Coefficients are dependent in overfit model</a:t>
            </a:r>
          </a:p>
          <a:p>
            <a:pPr lvl="0"/>
            <a:r>
              <a:rPr b="1" dirty="0"/>
              <a:t>I</a:t>
            </a:r>
            <a:r>
              <a:rPr lang="en-US" b="1" dirty="0"/>
              <a:t>nterpret</a:t>
            </a:r>
            <a:r>
              <a:rPr dirty="0"/>
              <a:t> </a:t>
            </a:r>
            <a:r>
              <a:rPr b="1" dirty="0"/>
              <a:t>with care!</a:t>
            </a:r>
          </a:p>
          <a:p>
            <a:pPr lvl="1"/>
            <a:r>
              <a:rPr dirty="0"/>
              <a:t>Don’t over-interpret your model</a:t>
            </a:r>
          </a:p>
          <a:p>
            <a:pPr lvl="1"/>
            <a:r>
              <a:rPr dirty="0"/>
              <a:t>Conditions in real world hard to verify, particularly for observational data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4C17D-3037-4736-4C18-7F69A2E1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9A852-2C98-F793-E9D0-F2A009C2C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D26B64-A416-2CF2-EFAC-6A5BB9C9F3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In a linear model we can often relate the coefficient values to an effect size</a:t>
                </a:r>
              </a:p>
              <a:p>
                <a:pPr lvl="0"/>
                <a:r>
                  <a:rPr lang="en-US" dirty="0"/>
                  <a:t>Often want to </a:t>
                </a:r>
                <a:r>
                  <a:rPr lang="en-US" b="1" dirty="0"/>
                  <a:t>adjust model response</a:t>
                </a:r>
                <a:r>
                  <a:rPr lang="en-US" dirty="0"/>
                  <a:t> </a:t>
                </a:r>
                <a:r>
                  <a:rPr lang="en-US" b="1" dirty="0"/>
                  <a:t>for an effect</a:t>
                </a:r>
              </a:p>
              <a:p>
                <a:pPr lvl="1"/>
                <a:r>
                  <a:rPr lang="en-US" dirty="0"/>
                  <a:t>Eliminate the effect of certain variables from analysis</a:t>
                </a:r>
              </a:p>
              <a:p>
                <a:pPr lvl="1"/>
                <a:r>
                  <a:rPr lang="en-US" dirty="0"/>
                  <a:t>Adjustment is the level (coefficient value) for categorical variables</a:t>
                </a:r>
              </a:p>
              <a:p>
                <a:r>
                  <a:rPr lang="en-US" dirty="0"/>
                  <a:t>Can use product of </a:t>
                </a:r>
                <a:r>
                  <a:rPr lang="en-US" b="1" dirty="0"/>
                  <a:t>fixed variable value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b="1" dirty="0"/>
                  <a:t> partial slope</a:t>
                </a:r>
                <a:r>
                  <a:rPr lang="en-US" dirty="0"/>
                  <a:t> of continuous variables</a:t>
                </a:r>
              </a:p>
              <a:p>
                <a:r>
                  <a:rPr lang="en-US" dirty="0"/>
                  <a:t>Example: adjust for the accident characteristics in auto safety study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D26B64-A416-2CF2-EFAC-6A5BB9C9F3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1111" t="-1305" r="-593" b="-11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5357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1" y="760617"/>
            <a:ext cx="8544837" cy="38333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Applying </a:t>
            </a:r>
            <a:r>
              <a:rPr lang="en-US" sz="2000" b="1" dirty="0"/>
              <a:t>adjustment</a:t>
            </a:r>
            <a:r>
              <a:rPr lang="en-US" sz="2000" dirty="0"/>
              <a:t> for fuel type</a:t>
            </a:r>
            <a:endParaRPr lang="en-US" sz="2000" b="1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A1022FA-3E11-ECAC-A3C8-7C2EDC34925B}"/>
              </a:ext>
            </a:extLst>
          </p:cNvPr>
          <p:cNvSpPr txBox="1">
            <a:spLocks/>
          </p:cNvSpPr>
          <p:nvPr/>
        </p:nvSpPr>
        <p:spPr>
          <a:xfrm>
            <a:off x="270256" y="1246909"/>
            <a:ext cx="4675632" cy="38113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Plot of regression model prediction on scatter plot of observations </a:t>
            </a:r>
          </a:p>
          <a:p>
            <a:r>
              <a:rPr lang="en-US" sz="2000" dirty="0"/>
              <a:t>Apply </a:t>
            </a:r>
            <a:r>
              <a:rPr lang="en-US" sz="2000" b="1" dirty="0"/>
              <a:t>adjustment to diesel cars </a:t>
            </a:r>
          </a:p>
          <a:p>
            <a:pPr lvl="1"/>
            <a:r>
              <a:rPr lang="en-US" sz="1700" dirty="0"/>
              <a:t>Adjust diesel car observations by contrast value</a:t>
            </a:r>
          </a:p>
          <a:p>
            <a:pPr lvl="1"/>
            <a:r>
              <a:rPr lang="en-US" sz="1700" dirty="0"/>
              <a:t>Adjust model response by fuel type contrast value for diesel cars</a:t>
            </a:r>
          </a:p>
          <a:p>
            <a:r>
              <a:rPr lang="en-US" sz="2000" dirty="0"/>
              <a:t>Model response for the two fuel types is now the same!</a:t>
            </a:r>
          </a:p>
          <a:p>
            <a:r>
              <a:rPr lang="en-US" sz="2000" dirty="0"/>
              <a:t>We have adjusted for the effect of fuel type</a:t>
            </a:r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96B363-BB37-8731-1893-ACDA0064C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1" y="1108008"/>
            <a:ext cx="3927492" cy="3986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600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890FB-523D-75F9-98C2-8A82368556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Models with Nonlinear Responses</a:t>
            </a:r>
          </a:p>
        </p:txBody>
      </p:sp>
    </p:spTree>
    <p:extLst>
      <p:ext uri="{BB962C8B-B14F-4D97-AF65-F5344CB8AC3E}">
        <p14:creationId xmlns:p14="http://schemas.microsoft.com/office/powerpoint/2010/main" val="41405180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Models with Nonlinear Response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do we deal with models that do not have nonlinear response variables?</a:t>
                </a:r>
              </a:p>
              <a:p>
                <a:pPr lvl="0"/>
                <a:r>
                  <a:rPr lang="en-US" dirty="0"/>
                  <a:t>Example: binary response variable,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𝐵𝑖𝑛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distributed response</a:t>
                </a:r>
              </a:p>
              <a:p>
                <a:pPr lvl="1"/>
                <a:r>
                  <a:rPr lang="en-US" dirty="0"/>
                  <a:t>Probability parameter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 binary classifier</a:t>
                </a:r>
              </a:p>
              <a:p>
                <a:pPr lvl="0"/>
                <a:r>
                  <a:rPr lang="en-US" dirty="0"/>
                  <a:t>Example: Intensity of an arrival process,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𝑝𝑜𝑖𝑠𝑠𝑜𝑛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response</a:t>
                </a:r>
              </a:p>
              <a:p>
                <a:pPr lvl="1"/>
                <a:r>
                  <a:rPr lang="en-US" dirty="0"/>
                  <a:t>Parameter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is the average rate or </a:t>
                </a:r>
                <a:r>
                  <a:rPr lang="en-US" b="1" dirty="0"/>
                  <a:t>intensity</a:t>
                </a:r>
                <a:r>
                  <a:rPr lang="en-US" dirty="0"/>
                  <a:t> of a point process</a:t>
                </a:r>
              </a:p>
              <a:p>
                <a:pPr lvl="0"/>
                <a:r>
                  <a:rPr lang="en-US" dirty="0"/>
                  <a:t>Example: Categorical response variable for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categories,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Cat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response: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category classifier</a:t>
                </a:r>
              </a:p>
              <a:p>
                <a:pPr lvl="1"/>
                <a:r>
                  <a:rPr lang="en-US" dirty="0"/>
                  <a:t>Parameter is probability for each category,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 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=1.0</m:t>
                        </m:r>
                      </m:e>
                    </m:nary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Example: Ranked </a:t>
                </a:r>
                <a:r>
                  <a:rPr lang="en-US" i="1" dirty="0"/>
                  <a:t>k</a:t>
                </a:r>
                <a:r>
                  <a:rPr lang="en-US" dirty="0"/>
                  <a:t>-level ordered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  <a:blipFill>
                <a:blip r:embed="rId2"/>
                <a:stretch>
                  <a:fillRect l="-741" t="-1752" b="-76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Models with Nonlinear Response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The </a:t>
            </a:r>
            <a:r>
              <a:rPr b="1" dirty="0"/>
              <a:t>generalized linear model (GLM)</a:t>
            </a:r>
            <a:r>
              <a:rPr dirty="0"/>
              <a:t> is a framework for </a:t>
            </a:r>
            <a:r>
              <a:rPr lang="en-US" dirty="0"/>
              <a:t>non-Normal or </a:t>
            </a:r>
            <a:r>
              <a:rPr dirty="0"/>
              <a:t>nonlinear response models</a:t>
            </a:r>
          </a:p>
          <a:p>
            <a:pPr lvl="0"/>
            <a:r>
              <a:rPr b="1" dirty="0"/>
              <a:t>Nonlinear response is n</a:t>
            </a:r>
            <a:r>
              <a:rPr lang="en-US" b="1" dirty="0"/>
              <a:t>ot </a:t>
            </a:r>
            <a:r>
              <a:rPr b="1" dirty="0"/>
              <a:t>Normally distributed</a:t>
            </a:r>
          </a:p>
          <a:p>
            <a:pPr lvl="0"/>
            <a:r>
              <a:rPr lang="en-US" dirty="0"/>
              <a:t>Us</a:t>
            </a:r>
            <a:r>
              <a:rPr dirty="0"/>
              <a:t>e a </a:t>
            </a:r>
            <a:r>
              <a:rPr b="1" dirty="0"/>
              <a:t>link function</a:t>
            </a:r>
            <a:r>
              <a:rPr dirty="0"/>
              <a:t> to transform to a linear model</a:t>
            </a:r>
          </a:p>
          <a:p>
            <a:pPr lvl="1"/>
            <a:r>
              <a:rPr b="1" dirty="0"/>
              <a:t>Linear model has Normally distributed response</a:t>
            </a:r>
          </a:p>
          <a:p>
            <a:pPr lvl="1"/>
            <a:r>
              <a:rPr dirty="0"/>
              <a:t>Link function transform nonlinear response to Normal distribution</a:t>
            </a:r>
          </a:p>
          <a:p>
            <a:pPr lvl="0"/>
            <a:r>
              <a:rPr dirty="0"/>
              <a:t>To compute the </a:t>
            </a:r>
            <a:r>
              <a:rPr b="1" dirty="0"/>
              <a:t>nonlinear response</a:t>
            </a:r>
          </a:p>
          <a:p>
            <a:pPr lvl="1"/>
            <a:r>
              <a:rPr dirty="0"/>
              <a:t>Start with a linear model, OLS</a:t>
            </a:r>
          </a:p>
          <a:p>
            <a:pPr lvl="1"/>
            <a:r>
              <a:rPr dirty="0"/>
              <a:t>Transform response with </a:t>
            </a:r>
            <a:r>
              <a:rPr b="1" dirty="0"/>
              <a:t>inverse link function</a:t>
            </a:r>
            <a:endParaRPr dirty="0"/>
          </a:p>
          <a:p>
            <a:r>
              <a:rPr lang="en-US" dirty="0"/>
              <a:t>Can formulate GLM</a:t>
            </a:r>
            <a:r>
              <a:rPr dirty="0"/>
              <a:t> for </a:t>
            </a:r>
            <a:r>
              <a:rPr lang="en-US" dirty="0"/>
              <a:t>any response in the </a:t>
            </a:r>
            <a:r>
              <a:rPr dirty="0"/>
              <a:t>exponential distribution</a:t>
            </a:r>
            <a:r>
              <a:rPr lang="en-US" dirty="0"/>
              <a:t> family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Generalized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General form for </a:t>
                </a:r>
                <a:r>
                  <a:rPr lang="en-US" b="1" dirty="0"/>
                  <a:t>link function to transform to a Normally distributed response </a:t>
                </a:r>
                <a:r>
                  <a:rPr lang="en-US" dirty="0"/>
                  <a:t>is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𝙴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|</m:t>
                            </m:r>
                            <m:sSub>
                              <m:sSubPr>
                                <m:ctrlPr>
                                  <a:rPr lang="ar-AE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ar-AE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𝙴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the expected value of the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given independent variables,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Fit a linear a model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with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vector value model coefficients by transforming the response with a link faction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𝙴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̂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To find the value of the response variable from the </a:t>
                </a:r>
                <a:r>
                  <a:rPr lang="en-US" b="1" dirty="0"/>
                  <a:t>linear model </a:t>
                </a:r>
                <a:r>
                  <a:rPr lang="en-US" dirty="0"/>
                  <a:t>we apply the </a:t>
                </a:r>
                <a:r>
                  <a:rPr lang="en-US" b="1" dirty="0"/>
                  <a:t>inverse link function</a:t>
                </a:r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</m:acc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r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Generalized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Example: </a:t>
                </a:r>
                <a:r>
                  <a:rPr dirty="0"/>
                  <a:t>OLS has Normal response</a:t>
                </a:r>
              </a:p>
              <a:p>
                <a:pPr lvl="0"/>
                <a:r>
                  <a:rPr dirty="0"/>
                  <a:t>Link function for OLS is just unity, 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Output of linear model directly maps to Normally distributed response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r>
                            <a:rPr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5649"/>
            <a:ext cx="8229600" cy="484901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The Generalized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3541FB5-ED70-609C-000F-260C1FDFDAA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24660765"/>
                  </p:ext>
                </p:extLst>
              </p:nvPr>
            </p:nvGraphicFramePr>
            <p:xfrm>
              <a:off x="2856992" y="731520"/>
              <a:ext cx="6287010" cy="43843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95670">
                      <a:extLst>
                        <a:ext uri="{9D8B030D-6E8A-4147-A177-3AD203B41FA5}">
                          <a16:colId xmlns:a16="http://schemas.microsoft.com/office/drawing/2014/main" val="310204747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540153062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604041901"/>
                        </a:ext>
                      </a:extLst>
                    </a:gridCol>
                  </a:tblGrid>
                  <a:tr h="43605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Distribution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Link Function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Inverse Link Function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3534007"/>
                      </a:ext>
                    </a:extLst>
                  </a:tr>
                  <a:tr h="545728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  <a:p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43036880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Inverse 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−1/2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23063124"/>
                      </a:ext>
                    </a:extLst>
                  </a:tr>
                  <a:tr h="600853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Bernoulli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num>
                                      <m:den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𝑒𝑥𝑝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7432238"/>
                      </a:ext>
                    </a:extLst>
                  </a:tr>
                  <a:tr h="600853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Binomial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num>
                                      <m:den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𝑒𝑥𝑝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3166096"/>
                      </a:ext>
                    </a:extLst>
                  </a:tr>
                  <a:tr h="600853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Categorical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num>
                                      <m:den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𝑒𝑥𝑝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2618877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Poisson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𝑒𝑥𝑝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4821180"/>
                      </a:ext>
                    </a:extLst>
                  </a:tr>
                  <a:tr h="545728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Exponential-Gamma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  <a:p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8660725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3541FB5-ED70-609C-000F-260C1FDFDAA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24660765"/>
                  </p:ext>
                </p:extLst>
              </p:nvPr>
            </p:nvGraphicFramePr>
            <p:xfrm>
              <a:off x="2856992" y="731520"/>
              <a:ext cx="6287010" cy="43843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95670">
                      <a:extLst>
                        <a:ext uri="{9D8B030D-6E8A-4147-A177-3AD203B41FA5}">
                          <a16:colId xmlns:a16="http://schemas.microsoft.com/office/drawing/2014/main" val="310204747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540153062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604041901"/>
                        </a:ext>
                      </a:extLst>
                    </a:gridCol>
                  </a:tblGrid>
                  <a:tr h="43605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Distribution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Link Function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Inverse Link Function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3534007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78947" r="-100870" b="-584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78947" r="-1163" b="-5842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3036880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Inverse 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39437" r="-100870" b="-6816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239437" r="-1163" b="-6816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23063124"/>
                      </a:ext>
                    </a:extLst>
                  </a:tr>
                  <a:tr h="639318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Bernoulli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29524" r="-100870" b="-3609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229524" r="-1163" b="-3609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7432238"/>
                      </a:ext>
                    </a:extLst>
                  </a:tr>
                  <a:tr h="639318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Binomial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329524" r="-100870" b="-2609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329524" r="-1163" b="-2609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73166096"/>
                      </a:ext>
                    </a:extLst>
                  </a:tr>
                  <a:tr h="639318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Categorical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429524" r="-100870" b="-1609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429524" r="-1163" b="-1609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618877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Poisson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772222" r="-100870" b="-1347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772222" r="-1163" b="-1347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4821180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Exponential-Gamma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661053" r="-100870" b="-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661053" r="-1163" b="-21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8660725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8E3A949-63F6-1B7E-6BF9-C1BD5DFDC718}"/>
              </a:ext>
            </a:extLst>
          </p:cNvPr>
          <p:cNvSpPr txBox="1">
            <a:spLocks/>
          </p:cNvSpPr>
          <p:nvPr/>
        </p:nvSpPr>
        <p:spPr>
          <a:xfrm>
            <a:off x="333248" y="1093216"/>
            <a:ext cx="2775712" cy="3974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Example </a:t>
            </a:r>
            <a:r>
              <a:rPr lang="en-US" dirty="0">
                <a:hlinkClick r:id="rId3"/>
              </a:rPr>
              <a:t>Link functions </a:t>
            </a:r>
            <a:endParaRPr lang="en-US" dirty="0"/>
          </a:p>
          <a:p>
            <a:r>
              <a:rPr lang="en-US" dirty="0"/>
              <a:t>Supported in </a:t>
            </a:r>
            <a:r>
              <a:rPr lang="en-US" dirty="0" err="1">
                <a:hlinkClick r:id="rId4"/>
              </a:rPr>
              <a:t>statsmodels</a:t>
            </a:r>
            <a:endParaRPr lang="en-US" dirty="0">
              <a:hlinkClick r:id="rId4"/>
            </a:endParaRPr>
          </a:p>
          <a:p>
            <a:r>
              <a:rPr lang="en-US" dirty="0"/>
              <a:t>Supported in </a:t>
            </a:r>
            <a:r>
              <a:rPr lang="en-US" dirty="0">
                <a:hlinkClick r:id="rId5"/>
              </a:rPr>
              <a:t>Scikit-Learn</a:t>
            </a:r>
          </a:p>
          <a:p>
            <a:pPr marL="0" indent="0">
              <a:buFont typeface="Arial"/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10833"/>
            <a:ext cx="8229600" cy="3726688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Construct a generalized linear model using a </a:t>
            </a:r>
            <a:r>
              <a:rPr b="1" dirty="0"/>
              <a:t>Binomial distribution</a:t>
            </a:r>
          </a:p>
          <a:p>
            <a:pPr lvl="0"/>
            <a:r>
              <a:rPr dirty="0"/>
              <a:t>Commonly known as </a:t>
            </a:r>
            <a:r>
              <a:rPr b="1" dirty="0">
                <a:hlinkClick r:id="rId2"/>
              </a:rPr>
              <a:t>logistic regression</a:t>
            </a:r>
          </a:p>
          <a:p>
            <a:pPr lvl="0"/>
            <a:r>
              <a:rPr dirty="0"/>
              <a:t>Logistic regression is linear model, with a</a:t>
            </a:r>
            <a:r>
              <a:rPr lang="en-US" dirty="0"/>
              <a:t> discrete</a:t>
            </a:r>
            <a:r>
              <a:rPr dirty="0"/>
              <a:t> binary response, </a:t>
            </a:r>
            <a:r>
              <a:rPr dirty="0">
                <a:latin typeface="Courier"/>
              </a:rPr>
              <a:t>{False, True}</a:t>
            </a:r>
            <a:r>
              <a:rPr dirty="0"/>
              <a:t> or </a:t>
            </a:r>
            <a:r>
              <a:rPr dirty="0">
                <a:latin typeface="Courier"/>
              </a:rPr>
              <a:t>{0, 1}</a:t>
            </a:r>
          </a:p>
          <a:p>
            <a:pPr lvl="0"/>
            <a:r>
              <a:rPr dirty="0"/>
              <a:t>Response computed as a log likelihood, leading to a Binomial distributed response</a:t>
            </a:r>
          </a:p>
          <a:p>
            <a:pPr lvl="0"/>
            <a:r>
              <a:rPr dirty="0"/>
              <a:t>Categorical response is simple extension to categorical distribution</a:t>
            </a:r>
          </a:p>
          <a:p>
            <a:pPr lvl="1"/>
            <a:r>
              <a:rPr dirty="0"/>
              <a:t>One Binomial to many</a:t>
            </a:r>
          </a:p>
          <a:p>
            <a:pPr lvl="1"/>
            <a:r>
              <a:rPr dirty="0"/>
              <a:t>Many Binomial to many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Construct logistic regression as a GLM</a:t>
                </a:r>
              </a:p>
              <a:p>
                <a:pPr lvl="0"/>
                <a:r>
                  <a:rPr lang="en-US" dirty="0"/>
                  <a:t>Start with a model for the </a:t>
                </a:r>
                <a:r>
                  <a:rPr lang="en-US" b="1" dirty="0"/>
                  <a:t>log-odds</a:t>
                </a:r>
                <a:r>
                  <a:rPr lang="en-US" dirty="0"/>
                  <a:t> of response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vs. 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Probability of success,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Independent variable vector,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Model parameter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</m:ac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Binary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∼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𝐵𝑖𝑛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The odds ratio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o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dds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ratio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num>
                        <m:den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0)</m:t>
                              </m:r>
                            </m:den>
                          </m:f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  <a:blipFill>
                <a:blip r:embed="rId2"/>
                <a:stretch>
                  <a:fillRect l="-963" t="-29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Construct logistic regression as a GLM</a:t>
                </a:r>
              </a:p>
              <a:p>
                <a:pPr lvl="0"/>
                <a:r>
                  <a:rPr lang="en-US" dirty="0"/>
                  <a:t>Start with a model for the </a:t>
                </a:r>
                <a:r>
                  <a:rPr lang="en-US" b="1" dirty="0"/>
                  <a:t>log-odds</a:t>
                </a:r>
                <a:r>
                  <a:rPr lang="en-US" dirty="0"/>
                  <a:t> of response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vs. 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Probability of success,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ar-A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Independent variable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Model parameter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Binary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∼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𝐵𝑖𝑛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Define the link function, know as the or </a:t>
                </a:r>
                <a:r>
                  <a:rPr lang="en-US" b="1" dirty="0"/>
                  <a:t>logit function</a:t>
                </a:r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𝑙𝑜𝑔𝑖𝑡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𝙴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𝑙𝑜𝑔𝑖𝑡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  <a:blipFill>
                <a:blip r:embed="rId2"/>
                <a:stretch>
                  <a:fillRect l="-1111" t="-2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0557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Response of linear model is transformed to the binomially distributed random variable through the </a:t>
                </a:r>
                <a:r>
                  <a:rPr lang="en-US" b="1" dirty="0"/>
                  <a:t>inverse link function</a:t>
                </a:r>
              </a:p>
              <a:p>
                <a:pPr lvl="0"/>
                <a:r>
                  <a:rPr lang="en-US" dirty="0"/>
                  <a:t>Known as the </a:t>
                </a:r>
                <a:r>
                  <a:rPr lang="en-US" b="1" dirty="0"/>
                  <a:t>inverse logit function</a:t>
                </a:r>
                <a:r>
                  <a:rPr lang="en-US" dirty="0"/>
                  <a:t>, or </a:t>
                </a:r>
                <a:r>
                  <a:rPr lang="en-US" b="1" dirty="0"/>
                  <a:t>logistic function</a:t>
                </a:r>
                <a:r>
                  <a:rPr lang="en-US" dirty="0"/>
                  <a:t>,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After some algebra we can arrive at: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27567" cy="644589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Logistic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80079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1800" dirty="0"/>
                  <a:t>Plot of the logistic function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1600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ar-AE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6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ar-AE" sz="16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As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1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1800" dirty="0"/>
                  <a:t> increases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800" dirty="0"/>
                  <a:t> increases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As </a:t>
                </a:r>
                <a14:m>
                  <m:oMath xmlns:m="http://schemas.openxmlformats.org/officeDocument/2006/math">
                    <m:r>
                      <a:rPr lang="en-US" sz="18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1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1800" dirty="0"/>
                  <a:t> decreases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800" dirty="0"/>
                  <a:t> increases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The logistic function is said to </a:t>
                </a:r>
                <a:r>
                  <a:rPr lang="en-US" sz="1800" b="1" dirty="0"/>
                  <a:t>squash the output </a:t>
                </a:r>
                <a:r>
                  <a:rPr lang="en-US" sz="1800" dirty="0"/>
                  <a:t>of the linear model,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1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1800" dirty="0"/>
                  <a:t> </a:t>
                </a:r>
                <a:endParaRPr sz="1800" dirty="0"/>
              </a:p>
            </p:txBody>
          </p:sp>
        </mc:Choice>
        <mc:Fallback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80079" cy="3518297"/>
              </a:xfrm>
              <a:blipFill>
                <a:blip r:embed="rId2"/>
                <a:stretch>
                  <a:fillRect l="-1533" t="-1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ECB68FC-5B88-DB27-EC38-7B8F9E01B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9373" y="1276096"/>
            <a:ext cx="5422115" cy="3619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D81C72-1BBF-15D5-F903-E12234066EEA}"/>
                  </a:ext>
                </a:extLst>
              </p:cNvPr>
              <p:cNvSpPr txBox="1"/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D81C72-1BBF-15D5-F903-E12234066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blipFill>
                <a:blip r:embed="rId4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7516972-4A38-23D5-C04B-AD12822BED0D}"/>
              </a:ext>
            </a:extLst>
          </p:cNvPr>
          <p:cNvCxnSpPr>
            <a:cxnSpLocks/>
          </p:cNvCxnSpPr>
          <p:nvPr/>
        </p:nvCxnSpPr>
        <p:spPr>
          <a:xfrm flipV="1">
            <a:off x="3518185" y="1699953"/>
            <a:ext cx="3917550" cy="4773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D60CE3F-D41B-BE3D-5CE2-8EF60981BE7C}"/>
              </a:ext>
            </a:extLst>
          </p:cNvPr>
          <p:cNvCxnSpPr>
            <a:cxnSpLocks/>
          </p:cNvCxnSpPr>
          <p:nvPr/>
        </p:nvCxnSpPr>
        <p:spPr>
          <a:xfrm>
            <a:off x="3464879" y="2966163"/>
            <a:ext cx="1019837" cy="13522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27567" cy="644589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Logistic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76015" cy="3819270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sz="1800" dirty="0"/>
                  <a:t>Plot of the logistic function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1800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8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 sz="18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ar-AE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8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ar-AE" sz="18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8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ar-A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ar-AE" sz="18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The logistic function is said to </a:t>
                </a:r>
                <a:r>
                  <a:rPr lang="en-US" sz="1800" b="1" dirty="0"/>
                  <a:t>squash the output </a:t>
                </a:r>
                <a:r>
                  <a:rPr lang="en-US" sz="1800" dirty="0"/>
                  <a:t>of the linear model,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1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1800" b="1" dirty="0"/>
                  <a:t> 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Use threshold to get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sz="1800" dirty="0"/>
                  <a:t> output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sz="18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800">
                                    <a:latin typeface="Cambria Math" panose="02040503050406030204" pitchFamily="18" charset="0"/>
                                  </a:rPr>
                                  <m:t>𝙴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ar-AE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ar-AE" sz="180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𝑡ℎ𝑟𝑒𝑠ℎ𝑜𝑙𝑑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800">
                                    <a:latin typeface="Cambria Math" panose="02040503050406030204" pitchFamily="18" charset="0"/>
                                  </a:rPr>
                                  <m:t>𝙴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ar-AE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ar-AE" sz="180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𝑡ℎ𝑟𝑒𝑠ℎ𝑜𝑙𝑑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8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Can set threshold as error trade-off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Default threshold = 0.5</a:t>
                </a:r>
                <a:endParaRPr sz="1800" dirty="0"/>
              </a:p>
            </p:txBody>
          </p:sp>
        </mc:Choice>
        <mc:Fallback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76015" cy="3819270"/>
              </a:xfrm>
              <a:blipFill>
                <a:blip r:embed="rId2"/>
                <a:stretch>
                  <a:fillRect l="-1152" t="-1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ECB68FC-5B88-DB27-EC38-7B8F9E01B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9373" y="1276096"/>
            <a:ext cx="5422115" cy="3619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C2839B-941F-0DD9-FEE9-9855B4B5A03A}"/>
                  </a:ext>
                </a:extLst>
              </p:cNvPr>
              <p:cNvSpPr txBox="1"/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C2839B-941F-0DD9-FEE9-9855B4B5A0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blipFill>
                <a:blip r:embed="rId4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5422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98EF2-2277-4A29-E2C1-5B4166CB7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6C5D-1D2F-653A-7673-AD10C27DA3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Evaluation of Binary Responses</a:t>
            </a:r>
          </a:p>
        </p:txBody>
      </p:sp>
    </p:spTree>
    <p:extLst>
      <p:ext uri="{BB962C8B-B14F-4D97-AF65-F5344CB8AC3E}">
        <p14:creationId xmlns:p14="http://schemas.microsoft.com/office/powerpoint/2010/main" val="1078038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7023" cy="71367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Evaluation of </a:t>
            </a:r>
            <a:r>
              <a:rPr lang="en-US" sz="3200" dirty="0"/>
              <a:t>Binary Response</a:t>
            </a:r>
            <a:endParaRPr sz="32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8479535" cy="247320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How can we evaluate </a:t>
            </a:r>
            <a:r>
              <a:rPr lang="en-US" sz="1800" dirty="0"/>
              <a:t>a binary </a:t>
            </a:r>
            <a:r>
              <a:rPr lang="en-US" sz="1800" dirty="0" err="1"/>
              <a:t>respose</a:t>
            </a:r>
            <a:r>
              <a:rPr sz="1800" dirty="0"/>
              <a:t>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sz="1800" dirty="0"/>
              <a:t>Determine proportions of test cases which are classified as:</a:t>
            </a:r>
            <a:endParaRPr lang="en-US" sz="180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650" b="1" dirty="0"/>
              <a:t>True Positives (TP)</a:t>
            </a:r>
            <a:r>
              <a:rPr sz="1650" dirty="0"/>
              <a:t>: Are positive and should be positive</a:t>
            </a:r>
            <a:endParaRPr lang="en-US" sz="165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800" b="1" dirty="0"/>
              <a:t>True Negatives (TN)</a:t>
            </a:r>
            <a:r>
              <a:rPr sz="1800" dirty="0"/>
              <a:t>: Are negative and should be negative</a:t>
            </a:r>
            <a:endParaRPr lang="en-US" sz="180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800" b="1" dirty="0"/>
              <a:t>False Positives (FP)</a:t>
            </a:r>
            <a:r>
              <a:rPr sz="1800" dirty="0"/>
              <a:t>: Classified as positive but are actually negative; </a:t>
            </a:r>
            <a:r>
              <a:rPr sz="1800" b="1" dirty="0"/>
              <a:t>Type I errors</a:t>
            </a:r>
            <a:endParaRPr lang="en-US" sz="1800" b="1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800" b="1" dirty="0"/>
              <a:t>False Negatives (FN)</a:t>
            </a:r>
            <a:r>
              <a:rPr sz="1800" dirty="0"/>
              <a:t>: Classified as negative but are actually positive; </a:t>
            </a:r>
            <a:r>
              <a:rPr sz="1800" b="1" dirty="0"/>
              <a:t>Type II errors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sz="1800" dirty="0"/>
              <a:t>Organize these metrics into a </a:t>
            </a:r>
            <a:r>
              <a:rPr sz="1800" b="1" dirty="0"/>
              <a:t>confusion matrix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11462466"/>
              </p:ext>
            </p:extLst>
          </p:nvPr>
        </p:nvGraphicFramePr>
        <p:xfrm>
          <a:off x="1877568" y="3645408"/>
          <a:ext cx="611631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07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2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27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>
                          <a:solidFill>
                            <a:schemeClr val="tx1"/>
                          </a:solidFill>
                        </a:rPr>
                        <a:t>Classified 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>
                          <a:solidFill>
                            <a:schemeClr val="tx1"/>
                          </a:solidFill>
                        </a:rPr>
                        <a:t>Classified Positive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800" b="1" dirty="0"/>
                        <a:t>True </a:t>
                      </a:r>
                      <a:r>
                        <a:rPr sz="1800" b="1" dirty="0"/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/>
                        <a:t>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/>
                        <a:t>FP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800" b="1" dirty="0"/>
                        <a:t>True </a:t>
                      </a:r>
                      <a:r>
                        <a:rPr sz="1800" b="1" dirty="0"/>
                        <a:t>Positive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/>
                        <a:t>FN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/>
                        <a:t>TP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Evaluation of Classifiers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The other metrics are defined as follows:</a:t>
                </a:r>
              </a:p>
              <a:p>
                <a:pPr lvl="0"/>
                <a:r>
                  <a:rPr b="1" dirty="0"/>
                  <a:t>Accuracy</a:t>
                </a:r>
                <a:r>
                  <a:rPr dirty="0"/>
                  <a:t> = (TP + TN) / (TP + FP + TN + FN)</a:t>
                </a:r>
              </a:p>
              <a:p>
                <a:pPr lvl="0"/>
                <a:r>
                  <a:rPr dirty="0"/>
                  <a:t>Selectivity or </a:t>
                </a:r>
                <a:r>
                  <a:rPr b="1" dirty="0"/>
                  <a:t>Precision</a:t>
                </a:r>
                <a:r>
                  <a:rPr dirty="0"/>
                  <a:t> = TP / (TP + FP)</a:t>
                </a:r>
              </a:p>
              <a:p>
                <a:pPr lvl="1"/>
                <a:r>
                  <a:rPr dirty="0"/>
                  <a:t>Precision is the fraction of the relevant class predictions which are correct</a:t>
                </a:r>
              </a:p>
              <a:p>
                <a:pPr lvl="0"/>
                <a:r>
                  <a:rPr dirty="0"/>
                  <a:t>Sensitivity or </a:t>
                </a:r>
                <a:r>
                  <a:rPr b="1" dirty="0"/>
                  <a:t>Recall</a:t>
                </a:r>
                <a:r>
                  <a:rPr dirty="0"/>
                  <a:t> = TP / (TP + FN)</a:t>
                </a:r>
              </a:p>
              <a:p>
                <a:pPr lvl="1"/>
                <a:r>
                  <a:rPr dirty="0"/>
                  <a:t>Recall is the fraction of the relevant class </a:t>
                </a:r>
                <a:r>
                  <a:rPr lang="en-US" dirty="0"/>
                  <a:t>correctly </a:t>
                </a:r>
                <a:r>
                  <a:rPr dirty="0"/>
                  <a:t>predict</a:t>
                </a:r>
                <a:r>
                  <a:rPr lang="en-US" dirty="0"/>
                  <a:t>ed</a:t>
                </a:r>
                <a:endParaRPr dirty="0"/>
              </a:p>
              <a:p>
                <a:pPr lvl="0"/>
                <a:r>
                  <a:rPr lang="en-US" dirty="0"/>
                  <a:t>T</a:t>
                </a:r>
                <a:r>
                  <a:rPr dirty="0"/>
                  <a:t>rade-off between precision and recall</a:t>
                </a:r>
              </a:p>
              <a:p>
                <a:pPr lvl="1"/>
                <a:r>
                  <a:rPr dirty="0"/>
                  <a:t>Consider </a:t>
                </a:r>
                <a:r>
                  <a:rPr b="1" dirty="0"/>
                  <a:t>changing the decision threshold</a:t>
                </a:r>
              </a:p>
              <a:p>
                <a:pPr lvl="1"/>
                <a:r>
                  <a:rPr dirty="0"/>
                  <a:t>High threshold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lower recall, more false negative</a:t>
                </a:r>
                <a:endParaRPr dirty="0"/>
              </a:p>
              <a:p>
                <a:pPr lvl="1"/>
                <a:r>
                  <a:rPr dirty="0"/>
                  <a:t>Low threshold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dirty="0"/>
                  <a:t> </a:t>
                </a:r>
                <a:r>
                  <a:rPr lang="en-US" dirty="0"/>
                  <a:t>lower precision, more false positives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97D13-957C-D3E5-BA0B-5EE0C9A1D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5AE82-EBA8-387C-32E4-D276F05B3F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Example: Logistic Regression </a:t>
            </a:r>
          </a:p>
        </p:txBody>
      </p:sp>
    </p:spTree>
    <p:extLst>
      <p:ext uri="{BB962C8B-B14F-4D97-AF65-F5344CB8AC3E}">
        <p14:creationId xmlns:p14="http://schemas.microsoft.com/office/powerpoint/2010/main" val="34718282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1929129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create model to predict which employes are likely to leave a company</a:t>
                </a:r>
              </a:p>
              <a:p>
                <a:r>
                  <a:rPr lang="en-US" dirty="0"/>
                  <a:t>Is a logistic regression problem with response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𝑙𝑒𝑎𝑣𝑒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𝑙𝑒𝑎𝑣𝑒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Employee characteristics are independent mixed numeric and categorical variables   </a:t>
                </a:r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1929129"/>
              </a:xfrm>
              <a:blipFill>
                <a:blip r:embed="rId2"/>
                <a:stretch>
                  <a:fillRect l="-963" t="-2215" b="-50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568B1D91-E5D9-875E-2557-84C46D61C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523" y="3324508"/>
            <a:ext cx="8663341" cy="146048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Example of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fit model</a:t>
                </a:r>
              </a:p>
              <a:p>
                <a:pPr marL="0" lvl="0" indent="0">
                  <a:buNone/>
                </a:pPr>
                <a:r>
                  <a:rPr lang="en-US" sz="1800" dirty="0"/>
                  <a:t>left ~ </a:t>
                </a:r>
                <a:r>
                  <a:rPr lang="en-US" sz="1800" dirty="0" err="1"/>
                  <a:t>satisfaction_level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average_montly_hours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last_evaluation</a:t>
                </a:r>
                <a:r>
                  <a:rPr lang="en-US" sz="1800" dirty="0"/>
                  <a:t> + C(salary) + C(promotion_last_5years)</a:t>
                </a:r>
              </a:p>
              <a:p>
                <a:r>
                  <a:rPr lang="en-US" dirty="0"/>
                  <a:t>All coefficients are significant</a:t>
                </a:r>
              </a:p>
              <a:p>
                <a:r>
                  <a:rPr lang="en-US" dirty="0"/>
                  <a:t>2 coefficients for 3 salary levels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ℎ𝑖𝑔ℎ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≻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𝑚𝑒𝑑𝑖𝑢𝑚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≻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𝑙𝑜𝑤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1 coefficient for 2 promotion levels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𝑝𝑟𝑜𝑚𝑜𝑡𝑖𝑜𝑛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≻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𝑛𝑜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𝑝𝑟𝑜𝑚𝑜𝑡𝑖𝑜𝑛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High satisfaction reduces </a:t>
                </a:r>
                <a:r>
                  <a:rPr lang="en-US" i="1" dirty="0"/>
                  <a:t>p(leave)</a:t>
                </a:r>
              </a:p>
              <a:p>
                <a:r>
                  <a:rPr lang="en-US" dirty="0"/>
                  <a:t>Model uses </a:t>
                </a:r>
                <a:r>
                  <a:rPr lang="en-US" b="1" dirty="0"/>
                  <a:t>method of contrasts</a:t>
                </a:r>
              </a:p>
              <a:p>
                <a:pPr lvl="1"/>
                <a:r>
                  <a:rPr lang="en-US" sz="1800" dirty="0"/>
                  <a:t>Intercept = high salary, no promotion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  <a:blipFill>
                <a:blip r:embed="rId2"/>
                <a:stretch>
                  <a:fillRect l="-1699" t="-2829" b="-1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DA85742-080E-E959-4B1F-37C085B620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111" y="963168"/>
            <a:ext cx="3816838" cy="405028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B57B93-C0E7-00BF-8318-C9B05A28D09B}"/>
              </a:ext>
            </a:extLst>
          </p:cNvPr>
          <p:cNvCxnSpPr>
            <a:cxnSpLocks/>
          </p:cNvCxnSpPr>
          <p:nvPr/>
        </p:nvCxnSpPr>
        <p:spPr>
          <a:xfrm>
            <a:off x="4247804" y="2356658"/>
            <a:ext cx="3794852" cy="8354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25795A-9EE9-B499-7BF2-C07DC2F97557}"/>
              </a:ext>
            </a:extLst>
          </p:cNvPr>
          <p:cNvCxnSpPr>
            <a:cxnSpLocks/>
          </p:cNvCxnSpPr>
          <p:nvPr/>
        </p:nvCxnSpPr>
        <p:spPr>
          <a:xfrm>
            <a:off x="4430684" y="2867891"/>
            <a:ext cx="1413348" cy="11067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DA33E75-5158-E7B8-3622-0C6CFCFA035F}"/>
              </a:ext>
            </a:extLst>
          </p:cNvPr>
          <p:cNvCxnSpPr>
            <a:cxnSpLocks/>
          </p:cNvCxnSpPr>
          <p:nvPr/>
        </p:nvCxnSpPr>
        <p:spPr>
          <a:xfrm>
            <a:off x="4430684" y="2867891"/>
            <a:ext cx="1604356" cy="89537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49A47CA-0740-69F6-3C73-A95B987E960E}"/>
              </a:ext>
            </a:extLst>
          </p:cNvPr>
          <p:cNvCxnSpPr>
            <a:cxnSpLocks/>
          </p:cNvCxnSpPr>
          <p:nvPr/>
        </p:nvCxnSpPr>
        <p:spPr>
          <a:xfrm>
            <a:off x="4821382" y="3549535"/>
            <a:ext cx="677487" cy="5444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06A039D-53FF-E8D7-9ABE-242D76DD8F8C}"/>
              </a:ext>
            </a:extLst>
          </p:cNvPr>
          <p:cNvCxnSpPr>
            <a:cxnSpLocks/>
          </p:cNvCxnSpPr>
          <p:nvPr/>
        </p:nvCxnSpPr>
        <p:spPr>
          <a:xfrm>
            <a:off x="4713316" y="4094018"/>
            <a:ext cx="1167939" cy="3325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39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7023" cy="71367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Evaluation of Classifiers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24128"/>
            <a:ext cx="8479535" cy="17393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How can we evaluate a classifier’s?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sz="1800" dirty="0"/>
              <a:t>Determine proportions of test cases which are classified a</a:t>
            </a:r>
            <a:r>
              <a:rPr lang="en-US" sz="1800" dirty="0"/>
              <a:t>s {no leave, leave}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Logistic function computes </a:t>
            </a:r>
            <a:r>
              <a:rPr lang="en-US" sz="1800" b="1" dirty="0"/>
              <a:t>probability of class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Examine probabilities by known response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Threshold</a:t>
            </a:r>
            <a:r>
              <a:rPr lang="en-US" sz="1800" dirty="0"/>
              <a:t> of 0.5 is not optimal in this case, high false negative 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D546E1-9062-F063-8734-82BC28718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568" y="2865086"/>
            <a:ext cx="5522976" cy="2229646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5C6273-42FD-BDD5-EC93-956BE033ACA1}"/>
              </a:ext>
            </a:extLst>
          </p:cNvPr>
          <p:cNvCxnSpPr/>
          <p:nvPr/>
        </p:nvCxnSpPr>
        <p:spPr>
          <a:xfrm>
            <a:off x="4970272" y="3710432"/>
            <a:ext cx="2385568" cy="0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8BBB416-58FF-46D0-2EFD-ACF64332EE14}"/>
              </a:ext>
            </a:extLst>
          </p:cNvPr>
          <p:cNvCxnSpPr>
            <a:cxnSpLocks/>
          </p:cNvCxnSpPr>
          <p:nvPr/>
        </p:nvCxnSpPr>
        <p:spPr>
          <a:xfrm flipV="1">
            <a:off x="3320934" y="2909455"/>
            <a:ext cx="0" cy="1974272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514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7023" cy="71367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Evaluation of Classifiers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24128"/>
            <a:ext cx="8479535" cy="17393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How can we evaluate a classifier’s accuracy?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Examine probabilities by known response (label))   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Threshold</a:t>
            </a:r>
            <a:r>
              <a:rPr lang="en-US" sz="1800" dirty="0"/>
              <a:t> of 0.35 gives better balance of error types 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No threshold value will eliminate errors!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D546E1-9062-F063-8734-82BC28718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568" y="2865086"/>
            <a:ext cx="5522976" cy="2229646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5C6273-42FD-BDD5-EC93-956BE033ACA1}"/>
              </a:ext>
            </a:extLst>
          </p:cNvPr>
          <p:cNvCxnSpPr/>
          <p:nvPr/>
        </p:nvCxnSpPr>
        <p:spPr>
          <a:xfrm>
            <a:off x="4970272" y="3997221"/>
            <a:ext cx="2385568" cy="0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8BBB416-58FF-46D0-2EFD-ACF64332EE14}"/>
              </a:ext>
            </a:extLst>
          </p:cNvPr>
          <p:cNvCxnSpPr>
            <a:cxnSpLocks/>
          </p:cNvCxnSpPr>
          <p:nvPr/>
        </p:nvCxnSpPr>
        <p:spPr>
          <a:xfrm flipV="1">
            <a:off x="2926079" y="2909455"/>
            <a:ext cx="0" cy="1974272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412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Logistic Regression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A88ADC1-5DA7-6472-EFB5-1F13B141F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4081549" cy="3664457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Example: Evaluation of model predictions </a:t>
            </a:r>
          </a:p>
          <a:p>
            <a:r>
              <a:rPr lang="en-US" dirty="0"/>
              <a:t>Use decision threshold = 0.35</a:t>
            </a:r>
          </a:p>
          <a:p>
            <a:r>
              <a:rPr lang="en-US" dirty="0"/>
              <a:t>Examine </a:t>
            </a:r>
            <a:r>
              <a:rPr lang="en-US" b="1" dirty="0"/>
              <a:t>confusion matrix </a:t>
            </a:r>
          </a:p>
          <a:p>
            <a:pPr lvl="1"/>
            <a:r>
              <a:rPr lang="en-US" dirty="0"/>
              <a:t>Diagonal terms are correctly classified </a:t>
            </a:r>
          </a:p>
          <a:p>
            <a:pPr lvl="1"/>
            <a:r>
              <a:rPr lang="en-US" dirty="0"/>
              <a:t>Errors are the off-diagonal terms </a:t>
            </a:r>
          </a:p>
          <a:p>
            <a:r>
              <a:rPr lang="en-US" dirty="0"/>
              <a:t>Watch out!! The relatively high accuracy of this model is deceptive</a:t>
            </a:r>
          </a:p>
          <a:p>
            <a:r>
              <a:rPr lang="en-US" dirty="0"/>
              <a:t>Low </a:t>
            </a:r>
            <a:r>
              <a:rPr lang="en-US" b="1" dirty="0"/>
              <a:t>precision</a:t>
            </a:r>
            <a:r>
              <a:rPr lang="en-US" dirty="0"/>
              <a:t> and </a:t>
            </a:r>
            <a:r>
              <a:rPr lang="en-US" b="1" dirty="0"/>
              <a:t>recall</a:t>
            </a:r>
            <a:r>
              <a:rPr lang="en-US" dirty="0"/>
              <a:t> from high error rate </a:t>
            </a:r>
          </a:p>
          <a:p>
            <a:endParaRPr lang="en-US" dirty="0"/>
          </a:p>
          <a:p>
            <a:pPr marL="0" indent="0">
              <a:buNone/>
            </a:pPr>
            <a:endParaRPr lang="en-US" b="0" dirty="0"/>
          </a:p>
          <a:p>
            <a:endParaRPr lang="en-US" b="0" dirty="0"/>
          </a:p>
          <a:p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47D810-5E05-77ED-C3B1-13DA5996C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6337" y="1769309"/>
            <a:ext cx="4707664" cy="1942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8827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E9BFB-D04B-0957-AD28-460D78C17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67CBD-830B-7AE9-9E29-A0C41F9C5D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Measuring Deviance</a:t>
            </a:r>
          </a:p>
        </p:txBody>
      </p:sp>
    </p:spTree>
    <p:extLst>
      <p:ext uri="{BB962C8B-B14F-4D97-AF65-F5344CB8AC3E}">
        <p14:creationId xmlns:p14="http://schemas.microsoft.com/office/powerpoint/2010/main" val="21606500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75264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The significance of the GLM is expressed in terms of a statistic called </a:t>
                </a:r>
                <a:r>
                  <a:rPr b="1" dirty="0"/>
                  <a:t>deviance</a:t>
                </a:r>
              </a:p>
              <a:p>
                <a:pPr lvl="0"/>
                <a:r>
                  <a:rPr lang="en-US" dirty="0"/>
                  <a:t>OLS regression models often evaluated using variance ratios such 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ar-AE" dirty="0"/>
                  <a:t> </a:t>
                </a:r>
                <a:r>
                  <a:rPr lang="en-US" dirty="0"/>
                  <a:t>or error metrics like RMSE</a:t>
                </a:r>
              </a:p>
              <a:p>
                <a:pPr lvl="0"/>
                <a:r>
                  <a:rPr lang="en-US" dirty="0"/>
                  <a:t>Must use another metric, </a:t>
                </a:r>
                <a:r>
                  <a:rPr lang="en-US" b="1" dirty="0"/>
                  <a:t>deviance</a:t>
                </a:r>
                <a:r>
                  <a:rPr lang="en-US" dirty="0"/>
                  <a:t>, for GLM given a nonlinear mapping</a:t>
                </a:r>
              </a:p>
              <a:p>
                <a:pPr lvl="1"/>
                <a:r>
                  <a:rPr lang="en-US" dirty="0"/>
                  <a:t>Deviance is closely related to </a:t>
                </a:r>
                <a:r>
                  <a:rPr lang="en-US" b="1" dirty="0"/>
                  <a:t>log likelihood ratio</a:t>
                </a:r>
              </a:p>
              <a:p>
                <a:pPr lvl="1"/>
                <a:r>
                  <a:rPr dirty="0"/>
                  <a:t>It can be challenging to understand </a:t>
                </a:r>
                <a:r>
                  <a:rPr lang="en-US" dirty="0"/>
                  <a:t>what </a:t>
                </a:r>
                <a:r>
                  <a:rPr dirty="0"/>
                  <a:t>deviance means</a:t>
                </a:r>
              </a:p>
              <a:p>
                <a:pPr lvl="1"/>
                <a:r>
                  <a:rPr lang="en-US" dirty="0"/>
                  <a:t>Several commonly used forms of deviance complicate understanding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75264"/>
              </a:xfrm>
              <a:blipFill>
                <a:blip r:embed="rId2"/>
                <a:stretch>
                  <a:fillRect l="-1111" t="-2322" r="-1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significance of the GLM is expressed in terms of a statistic called </a:t>
                </a:r>
                <a:r>
                  <a:rPr lang="en-US" b="1" dirty="0"/>
                  <a:t>deviance</a:t>
                </a:r>
              </a:p>
              <a:p>
                <a:pPr lvl="0"/>
                <a:r>
                  <a:rPr lang="en-US" dirty="0"/>
                  <a:t>Wrapping your head around deviance takes some work</a:t>
                </a:r>
              </a:p>
              <a:p>
                <a:pPr lvl="0"/>
                <a:r>
                  <a:rPr lang="en-US" dirty="0"/>
                  <a:t>In summary, deviance is the </a:t>
                </a:r>
                <a:r>
                  <a:rPr lang="en-US" b="1" dirty="0"/>
                  <a:t>log likelihood ratio of a model to</a:t>
                </a:r>
                <a:r>
                  <a:rPr lang="en-US" dirty="0"/>
                  <a:t> </a:t>
                </a:r>
                <a:r>
                  <a:rPr lang="en-US" b="1" dirty="0"/>
                  <a:t>a reference model</a:t>
                </a:r>
              </a:p>
              <a:p>
                <a:pPr lvl="0"/>
                <a:r>
                  <a:rPr lang="en-US" dirty="0"/>
                  <a:t>Let’s start with by defining some notation</a:t>
                </a:r>
              </a:p>
              <a:p>
                <a:pPr lvl="1"/>
                <a:r>
                  <a:rPr lang="en-US" dirty="0"/>
                  <a:t>The model is written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with parameters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reference model is written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with parameters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ar-AE" dirty="0"/>
                  <a:t>: </a:t>
                </a:r>
                <a:r>
                  <a:rPr lang="en-US" dirty="0"/>
                  <a:t>Some sources use notation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array of observations or model matrix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𝑙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𝐗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</m:d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log-likelihood of the model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r="-370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significance of the GLM is expressed in terms of a statistic called </a:t>
                </a:r>
                <a:r>
                  <a:rPr lang="en-US" b="1" dirty="0"/>
                  <a:t>deviance</a:t>
                </a:r>
              </a:p>
              <a:p>
                <a:pPr lvl="0"/>
                <a:r>
                  <a:rPr lang="en-US" dirty="0"/>
                  <a:t>Deviance is based on the </a:t>
                </a:r>
                <a:r>
                  <a:rPr lang="en-US" b="1" dirty="0"/>
                  <a:t>log likelihood ratio </a:t>
                </a:r>
                <a:r>
                  <a:rPr lang="en-US" dirty="0"/>
                  <a:t>between a model and a reference model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685800" lvl="2" indent="0">
                  <a:buNone/>
                </a:pPr>
                <a:r>
                  <a:rPr lang="en-US" dirty="0"/>
                  <a:t>Where the factor of 2 scales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to have 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distribution with 1 </a:t>
                </a:r>
                <a:r>
                  <a:rPr lang="en-US" dirty="0" err="1"/>
                  <a:t>DoF</a:t>
                </a:r>
                <a:endParaRPr lang="ar-AE" dirty="0"/>
              </a:p>
              <a:p>
                <a:r>
                  <a:rPr lang="en-US" dirty="0"/>
                  <a:t>Rearranging terms gives a formulation of deviance </a:t>
                </a:r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=2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 r="-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5160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There are several commonly used forms of deviance:</a:t>
                </a:r>
              </a:p>
              <a:p>
                <a:pPr lvl="0"/>
                <a:r>
                  <a:rPr lang="en-US" b="1" dirty="0"/>
                  <a:t>Residual deviance</a:t>
                </a:r>
                <a:r>
                  <a:rPr lang="en-US" dirty="0"/>
                  <a:t> uses a </a:t>
                </a:r>
                <a:r>
                  <a:rPr lang="en-US" b="1" dirty="0"/>
                  <a:t>saturated model</a:t>
                </a:r>
                <a:r>
                  <a:rPr lang="en-US" dirty="0"/>
                  <a:t> as a reference</a:t>
                </a:r>
              </a:p>
              <a:p>
                <a:pPr lvl="1"/>
                <a:r>
                  <a:rPr lang="en-US" dirty="0"/>
                  <a:t>Saturated model has a degree of freedom (parameter) for each observation used to fit</a:t>
                </a:r>
              </a:p>
              <a:p>
                <a:pPr lvl="1"/>
                <a:r>
                  <a:rPr lang="en-US" dirty="0"/>
                  <a:t>Model has a perfect fit to training data</a:t>
                </a:r>
              </a:p>
              <a:p>
                <a:pPr lvl="1"/>
                <a:r>
                  <a:rPr lang="en-US" dirty="0"/>
                  <a:t>But poor </a:t>
                </a:r>
                <a:r>
                  <a:rPr lang="en-US" b="1" dirty="0"/>
                  <a:t>generalization</a:t>
                </a:r>
                <a:r>
                  <a:rPr lang="en-US" dirty="0"/>
                  <a:t> or accuracy for new observations</a:t>
                </a:r>
              </a:p>
              <a:p>
                <a:pPr lvl="0"/>
                <a:r>
                  <a:rPr lang="en-US" b="1" dirty="0"/>
                  <a:t>Likelihood ratio test </a:t>
                </a:r>
                <a:r>
                  <a:rPr lang="en-US" dirty="0"/>
                  <a:t>uses a </a:t>
                </a:r>
                <a:r>
                  <a:rPr lang="en-US" b="1" dirty="0"/>
                  <a:t>null model</a:t>
                </a:r>
                <a:r>
                  <a:rPr lang="en-US" dirty="0"/>
                  <a:t> as a reference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dirty="0"/>
                  <a:t> the likelihood ratio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distributed with 1 </a:t>
                </a:r>
                <a:r>
                  <a:rPr lang="en-US" dirty="0" err="1"/>
                  <a:t>DoF</a:t>
                </a:r>
                <a:endParaRPr lang="en-US" dirty="0"/>
              </a:p>
              <a:p>
                <a:pPr lvl="1"/>
                <a:r>
                  <a:rPr lang="en-US" dirty="0"/>
                  <a:t>Null model explains none of the variance of the data</a:t>
                </a:r>
              </a:p>
              <a:p>
                <a:pPr lvl="1"/>
                <a:r>
                  <a:rPr lang="en-US" dirty="0"/>
                  <a:t>Example: for Normally distributed response null model is the mean of response vector</a:t>
                </a:r>
              </a:p>
              <a:p>
                <a:pPr lvl="1"/>
                <a:r>
                  <a:rPr lang="en-US" dirty="0"/>
                  <a:t>Example: for Binomially distributed response null model random guesses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based on the probability parameter,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, of the response vector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  <a:blipFill>
                <a:blip r:embed="rId2"/>
                <a:stretch>
                  <a:fillRect l="-741" t="-2496" r="-10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The deviance</a:t>
                </a:r>
                <a:r>
                  <a:rPr lang="en-US" dirty="0"/>
                  <a:t> </a:t>
                </a:r>
                <a:r>
                  <a:rPr dirty="0"/>
                  <a:t>statistic</a:t>
                </a:r>
                <a:r>
                  <a:rPr lang="en-US" dirty="0"/>
                  <a:t> is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dirty="0"/>
                  <a:t> distributed</a:t>
                </a:r>
                <a:r>
                  <a:rPr lang="en-US" dirty="0"/>
                  <a:t> with 1 </a:t>
                </a:r>
                <a:r>
                  <a:rPr lang="en-US" dirty="0" err="1"/>
                  <a:t>DoF</a:t>
                </a:r>
                <a:endParaRPr dirty="0"/>
              </a:p>
              <a:p>
                <a:pPr lvl="0"/>
                <a:r>
                  <a:rPr dirty="0"/>
                  <a:t>Can apply a significance test on a model</a:t>
                </a:r>
              </a:p>
              <a:p>
                <a:pPr lvl="0"/>
                <a:r>
                  <a:rPr dirty="0"/>
                  <a:t>A model with small deviance is little better that informed guessing</a:t>
                </a:r>
              </a:p>
              <a:p>
                <a:pPr lvl="1"/>
                <a:r>
                  <a:rPr dirty="0"/>
                  <a:t>Has small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dirty="0"/>
                  <a:t> and is </a:t>
                </a:r>
                <a:r>
                  <a:rPr b="1" dirty="0"/>
                  <a:t>not significant</a:t>
                </a:r>
                <a:r>
                  <a:rPr lang="en-US" b="1" dirty="0"/>
                  <a:t>ly different </a:t>
                </a:r>
                <a:r>
                  <a:rPr lang="en-US" dirty="0"/>
                  <a:t>than the reference model</a:t>
                </a:r>
                <a:endParaRPr dirty="0"/>
              </a:p>
              <a:p>
                <a:pPr lvl="0"/>
                <a:r>
                  <a:rPr dirty="0"/>
                  <a:t>A model with large deviance has a large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dirty="0"/>
              </a:p>
              <a:p>
                <a:pPr lvl="1"/>
                <a:r>
                  <a:rPr dirty="0"/>
                  <a:t>Exhibits a </a:t>
                </a:r>
                <a:r>
                  <a:rPr lang="en-US" b="1" dirty="0"/>
                  <a:t>statistically </a:t>
                </a:r>
                <a:r>
                  <a:rPr b="1" dirty="0"/>
                  <a:t>significant improvement </a:t>
                </a:r>
                <a:r>
                  <a:rPr dirty="0"/>
                  <a:t>in accuracy</a:t>
                </a:r>
                <a:r>
                  <a:rPr lang="en-US" dirty="0"/>
                  <a:t> compared to reference model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Residual Deviance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Residual deviance</a:t>
                </a:r>
                <a:r>
                  <a:rPr lang="en-US" dirty="0"/>
                  <a:t> is 2 times the difference between the log likelihood of a saturated model,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and some other model: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Residual deviance has several important properties.</a:t>
                </a:r>
              </a:p>
              <a:p>
                <a:pPr lvl="0"/>
                <a:r>
                  <a:rPr lang="en-US" dirty="0"/>
                  <a:t>Log likelihood of saturated model is 0 for some common distributions</a:t>
                </a:r>
              </a:p>
              <a:p>
                <a:pPr lvl="1"/>
                <a:r>
                  <a:rPr lang="en-US" dirty="0"/>
                  <a:t>Examples, Normal distribution or Binomial distribution</a:t>
                </a:r>
              </a:p>
              <a:p>
                <a:pPr lvl="1"/>
                <a:r>
                  <a:rPr lang="en-US" dirty="0"/>
                  <a:t>In these cases, deviance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2 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𝑙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𝐗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</m:d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In other cases log likelihood of saturated model is not 0:</a:t>
                </a:r>
              </a:p>
              <a:p>
                <a:pPr lvl="1"/>
                <a:r>
                  <a:rPr lang="en-US" dirty="0"/>
                  <a:t>Example, Poisson distribution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r="-444" b="-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Residual Deviance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30"/>
                <a:ext cx="8229600" cy="3808028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Normal saturated model:</a:t>
                </a:r>
              </a:p>
              <a:p>
                <a:r>
                  <a:rPr dirty="0"/>
                  <a:t>We can construct a saturated model for normally distributed values by having a free mean parameter,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 for each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.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1,0,0,…,0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0,1,0,…,0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0,0,1,…,0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⋮, ⋮, ⋮, ⋱, ⋮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0,0,0,…,1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lang="en-US" dirty="0"/>
                  <a:t>T</a:t>
                </a:r>
                <a:r>
                  <a:rPr dirty="0"/>
                  <a:t>he normal likelihood for this models is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𝛍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sSup>
                                    <m:sSupPr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</m:sup>
                          </m:sSup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begChr m:val="["/>
                          <m:endChr m:val="]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the Normal likelihood is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1.0</m:t>
                    </m:r>
                  </m:oMath>
                </a14:m>
                <a:r>
                  <a:rPr dirty="0"/>
                  <a:t> and the log likelihood is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0.0</m:t>
                    </m:r>
                  </m:oMath>
                </a14:m>
                <a:r>
                  <a:rPr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30"/>
                <a:ext cx="8229600" cy="3808028"/>
              </a:xfrm>
              <a:blipFill>
                <a:blip r:embed="rId2"/>
                <a:stretch>
                  <a:fillRect l="-667" t="-2080" b="-1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Residual Deviance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Binomial </a:t>
                </a:r>
                <a:r>
                  <a:rPr b="1" dirty="0" err="1"/>
                  <a:t>staturated</a:t>
                </a:r>
                <a:r>
                  <a:rPr b="1" dirty="0"/>
                  <a:t> model:</a:t>
                </a:r>
              </a:p>
              <a:p>
                <a:r>
                  <a:rPr dirty="0"/>
                  <a:t>A saturated Binomial model can be constructed if for each outcome,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the probability parameter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i="0"/>
                                  <m:t>if 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i="0"/>
                                  <m:t>if 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The likelihood can be writ</a:t>
                </a:r>
                <a:r>
                  <a:rPr lang="en-US" dirty="0"/>
                  <a:t>t</a:t>
                </a:r>
                <a:r>
                  <a:rPr dirty="0"/>
                  <a:t>en: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∏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Sup>
                            <m:sSub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̂"/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acc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bSup>
                        </m:e>
                      </m:nary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Since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𝑙𝑜𝑔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dirty="0"/>
                  <a:t>, the log likelihood of the saturated model.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b="-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Properties of Deviance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are some key properties of deviance?</a:t>
                </a:r>
              </a:p>
              <a:p>
                <a:pPr lvl="0"/>
                <a:r>
                  <a:rPr lang="en-US" dirty="0"/>
                  <a:t>Deviance can be applied to any GLM</a:t>
                </a:r>
              </a:p>
              <a:p>
                <a:pPr lvl="0"/>
                <a:r>
                  <a:rPr lang="en-US" dirty="0"/>
                  <a:t>Recall that log-likelihood is usually a negative number</a:t>
                </a:r>
              </a:p>
              <a:p>
                <a:pPr lvl="1"/>
                <a:r>
                  <a:rPr lang="en-US" dirty="0"/>
                  <a:t>Higher log-likelihood has smaller negative magnitude</a:t>
                </a:r>
              </a:p>
              <a:p>
                <a:pPr lvl="0"/>
                <a:r>
                  <a:rPr lang="en-US" dirty="0"/>
                  <a:t>Sign of ratio chosen to ensure deviance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dirty="0"/>
                  <a:t> always</a:t>
                </a:r>
              </a:p>
              <a:p>
                <a:pPr lvl="1"/>
                <a:r>
                  <a:rPr lang="en-US" dirty="0"/>
                  <a:t>If model is no better than the reference model,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For model with greater predictive power,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fit model</a:t>
                </a:r>
              </a:p>
              <a:p>
                <a:pPr marL="0" lvl="0" indent="0">
                  <a:buNone/>
                </a:pPr>
                <a:r>
                  <a:rPr lang="en-US" sz="1800" dirty="0"/>
                  <a:t>left ~ </a:t>
                </a:r>
                <a:r>
                  <a:rPr lang="en-US" sz="1800" dirty="0" err="1"/>
                  <a:t>satisfaction_level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average_montly_hours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last_evaluation</a:t>
                </a:r>
                <a:r>
                  <a:rPr lang="en-US" sz="1800" dirty="0"/>
                  <a:t> + C(salary) + C(promotion_last_5years)</a:t>
                </a:r>
              </a:p>
              <a:p>
                <a:r>
                  <a:rPr lang="en-US" dirty="0"/>
                  <a:t>Deviance by itself is hard to interpret – useful for model selection and comparison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p-value shows model is statistically significant compared to the saturated model </a:t>
                </a:r>
                <a:endParaRPr lang="en-US" sz="1800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  <a:blipFill>
                <a:blip r:embed="rId2"/>
                <a:stretch>
                  <a:fillRect l="-1961" t="-2329" r="-6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DA85742-080E-E959-4B1F-37C085B620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111" y="963168"/>
            <a:ext cx="3816838" cy="405028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B57B93-C0E7-00BF-8318-C9B05A28D09B}"/>
              </a:ext>
            </a:extLst>
          </p:cNvPr>
          <p:cNvCxnSpPr>
            <a:cxnSpLocks/>
          </p:cNvCxnSpPr>
          <p:nvPr/>
        </p:nvCxnSpPr>
        <p:spPr>
          <a:xfrm flipV="1">
            <a:off x="4430684" y="2312416"/>
            <a:ext cx="3038301" cy="508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DA33E75-5158-E7B8-3622-0C6CFCFA035F}"/>
              </a:ext>
            </a:extLst>
          </p:cNvPr>
          <p:cNvCxnSpPr>
            <a:cxnSpLocks/>
          </p:cNvCxnSpPr>
          <p:nvPr/>
        </p:nvCxnSpPr>
        <p:spPr>
          <a:xfrm flipV="1">
            <a:off x="4915267" y="2527808"/>
            <a:ext cx="2354213" cy="12964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623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AAB80-6C9F-ABEE-2E86-0036A56E6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C95BC-8703-5204-7E48-D057F8791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Poisson Regression as a GLM</a:t>
            </a:r>
          </a:p>
        </p:txBody>
      </p:sp>
    </p:spTree>
    <p:extLst>
      <p:ext uri="{BB962C8B-B14F-4D97-AF65-F5344CB8AC3E}">
        <p14:creationId xmlns:p14="http://schemas.microsoft.com/office/powerpoint/2010/main" val="52442430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Poisson Regression as GLM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5145578" cy="3394472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b="1" dirty="0">
                    <a:hlinkClick r:id="rId2"/>
                  </a:rPr>
                  <a:t>Poisson regression </a:t>
                </a:r>
                <a:r>
                  <a:rPr lang="en-US" dirty="0"/>
                  <a:t>is example of a GLM</a:t>
                </a:r>
              </a:p>
              <a:p>
                <a:pPr lvl="0"/>
                <a:r>
                  <a:rPr lang="en-US" dirty="0"/>
                  <a:t>Poisson regression is an example of nonlinear response model</a:t>
                </a:r>
              </a:p>
              <a:p>
                <a:pPr lvl="0"/>
                <a:r>
                  <a:rPr lang="en-US" dirty="0"/>
                  <a:t>Recall, the Poisson distribution has an </a:t>
                </a:r>
                <a:r>
                  <a:rPr lang="en-US" b="1" dirty="0"/>
                  <a:t>exponential form </a:t>
                </a:r>
                <a:r>
                  <a:rPr lang="en-US" dirty="0"/>
                  <a:t>with a single parameter,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The probability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arrivals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5145578" cy="3394472"/>
              </a:xfrm>
              <a:blipFill>
                <a:blip r:embed="rId3"/>
                <a:stretch>
                  <a:fillRect l="-1777" t="-2513" r="-5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3F55446E-49E6-A461-3A13-564B546B57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3253" y="1458884"/>
            <a:ext cx="3439953" cy="28387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06ECB91-7EE8-99AE-6A68-8AE1BA9A99F3}"/>
              </a:ext>
            </a:extLst>
          </p:cNvPr>
          <p:cNvSpPr txBox="1"/>
          <p:nvPr/>
        </p:nvSpPr>
        <p:spPr>
          <a:xfrm>
            <a:off x="6080759" y="4253754"/>
            <a:ext cx="29759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hlinkClick r:id="rId2"/>
              </a:rPr>
              <a:t>Figure from Wiki Commons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D84FB-4A66-2BBB-BECA-635B46DB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D2F0B-A2CB-E224-97ED-D66B34D93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Poisson Regression as GLM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E9AD08-CA48-5C5C-6A10-EA6F7E10E8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Poisson regression </a:t>
                </a:r>
                <a:r>
                  <a:rPr lang="en-US" dirty="0"/>
                  <a:t>is example of a GLM</a:t>
                </a:r>
              </a:p>
              <a:p>
                <a:pPr lvl="0"/>
                <a:r>
                  <a:rPr lang="en-US" dirty="0"/>
                  <a:t>Parameter,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, is the </a:t>
                </a:r>
                <a:r>
                  <a:rPr lang="en-US" b="1" dirty="0"/>
                  <a:t>expected arrival rate </a:t>
                </a:r>
                <a:r>
                  <a:rPr lang="en-US" dirty="0"/>
                  <a:t>of the process</a:t>
                </a:r>
              </a:p>
              <a:p>
                <a:pPr lvl="1"/>
                <a:r>
                  <a:rPr lang="en-US" dirty="0"/>
                  <a:t>For a finite sample period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the mean arrival rate</a:t>
                </a:r>
              </a:p>
              <a:p>
                <a:pPr lvl="0"/>
                <a:r>
                  <a:rPr lang="en-US" dirty="0"/>
                  <a:t>Predictions of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computed from observations,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and model parameter,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Link function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⇔</m:t>
                    </m:r>
                  </m:oMath>
                </a14:m>
                <a:r>
                  <a:rPr lang="en-US" dirty="0"/>
                  <a:t> Inverse link function: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begChr m:val="["/>
                          <m:endChr m:val="]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𝙴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⇔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E9AD08-CA48-5C5C-6A10-EA6F7E10E8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9555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Poisson Regression as GLM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dirty="0"/>
                  <a:t>Extend relationship using a linear model for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Expected arrival rate </a:t>
                </a:r>
                <a:r>
                  <a:rPr lang="en-US" dirty="0"/>
                  <a:t>depends on </a:t>
                </a:r>
                <a:r>
                  <a:rPr dirty="0"/>
                  <a:t>the independent variable</a:t>
                </a:r>
                <a:r>
                  <a:rPr lang="en-US" dirty="0"/>
                  <a:t>(s)</a:t>
                </a:r>
                <a:endParaRPr dirty="0"/>
              </a:p>
              <a:p>
                <a:pPr lvl="0"/>
                <a:r>
                  <a:rPr dirty="0"/>
                  <a:t>Example, linear model with intercept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, and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dimensional </a:t>
                </a:r>
                <a:r>
                  <a:rPr lang="en-US" dirty="0"/>
                  <a:t>partial </a:t>
                </a:r>
                <a:r>
                  <a:rPr dirty="0"/>
                  <a:t>slope parameter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endParaRPr dirty="0"/>
              </a:p>
              <a:p>
                <a:pPr lvl="1"/>
                <a:r>
                  <a:rPr dirty="0"/>
                  <a:t>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for a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dimensional observation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acc>
                                <m:accPr>
                                  <m:chr m:val="⃗"/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e>
                          </m:d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33755" cy="61401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>
                <a:latin typeface="+mn-lt"/>
              </a:rPr>
              <a:t>Poisson Regression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363287"/>
                <a:ext cx="4264428" cy="3231336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Example:  number of awards for students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Independent variables are program,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𝑐𝑎𝑑𝑒𝑚𝑖𝑐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𝑔𝑒𝑛𝑒𝑟𝑎𝑙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𝑣𝑜𝑐𝑎𝑡𝑖𝑜𝑛𝑎𝑙</m:t>
                        </m:r>
                      </m:e>
                    </m:d>
                  </m:oMath>
                </a14:m>
                <a:r>
                  <a:rPr lang="ar-AE" sz="2000" dirty="0"/>
                  <a:t> , </a:t>
                </a:r>
                <a:r>
                  <a:rPr lang="en-US" sz="2000" dirty="0"/>
                  <a:t>and math score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Count data - suitable for Poisson model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Note exponential decrease in award counts by program</a:t>
                </a:r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363287"/>
                <a:ext cx="4264428" cy="3231336"/>
              </a:xfrm>
              <a:blipFill>
                <a:blip r:embed="rId2"/>
                <a:stretch>
                  <a:fillRect l="-1429" t="-2075" r="-2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A03BC6CA-6748-B704-0AAA-4393A2EB6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603" y="1109749"/>
            <a:ext cx="4352397" cy="333548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6245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200" dirty="0">
                <a:latin typeface="+mn-lt"/>
              </a:rPr>
              <a:t>Poisson Regression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D63785-FE0E-1E0A-4018-448CF53E15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019" y="1236983"/>
            <a:ext cx="4165010" cy="35883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95D4DC41-687B-A833-D70C-ADE378B35D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Fit model</a:t>
                </a:r>
              </a:p>
              <a:p>
                <a:pPr marL="0" lvl="0" indent="0">
                  <a:buNone/>
                </a:pPr>
                <a:r>
                  <a:rPr lang="en-US" dirty="0" err="1"/>
                  <a:t>num_awards</a:t>
                </a:r>
                <a:r>
                  <a:rPr lang="en-US" dirty="0"/>
                  <a:t> ~ math + C(prog)</a:t>
                </a:r>
              </a:p>
              <a:p>
                <a:r>
                  <a:rPr lang="en-US" dirty="0"/>
                  <a:t>Likelihood ratio indicates model is statistically significant compared to a null model</a:t>
                </a:r>
              </a:p>
              <a:p>
                <a:r>
                  <a:rPr lang="en-US" dirty="0"/>
                  <a:t>All coefficients are significant</a:t>
                </a:r>
              </a:p>
              <a:p>
                <a:r>
                  <a:rPr lang="en-US" dirty="0"/>
                  <a:t>Intersect for mean rate of academic program</a:t>
                </a:r>
              </a:p>
              <a:p>
                <a:r>
                  <a:rPr lang="en-US" dirty="0"/>
                  <a:t>2 coefficients for 3 program levels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𝑔𝑒𝑛𝑒𝑟𝑎𝑙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𝑣𝑜𝑐𝑎𝑡𝑖𝑜𝑛𝑎𝑙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𝑎𝑐𝑎𝑑𝑒𝑚𝑖𝑐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en-US" dirty="0"/>
                  <a:t>Increased math score increases rate of awards</a:t>
                </a:r>
                <a:endParaRPr lang="en-US" sz="1800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95D4DC41-687B-A833-D70C-ADE378B35D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  <a:blipFill>
                <a:blip r:embed="rId3"/>
                <a:stretch>
                  <a:fillRect l="-1307" t="-2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A57CF0-AB59-3633-748E-2191C271CCD7}"/>
              </a:ext>
            </a:extLst>
          </p:cNvPr>
          <p:cNvCxnSpPr>
            <a:cxnSpLocks/>
          </p:cNvCxnSpPr>
          <p:nvPr/>
        </p:nvCxnSpPr>
        <p:spPr>
          <a:xfrm>
            <a:off x="4110644" y="2743200"/>
            <a:ext cx="3649287" cy="72320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A4E4314-5E99-CE7B-6684-9C10D0CF65D8}"/>
              </a:ext>
            </a:extLst>
          </p:cNvPr>
          <p:cNvCxnSpPr>
            <a:cxnSpLocks/>
          </p:cNvCxnSpPr>
          <p:nvPr/>
        </p:nvCxnSpPr>
        <p:spPr>
          <a:xfrm>
            <a:off x="4729942" y="3943349"/>
            <a:ext cx="419793" cy="1423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2A7D637-6DE4-6ACB-5C74-4A2B91325ADC}"/>
              </a:ext>
            </a:extLst>
          </p:cNvPr>
          <p:cNvCxnSpPr>
            <a:cxnSpLocks/>
          </p:cNvCxnSpPr>
          <p:nvPr/>
        </p:nvCxnSpPr>
        <p:spPr>
          <a:xfrm>
            <a:off x="4609407" y="3129742"/>
            <a:ext cx="1425633" cy="6335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F9F4B30-DA91-5577-C7BE-9C9A2F98A305}"/>
              </a:ext>
            </a:extLst>
          </p:cNvPr>
          <p:cNvCxnSpPr>
            <a:cxnSpLocks/>
          </p:cNvCxnSpPr>
          <p:nvPr/>
        </p:nvCxnSpPr>
        <p:spPr>
          <a:xfrm>
            <a:off x="4783975" y="3943349"/>
            <a:ext cx="286789" cy="3107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7F646C9-457F-2D54-54B9-EE499A15EF09}"/>
              </a:ext>
            </a:extLst>
          </p:cNvPr>
          <p:cNvCxnSpPr>
            <a:cxnSpLocks/>
          </p:cNvCxnSpPr>
          <p:nvPr/>
        </p:nvCxnSpPr>
        <p:spPr>
          <a:xfrm>
            <a:off x="4443154" y="4291584"/>
            <a:ext cx="1417319" cy="3293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27C3370-179F-E7B4-FB8D-BD34DD7C2A83}"/>
              </a:ext>
            </a:extLst>
          </p:cNvPr>
          <p:cNvCxnSpPr>
            <a:cxnSpLocks/>
          </p:cNvCxnSpPr>
          <p:nvPr/>
        </p:nvCxnSpPr>
        <p:spPr>
          <a:xfrm>
            <a:off x="4783975" y="2190404"/>
            <a:ext cx="2527069" cy="9393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92F8CB7-40E9-432B-1A64-92BF44D6CD49}"/>
              </a:ext>
            </a:extLst>
          </p:cNvPr>
          <p:cNvCxnSpPr>
            <a:cxnSpLocks/>
          </p:cNvCxnSpPr>
          <p:nvPr/>
        </p:nvCxnSpPr>
        <p:spPr>
          <a:xfrm>
            <a:off x="4783975" y="2190404"/>
            <a:ext cx="2310938" cy="4156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615C4BB-171B-73C4-2E73-CD286507A53A}"/>
              </a:ext>
            </a:extLst>
          </p:cNvPr>
          <p:cNvCxnSpPr>
            <a:cxnSpLocks/>
          </p:cNvCxnSpPr>
          <p:nvPr/>
        </p:nvCxnSpPr>
        <p:spPr>
          <a:xfrm>
            <a:off x="4783975" y="2190404"/>
            <a:ext cx="2668385" cy="6899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553795" cy="634798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>
                <a:latin typeface="+mn-lt"/>
              </a:rPr>
              <a:t>Poisson Regression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4372494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Fit of the model response to the observed award rate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The award rate increases with program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𝑔𝑒𝑛𝑒𝑟𝑎𝑙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𝑣𝑜𝑐𝑎𝑡𝑖𝑜𝑛𝑎𝑙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𝑎𝑐𝑎𝑑𝑒𝑚𝑖𝑐</m:t>
                      </m:r>
                    </m:oMath>
                  </m:oMathPara>
                </a14:m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Rate of awards increases with math score</a:t>
                </a:r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4372494" cy="3518297"/>
              </a:xfrm>
              <a:blipFill>
                <a:blip r:embed="rId2"/>
                <a:stretch>
                  <a:fillRect l="-1395" t="-1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4FC85EA-2704-1816-7DF4-6164E9273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055" y="991169"/>
            <a:ext cx="3970799" cy="4046344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7F695-D1C6-0DFF-7782-7EFEE1A0B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581DD-AFEF-CF00-9905-1F2D7F285D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Ordinal Regression </a:t>
            </a:r>
          </a:p>
        </p:txBody>
      </p:sp>
    </p:spTree>
    <p:extLst>
      <p:ext uri="{BB962C8B-B14F-4D97-AF65-F5344CB8AC3E}">
        <p14:creationId xmlns:p14="http://schemas.microsoft.com/office/powerpoint/2010/main" val="292698865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DAAF5-4CBD-441B-54B6-6F87B14BE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B637-FF53-8B85-1C22-6C61E0B59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6070E2-70F7-A018-6E47-2030E69C17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Ordinal variables are commonly encountered </a:t>
            </a:r>
          </a:p>
          <a:p>
            <a:pPr lvl="0"/>
            <a:r>
              <a:rPr lang="en-US" dirty="0"/>
              <a:t>Levels in online reviews; e.g. 1-5 stars</a:t>
            </a:r>
          </a:p>
          <a:p>
            <a:pPr lvl="0"/>
            <a:r>
              <a:rPr lang="en-US" dirty="0"/>
              <a:t>Satisfaction levels in surveys; e.g. very dissatisfied, dissatisfied, okay, satisfied, very satisfied    </a:t>
            </a:r>
          </a:p>
          <a:p>
            <a:pPr lvl="0"/>
            <a:r>
              <a:rPr lang="en-US" dirty="0"/>
              <a:t>Bond ratings; AAA, AA+, AA, AA-, A+, A, A-, ….</a:t>
            </a:r>
          </a:p>
          <a:p>
            <a:pPr lvl="0"/>
            <a:r>
              <a:rPr lang="en-US" dirty="0"/>
              <a:t>Grades at Harvard University, A, A-, B+, B, B-, … </a:t>
            </a:r>
          </a:p>
          <a:p>
            <a:pPr lvl="0"/>
            <a:r>
              <a:rPr lang="en-US" dirty="0"/>
              <a:t>And many more…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27940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87FCC-2F15-05A8-72C7-6E37D9B34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56D64-0B84-563B-8907-41C08659B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CC5C27-9615-6DC7-8E87-E9A919758E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to we deal with rank as a response variable?  </a:t>
                </a:r>
              </a:p>
              <a:p>
                <a:pPr lvl="0"/>
                <a:r>
                  <a:rPr lang="en-US" dirty="0"/>
                  <a:t>The rank in the </a:t>
                </a:r>
                <a:r>
                  <a:rPr lang="en-US" i="1" dirty="0"/>
                  <a:t>k</a:t>
                </a:r>
                <a:r>
                  <a:rPr lang="en-US" dirty="0"/>
                  <a:t>-level ordered response needs to be estimated    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…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Ranks do not have numeric variables  </a:t>
                </a:r>
              </a:p>
              <a:p>
                <a:pPr lvl="0"/>
                <a:r>
                  <a:rPr lang="en-US" dirty="0"/>
                  <a:t>We need to estimate the probabilities for the ranks   </a:t>
                </a:r>
              </a:p>
              <a:p>
                <a:pPr lvl="1"/>
                <a:r>
                  <a:rPr lang="en-US" dirty="0"/>
                  <a:t>Logit model estimates ranks from range of the log odds</a:t>
                </a:r>
              </a:p>
              <a:p>
                <a:pPr lvl="1"/>
                <a:r>
                  <a:rPr lang="en-US" dirty="0"/>
                  <a:t>Probit model estimates ranks from ranges of the CDF of the normal distribution  </a:t>
                </a:r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CC5C27-9615-6DC7-8E87-E9A919758E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r="-296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1048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79AF8-25BB-3132-9B5A-4F1FBD5E7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FF13C-0089-D0B2-3D87-51B731638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95CEEA-C82C-D491-7C04-4EC51B3EE7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:r>
                  <a:rPr lang="en-US" b="1" dirty="0">
                    <a:hlinkClick r:id="rId2"/>
                  </a:rPr>
                  <a:t>ordered probit model </a:t>
                </a:r>
                <a:r>
                  <a:rPr lang="en-US" dirty="0"/>
                  <a:t>is formulated as a GLM </a:t>
                </a:r>
              </a:p>
              <a:p>
                <a:pPr lvl="0"/>
                <a:r>
                  <a:rPr lang="en-US" dirty="0"/>
                  <a:t>Given observation vectors,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dirty="0"/>
                  <a:t>, response,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y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∈{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, and model parameter vector,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dirty="0"/>
                  <a:t>, we can define a set of thresholds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for a model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This model sets thresholds on the </a:t>
                </a:r>
                <a:r>
                  <a:rPr lang="en-US" b="1" dirty="0"/>
                  <a:t>cumulative distribution function (CDF)</a:t>
                </a:r>
                <a:r>
                  <a:rPr lang="en-US" dirty="0"/>
                  <a:t> of the linear model  </a:t>
                </a:r>
              </a:p>
              <a:p>
                <a:pPr lvl="0"/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95CEEA-C82C-D491-7C04-4EC51B3EE7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7303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C5F53-5048-9C7C-C417-62762B616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53DD1-3795-9AF9-3CA7-0F9F25978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32DD76-379B-1F13-439F-7D1F3B4A50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ordered probit model is formulated as a GLM </a:t>
                </a:r>
              </a:p>
              <a:p>
                <a:pPr lvl="0"/>
                <a:r>
                  <a:rPr lang="en-US" dirty="0"/>
                  <a:t>Given the logistic inverse link function    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𝜷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can define a </a:t>
                </a:r>
                <a:r>
                  <a:rPr lang="en-US" b="1" dirty="0"/>
                  <a:t>latent variable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, representing the linear  response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𝜷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is latent since it is a computed value and cannot be observed 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𝜗</m:t>
                        </m:r>
                      </m:e>
                    </m:d>
                  </m:oMath>
                </a14:m>
                <a:r>
                  <a:rPr lang="en-US" dirty="0"/>
                  <a:t>, a zero-centered normally distributed residual    </a:t>
                </a:r>
              </a:p>
              <a:p>
                <a:pPr marL="0" indent="0">
                  <a:buNone/>
                </a:pPr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32DD76-379B-1F13-439F-7D1F3B4A50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b="-1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971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6C0B9-E721-649D-60BA-9A45C7EFA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4AFA6-1E05-7368-3C7E-D72A1F21F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61C60A-2180-E752-D05A-11BD9D7A283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order probit model uses thresholds on a latent variable</a:t>
                </a:r>
              </a:p>
              <a:p>
                <a:r>
                  <a:rPr lang="en-US" dirty="0"/>
                  <a:t>We can define a </a:t>
                </a:r>
                <a:r>
                  <a:rPr lang="en-US" b="1" dirty="0"/>
                  <a:t>latent variable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, representing the linear  response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𝜷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By applying thresholds,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to the latent variable we can estimate the rank,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of the response,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mr>
                        <m:m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mr>
                        <m:m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&lt;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p>
                                </m:e>
                              </m:mr>
                            </m:m>
                          </m:e>
                        </m:mr>
                      </m:m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61C60A-2180-E752-D05A-11BD9D7A28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  <a:blipFill>
                <a:blip r:embed="rId2"/>
                <a:stretch>
                  <a:fillRect l="-1111" t="-22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9457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ECAC0-FBCC-B2A7-27B8-6A2122C93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9B3D-D43B-4317-702E-127063700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E64756-8D3E-0886-EFFA-F6EA1845ED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fit the ordered probit model by </a:t>
                </a:r>
                <a:r>
                  <a:rPr lang="en-US" b="1" dirty="0"/>
                  <a:t>maximizing the log likelihood </a:t>
                </a:r>
              </a:p>
              <a:p>
                <a:r>
                  <a:rPr lang="en-US" dirty="0"/>
                  <a:t>Given the foregoing, we can work out the conditional distribution of the linear response,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with Normal CDF,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</m:oMath>
                </a14:m>
                <a:r>
                  <a:rPr lang="en-US" dirty="0"/>
                  <a:t>, and setting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log likelihood  for a single training example,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,is then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d>
                        <m:dPr>
                          <m:ctrlP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begChr m:val="["/>
                          <m:endChr m:val="]"/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an </a:t>
                </a:r>
                <a:r>
                  <a:rPr lang="en-US" dirty="0">
                    <a:hlinkClick r:id="rId2"/>
                  </a:rPr>
                  <a:t>Iverson bracket </a:t>
                </a:r>
                <a:r>
                  <a:rPr lang="en-US" dirty="0"/>
                  <a:t>for the discrete response for the response in the range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lv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E64756-8D3E-0886-EFFA-F6EA1845ED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  <a:blipFill>
                <a:blip r:embed="rId3"/>
                <a:stretch>
                  <a:fillRect l="-963" t="-2707" r="-1630" b="-15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6674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41743-5875-BD53-F2EA-2B4B47D90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EB323-2ACC-B70F-17DC-69440F929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55B9FE-7D37-66A5-308E-09C03178B0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980008"/>
                <a:ext cx="8229600" cy="4051242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:r>
                  <a:rPr lang="en-US" b="1" dirty="0">
                    <a:hlinkClick r:id="rId2"/>
                  </a:rPr>
                  <a:t>ordered logit model </a:t>
                </a:r>
                <a:r>
                  <a:rPr lang="en-US" dirty="0"/>
                  <a:t>is based on log proportional odds</a:t>
                </a:r>
              </a:p>
              <a:p>
                <a:pPr lvl="0"/>
                <a:r>
                  <a:rPr lang="en-US" dirty="0"/>
                  <a:t>For n-level ordered ranks,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, for observation,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we can define the ordered log odds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+…+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+…+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𝑜𝑟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𝑜𝑟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+…+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ordered logit model is then constructed by imposing a set of </a:t>
                </a:r>
                <a:r>
                  <a:rPr lang="en-US" b="1" dirty="0"/>
                  <a:t>thresholds on a latent variable</a:t>
                </a:r>
                <a:r>
                  <a:rPr lang="en-US" dirty="0"/>
                  <a:t>, but with the error term,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, is assumed to follow a standard </a:t>
                </a:r>
                <a:r>
                  <a:rPr lang="en-US" dirty="0">
                    <a:hlinkClick r:id="rId3"/>
                  </a:rPr>
                  <a:t>logistic distribution </a:t>
                </a:r>
                <a:endParaRPr lang="en-US" b="1" dirty="0"/>
              </a:p>
              <a:p>
                <a:pPr marL="0" lv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55B9FE-7D37-66A5-308E-09C03178B0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80008"/>
                <a:ext cx="8229600" cy="4051242"/>
              </a:xfrm>
              <a:blipFill>
                <a:blip r:embed="rId4"/>
                <a:stretch>
                  <a:fillRect l="-741" t="-2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1748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9353C-1F79-D0FC-1EBA-842771A6D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90C8A-9A28-C47A-C735-0E80971875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9569405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8DF9F-0D35-8607-ECFE-297876033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1BC6E-6224-5F9F-39DD-4192D8F45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FB7750-2A74-A281-31F4-891FD14417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Categorical variables are encoded in </a:t>
            </a:r>
            <a:r>
              <a:rPr lang="en-US"/>
              <a:t>model matrix</a:t>
            </a:r>
          </a:p>
          <a:p>
            <a:pPr lvl="0"/>
            <a:r>
              <a:rPr lang="en-US" dirty="0"/>
              <a:t>Categorical variables encoded with </a:t>
            </a:r>
            <a:r>
              <a:rPr lang="en-US" b="1" dirty="0"/>
              <a:t>one hot encoding   </a:t>
            </a:r>
          </a:p>
          <a:p>
            <a:pPr lvl="1"/>
            <a:r>
              <a:rPr lang="en-US" dirty="0"/>
              <a:t>n dummy variables with no intercept</a:t>
            </a:r>
          </a:p>
          <a:p>
            <a:pPr lvl="1"/>
            <a:r>
              <a:rPr lang="en-US" dirty="0"/>
              <a:t>n-1 dummy variables encode </a:t>
            </a:r>
            <a:r>
              <a:rPr lang="en-US" b="1" dirty="0"/>
              <a:t>contrasts</a:t>
            </a:r>
            <a:r>
              <a:rPr lang="en-US" dirty="0"/>
              <a:t> to intercept variable </a:t>
            </a:r>
          </a:p>
          <a:p>
            <a:pPr lvl="1"/>
            <a:r>
              <a:rPr lang="en-US" dirty="0"/>
              <a:t>Either encoding gives same model results </a:t>
            </a:r>
          </a:p>
          <a:p>
            <a:pPr lvl="0"/>
            <a:r>
              <a:rPr lang="en-US" dirty="0"/>
              <a:t>Can adjust observations and response for </a:t>
            </a:r>
            <a:r>
              <a:rPr lang="en-US" b="1" dirty="0"/>
              <a:t>effects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281283262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03FAB-44AB-D252-6A94-8C4F7285D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50A9F-F6F3-9762-176A-FB2AD81C5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6220E-459F-6E38-4F30-8217CD3688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Categorical variables are encoded in </a:t>
            </a:r>
            <a:r>
              <a:rPr lang="en-US"/>
              <a:t>model matrix</a:t>
            </a:r>
          </a:p>
          <a:p>
            <a:pPr lvl="0"/>
            <a:r>
              <a:rPr lang="en-US" dirty="0"/>
              <a:t>Categorical variables encoded with </a:t>
            </a:r>
            <a:r>
              <a:rPr lang="en-US" b="1" dirty="0"/>
              <a:t>one hot encoding   </a:t>
            </a:r>
          </a:p>
          <a:p>
            <a:pPr lvl="1"/>
            <a:r>
              <a:rPr lang="en-US" dirty="0"/>
              <a:t>n dummy variables with no intercept</a:t>
            </a:r>
          </a:p>
          <a:p>
            <a:pPr lvl="1"/>
            <a:r>
              <a:rPr lang="en-US" dirty="0"/>
              <a:t>n-1 dummy variables encode </a:t>
            </a:r>
            <a:r>
              <a:rPr lang="en-US" b="1" dirty="0"/>
              <a:t>contrasts</a:t>
            </a:r>
            <a:r>
              <a:rPr lang="en-US" dirty="0"/>
              <a:t> to intercept variable </a:t>
            </a:r>
          </a:p>
          <a:p>
            <a:pPr lvl="1"/>
            <a:r>
              <a:rPr lang="en-US" dirty="0"/>
              <a:t>Either encoding gives same model results </a:t>
            </a:r>
          </a:p>
          <a:p>
            <a:pPr lvl="0"/>
            <a:r>
              <a:rPr lang="en-US" dirty="0"/>
              <a:t>Can adjust observations and response for </a:t>
            </a:r>
            <a:r>
              <a:rPr lang="en-US" b="1" dirty="0"/>
              <a:t>effects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7585383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Models with nonlinear response have non-Normal distributions</a:t>
            </a:r>
          </a:p>
          <a:p>
            <a:pPr lvl="0"/>
            <a:r>
              <a:rPr dirty="0"/>
              <a:t>The </a:t>
            </a:r>
            <a:r>
              <a:rPr b="1" dirty="0"/>
              <a:t>generalized linear model</a:t>
            </a:r>
            <a:r>
              <a:rPr lang="en-US" b="1" dirty="0"/>
              <a:t> (GLM)</a:t>
            </a:r>
            <a:r>
              <a:rPr dirty="0"/>
              <a:t> accommodates nonlinear response distributions</a:t>
            </a:r>
          </a:p>
          <a:p>
            <a:pPr lvl="0"/>
            <a:r>
              <a:rPr b="1" dirty="0"/>
              <a:t>Link function</a:t>
            </a:r>
            <a:r>
              <a:rPr dirty="0"/>
              <a:t> transforms to linear model</a:t>
            </a:r>
          </a:p>
          <a:p>
            <a:pPr lvl="1"/>
            <a:r>
              <a:rPr b="1" dirty="0"/>
              <a:t>Inverse link function </a:t>
            </a:r>
            <a:r>
              <a:rPr dirty="0"/>
              <a:t>transforms from Normal distribution to response distribution</a:t>
            </a:r>
          </a:p>
          <a:p>
            <a:pPr lvl="0"/>
            <a:r>
              <a:rPr dirty="0"/>
              <a:t>Evaluating Binomial response models</a:t>
            </a:r>
          </a:p>
          <a:p>
            <a:pPr lvl="1"/>
            <a:r>
              <a:rPr dirty="0"/>
              <a:t>Confusion matrix organizes</a:t>
            </a:r>
          </a:p>
          <a:p>
            <a:pPr lvl="1"/>
            <a:r>
              <a:rPr dirty="0"/>
              <a:t>Compute metrics from elements of confusion matrix</a:t>
            </a:r>
          </a:p>
          <a:p>
            <a:pPr lvl="1"/>
            <a:r>
              <a:rPr dirty="0"/>
              <a:t>Use multiple evaluation criteria</a:t>
            </a:r>
          </a:p>
          <a:p>
            <a:pPr lvl="0"/>
            <a:r>
              <a:rPr dirty="0"/>
              <a:t>Compare model performance with </a:t>
            </a:r>
            <a:r>
              <a:rPr b="1" dirty="0"/>
              <a:t>deviance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7565</TotalTime>
  <Words>4322</Words>
  <Application>Microsoft Office PowerPoint</Application>
  <PresentationFormat>On-screen Show (16:9)</PresentationFormat>
  <Paragraphs>529</Paragraphs>
  <Slides>72</Slides>
  <Notes>3</Notes>
  <HiddenSlides>6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7" baseType="lpstr">
      <vt:lpstr>Arial</vt:lpstr>
      <vt:lpstr>Calibri</vt:lpstr>
      <vt:lpstr>Cambria Math</vt:lpstr>
      <vt:lpstr>Courier</vt:lpstr>
      <vt:lpstr>Office Theme</vt:lpstr>
      <vt:lpstr>Models Categorical Variables and Nonlinear Responses</vt:lpstr>
      <vt:lpstr>Review</vt:lpstr>
      <vt:lpstr>Review</vt:lpstr>
      <vt:lpstr>Review</vt:lpstr>
      <vt:lpstr>Review</vt:lpstr>
      <vt:lpstr>Introduction</vt:lpstr>
      <vt:lpstr>Introduction</vt:lpstr>
      <vt:lpstr>Working with Categorical Variables 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Models with Nonlinear Responses</vt:lpstr>
      <vt:lpstr>Models with Nonlinear Response</vt:lpstr>
      <vt:lpstr>Models with Nonlinear Response</vt:lpstr>
      <vt:lpstr>The Generalized Linear Model</vt:lpstr>
      <vt:lpstr>The Generalized Linear Model</vt:lpstr>
      <vt:lpstr>The Generalized Linear Model</vt:lpstr>
      <vt:lpstr>The Logistic Regression Model</vt:lpstr>
      <vt:lpstr>The Logistic Regression Model</vt:lpstr>
      <vt:lpstr>The Logistic Regression Model</vt:lpstr>
      <vt:lpstr>The Logistic Regression Model</vt:lpstr>
      <vt:lpstr>Logistic Regression Model</vt:lpstr>
      <vt:lpstr>Logistic Regression Model</vt:lpstr>
      <vt:lpstr>Evaluation of Binary Responses</vt:lpstr>
      <vt:lpstr>Evaluation of Binary Response</vt:lpstr>
      <vt:lpstr>Evaluation of Classifiers</vt:lpstr>
      <vt:lpstr>Example: Logistic Regression </vt:lpstr>
      <vt:lpstr>Example of Logistic Regression</vt:lpstr>
      <vt:lpstr>Example of Logistic Regression</vt:lpstr>
      <vt:lpstr>Evaluation of Classifiers</vt:lpstr>
      <vt:lpstr>Evaluation of Classifiers</vt:lpstr>
      <vt:lpstr>Example of Logistic Regression</vt:lpstr>
      <vt:lpstr>Measuring Deviance</vt:lpstr>
      <vt:lpstr>What is Deviance?</vt:lpstr>
      <vt:lpstr>What is Deviance?</vt:lpstr>
      <vt:lpstr>What is Deviance?</vt:lpstr>
      <vt:lpstr>What is Deviance?</vt:lpstr>
      <vt:lpstr>What is Deviance?</vt:lpstr>
      <vt:lpstr>Residual Deviance</vt:lpstr>
      <vt:lpstr>Residual Deviance</vt:lpstr>
      <vt:lpstr>Residual Deviance</vt:lpstr>
      <vt:lpstr>Properties of Deviance</vt:lpstr>
      <vt:lpstr>Example of Logistic Regression</vt:lpstr>
      <vt:lpstr>Poisson Regression as a GLM</vt:lpstr>
      <vt:lpstr>Poisson Regression as GLM</vt:lpstr>
      <vt:lpstr>Poisson Regression as GLM</vt:lpstr>
      <vt:lpstr>Poisson Regression as GLM</vt:lpstr>
      <vt:lpstr>Poisson Regression Example</vt:lpstr>
      <vt:lpstr>Poisson Regression Example</vt:lpstr>
      <vt:lpstr>Poisson Regression Example</vt:lpstr>
      <vt:lpstr>Ordinal Regression </vt:lpstr>
      <vt:lpstr>Ordinal regression </vt:lpstr>
      <vt:lpstr>Ordinal regression </vt:lpstr>
      <vt:lpstr>Ordinal regression </vt:lpstr>
      <vt:lpstr>Ordinal regression </vt:lpstr>
      <vt:lpstr>Ordinal regression </vt:lpstr>
      <vt:lpstr>Ordinal regression </vt:lpstr>
      <vt:lpstr>Ordinal regression </vt:lpstr>
      <vt:lpstr>Summary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Categorical Variables and Nonlinear Response</dc:title>
  <dc:creator>Steve Elston</dc:creator>
  <cp:keywords/>
  <cp:lastModifiedBy>Stephen Elston</cp:lastModifiedBy>
  <cp:revision>243</cp:revision>
  <dcterms:created xsi:type="dcterms:W3CDTF">2024-08-16T02:30:27Z</dcterms:created>
  <dcterms:modified xsi:type="dcterms:W3CDTF">2026-10-01T18:58:09Z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10/30/2023</vt:lpwstr>
  </property>
  <property fmtid="{D5CDD505-2E9C-101B-9397-08002B2CF9AE}" pid="3" name="output">
    <vt:lpwstr/>
  </property>
</Properties>
</file>