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Props/app0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openxmlformats.org/package/2006/relationships/metadata/extended-properties" Target="docProps/app0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74"/>
  </p:notesMasterIdLst>
  <p:sldIdLst>
    <p:sldId id="308" r:id="rId2"/>
    <p:sldId id="257" r:id="rId3"/>
    <p:sldId id="328" r:id="rId4"/>
    <p:sldId id="258" r:id="rId5"/>
    <p:sldId id="260" r:id="rId6"/>
    <p:sldId id="329" r:id="rId7"/>
    <p:sldId id="262" r:id="rId8"/>
    <p:sldId id="316" r:id="rId9"/>
    <p:sldId id="263" r:id="rId10"/>
    <p:sldId id="310" r:id="rId11"/>
    <p:sldId id="268" r:id="rId12"/>
    <p:sldId id="332" r:id="rId13"/>
    <p:sldId id="309" r:id="rId14"/>
    <p:sldId id="269" r:id="rId15"/>
    <p:sldId id="311" r:id="rId16"/>
    <p:sldId id="312" r:id="rId17"/>
    <p:sldId id="313" r:id="rId18"/>
    <p:sldId id="314" r:id="rId19"/>
    <p:sldId id="270" r:id="rId20"/>
    <p:sldId id="330" r:id="rId21"/>
    <p:sldId id="315" r:id="rId22"/>
    <p:sldId id="317" r:id="rId23"/>
    <p:sldId id="271" r:id="rId24"/>
    <p:sldId id="272" r:id="rId25"/>
    <p:sldId id="274" r:id="rId26"/>
    <p:sldId id="275" r:id="rId27"/>
    <p:sldId id="273" r:id="rId28"/>
    <p:sldId id="276" r:id="rId29"/>
    <p:sldId id="277" r:id="rId30"/>
    <p:sldId id="318" r:id="rId31"/>
    <p:sldId id="278" r:id="rId32"/>
    <p:sldId id="279" r:id="rId33"/>
    <p:sldId id="319" r:id="rId34"/>
    <p:sldId id="333" r:id="rId35"/>
    <p:sldId id="281" r:id="rId36"/>
    <p:sldId id="282" r:id="rId37"/>
    <p:sldId id="334" r:id="rId38"/>
    <p:sldId id="283" r:id="rId39"/>
    <p:sldId id="321" r:id="rId40"/>
    <p:sldId id="323" r:id="rId41"/>
    <p:sldId id="324" r:id="rId42"/>
    <p:sldId id="322" r:id="rId43"/>
    <p:sldId id="335" r:id="rId44"/>
    <p:sldId id="288" r:id="rId45"/>
    <p:sldId id="289" r:id="rId46"/>
    <p:sldId id="325" r:id="rId47"/>
    <p:sldId id="290" r:id="rId48"/>
    <p:sldId id="291" r:id="rId49"/>
    <p:sldId id="292" r:id="rId50"/>
    <p:sldId id="293" r:id="rId51"/>
    <p:sldId id="294" r:id="rId52"/>
    <p:sldId id="299" r:id="rId53"/>
    <p:sldId id="326" r:id="rId54"/>
    <p:sldId id="336" r:id="rId55"/>
    <p:sldId id="302" r:id="rId56"/>
    <p:sldId id="331" r:id="rId57"/>
    <p:sldId id="303" r:id="rId58"/>
    <p:sldId id="304" r:id="rId59"/>
    <p:sldId id="305" r:id="rId60"/>
    <p:sldId id="306" r:id="rId61"/>
    <p:sldId id="338" r:id="rId62"/>
    <p:sldId id="340" r:id="rId63"/>
    <p:sldId id="339" r:id="rId64"/>
    <p:sldId id="344" r:id="rId65"/>
    <p:sldId id="345" r:id="rId66"/>
    <p:sldId id="343" r:id="rId67"/>
    <p:sldId id="346" r:id="rId68"/>
    <p:sldId id="342" r:id="rId69"/>
    <p:sldId id="337" r:id="rId70"/>
    <p:sldId id="341" r:id="rId71"/>
    <p:sldId id="327" r:id="rId72"/>
    <p:sldId id="307" r:id="rId73"/>
  </p:sldIdLst>
  <p:sldSz cx="9144000" cy="51435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43" autoAdjust="0"/>
    <p:restoredTop sz="94694" autoAdjust="0"/>
  </p:normalViewPr>
  <p:slideViewPr>
    <p:cSldViewPr snapToGrid="0" snapToObjects="1">
      <p:cViewPr varScale="1">
        <p:scale>
          <a:sx n="93" d="100"/>
          <a:sy n="93" d="100"/>
        </p:scale>
        <p:origin x="53" y="96"/>
      </p:cViewPr>
      <p:guideLst>
        <p:guide orient="horz" pos="162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slide" Target="slides/slide65.xml"/><Relationship Id="rId7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theme" Target="theme/theme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viewProps" Target="viewProps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29" Type="http://schemas.openxmlformats.org/officeDocument/2006/relationships/slide" Target="slides/slide2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5BCC803-D91A-40A8-8BFC-49FB40BF6589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79D3DEE-884F-4AC4-B40C-E4221C7984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073336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03A2D0-143A-5033-A151-C00AE65F2C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242EC15-735D-51A5-B4B3-92246BC7644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0AED2B2-61AA-73A3-8092-15345BC9A03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C64F46F-5F83-B736-7BED-F5607764465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79D3DEE-884F-4AC4-B40C-E4221C7984B1}" type="slidenum">
              <a:rPr lang="en-US" smtClean="0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2390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3B7169-E60F-930B-6A0C-55E8CD2613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B8183DB-E2EE-CC1D-04EF-C374A527EE8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32BFB3D-B3D9-2BC3-5D34-CE5CAB41BD9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3950127-2018-926A-87DD-BC8E86BAFF3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79D3DEE-884F-4AC4-B40C-E4221C7984B1}" type="slidenum">
              <a:rPr lang="en-US" smtClean="0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538825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79D3DEE-884F-4AC4-B40C-E4221C7984B1}" type="slidenum">
              <a:rPr lang="en-US" smtClean="0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409458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rtl="0" eaLnBrk="1" latinLnBrk="0" hangingPunct="1"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3429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342900" algn="l" defTabSz="342900" rtl="0" eaLnBrk="1" latinLnBrk="0" hangingPunct="1">
        <a:spcBef>
          <a:spcPct val="20000"/>
        </a:spcBef>
        <a:buFont typeface="Arial"/>
        <a:buChar char="–"/>
        <a:defRPr sz="2100" kern="1200">
          <a:solidFill>
            <a:schemeClr val="tx1"/>
          </a:solidFill>
          <a:latin typeface="+mn-lt"/>
          <a:ea typeface="+mn-ea"/>
          <a:cs typeface="+mn-cs"/>
        </a:defRPr>
      </a:lvl2pPr>
      <a:lvl3pPr marL="1028700" indent="-342900" algn="l" defTabSz="342900" rtl="0" eaLnBrk="1" latinLnBrk="0" hangingPunct="1">
        <a:spcBef>
          <a:spcPct val="200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indent="-342900" algn="l" defTabSz="342900" rtl="0" eaLnBrk="1" latinLnBrk="0" hangingPunct="1">
        <a:spcBef>
          <a:spcPct val="20000"/>
        </a:spcBef>
        <a:buFont typeface="Arial"/>
        <a:buChar char="–"/>
        <a:defRPr sz="1500" kern="1200">
          <a:solidFill>
            <a:schemeClr val="tx1"/>
          </a:solidFill>
          <a:latin typeface="+mn-lt"/>
          <a:ea typeface="+mn-ea"/>
          <a:cs typeface="+mn-cs"/>
        </a:defRPr>
      </a:lvl4pPr>
      <a:lvl5pPr marL="1714500" indent="-342900" algn="l" defTabSz="342900" rtl="0" eaLnBrk="1" latinLnBrk="0" hangingPunct="1">
        <a:spcBef>
          <a:spcPct val="20000"/>
        </a:spcBef>
        <a:buFont typeface="Arial"/>
        <a:buChar char="»"/>
        <a:defRPr sz="1500" kern="1200">
          <a:solidFill>
            <a:schemeClr val="tx1"/>
          </a:solidFill>
          <a:latin typeface="+mn-lt"/>
          <a:ea typeface="+mn-ea"/>
          <a:cs typeface="+mn-cs"/>
        </a:defRPr>
      </a:lvl5pPr>
      <a:lvl6pPr marL="20574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6pPr>
      <a:lvl7pPr marL="24003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7pPr>
      <a:lvl8pPr marL="27432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8pPr>
      <a:lvl9pPr marL="30861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hyperlink" Target="https://patsy.readthedocs.io/en/latest/index.html" TargetMode="Externa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.png"/><Relationship Id="rId5" Type="http://schemas.openxmlformats.org/officeDocument/2006/relationships/image" Target="../media/image2.png"/><Relationship Id="rId4" Type="http://schemas.openxmlformats.org/officeDocument/2006/relationships/image" Target="../media/image5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0.png"/><Relationship Id="rId2" Type="http://schemas.openxmlformats.org/officeDocument/2006/relationships/hyperlink" Target="https://patsy.readthedocs.io/en/latest/index.html" TargetMode="Externa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.png"/><Relationship Id="rId5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0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Generalized_linear_model" TargetMode="External"/><Relationship Id="rId2" Type="http://schemas.openxmlformats.org/officeDocument/2006/relationships/image" Target="../media/image131.png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scikit-learn.org/stable/modules/linear_model.html#generalized-linear-regression" TargetMode="External"/><Relationship Id="rId4" Type="http://schemas.openxmlformats.org/officeDocument/2006/relationships/hyperlink" Target="https://www.statsmodels.org/stable/glm.html" TargetMode="Externa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hyperlink" Target="https://en.wikipedia.org/wiki/Logistic_regression" TargetMode="Externa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25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250.png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8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8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0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400.png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hyperlink" Target="https://en.wikipedia.org/wiki/Poisson_distribution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2.png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430.png"/><Relationship Id="rId1" Type="http://schemas.openxmlformats.org/officeDocument/2006/relationships/slideLayout" Target="../slideLayouts/slideLayout8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image" Target="../media/image470.png"/><Relationship Id="rId1" Type="http://schemas.openxmlformats.org/officeDocument/2006/relationships/slideLayout" Target="../slideLayouts/slideLayout8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hyperlink" Target="https://en.wikipedia.org/wiki/Ordinal_regression" TargetMode="External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hyperlink" Target="https://en.wikipedia.org/wiki/Iverson_bracket" TargetMode="External"/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Logistic_distribution" TargetMode="External"/><Relationship Id="rId2" Type="http://schemas.openxmlformats.org/officeDocument/2006/relationships/hyperlink" Target="https://en.wikipedia.org/wiki/Ordered_logit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4.png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517003"/>
            <a:ext cx="7772400" cy="1515861"/>
          </a:xfrm>
        </p:spPr>
        <p:txBody>
          <a:bodyPr/>
          <a:lstStyle/>
          <a:p>
            <a:pPr marL="0" lvl="0" indent="0">
              <a:buNone/>
            </a:pPr>
            <a:r>
              <a:rPr lang="en-US" dirty="0"/>
              <a:t>Models Categorical Variables and Nonlinear Responses</a:t>
            </a:r>
            <a:endParaRPr b="1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1878957"/>
            <a:ext cx="6400800" cy="563301"/>
          </a:xfrm>
        </p:spPr>
        <p:txBody>
          <a:bodyPr>
            <a:normAutofit fontScale="32500" lnSpcReduction="20000"/>
          </a:bodyPr>
          <a:lstStyle/>
          <a:p>
            <a:pPr marL="0" lvl="0" indent="0">
              <a:buNone/>
            </a:pPr>
            <a:br>
              <a:rPr dirty="0"/>
            </a:br>
            <a:br>
              <a:rPr dirty="0"/>
            </a:br>
            <a:r>
              <a:rPr sz="5900" b="1" dirty="0"/>
              <a:t>Steve Elston</a:t>
            </a:r>
          </a:p>
        </p:txBody>
      </p:sp>
      <p:pic>
        <p:nvPicPr>
          <p:cNvPr id="5" name="Picture 2" descr="Image result for harvard extension school logo">
            <a:extLst>
              <a:ext uri="{FF2B5EF4-FFF2-40B4-BE49-F238E27FC236}">
                <a16:creationId xmlns:a16="http://schemas.microsoft.com/office/drawing/2014/main" id="{4589CD93-89FF-3DF6-420D-DE6D671B6DD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91067" y="3659436"/>
            <a:ext cx="2345803" cy="9651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E74191BF-5D24-EFDF-F46A-91EA7CBF856B}"/>
              </a:ext>
            </a:extLst>
          </p:cNvPr>
          <p:cNvSpPr txBox="1"/>
          <p:nvPr/>
        </p:nvSpPr>
        <p:spPr>
          <a:xfrm>
            <a:off x="1805276" y="4705706"/>
            <a:ext cx="57446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/>
              <a:t>Copyright 2018, 2019, 2020, 2021, 2022, 2023 </a:t>
            </a:r>
            <a:r>
              <a:rPr lang="en-US" sz="1100"/>
              <a:t>2024, 2026 </a:t>
            </a:r>
            <a:r>
              <a:rPr lang="en-US" sz="1100" dirty="0"/>
              <a:t>Stephen F Elston. All rights reserved</a:t>
            </a:r>
            <a:r>
              <a:rPr lang="en-US" dirty="0"/>
              <a:t>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063230"/>
            <a:ext cx="8229600" cy="3945188"/>
          </a:xfrm>
        </p:spPr>
        <p:txBody>
          <a:bodyPr>
            <a:normAutofit fontScale="92500"/>
          </a:bodyPr>
          <a:lstStyle/>
          <a:p>
            <a:pPr marL="0" lvl="0" indent="0">
              <a:buNone/>
            </a:pPr>
            <a:r>
              <a:rPr lang="en-US" dirty="0"/>
              <a:t>Linear models are a flexible and widely used class of models</a:t>
            </a:r>
          </a:p>
          <a:p>
            <a:pPr lvl="0"/>
            <a:r>
              <a:rPr lang="en-US" dirty="0"/>
              <a:t>Fit model coefficients by </a:t>
            </a:r>
            <a:r>
              <a:rPr lang="en-US" b="1" dirty="0"/>
              <a:t>least squares</a:t>
            </a:r>
            <a:r>
              <a:rPr lang="en-US" dirty="0"/>
              <a:t> estimation</a:t>
            </a:r>
          </a:p>
          <a:p>
            <a:pPr lvl="1"/>
            <a:r>
              <a:rPr lang="en-US" dirty="0"/>
              <a:t>Least squares computes maximum likelihood </a:t>
            </a:r>
            <a:r>
              <a:rPr lang="en-US" b="1" dirty="0"/>
              <a:t>point estimate </a:t>
            </a:r>
          </a:p>
          <a:p>
            <a:pPr lvl="1"/>
            <a:r>
              <a:rPr lang="en-US" dirty="0"/>
              <a:t>Produces Normally distributed residuals</a:t>
            </a:r>
          </a:p>
          <a:p>
            <a:pPr lvl="0"/>
            <a:r>
              <a:rPr lang="en-US" dirty="0"/>
              <a:t>Can use many types of predictor variables, linear and nonlinear</a:t>
            </a:r>
          </a:p>
          <a:p>
            <a:pPr lvl="1"/>
            <a:r>
              <a:rPr lang="en-US" b="1" dirty="0"/>
              <a:t>Model is linear in parameters</a:t>
            </a:r>
            <a:endParaRPr lang="ar-AE" b="1" dirty="0"/>
          </a:p>
          <a:p>
            <a:pPr lvl="0"/>
            <a:r>
              <a:rPr lang="en-US" dirty="0"/>
              <a:t>We prefer the simplest model that does the job</a:t>
            </a:r>
          </a:p>
          <a:p>
            <a:pPr lvl="1"/>
            <a:r>
              <a:rPr lang="en-US" dirty="0"/>
              <a:t>Parsimonious model has the fewest parameters required to explain the data</a:t>
            </a:r>
          </a:p>
          <a:p>
            <a:pPr lvl="1"/>
            <a:r>
              <a:rPr lang="en-US" dirty="0"/>
              <a:t>The principle of </a:t>
            </a:r>
            <a:r>
              <a:rPr lang="en-US" b="1" dirty="0"/>
              <a:t>Occam’s razor</a:t>
            </a:r>
            <a:endParaRPr b="1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34FB5E0C-230E-A1DA-22EE-8125D46256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CB3934-5528-A0FF-93FF-90091BE0A6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Review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34803B6-BEF1-D7FF-3A7D-CBEBF018D09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063230"/>
            <a:ext cx="8229600" cy="3945188"/>
          </a:xfrm>
        </p:spPr>
        <p:txBody>
          <a:bodyPr>
            <a:normAutofit/>
          </a:bodyPr>
          <a:lstStyle/>
          <a:p>
            <a:pPr marL="0" lvl="0" indent="0">
              <a:buNone/>
            </a:pPr>
            <a:r>
              <a:rPr lang="en-US" dirty="0"/>
              <a:t>Linear models are interpretable and idea for inference</a:t>
            </a:r>
          </a:p>
          <a:p>
            <a:pPr lvl="0"/>
            <a:r>
              <a:rPr lang="en-US" dirty="0"/>
              <a:t>Repose to changes in independent variables is predictable</a:t>
            </a:r>
          </a:p>
          <a:p>
            <a:pPr lvl="1"/>
            <a:r>
              <a:rPr lang="en-US" dirty="0"/>
              <a:t>Model parameters provide </a:t>
            </a:r>
            <a:r>
              <a:rPr lang="en-US" b="1" dirty="0"/>
              <a:t>quantitative sensitivity </a:t>
            </a:r>
            <a:r>
              <a:rPr lang="en-US" dirty="0"/>
              <a:t>to changes in independent variables </a:t>
            </a:r>
          </a:p>
          <a:p>
            <a:pPr lvl="0"/>
            <a:r>
              <a:rPr lang="en-US" dirty="0"/>
              <a:t>Model fit can be tested</a:t>
            </a:r>
          </a:p>
          <a:p>
            <a:pPr lvl="1"/>
            <a:r>
              <a:rPr lang="en-US" dirty="0"/>
              <a:t>Reject hypothesis of null model</a:t>
            </a:r>
          </a:p>
          <a:p>
            <a:pPr lvl="1"/>
            <a:r>
              <a:rPr lang="en-US" dirty="0"/>
              <a:t>Reject hypothesis of non-significant model coefficients </a:t>
            </a:r>
          </a:p>
          <a:p>
            <a:pPr lvl="1"/>
            <a:r>
              <a:rPr lang="en-US" dirty="0"/>
              <a:t>Compare models by variance explained, properties of residuals and confidence intervals of model parameters</a:t>
            </a:r>
          </a:p>
        </p:txBody>
      </p:sp>
    </p:spTree>
    <p:extLst>
      <p:ext uri="{BB962C8B-B14F-4D97-AF65-F5344CB8AC3E}">
        <p14:creationId xmlns:p14="http://schemas.microsoft.com/office/powerpoint/2010/main" val="23003491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200151"/>
            <a:ext cx="8229600" cy="3737370"/>
          </a:xfrm>
        </p:spPr>
        <p:txBody>
          <a:bodyPr>
            <a:normAutofit fontScale="85000" lnSpcReduction="20000"/>
          </a:bodyPr>
          <a:lstStyle/>
          <a:p>
            <a:pPr marL="0" lvl="0" indent="0">
              <a:buNone/>
            </a:pPr>
            <a:r>
              <a:rPr dirty="0"/>
              <a:t>When evaluating any machine learning model consider </a:t>
            </a:r>
            <a:r>
              <a:rPr b="1" dirty="0"/>
              <a:t>all evaluation methods available</a:t>
            </a:r>
          </a:p>
          <a:p>
            <a:pPr lvl="0"/>
            <a:r>
              <a:rPr dirty="0"/>
              <a:t>No one method best all of the time</a:t>
            </a:r>
          </a:p>
          <a:p>
            <a:pPr lvl="0"/>
            <a:r>
              <a:rPr lang="en-US" dirty="0"/>
              <a:t>Test for h</a:t>
            </a:r>
            <a:r>
              <a:rPr dirty="0"/>
              <a:t>omoscedastic Normally distributed residuals</a:t>
            </a:r>
            <a:endParaRPr lang="en-US" dirty="0"/>
          </a:p>
          <a:p>
            <a:pPr lvl="1"/>
            <a:r>
              <a:rPr lang="en-US" dirty="0"/>
              <a:t>Residual Plots</a:t>
            </a:r>
          </a:p>
          <a:p>
            <a:pPr lvl="1"/>
            <a:r>
              <a:rPr lang="en-US" dirty="0"/>
              <a:t>Formal tests – Omnibus, Jarque-Bera, etc. </a:t>
            </a:r>
            <a:endParaRPr dirty="0"/>
          </a:p>
          <a:p>
            <a:pPr lvl="0"/>
            <a:r>
              <a:rPr lang="en-US" dirty="0"/>
              <a:t>Are</a:t>
            </a:r>
            <a:r>
              <a:rPr dirty="0"/>
              <a:t> model and its coefficients </a:t>
            </a:r>
            <a:r>
              <a:rPr lang="en-US" dirty="0"/>
              <a:t>statistically </a:t>
            </a:r>
            <a:r>
              <a:rPr dirty="0"/>
              <a:t>significant?</a:t>
            </a:r>
          </a:p>
          <a:p>
            <a:pPr lvl="1"/>
            <a:r>
              <a:rPr dirty="0"/>
              <a:t>F</a:t>
            </a:r>
            <a:r>
              <a:rPr lang="en-US" dirty="0"/>
              <a:t>-</a:t>
            </a:r>
            <a:r>
              <a:rPr dirty="0"/>
              <a:t>test </a:t>
            </a:r>
            <a:r>
              <a:rPr lang="en-US" dirty="0"/>
              <a:t>on model significance</a:t>
            </a:r>
            <a:endParaRPr dirty="0"/>
          </a:p>
          <a:p>
            <a:pPr lvl="1"/>
            <a:r>
              <a:rPr dirty="0"/>
              <a:t>t-test on model parameter </a:t>
            </a:r>
            <a:r>
              <a:rPr lang="en-US" dirty="0"/>
              <a:t>significance</a:t>
            </a:r>
            <a:endParaRPr dirty="0"/>
          </a:p>
          <a:p>
            <a:pPr lvl="0"/>
            <a:r>
              <a:rPr b="1" dirty="0"/>
              <a:t>Different methods highlight different problems</a:t>
            </a:r>
            <a:r>
              <a:rPr dirty="0"/>
              <a:t> with your model</a:t>
            </a:r>
          </a:p>
          <a:p>
            <a:pPr lvl="0"/>
            <a:r>
              <a:rPr dirty="0"/>
              <a:t>Don’t forget to check that the </a:t>
            </a:r>
            <a:r>
              <a:rPr b="1" dirty="0"/>
              <a:t>model must make sense</a:t>
            </a:r>
            <a:r>
              <a:rPr dirty="0"/>
              <a:t> for your application!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200151"/>
            <a:ext cx="8229600" cy="3737370"/>
          </a:xfrm>
        </p:spPr>
        <p:txBody>
          <a:bodyPr>
            <a:normAutofit fontScale="77500" lnSpcReduction="20000"/>
          </a:bodyPr>
          <a:lstStyle/>
          <a:p>
            <a:pPr marL="0" lvl="0" indent="0">
              <a:buNone/>
            </a:pPr>
            <a:r>
              <a:rPr dirty="0"/>
              <a:t>There are a number of assumptions in linear models that you overlook at your peril!</a:t>
            </a:r>
          </a:p>
          <a:p>
            <a:pPr lvl="0"/>
            <a:r>
              <a:rPr dirty="0"/>
              <a:t>The </a:t>
            </a:r>
            <a:r>
              <a:rPr lang="en-US" dirty="0"/>
              <a:t>independent</a:t>
            </a:r>
            <a:r>
              <a:rPr dirty="0"/>
              <a:t> or predictor variables should be </a:t>
            </a:r>
            <a:r>
              <a:rPr b="1" dirty="0"/>
              <a:t>independent</a:t>
            </a:r>
            <a:r>
              <a:rPr dirty="0"/>
              <a:t> of one another</a:t>
            </a:r>
          </a:p>
          <a:p>
            <a:pPr lvl="1"/>
            <a:r>
              <a:rPr dirty="0"/>
              <a:t>This is rarely true in practice</a:t>
            </a:r>
          </a:p>
          <a:p>
            <a:pPr lvl="1"/>
            <a:r>
              <a:rPr b="1" dirty="0"/>
              <a:t>Multi-collinearity</a:t>
            </a:r>
            <a:r>
              <a:rPr dirty="0"/>
              <a:t> between features makes the model </a:t>
            </a:r>
            <a:r>
              <a:rPr b="1" dirty="0"/>
              <a:t>under-determined</a:t>
            </a:r>
          </a:p>
          <a:p>
            <a:pPr lvl="0"/>
            <a:r>
              <a:rPr dirty="0"/>
              <a:t>We </a:t>
            </a:r>
            <a:r>
              <a:rPr lang="en-US" dirty="0"/>
              <a:t>want </a:t>
            </a:r>
            <a:r>
              <a:rPr dirty="0"/>
              <a:t>numeric features or predictors have </a:t>
            </a:r>
            <a:r>
              <a:rPr b="1" dirty="0"/>
              <a:t>zero mean</a:t>
            </a:r>
            <a:r>
              <a:rPr dirty="0"/>
              <a:t> and about the </a:t>
            </a:r>
            <a:r>
              <a:rPr b="1" dirty="0"/>
              <a:t>same scale</a:t>
            </a:r>
          </a:p>
          <a:p>
            <a:pPr lvl="1"/>
            <a:r>
              <a:rPr lang="en-US" dirty="0"/>
              <a:t>Intercept is the mean of the response variable</a:t>
            </a:r>
          </a:p>
          <a:p>
            <a:pPr lvl="1"/>
            <a:r>
              <a:rPr lang="en-US" dirty="0"/>
              <a:t>Predictors </a:t>
            </a:r>
            <a:r>
              <a:rPr dirty="0"/>
              <a:t>with a large numeric range </a:t>
            </a:r>
            <a:r>
              <a:rPr lang="en-US" dirty="0"/>
              <a:t>must not </a:t>
            </a:r>
            <a:r>
              <a:rPr dirty="0"/>
              <a:t>dominate training</a:t>
            </a:r>
          </a:p>
          <a:p>
            <a:pPr lvl="0"/>
            <a:r>
              <a:rPr dirty="0"/>
              <a:t>Values of each predictor or </a:t>
            </a:r>
            <a:r>
              <a:rPr lang="en-US" dirty="0"/>
              <a:t>independent variables</a:t>
            </a:r>
            <a:r>
              <a:rPr dirty="0"/>
              <a:t> should be </a:t>
            </a:r>
            <a:r>
              <a:rPr dirty="0" err="1"/>
              <a:t>iid</a:t>
            </a:r>
            <a:endParaRPr dirty="0"/>
          </a:p>
          <a:p>
            <a:pPr lvl="1"/>
            <a:r>
              <a:rPr dirty="0"/>
              <a:t>If variance changes with sample, the coefficient </a:t>
            </a:r>
            <a:r>
              <a:rPr lang="en-US" dirty="0"/>
              <a:t>can</a:t>
            </a:r>
            <a:r>
              <a:rPr dirty="0"/>
              <a:t>not</a:t>
            </a:r>
            <a:r>
              <a:rPr lang="en-US" dirty="0"/>
              <a:t> be</a:t>
            </a:r>
            <a:r>
              <a:rPr dirty="0"/>
              <a:t> constant</a:t>
            </a:r>
          </a:p>
          <a:p>
            <a:pPr lvl="1"/>
            <a:r>
              <a:rPr dirty="0"/>
              <a:t>If </a:t>
            </a:r>
            <a:r>
              <a:rPr lang="en-US" dirty="0"/>
              <a:t>predictor values have </a:t>
            </a:r>
            <a:r>
              <a:rPr b="1" dirty="0"/>
              <a:t>serial correlation</a:t>
            </a:r>
            <a:r>
              <a:rPr dirty="0"/>
              <a:t> the </a:t>
            </a:r>
            <a:r>
              <a:rPr dirty="0" err="1"/>
              <a:t>iid</a:t>
            </a:r>
            <a:r>
              <a:rPr dirty="0"/>
              <a:t> assumption is violated - use time series models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4E23FD5D-2916-D92A-E234-E7CBB1C5E7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EA9C41-4EF1-29A0-34CF-4C4EBDBB4DC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Introduction</a:t>
            </a:r>
          </a:p>
        </p:txBody>
      </p:sp>
    </p:spTree>
    <p:extLst>
      <p:ext uri="{BB962C8B-B14F-4D97-AF65-F5344CB8AC3E}">
        <p14:creationId xmlns:p14="http://schemas.microsoft.com/office/powerpoint/2010/main" val="275206548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200150"/>
            <a:ext cx="8229600" cy="3874769"/>
          </a:xfrm>
        </p:spPr>
        <p:txBody>
          <a:bodyPr>
            <a:normAutofit fontScale="85000" lnSpcReduction="20000"/>
          </a:bodyPr>
          <a:lstStyle/>
          <a:p>
            <a:pPr marL="0" lvl="0" indent="0">
              <a:buNone/>
            </a:pPr>
            <a:r>
              <a:rPr lang="en-US" dirty="0"/>
              <a:t>Generalize the linear model to accommodate </a:t>
            </a:r>
            <a:r>
              <a:rPr lang="en-US" b="1" dirty="0"/>
              <a:t>non-Normally distributed variables</a:t>
            </a:r>
          </a:p>
          <a:p>
            <a:pPr lvl="0"/>
            <a:r>
              <a:rPr dirty="0"/>
              <a:t>Working with categorical variables</a:t>
            </a:r>
          </a:p>
          <a:p>
            <a:pPr lvl="1"/>
            <a:r>
              <a:rPr b="1" dirty="0"/>
              <a:t>One-hot encoding</a:t>
            </a:r>
            <a:r>
              <a:rPr lang="en-US" dirty="0"/>
              <a:t> of categorical variables</a:t>
            </a:r>
            <a:endParaRPr dirty="0"/>
          </a:p>
          <a:p>
            <a:pPr lvl="1"/>
            <a:r>
              <a:rPr dirty="0"/>
              <a:t>Working with </a:t>
            </a:r>
            <a:r>
              <a:rPr b="1" dirty="0"/>
              <a:t>contrasts</a:t>
            </a:r>
            <a:endParaRPr dirty="0"/>
          </a:p>
          <a:p>
            <a:pPr lvl="1"/>
            <a:r>
              <a:rPr lang="en-US" dirty="0"/>
              <a:t>Interpreting </a:t>
            </a:r>
            <a:r>
              <a:rPr lang="en-US" b="1" dirty="0"/>
              <a:t>e</a:t>
            </a:r>
            <a:r>
              <a:rPr b="1" dirty="0"/>
              <a:t>ffect </a:t>
            </a:r>
            <a:r>
              <a:rPr lang="en-US" b="1" dirty="0"/>
              <a:t>sizes</a:t>
            </a:r>
            <a:r>
              <a:rPr dirty="0"/>
              <a:t> </a:t>
            </a:r>
            <a:endParaRPr lang="en-US" dirty="0"/>
          </a:p>
          <a:p>
            <a:pPr lvl="1"/>
            <a:r>
              <a:rPr lang="en-US" dirty="0"/>
              <a:t>Applying </a:t>
            </a:r>
            <a:r>
              <a:rPr lang="en-US" b="1" dirty="0"/>
              <a:t>effect a</a:t>
            </a:r>
            <a:r>
              <a:rPr b="1" dirty="0"/>
              <a:t>djustments</a:t>
            </a:r>
          </a:p>
          <a:p>
            <a:pPr lvl="0"/>
            <a:r>
              <a:rPr dirty="0"/>
              <a:t>Building models with nonlinear </a:t>
            </a:r>
            <a:r>
              <a:rPr lang="en-US" dirty="0"/>
              <a:t>and</a:t>
            </a:r>
            <a:r>
              <a:rPr dirty="0"/>
              <a:t> non-Normal response</a:t>
            </a:r>
          </a:p>
          <a:p>
            <a:pPr lvl="1"/>
            <a:r>
              <a:rPr dirty="0"/>
              <a:t>Use </a:t>
            </a:r>
            <a:r>
              <a:rPr b="1" dirty="0"/>
              <a:t>generalized linear model (GLM)</a:t>
            </a:r>
            <a:r>
              <a:rPr dirty="0"/>
              <a:t> for nonlinear response</a:t>
            </a:r>
          </a:p>
          <a:p>
            <a:pPr lvl="1"/>
            <a:r>
              <a:rPr lang="en-US" dirty="0"/>
              <a:t>GLM for Binomial, categorical, Poisson, ordinal etc., regression</a:t>
            </a:r>
          </a:p>
          <a:p>
            <a:pPr lvl="1"/>
            <a:r>
              <a:rPr b="1" dirty="0"/>
              <a:t>Link function</a:t>
            </a:r>
            <a:r>
              <a:rPr dirty="0"/>
              <a:t> transforms nonlinear model to linear model</a:t>
            </a:r>
          </a:p>
          <a:p>
            <a:pPr lvl="1"/>
            <a:r>
              <a:rPr dirty="0"/>
              <a:t>Evaluating </a:t>
            </a:r>
            <a:r>
              <a:rPr lang="en-US" dirty="0"/>
              <a:t>nonlinear</a:t>
            </a:r>
            <a:r>
              <a:rPr dirty="0"/>
              <a:t> response models</a:t>
            </a:r>
          </a:p>
          <a:p>
            <a:pPr lvl="1"/>
            <a:r>
              <a:rPr dirty="0"/>
              <a:t>Compare model performance with </a:t>
            </a:r>
            <a:r>
              <a:rPr b="1" dirty="0"/>
              <a:t>deviance</a:t>
            </a:r>
            <a:endParaRPr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C890FB-523D-75F9-98C2-8A823685569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Working with Categorical Variables </a:t>
            </a:r>
          </a:p>
        </p:txBody>
      </p:sp>
    </p:spTree>
    <p:extLst>
      <p:ext uri="{BB962C8B-B14F-4D97-AF65-F5344CB8AC3E}">
        <p14:creationId xmlns:p14="http://schemas.microsoft.com/office/powerpoint/2010/main" val="59946727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Working with Categorical Variables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200150"/>
            <a:ext cx="8229600" cy="3701033"/>
          </a:xfrm>
        </p:spPr>
        <p:txBody>
          <a:bodyPr>
            <a:normAutofit lnSpcReduction="10000"/>
          </a:bodyPr>
          <a:lstStyle/>
          <a:p>
            <a:pPr marL="0" lvl="0" indent="0">
              <a:buNone/>
            </a:pPr>
            <a:r>
              <a:rPr dirty="0"/>
              <a:t>Linear models, like nearly all machine learning models, use numeric features</a:t>
            </a:r>
          </a:p>
          <a:p>
            <a:pPr lvl="0"/>
            <a:r>
              <a:rPr dirty="0"/>
              <a:t>How </a:t>
            </a:r>
            <a:r>
              <a:rPr lang="en-US" dirty="0"/>
              <a:t>do we use</a:t>
            </a:r>
            <a:r>
              <a:rPr dirty="0"/>
              <a:t> categorical </a:t>
            </a:r>
            <a:r>
              <a:rPr lang="en-US" dirty="0" err="1"/>
              <a:t>indendent</a:t>
            </a:r>
            <a:r>
              <a:rPr lang="en-US" dirty="0"/>
              <a:t> </a:t>
            </a:r>
            <a:r>
              <a:rPr dirty="0"/>
              <a:t>variables in linear models?</a:t>
            </a:r>
          </a:p>
          <a:p>
            <a:pPr lvl="0"/>
            <a:r>
              <a:rPr dirty="0"/>
              <a:t>Need to transform categories to numeric variables with </a:t>
            </a:r>
            <a:r>
              <a:rPr b="1" dirty="0"/>
              <a:t>one hot encoding</a:t>
            </a:r>
          </a:p>
          <a:p>
            <a:pPr lvl="1"/>
            <a:r>
              <a:rPr dirty="0"/>
              <a:t>Each category becomes a binary </a:t>
            </a:r>
            <a:r>
              <a:rPr b="1" dirty="0"/>
              <a:t>dummy variable</a:t>
            </a:r>
            <a:r>
              <a:rPr dirty="0"/>
              <a:t>, encoded [0,1]</a:t>
            </a:r>
          </a:p>
          <a:p>
            <a:pPr lvl="1"/>
            <a:r>
              <a:rPr dirty="0"/>
              <a:t>Only one dummy variable has nonzero value</a:t>
            </a:r>
            <a:r>
              <a:rPr lang="en-US" dirty="0"/>
              <a:t>,</a:t>
            </a:r>
            <a:r>
              <a:rPr dirty="0"/>
              <a:t> encod</a:t>
            </a:r>
            <a:r>
              <a:rPr lang="en-US" dirty="0"/>
              <a:t>ing</a:t>
            </a:r>
            <a:r>
              <a:rPr dirty="0"/>
              <a:t> the category</a:t>
            </a:r>
            <a:endParaRPr lang="en-US" dirty="0"/>
          </a:p>
          <a:p>
            <a:pPr marL="342900" lvl="1" indent="0">
              <a:buNone/>
            </a:pPr>
            <a:r>
              <a:rPr lang="en-US" dirty="0">
                <a:solidFill>
                  <a:schemeClr val="tx2"/>
                </a:solidFill>
              </a:rPr>
              <a:t>Note: for high-cardinality categorical variables use embedding algorithms – beyond the scope of this course</a:t>
            </a:r>
            <a:endParaRPr dirty="0">
              <a:solidFill>
                <a:schemeClr val="tx2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590565"/>
          </a:xfrm>
        </p:spPr>
        <p:txBody>
          <a:bodyPr>
            <a:normAutofit fontScale="90000"/>
          </a:bodyPr>
          <a:lstStyle/>
          <a:p>
            <a:pPr marL="0" lvl="0" indent="0">
              <a:buNone/>
            </a:pPr>
            <a:r>
              <a:rPr dirty="0"/>
              <a:t>Working with Categorical Variables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8752" y="841248"/>
            <a:ext cx="8229600" cy="1876044"/>
          </a:xfrm>
        </p:spPr>
        <p:txBody>
          <a:bodyPr>
            <a:noAutofit/>
          </a:bodyPr>
          <a:lstStyle/>
          <a:p>
            <a:pPr marL="0" lvl="0" indent="0">
              <a:buNone/>
            </a:pPr>
            <a:r>
              <a:rPr sz="2000" dirty="0"/>
              <a:t>Example: </a:t>
            </a:r>
            <a:r>
              <a:rPr lang="en-US" sz="2000" dirty="0"/>
              <a:t>We can construct the model matrices for the auto data using the </a:t>
            </a:r>
            <a:r>
              <a:rPr lang="en-US" sz="2000" dirty="0">
                <a:hlinkClick r:id="rId2"/>
              </a:rPr>
              <a:t>patsy package</a:t>
            </a:r>
            <a:endParaRPr lang="en-US" sz="2000" dirty="0"/>
          </a:p>
          <a:p>
            <a:pPr marL="0" lvl="0" indent="0">
              <a:buNone/>
            </a:pPr>
            <a:r>
              <a:rPr lang="en-US" sz="2000" dirty="0"/>
              <a:t>Create design matrix </a:t>
            </a:r>
            <a:r>
              <a:rPr lang="en-US" sz="2000" b="1" dirty="0"/>
              <a:t>with an intercept term</a:t>
            </a:r>
            <a:endParaRPr sz="2000" b="1" dirty="0"/>
          </a:p>
          <a:p>
            <a:pPr lvl="0" indent="0">
              <a:buNone/>
            </a:pPr>
            <a:r>
              <a:rPr sz="1600" b="1" dirty="0">
                <a:solidFill>
                  <a:srgbClr val="008000"/>
                </a:solidFill>
                <a:latin typeface="Courier"/>
              </a:rPr>
              <a:t>from</a:t>
            </a:r>
            <a:r>
              <a:rPr sz="1600" dirty="0">
                <a:latin typeface="Courier"/>
              </a:rPr>
              <a:t> patsy </a:t>
            </a:r>
            <a:r>
              <a:rPr sz="1600" b="1" dirty="0">
                <a:solidFill>
                  <a:srgbClr val="008000"/>
                </a:solidFill>
                <a:latin typeface="Courier"/>
              </a:rPr>
              <a:t>import</a:t>
            </a:r>
            <a:r>
              <a:rPr sz="1600" dirty="0">
                <a:latin typeface="Courier"/>
              </a:rPr>
              <a:t> </a:t>
            </a:r>
            <a:r>
              <a:rPr sz="1600" dirty="0" err="1">
                <a:latin typeface="Courier"/>
              </a:rPr>
              <a:t>dmatrices</a:t>
            </a:r>
            <a:br>
              <a:rPr sz="1600" dirty="0"/>
            </a:br>
            <a:r>
              <a:rPr lang="en-US" sz="1600" dirty="0">
                <a:latin typeface="Courier"/>
              </a:rPr>
              <a:t>Y, X = </a:t>
            </a:r>
            <a:r>
              <a:rPr lang="en-US" sz="1600" dirty="0" err="1">
                <a:latin typeface="Courier"/>
              </a:rPr>
              <a:t>dmatrices</a:t>
            </a:r>
            <a:r>
              <a:rPr lang="en-US" sz="1600" dirty="0">
                <a:latin typeface="Courier"/>
              </a:rPr>
              <a:t>('</a:t>
            </a:r>
            <a:r>
              <a:rPr lang="en-US" sz="1600" dirty="0" err="1">
                <a:latin typeface="Courier"/>
              </a:rPr>
              <a:t>city_mpg</a:t>
            </a:r>
            <a:r>
              <a:rPr lang="en-US" sz="1600" dirty="0">
                <a:latin typeface="Courier"/>
              </a:rPr>
              <a:t> ~ C(</a:t>
            </a:r>
            <a:r>
              <a:rPr lang="en-US" sz="1600" dirty="0" err="1">
                <a:latin typeface="Courier"/>
              </a:rPr>
              <a:t>body_style</a:t>
            </a:r>
            <a:r>
              <a:rPr lang="en-US" sz="1600" dirty="0">
                <a:latin typeface="Courier"/>
              </a:rPr>
              <a:t>) + </a:t>
            </a:r>
            <a:r>
              <a:rPr lang="en-US" sz="1600" dirty="0" err="1">
                <a:latin typeface="Courier"/>
              </a:rPr>
              <a:t>curb_weight</a:t>
            </a:r>
            <a:r>
              <a:rPr lang="en-US" sz="1600" dirty="0">
                <a:latin typeface="Courier"/>
              </a:rPr>
              <a:t> + </a:t>
            </a:r>
            <a:r>
              <a:rPr lang="en-US" sz="1600" dirty="0" err="1">
                <a:latin typeface="Courier"/>
              </a:rPr>
              <a:t>engine_size</a:t>
            </a:r>
            <a:r>
              <a:rPr lang="en-US" sz="1600" dirty="0">
                <a:latin typeface="Courier"/>
              </a:rPr>
              <a:t>', data=</a:t>
            </a:r>
            <a:r>
              <a:rPr lang="en-US" sz="1600" dirty="0" err="1">
                <a:latin typeface="Courier"/>
              </a:rPr>
              <a:t>auto_data</a:t>
            </a:r>
            <a:r>
              <a:rPr lang="en-US" sz="1600" dirty="0">
                <a:latin typeface="Courier"/>
              </a:rPr>
              <a:t>) </a:t>
            </a:r>
            <a:r>
              <a:rPr sz="1600" dirty="0">
                <a:solidFill>
                  <a:srgbClr val="008000"/>
                </a:solidFill>
                <a:latin typeface="Courier"/>
              </a:rPr>
              <a:t>print</a:t>
            </a:r>
            <a:r>
              <a:rPr sz="1600" dirty="0">
                <a:latin typeface="Courier"/>
              </a:rPr>
              <a:t>(X[:</a:t>
            </a:r>
            <a:r>
              <a:rPr sz="1600" dirty="0">
                <a:solidFill>
                  <a:srgbClr val="40A070"/>
                </a:solidFill>
                <a:latin typeface="Courier"/>
              </a:rPr>
              <a:t>5</a:t>
            </a:r>
            <a:r>
              <a:rPr sz="1600" dirty="0">
                <a:latin typeface="Courier"/>
              </a:rPr>
              <a:t>])</a:t>
            </a:r>
            <a:endParaRPr lang="en-US" sz="1600" dirty="0">
              <a:latin typeface="Courier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99D81FAE-16F7-3DF6-36F5-F84B1F6CED5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28752" y="2619756"/>
                <a:ext cx="6325616" cy="475488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Autofit/>
              </a:bodyPr>
              <a:lstStyle>
                <a:lvl1pPr marL="3429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–"/>
                  <a:defRPr sz="21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0287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–"/>
                  <a:defRPr sz="15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7145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»"/>
                  <a:defRPr sz="15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0574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15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4003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15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27432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15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0861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15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/>
                  <a:buNone/>
                </a:pPr>
                <a:r>
                  <a:rPr lang="en-US" sz="2000" dirty="0"/>
                  <a:t>The design matrix,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2000" dirty="0"/>
                  <a:t>:</a:t>
                </a:r>
              </a:p>
              <a:p>
                <a:pPr marL="0" indent="0">
                  <a:buFont typeface="Arial"/>
                  <a:buNone/>
                </a:pPr>
                <a:endParaRPr lang="en-US" sz="2000" dirty="0"/>
              </a:p>
              <a:p>
                <a:pPr marL="0" indent="0">
                  <a:buFont typeface="Arial"/>
                  <a:buNone/>
                </a:pPr>
                <a:endParaRPr lang="en-US" sz="2000" dirty="0"/>
              </a:p>
            </p:txBody>
          </p:sp>
        </mc:Choice>
        <mc:Fallback xmlns="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99D81FAE-16F7-3DF6-36F5-F84B1F6CED5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8752" y="2619756"/>
                <a:ext cx="6325616" cy="475488"/>
              </a:xfrm>
              <a:prstGeom prst="rect">
                <a:avLst/>
              </a:prstGeom>
              <a:blipFill>
                <a:blip r:embed="rId3"/>
                <a:stretch>
                  <a:fillRect l="-963" t="-7692" b="-641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768A33E4-DCE0-64DF-03B6-801A28AE3D15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754368" y="2607564"/>
                <a:ext cx="2082800" cy="368429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Autofit/>
              </a:bodyPr>
              <a:lstStyle>
                <a:lvl1pPr marL="3429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–"/>
                  <a:defRPr sz="21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0287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–"/>
                  <a:defRPr sz="15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7145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»"/>
                  <a:defRPr sz="15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0574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15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4003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15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27432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15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0861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15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/>
                  <a:buNone/>
                </a:pPr>
                <a:r>
                  <a:rPr lang="en-US" sz="2000" dirty="0"/>
                  <a:t>Repones array,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𝑌</m:t>
                    </m:r>
                  </m:oMath>
                </a14:m>
                <a:r>
                  <a:rPr lang="en-US" sz="2000" dirty="0"/>
                  <a:t>:</a:t>
                </a:r>
              </a:p>
            </p:txBody>
          </p:sp>
        </mc:Choice>
        <mc:Fallback xmlns="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768A33E4-DCE0-64DF-03B6-801A28AE3D1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54368" y="2607564"/>
                <a:ext cx="2082800" cy="368429"/>
              </a:xfrm>
              <a:prstGeom prst="rect">
                <a:avLst/>
              </a:prstGeom>
              <a:blipFill>
                <a:blip r:embed="rId4"/>
                <a:stretch>
                  <a:fillRect l="-2924" t="-10000" b="-38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3" name="Picture 12">
            <a:extLst>
              <a:ext uri="{FF2B5EF4-FFF2-40B4-BE49-F238E27FC236}">
                <a16:creationId xmlns:a16="http://schemas.microsoft.com/office/drawing/2014/main" id="{22BB4F01-7E7C-C3FD-B9A1-43827B10A1E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32118" y="2956824"/>
            <a:ext cx="663650" cy="125805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E39820D-4D9C-D60B-7091-3688658BA98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8752" y="2956824"/>
            <a:ext cx="6140704" cy="1275689"/>
          </a:xfrm>
          <a:prstGeom prst="rect">
            <a:avLst/>
          </a:prstGeom>
        </p:spPr>
      </p:pic>
      <p:sp>
        <p:nvSpPr>
          <p:cNvPr id="8" name="Left Brace 7">
            <a:extLst>
              <a:ext uri="{FF2B5EF4-FFF2-40B4-BE49-F238E27FC236}">
                <a16:creationId xmlns:a16="http://schemas.microsoft.com/office/drawing/2014/main" id="{5E7C84B9-374D-EBC1-47CC-4225C2F79852}"/>
              </a:ext>
            </a:extLst>
          </p:cNvPr>
          <p:cNvSpPr/>
          <p:nvPr/>
        </p:nvSpPr>
        <p:spPr>
          <a:xfrm rot="16200000">
            <a:off x="2811511" y="2848356"/>
            <a:ext cx="239298" cy="2907792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D0014CD9-889D-8BE3-7334-04C2AA4A7901}"/>
              </a:ext>
            </a:extLst>
          </p:cNvPr>
          <p:cNvSpPr txBox="1">
            <a:spLocks/>
          </p:cNvSpPr>
          <p:nvPr/>
        </p:nvSpPr>
        <p:spPr>
          <a:xfrm>
            <a:off x="516682" y="4421421"/>
            <a:ext cx="4907372" cy="516100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3429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342900" algn="l" defTabSz="342900" rtl="0" eaLnBrk="1" latinLnBrk="0" hangingPunct="1">
              <a:spcBef>
                <a:spcPct val="20000"/>
              </a:spcBef>
              <a:buFont typeface="Arial"/>
              <a:buChar char="–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287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-342900" algn="l" defTabSz="342900" rtl="0" eaLnBrk="1" latinLnBrk="0" hangingPunct="1">
              <a:spcBef>
                <a:spcPct val="20000"/>
              </a:spcBef>
              <a:buFont typeface="Arial"/>
              <a:buChar char="–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714500" indent="-342900" algn="l" defTabSz="342900" rtl="0" eaLnBrk="1" latinLnBrk="0" hangingPunct="1">
              <a:spcBef>
                <a:spcPct val="20000"/>
              </a:spcBef>
              <a:buFont typeface="Arial"/>
              <a:buChar char="»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0574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4003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7432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0861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/>
              <a:buNone/>
            </a:pPr>
            <a:r>
              <a:rPr lang="en-US" sz="2000" b="1" dirty="0"/>
              <a:t>Wait! Why are there only 4 dummy variables for 5 levels of the `</a:t>
            </a:r>
            <a:r>
              <a:rPr lang="en-US" sz="2000" b="1" dirty="0" err="1"/>
              <a:t>body_style</a:t>
            </a:r>
            <a:r>
              <a:rPr lang="en-US" sz="2000" b="1" dirty="0"/>
              <a:t>`?</a:t>
            </a:r>
            <a:endParaRPr lang="en-US" sz="1600" b="1" dirty="0">
              <a:latin typeface="Courier"/>
            </a:endParaRPr>
          </a:p>
        </p:txBody>
      </p:sp>
    </p:spTree>
    <p:extLst>
      <p:ext uri="{BB962C8B-B14F-4D97-AF65-F5344CB8AC3E}">
        <p14:creationId xmlns:p14="http://schemas.microsoft.com/office/powerpoint/2010/main" val="6622897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8" grpId="0" animBg="1"/>
      <p:bldP spid="9" grpId="0" build="allAtOnce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Working with Categorical Variables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57200" y="906087"/>
                <a:ext cx="8229600" cy="4110644"/>
              </a:xfrm>
            </p:spPr>
            <p:txBody>
              <a:bodyPr>
                <a:normAutofit lnSpcReduction="10000"/>
              </a:bodyPr>
              <a:lstStyle/>
              <a:p>
                <a:pPr marL="0" lvl="0" indent="0">
                  <a:buNone/>
                </a:pPr>
                <a:r>
                  <a:rPr lang="en-US" dirty="0"/>
                  <a:t>What happened to the coefficient for the first level of `</a:t>
                </a:r>
                <a:r>
                  <a:rPr lang="en-US" dirty="0" err="1"/>
                  <a:t>body_style</a:t>
                </a:r>
                <a:r>
                  <a:rPr lang="en-US" dirty="0"/>
                  <a:t>`?</a:t>
                </a:r>
              </a:p>
              <a:p>
                <a:pPr lvl="0"/>
                <a:r>
                  <a:rPr lang="en-US" dirty="0"/>
                  <a:t>Consider the following possible ways we can encode responses to a categorical variable - often called </a:t>
                </a:r>
                <a:r>
                  <a:rPr lang="en-US" b="1" dirty="0"/>
                  <a:t>treatments</a:t>
                </a:r>
                <a:r>
                  <a:rPr lang="en-US" dirty="0"/>
                  <a:t>,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ar-AE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ar-AE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ar-AE">
                            <a:latin typeface="Cambria Math" panose="02040503050406030204" pitchFamily="18" charset="0"/>
                          </a:rPr>
                          <m:t>,…,</m:t>
                        </m:r>
                        <m:sSub>
                          <m:sSubPr>
                            <m:ctrlPr>
                              <a:rPr lang="ar-AE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d>
                  </m:oMath>
                </a14:m>
                <a:endParaRPr lang="en-US" b="1" dirty="0"/>
              </a:p>
              <a:p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 treatments have effect sizes,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i</m:t>
                        </m:r>
                      </m:sub>
                    </m:sSub>
                  </m:oMath>
                </a14:m>
                <a:r>
                  <a:rPr lang="en-US" dirty="0"/>
                  <a:t>, and parameter are the mean response estimates,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i</m:t>
                        </m:r>
                      </m:sub>
                    </m:sSub>
                  </m:oMath>
                </a14:m>
                <a:r>
                  <a:rPr lang="en-US" dirty="0"/>
                  <a:t>: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d>
                        <m:dPr>
                          <m:begChr m:val="["/>
                          <m:endChr m:val="]"/>
                          <m:ctrlPr>
                            <a:rPr lang="ar-AE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ar-AE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 b="0" i="1" smtClean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b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b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,…,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b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ar-AE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ar-AE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,…,</m:t>
                          </m:r>
                          <m:sSub>
                            <m:sSubPr>
                              <m:ctrlPr>
                                <a:rPr lang="ar-AE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ar-AE" dirty="0"/>
              </a:p>
              <a:p>
                <a:r>
                  <a:rPr lang="en-US" dirty="0"/>
                  <a:t>Alternative encoding is a treatment with intercept,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𝐼</m:t>
                    </m:r>
                  </m:oMath>
                </a14:m>
                <a:r>
                  <a:rPr lang="en-US" dirty="0"/>
                  <a:t>, and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−1</m:t>
                    </m:r>
                  </m:oMath>
                </a14:m>
                <a:r>
                  <a:rPr lang="en-US" dirty="0"/>
                  <a:t> </a:t>
                </a:r>
                <a:r>
                  <a:rPr lang="en-US" b="1" dirty="0"/>
                  <a:t>contrasts</a:t>
                </a:r>
                <a:r>
                  <a:rPr lang="en-US" dirty="0"/>
                  <a:t>,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en-US" b="0" i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ar-AE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𝑐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ar-AE">
                            <a:latin typeface="Cambria Math" panose="02040503050406030204" pitchFamily="18" charset="0"/>
                          </a:rPr>
                          <m:t>,…,</m:t>
                        </m:r>
                        <m:sSub>
                          <m:sSubPr>
                            <m:ctrlPr>
                              <a:rPr lang="ar-AE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𝑐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d>
                  </m:oMath>
                </a14:m>
                <a:endParaRPr lang="ar-AE" dirty="0"/>
              </a:p>
              <a:p>
                <a:pPr lvl="0"/>
                <a:r>
                  <a:rPr lang="en-US" dirty="0"/>
                  <a:t>The intercept is the </a:t>
                </a:r>
                <a:r>
                  <a:rPr lang="en-US" b="1" dirty="0"/>
                  <a:t>mean response</a:t>
                </a:r>
                <a:r>
                  <a:rPr lang="en-US" dirty="0"/>
                  <a:t> of the first level,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endParaRPr lang="en-US" dirty="0"/>
              </a:p>
              <a:p>
                <a:pPr lvl="0"/>
                <a:endParaRPr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906087"/>
                <a:ext cx="8229600" cy="4110644"/>
              </a:xfrm>
              <a:blipFill>
                <a:blip r:embed="rId2"/>
                <a:stretch>
                  <a:fillRect l="-1111" t="-2077" b="-178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590417-B8CA-AC0D-609B-8076AF89AF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6510A9-F83C-9E4E-5C37-44644CB0A7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Working with Categorical Variables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B15595F-95D8-476F-D36C-48DFB959390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57200" y="906087"/>
                <a:ext cx="8229600" cy="4110644"/>
              </a:xfrm>
            </p:spPr>
            <p:txBody>
              <a:bodyPr>
                <a:normAutofit/>
              </a:bodyPr>
              <a:lstStyle/>
              <a:p>
                <a:pPr marL="0" lvl="0" indent="0">
                  <a:buNone/>
                </a:pPr>
                <a:r>
                  <a:rPr lang="en-US" dirty="0"/>
                  <a:t>What happened to the coefficient for the first level of `</a:t>
                </a:r>
                <a:r>
                  <a:rPr lang="en-US" dirty="0" err="1"/>
                  <a:t>body_style</a:t>
                </a:r>
                <a:r>
                  <a:rPr lang="en-US" dirty="0"/>
                  <a:t>`?</a:t>
                </a:r>
                <a:endParaRPr lang="ar-AE" dirty="0"/>
              </a:p>
              <a:p>
                <a:pPr lvl="0"/>
                <a:r>
                  <a:rPr lang="en-US" dirty="0"/>
                  <a:t>The intercept is the </a:t>
                </a:r>
                <a:r>
                  <a:rPr lang="en-US" b="1" dirty="0"/>
                  <a:t>mean response</a:t>
                </a:r>
                <a:r>
                  <a:rPr lang="en-US" dirty="0"/>
                  <a:t> of the first level,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endParaRPr lang="en-US" dirty="0"/>
              </a:p>
              <a:p>
                <a:pPr lvl="0"/>
                <a:r>
                  <a:rPr lang="en-US" dirty="0"/>
                  <a:t>The other coefficients are </a:t>
                </a:r>
                <a:r>
                  <a:rPr lang="en-US" b="1" dirty="0"/>
                  <a:t>contrasts</a:t>
                </a:r>
                <a:r>
                  <a:rPr lang="en-US" dirty="0"/>
                  <a:t> with respect to the mean of the first level.</a:t>
                </a:r>
              </a:p>
              <a:p>
                <a:pPr lvl="0"/>
                <a:r>
                  <a:rPr lang="en-US" dirty="0"/>
                  <a:t>The effect sizes and contrasts are related: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d>
                        <m:dPr>
                          <m:begChr m:val="["/>
                          <m:endChr m:val="]"/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𝐼</m:t>
                                </m:r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ar-AE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𝑐</m:t>
                                    </m:r>
                                  </m:e>
                                  <m:sub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ar-AE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𝑐</m:t>
                                    </m:r>
                                  </m:e>
                                  <m:sub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𝑒</m:t>
                                    </m:r>
                                  </m:e>
                                  <m:sub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𝑒</m:t>
                                    </m:r>
                                  </m:e>
                                  <m:sub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𝑒</m:t>
                                    </m:r>
                                  </m:e>
                                  <m:sub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𝑒</m:t>
                                    </m:r>
                                  </m:e>
                                  <m:sub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sub>
                                </m:sSub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𝑒</m:t>
                                    </m:r>
                                  </m:e>
                                  <m:sub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B15595F-95D8-476F-D36C-48DFB959390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906087"/>
                <a:ext cx="8229600" cy="4110644"/>
              </a:xfrm>
              <a:blipFill>
                <a:blip r:embed="rId2"/>
                <a:stretch>
                  <a:fillRect l="-1111" t="-1187" r="-37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603762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590565"/>
          </a:xfrm>
        </p:spPr>
        <p:txBody>
          <a:bodyPr>
            <a:normAutofit fontScale="90000"/>
          </a:bodyPr>
          <a:lstStyle/>
          <a:p>
            <a:pPr marL="0" lvl="0" indent="0">
              <a:buNone/>
            </a:pPr>
            <a:r>
              <a:rPr dirty="0"/>
              <a:t>Working with Categorical Variables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8752" y="841247"/>
            <a:ext cx="8229600" cy="1849257"/>
          </a:xfrm>
        </p:spPr>
        <p:txBody>
          <a:bodyPr>
            <a:noAutofit/>
          </a:bodyPr>
          <a:lstStyle/>
          <a:p>
            <a:pPr marL="0" lvl="0" indent="0">
              <a:buNone/>
            </a:pPr>
            <a:r>
              <a:rPr sz="2000" dirty="0"/>
              <a:t>Example: </a:t>
            </a:r>
            <a:r>
              <a:rPr lang="en-US" sz="2000" dirty="0"/>
              <a:t>We can construct the model matrices for the auto data using the </a:t>
            </a:r>
            <a:r>
              <a:rPr lang="en-US" sz="2000" dirty="0">
                <a:hlinkClick r:id="rId2"/>
              </a:rPr>
              <a:t>patsy package</a:t>
            </a:r>
            <a:endParaRPr lang="en-US" sz="2000" dirty="0"/>
          </a:p>
          <a:p>
            <a:pPr marL="0" lvl="0" indent="0">
              <a:buNone/>
            </a:pPr>
            <a:r>
              <a:rPr lang="en-US" sz="2000" dirty="0"/>
              <a:t>Design matrix with </a:t>
            </a:r>
            <a:r>
              <a:rPr lang="en-US" sz="2000" b="1" dirty="0"/>
              <a:t>no intercept term</a:t>
            </a:r>
            <a:endParaRPr sz="2000" b="1" dirty="0"/>
          </a:p>
          <a:p>
            <a:pPr lvl="0" indent="0">
              <a:buNone/>
            </a:pPr>
            <a:r>
              <a:rPr sz="1600" b="1" dirty="0">
                <a:solidFill>
                  <a:srgbClr val="008000"/>
                </a:solidFill>
                <a:latin typeface="Courier"/>
              </a:rPr>
              <a:t>from</a:t>
            </a:r>
            <a:r>
              <a:rPr sz="1600" dirty="0">
                <a:latin typeface="Courier"/>
              </a:rPr>
              <a:t> patsy </a:t>
            </a:r>
            <a:r>
              <a:rPr sz="1600" b="1" dirty="0">
                <a:solidFill>
                  <a:srgbClr val="008000"/>
                </a:solidFill>
                <a:latin typeface="Courier"/>
              </a:rPr>
              <a:t>import</a:t>
            </a:r>
            <a:r>
              <a:rPr sz="1600" dirty="0">
                <a:latin typeface="Courier"/>
              </a:rPr>
              <a:t> </a:t>
            </a:r>
            <a:r>
              <a:rPr sz="1600" dirty="0" err="1">
                <a:latin typeface="Courier"/>
              </a:rPr>
              <a:t>dmatrices</a:t>
            </a:r>
            <a:br>
              <a:rPr sz="1600" dirty="0"/>
            </a:br>
            <a:r>
              <a:rPr lang="en-US" sz="1600" dirty="0">
                <a:latin typeface="Courier"/>
              </a:rPr>
              <a:t>Y, X = </a:t>
            </a:r>
            <a:r>
              <a:rPr lang="en-US" sz="1600" dirty="0" err="1">
                <a:latin typeface="Courier"/>
              </a:rPr>
              <a:t>dmatrices</a:t>
            </a:r>
            <a:r>
              <a:rPr lang="en-US" sz="1600" dirty="0">
                <a:latin typeface="Courier"/>
              </a:rPr>
              <a:t>('</a:t>
            </a:r>
            <a:r>
              <a:rPr lang="en-US" sz="1600" dirty="0" err="1">
                <a:latin typeface="Courier"/>
              </a:rPr>
              <a:t>city_mpg</a:t>
            </a:r>
            <a:r>
              <a:rPr lang="en-US" sz="1600" dirty="0">
                <a:latin typeface="Courier"/>
              </a:rPr>
              <a:t> ~ </a:t>
            </a:r>
            <a:r>
              <a:rPr lang="en-US" sz="1600" b="1" dirty="0">
                <a:solidFill>
                  <a:srgbClr val="C00000"/>
                </a:solidFill>
                <a:latin typeface="Courier"/>
              </a:rPr>
              <a:t>-1</a:t>
            </a:r>
            <a:r>
              <a:rPr lang="en-US" sz="1600" dirty="0">
                <a:latin typeface="Courier"/>
              </a:rPr>
              <a:t> + C(</a:t>
            </a:r>
            <a:r>
              <a:rPr lang="en-US" sz="1600" dirty="0" err="1">
                <a:latin typeface="Courier"/>
              </a:rPr>
              <a:t>body_style</a:t>
            </a:r>
            <a:r>
              <a:rPr lang="en-US" sz="1600" dirty="0">
                <a:latin typeface="Courier"/>
              </a:rPr>
              <a:t>) + </a:t>
            </a:r>
            <a:r>
              <a:rPr lang="en-US" sz="1600" dirty="0" err="1">
                <a:latin typeface="Courier"/>
              </a:rPr>
              <a:t>curb_weight</a:t>
            </a:r>
            <a:r>
              <a:rPr lang="en-US" sz="1600" dirty="0">
                <a:latin typeface="Courier"/>
              </a:rPr>
              <a:t> + </a:t>
            </a:r>
            <a:r>
              <a:rPr lang="en-US" sz="1600" dirty="0" err="1">
                <a:latin typeface="Courier"/>
              </a:rPr>
              <a:t>engine_size</a:t>
            </a:r>
            <a:r>
              <a:rPr lang="en-US" sz="1600" dirty="0">
                <a:latin typeface="Courier"/>
              </a:rPr>
              <a:t>', data=</a:t>
            </a:r>
            <a:r>
              <a:rPr lang="en-US" sz="1600" dirty="0" err="1">
                <a:latin typeface="Courier"/>
              </a:rPr>
              <a:t>auto_data</a:t>
            </a:r>
            <a:r>
              <a:rPr lang="en-US" sz="1600" dirty="0">
                <a:latin typeface="Courier"/>
              </a:rPr>
              <a:t>) </a:t>
            </a:r>
            <a:r>
              <a:rPr sz="1600" dirty="0">
                <a:solidFill>
                  <a:srgbClr val="008000"/>
                </a:solidFill>
                <a:latin typeface="Courier"/>
              </a:rPr>
              <a:t>print</a:t>
            </a:r>
            <a:r>
              <a:rPr sz="1600" dirty="0">
                <a:latin typeface="Courier"/>
              </a:rPr>
              <a:t>(X[:</a:t>
            </a:r>
            <a:r>
              <a:rPr sz="1600" dirty="0">
                <a:solidFill>
                  <a:srgbClr val="40A070"/>
                </a:solidFill>
                <a:latin typeface="Courier"/>
              </a:rPr>
              <a:t>5</a:t>
            </a:r>
            <a:r>
              <a:rPr sz="1600" dirty="0">
                <a:latin typeface="Courier"/>
              </a:rPr>
              <a:t>])</a:t>
            </a:r>
            <a:endParaRPr lang="en-US" sz="1600" dirty="0">
              <a:latin typeface="Courier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99D81FAE-16F7-3DF6-36F5-F84B1F6CED5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22656" y="2580894"/>
                <a:ext cx="6325616" cy="475488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Autofit/>
              </a:bodyPr>
              <a:lstStyle>
                <a:lvl1pPr marL="3429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–"/>
                  <a:defRPr sz="21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0287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–"/>
                  <a:defRPr sz="15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7145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»"/>
                  <a:defRPr sz="15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0574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15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4003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15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27432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15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0861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15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/>
                  <a:buNone/>
                </a:pPr>
                <a:r>
                  <a:rPr lang="en-US" sz="2000" dirty="0"/>
                  <a:t>The design matrix,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2000" dirty="0"/>
                  <a:t>:</a:t>
                </a:r>
              </a:p>
              <a:p>
                <a:pPr marL="0" indent="0">
                  <a:buFont typeface="Arial"/>
                  <a:buNone/>
                </a:pPr>
                <a:endParaRPr lang="en-US" sz="2000" dirty="0"/>
              </a:p>
              <a:p>
                <a:pPr marL="0" indent="0">
                  <a:buFont typeface="Arial"/>
                  <a:buNone/>
                </a:pPr>
                <a:endParaRPr lang="en-US" sz="2000" dirty="0"/>
              </a:p>
            </p:txBody>
          </p:sp>
        </mc:Choice>
        <mc:Fallback xmlns="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99D81FAE-16F7-3DF6-36F5-F84B1F6CED5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2656" y="2580894"/>
                <a:ext cx="6325616" cy="475488"/>
              </a:xfrm>
              <a:prstGeom prst="rect">
                <a:avLst/>
              </a:prstGeom>
              <a:blipFill>
                <a:blip r:embed="rId3"/>
                <a:stretch>
                  <a:fillRect l="-963" t="-6410" b="-641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768A33E4-DCE0-64DF-03B6-801A28AE3D15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748272" y="2568702"/>
                <a:ext cx="2082800" cy="368429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Autofit/>
              </a:bodyPr>
              <a:lstStyle>
                <a:lvl1pPr marL="3429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–"/>
                  <a:defRPr sz="21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0287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–"/>
                  <a:defRPr sz="15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7145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»"/>
                  <a:defRPr sz="15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0574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15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4003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15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27432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15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0861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15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/>
                  <a:buNone/>
                </a:pPr>
                <a:r>
                  <a:rPr lang="en-US" sz="2000" dirty="0"/>
                  <a:t>Repones array,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𝑌</m:t>
                    </m:r>
                  </m:oMath>
                </a14:m>
                <a:r>
                  <a:rPr lang="en-US" sz="2000" dirty="0"/>
                  <a:t>:</a:t>
                </a:r>
              </a:p>
            </p:txBody>
          </p:sp>
        </mc:Choice>
        <mc:Fallback xmlns="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768A33E4-DCE0-64DF-03B6-801A28AE3D1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48272" y="2568702"/>
                <a:ext cx="2082800" cy="368429"/>
              </a:xfrm>
              <a:prstGeom prst="rect">
                <a:avLst/>
              </a:prstGeom>
              <a:blipFill>
                <a:blip r:embed="rId4"/>
                <a:stretch>
                  <a:fillRect l="-2924" t="-8197" b="-3606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1" name="Picture 10">
            <a:extLst>
              <a:ext uri="{FF2B5EF4-FFF2-40B4-BE49-F238E27FC236}">
                <a16:creationId xmlns:a16="http://schemas.microsoft.com/office/drawing/2014/main" id="{25C9995F-03B5-0A28-6028-D7C629D0A13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8752" y="2937131"/>
            <a:ext cx="5949696" cy="1226915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22BB4F01-7E7C-C3FD-B9A1-43827B10A1E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74268" y="2937131"/>
            <a:ext cx="663650" cy="1258050"/>
          </a:xfrm>
          <a:prstGeom prst="rect">
            <a:avLst/>
          </a:prstGeom>
        </p:spPr>
      </p:pic>
      <p:sp>
        <p:nvSpPr>
          <p:cNvPr id="14" name="Left Brace 13">
            <a:extLst>
              <a:ext uri="{FF2B5EF4-FFF2-40B4-BE49-F238E27FC236}">
                <a16:creationId xmlns:a16="http://schemas.microsoft.com/office/drawing/2014/main" id="{4F06B619-4D57-F002-E436-82429BABFF3A}"/>
              </a:ext>
            </a:extLst>
          </p:cNvPr>
          <p:cNvSpPr/>
          <p:nvPr/>
        </p:nvSpPr>
        <p:spPr>
          <a:xfrm rot="16200000">
            <a:off x="2371583" y="2390016"/>
            <a:ext cx="239298" cy="3872992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86ED3BF5-A872-A8EF-DEBC-A2509C67058B}"/>
              </a:ext>
            </a:extLst>
          </p:cNvPr>
          <p:cNvSpPr txBox="1">
            <a:spLocks/>
          </p:cNvSpPr>
          <p:nvPr/>
        </p:nvSpPr>
        <p:spPr>
          <a:xfrm>
            <a:off x="554735" y="4410673"/>
            <a:ext cx="4494784" cy="516100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3429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342900" algn="l" defTabSz="342900" rtl="0" eaLnBrk="1" latinLnBrk="0" hangingPunct="1">
              <a:spcBef>
                <a:spcPct val="20000"/>
              </a:spcBef>
              <a:buFont typeface="Arial"/>
              <a:buChar char="–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287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-342900" algn="l" defTabSz="342900" rtl="0" eaLnBrk="1" latinLnBrk="0" hangingPunct="1">
              <a:spcBef>
                <a:spcPct val="20000"/>
              </a:spcBef>
              <a:buFont typeface="Arial"/>
              <a:buChar char="–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714500" indent="-342900" algn="l" defTabSz="342900" rtl="0" eaLnBrk="1" latinLnBrk="0" hangingPunct="1">
              <a:spcBef>
                <a:spcPct val="20000"/>
              </a:spcBef>
              <a:buFont typeface="Arial"/>
              <a:buChar char="»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0574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4003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7432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0861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/>
              <a:buNone/>
            </a:pPr>
            <a:r>
              <a:rPr lang="en-US" sz="2000" dirty="0"/>
              <a:t>There are now 5 dummy variables for 5 levels of the `</a:t>
            </a:r>
            <a:r>
              <a:rPr lang="en-US" sz="2000" dirty="0" err="1"/>
              <a:t>body_style</a:t>
            </a:r>
            <a:r>
              <a:rPr lang="en-US" sz="2000" dirty="0"/>
              <a:t>`</a:t>
            </a:r>
            <a:endParaRPr lang="en-US" sz="1600" dirty="0">
              <a:latin typeface="Courier"/>
            </a:endParaRPr>
          </a:p>
        </p:txBody>
      </p:sp>
    </p:spTree>
    <p:extLst>
      <p:ext uri="{BB962C8B-B14F-4D97-AF65-F5344CB8AC3E}">
        <p14:creationId xmlns:p14="http://schemas.microsoft.com/office/powerpoint/2010/main" val="14858072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14" grpId="0" animBg="1"/>
      <p:bldP spid="15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Working with Categorical Variables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57200" y="1121664"/>
                <a:ext cx="8229600" cy="3742943"/>
              </a:xfrm>
            </p:spPr>
            <p:txBody>
              <a:bodyPr>
                <a:normAutofit fontScale="77500" lnSpcReduction="20000"/>
              </a:bodyPr>
              <a:lstStyle/>
              <a:p>
                <a:pPr marL="0" lvl="0" indent="0">
                  <a:buNone/>
                </a:pPr>
                <a:r>
                  <a:rPr lang="en-US" dirty="0"/>
                  <a:t>In a linear model we can sometimes relate the coefficient values to an effect size</a:t>
                </a:r>
              </a:p>
              <a:p>
                <a:pPr lvl="0"/>
                <a:r>
                  <a:rPr lang="en-US" dirty="0"/>
                  <a:t>Start with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 treatments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ar-AE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ar-AE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ar-AE">
                            <a:latin typeface="Cambria Math" panose="02040503050406030204" pitchFamily="18" charset="0"/>
                          </a:rPr>
                          <m:t>,…,</m:t>
                        </m:r>
                        <m:sSub>
                          <m:sSubPr>
                            <m:ctrlPr>
                              <a:rPr lang="ar-AE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d>
                  </m:oMath>
                </a14:m>
                <a:r>
                  <a:rPr lang="ar-AE" dirty="0"/>
                  <a:t> </a:t>
                </a:r>
                <a:r>
                  <a:rPr lang="en-US" dirty="0"/>
                  <a:t>with effect sizes,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ar-AE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ar-AE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ar-AE">
                            <a:latin typeface="Cambria Math" panose="02040503050406030204" pitchFamily="18" charset="0"/>
                          </a:rPr>
                          <m:t>,…,</m:t>
                        </m:r>
                        <m:sSub>
                          <m:sSubPr>
                            <m:ctrlPr>
                              <a:rPr lang="ar-AE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d>
                  </m:oMath>
                </a14:m>
                <a:endParaRPr lang="ar-AE" dirty="0"/>
              </a:p>
              <a:p>
                <a:pPr lvl="0"/>
                <a:r>
                  <a:rPr lang="en-US" dirty="0"/>
                  <a:t>With </a:t>
                </a:r>
                <a:r>
                  <a:rPr lang="en-US" b="1" dirty="0"/>
                  <a:t>no intercept term</a:t>
                </a:r>
                <a:r>
                  <a:rPr lang="en-US" dirty="0"/>
                  <a:t> the means represent the effect sizes and parameter values: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d>
                        <m:dPr>
                          <m:begChr m:val="["/>
                          <m:endChr m:val="]"/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ar-AE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𝑒</m:t>
                                    </m:r>
                                  </m:e>
                                  <m:sub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ar-AE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𝑒</m:t>
                                    </m:r>
                                  </m:e>
                                  <m:sub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ar-AE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𝑒</m:t>
                                    </m:r>
                                  </m:e>
                                  <m:sub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ar-AE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𝜇</m:t>
                                    </m:r>
                                  </m:e>
                                  <m:sub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ar-AE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𝜇</m:t>
                                    </m:r>
                                  </m:e>
                                  <m:sub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ar-AE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𝜇</m:t>
                                    </m:r>
                                  </m:e>
                                  <m:sub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ar-AE" dirty="0"/>
              </a:p>
              <a:p>
                <a:pPr lvl="0"/>
                <a:r>
                  <a:rPr lang="en-US" b="1" dirty="0"/>
                  <a:t>With intercept term </a:t>
                </a:r>
                <a:r>
                  <a:rPr lang="en-US" dirty="0"/>
                  <a:t>compute effect sizes using contrasts,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en-US" b="0" i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ar-AE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𝑐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ar-AE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ar-AE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𝑐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  <m:r>
                          <a:rPr lang="ar-AE">
                            <a:latin typeface="Cambria Math" panose="02040503050406030204" pitchFamily="18" charset="0"/>
                          </a:rPr>
                          <m:t>,…,</m:t>
                        </m:r>
                        <m:sSub>
                          <m:sSubPr>
                            <m:ctrlPr>
                              <a:rPr lang="ar-AE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𝑐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d>
                  </m:oMath>
                </a14:m>
                <a:r>
                  <a:rPr lang="ar-AE" dirty="0"/>
                  <a:t>: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d>
                        <m:dPr>
                          <m:begChr m:val="["/>
                          <m:endChr m:val="]"/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ar-AE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𝑒</m:t>
                                    </m:r>
                                  </m:e>
                                  <m:sub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ar-AE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𝑒</m:t>
                                    </m:r>
                                  </m:e>
                                  <m:sub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ar-AE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𝑒</m:t>
                                    </m:r>
                                  </m:e>
                                  <m:sub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ar-AE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𝜇</m:t>
                                    </m:r>
                                  </m:e>
                                  <m:sub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ar-AE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𝜇</m:t>
                                    </m:r>
                                  </m:e>
                                  <m:sub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sSub>
                                  <m:sSubPr>
                                    <m:ctrlPr>
                                      <a:rPr lang="ar-AE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𝑐</m:t>
                                    </m:r>
                                  </m:e>
                                  <m:sub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ar-AE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𝜇</m:t>
                                    </m:r>
                                  </m:e>
                                  <m:sub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sSub>
                                  <m:sSubPr>
                                    <m:ctrlPr>
                                      <a:rPr lang="ar-AE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𝑐</m:t>
                                    </m:r>
                                  </m:e>
                                  <m:sub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121664"/>
                <a:ext cx="8229600" cy="3742943"/>
              </a:xfrm>
              <a:blipFill>
                <a:blip r:embed="rId2"/>
                <a:stretch>
                  <a:fillRect l="-667" t="-211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590565"/>
          </a:xfrm>
        </p:spPr>
        <p:txBody>
          <a:bodyPr>
            <a:normAutofit fontScale="90000"/>
          </a:bodyPr>
          <a:lstStyle/>
          <a:p>
            <a:pPr marL="0" lvl="0" indent="0">
              <a:buNone/>
            </a:pPr>
            <a:r>
              <a:rPr dirty="0"/>
              <a:t>Working with Categorical Variables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8752" y="943495"/>
            <a:ext cx="4747341" cy="4115423"/>
          </a:xfrm>
        </p:spPr>
        <p:txBody>
          <a:bodyPr>
            <a:noAutofit/>
          </a:bodyPr>
          <a:lstStyle/>
          <a:p>
            <a:pPr marL="0" lvl="0" indent="0">
              <a:buNone/>
            </a:pPr>
            <a:r>
              <a:rPr lang="en-US" sz="2000" dirty="0"/>
              <a:t>Example: Constructing linear model </a:t>
            </a:r>
            <a:r>
              <a:rPr lang="en-US" sz="2000" b="1" dirty="0"/>
              <a:t>with intercept </a:t>
            </a:r>
            <a:r>
              <a:rPr lang="en-US" sz="2000" dirty="0"/>
              <a:t>and </a:t>
            </a:r>
            <a:r>
              <a:rPr lang="en-US" sz="2000" b="1" dirty="0"/>
              <a:t>mixed variable types</a:t>
            </a:r>
          </a:p>
          <a:p>
            <a:pPr marL="0" lvl="0" indent="0">
              <a:buNone/>
            </a:pPr>
            <a:r>
              <a:rPr lang="en-US" sz="1600" b="1" dirty="0" err="1">
                <a:solidFill>
                  <a:srgbClr val="008000"/>
                </a:solidFill>
                <a:latin typeface="Courier"/>
              </a:rPr>
              <a:t>city_mpg</a:t>
            </a:r>
            <a:r>
              <a:rPr lang="en-US" sz="1600" b="1" dirty="0">
                <a:solidFill>
                  <a:srgbClr val="008000"/>
                </a:solidFill>
                <a:latin typeface="Courier"/>
              </a:rPr>
              <a:t> ~ C(</a:t>
            </a:r>
            <a:r>
              <a:rPr lang="en-US" sz="1600" b="1" dirty="0" err="1">
                <a:solidFill>
                  <a:srgbClr val="008000"/>
                </a:solidFill>
                <a:latin typeface="Courier"/>
              </a:rPr>
              <a:t>fuel_type</a:t>
            </a:r>
            <a:r>
              <a:rPr lang="en-US" sz="1600" b="1" dirty="0">
                <a:solidFill>
                  <a:srgbClr val="008000"/>
                </a:solidFill>
                <a:latin typeface="Courier"/>
              </a:rPr>
              <a:t>) + </a:t>
            </a:r>
            <a:r>
              <a:rPr lang="en-US" sz="1600" b="1" dirty="0" err="1">
                <a:solidFill>
                  <a:srgbClr val="008000"/>
                </a:solidFill>
                <a:latin typeface="Courier"/>
              </a:rPr>
              <a:t>curb_weight</a:t>
            </a:r>
            <a:r>
              <a:rPr lang="en-US" sz="1600" b="1" dirty="0">
                <a:solidFill>
                  <a:srgbClr val="008000"/>
                </a:solidFill>
                <a:latin typeface="Courier"/>
              </a:rPr>
              <a:t> + I(</a:t>
            </a:r>
            <a:r>
              <a:rPr lang="en-US" sz="1600" b="1" dirty="0" err="1">
                <a:solidFill>
                  <a:srgbClr val="008000"/>
                </a:solidFill>
                <a:latin typeface="Courier"/>
              </a:rPr>
              <a:t>curb_weight</a:t>
            </a:r>
            <a:r>
              <a:rPr lang="en-US" sz="1600" b="1" dirty="0">
                <a:solidFill>
                  <a:srgbClr val="008000"/>
                </a:solidFill>
                <a:latin typeface="Courier"/>
              </a:rPr>
              <a:t>**2)</a:t>
            </a:r>
          </a:p>
          <a:p>
            <a:pPr marL="0" lvl="0" indent="0">
              <a:buNone/>
            </a:pPr>
            <a:endParaRPr lang="en-US" sz="1800" dirty="0"/>
          </a:p>
          <a:p>
            <a:r>
              <a:rPr lang="en-US" sz="1800" dirty="0"/>
              <a:t>All coefficients are significant    </a:t>
            </a:r>
          </a:p>
          <a:p>
            <a:r>
              <a:rPr lang="en-US" sz="1800" dirty="0"/>
              <a:t>The </a:t>
            </a:r>
            <a:r>
              <a:rPr lang="en-US" sz="1800" b="1" dirty="0"/>
              <a:t>intercept</a:t>
            </a:r>
            <a:r>
              <a:rPr lang="en-US" sz="1800" dirty="0"/>
              <a:t> is the </a:t>
            </a:r>
            <a:r>
              <a:rPr lang="en-US" sz="1800" b="1" dirty="0"/>
              <a:t>mean</a:t>
            </a:r>
            <a:r>
              <a:rPr lang="en-US" sz="1800" dirty="0"/>
              <a:t> for the diesel cars </a:t>
            </a:r>
          </a:p>
          <a:p>
            <a:r>
              <a:rPr lang="en-US" sz="1800" dirty="0"/>
              <a:t>The coefficient for gas cars is the </a:t>
            </a:r>
            <a:r>
              <a:rPr lang="en-US" sz="1800" b="1" dirty="0"/>
              <a:t>contrast</a:t>
            </a:r>
            <a:r>
              <a:rPr lang="en-US" sz="1800" dirty="0"/>
              <a:t> with respect to diesel cars   </a:t>
            </a:r>
          </a:p>
          <a:p>
            <a:r>
              <a:rPr lang="en-US" sz="1800" dirty="0"/>
              <a:t>Coefficients for centered </a:t>
            </a:r>
            <a:r>
              <a:rPr lang="en-US" sz="1800" dirty="0" err="1"/>
              <a:t>curb_weight</a:t>
            </a:r>
            <a:r>
              <a:rPr lang="en-US" sz="1800" dirty="0"/>
              <a:t> variables  </a:t>
            </a:r>
          </a:p>
          <a:p>
            <a:pPr marL="628650" lvl="0" indent="-285750">
              <a:buFont typeface="Arial" panose="020B0604020202020204" pitchFamily="34" charset="0"/>
              <a:buChar char="•"/>
            </a:pPr>
            <a:endParaRPr lang="en-US" sz="1800" dirty="0">
              <a:latin typeface="Courier"/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C7BA786E-4AC1-0CFF-9A6A-B1C1453EFBE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160" y="741619"/>
            <a:ext cx="3256707" cy="4317299"/>
          </a:xfrm>
          <a:prstGeom prst="rect">
            <a:avLst/>
          </a:prstGeom>
        </p:spPr>
      </p:pic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EA029791-CDA2-D90B-CCCF-A541AC861542}"/>
              </a:ext>
            </a:extLst>
          </p:cNvPr>
          <p:cNvCxnSpPr>
            <a:cxnSpLocks/>
          </p:cNvCxnSpPr>
          <p:nvPr/>
        </p:nvCxnSpPr>
        <p:spPr>
          <a:xfrm>
            <a:off x="3645131" y="2693324"/>
            <a:ext cx="4434101" cy="27016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4B747618-8024-53AB-E10B-3DC09D2F6F71}"/>
              </a:ext>
            </a:extLst>
          </p:cNvPr>
          <p:cNvCxnSpPr>
            <a:cxnSpLocks/>
          </p:cNvCxnSpPr>
          <p:nvPr/>
        </p:nvCxnSpPr>
        <p:spPr>
          <a:xfrm>
            <a:off x="5055616" y="3013364"/>
            <a:ext cx="1235271" cy="27016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D78BB682-2BE0-74A1-3E96-CAD524EB3019}"/>
              </a:ext>
            </a:extLst>
          </p:cNvPr>
          <p:cNvCxnSpPr>
            <a:cxnSpLocks/>
          </p:cNvCxnSpPr>
          <p:nvPr/>
        </p:nvCxnSpPr>
        <p:spPr>
          <a:xfrm>
            <a:off x="4742411" y="3423123"/>
            <a:ext cx="1109749" cy="4328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62CFCDC2-F37A-B09A-93CD-DCCB6631A556}"/>
              </a:ext>
            </a:extLst>
          </p:cNvPr>
          <p:cNvCxnSpPr>
            <a:cxnSpLocks/>
          </p:cNvCxnSpPr>
          <p:nvPr/>
        </p:nvCxnSpPr>
        <p:spPr>
          <a:xfrm flipV="1">
            <a:off x="4443153" y="3743163"/>
            <a:ext cx="1529542" cy="213695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F09D5FF4-32C1-D03C-9C44-405490EA678B}"/>
              </a:ext>
            </a:extLst>
          </p:cNvPr>
          <p:cNvCxnSpPr>
            <a:cxnSpLocks/>
          </p:cNvCxnSpPr>
          <p:nvPr/>
        </p:nvCxnSpPr>
        <p:spPr>
          <a:xfrm flipV="1">
            <a:off x="4443153" y="3926043"/>
            <a:ext cx="1409007" cy="7600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325436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590565"/>
          </a:xfrm>
        </p:spPr>
        <p:txBody>
          <a:bodyPr>
            <a:normAutofit fontScale="90000"/>
          </a:bodyPr>
          <a:lstStyle/>
          <a:p>
            <a:pPr marL="0" lvl="0" indent="0">
              <a:buNone/>
            </a:pPr>
            <a:r>
              <a:rPr dirty="0"/>
              <a:t>Working with Categorical Variables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2F7449C-A9DC-DEAC-4D2F-8282EBBAE6E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81502" y="674425"/>
            <a:ext cx="3320623" cy="4408114"/>
          </a:xfrm>
          <a:prstGeom prst="rect">
            <a:avLst/>
          </a:prstGeom>
        </p:spPr>
      </p:pic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14933D92-929C-6A9B-7C55-6D7574767A9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8752" y="796544"/>
            <a:ext cx="4858143" cy="4262374"/>
          </a:xfrm>
        </p:spPr>
        <p:txBody>
          <a:bodyPr>
            <a:noAutofit/>
          </a:bodyPr>
          <a:lstStyle/>
          <a:p>
            <a:pPr marL="0" lvl="0" indent="0">
              <a:buNone/>
            </a:pPr>
            <a:r>
              <a:rPr lang="en-US" sz="2000" dirty="0"/>
              <a:t>Example: Constructing linear model </a:t>
            </a:r>
            <a:r>
              <a:rPr lang="en-US" sz="2000" b="1" dirty="0"/>
              <a:t>without intercept </a:t>
            </a:r>
            <a:r>
              <a:rPr lang="en-US" sz="2000" dirty="0"/>
              <a:t>and </a:t>
            </a:r>
            <a:r>
              <a:rPr lang="en-US" sz="2000" b="1" dirty="0"/>
              <a:t>mixed variable types</a:t>
            </a:r>
          </a:p>
          <a:p>
            <a:pPr marL="0" lvl="0" indent="0">
              <a:buNone/>
            </a:pPr>
            <a:r>
              <a:rPr lang="en-US" sz="1600" b="1" dirty="0" err="1">
                <a:solidFill>
                  <a:srgbClr val="008000"/>
                </a:solidFill>
                <a:latin typeface="Courier"/>
              </a:rPr>
              <a:t>city_mpg</a:t>
            </a:r>
            <a:r>
              <a:rPr lang="en-US" sz="1600" b="1" dirty="0">
                <a:solidFill>
                  <a:srgbClr val="008000"/>
                </a:solidFill>
                <a:latin typeface="Courier"/>
              </a:rPr>
              <a:t> ~ -1 + C(</a:t>
            </a:r>
            <a:r>
              <a:rPr lang="en-US" sz="1600" b="1" dirty="0" err="1">
                <a:solidFill>
                  <a:srgbClr val="008000"/>
                </a:solidFill>
                <a:latin typeface="Courier"/>
              </a:rPr>
              <a:t>fuel_type</a:t>
            </a:r>
            <a:r>
              <a:rPr lang="en-US" sz="1600" b="1" dirty="0">
                <a:solidFill>
                  <a:srgbClr val="008000"/>
                </a:solidFill>
                <a:latin typeface="Courier"/>
              </a:rPr>
              <a:t>) + </a:t>
            </a:r>
            <a:r>
              <a:rPr lang="en-US" sz="1600" b="1" dirty="0" err="1">
                <a:solidFill>
                  <a:srgbClr val="008000"/>
                </a:solidFill>
                <a:latin typeface="Courier"/>
              </a:rPr>
              <a:t>curb_weight</a:t>
            </a:r>
            <a:r>
              <a:rPr lang="en-US" sz="1600" b="1" dirty="0">
                <a:solidFill>
                  <a:srgbClr val="008000"/>
                </a:solidFill>
                <a:latin typeface="Courier"/>
              </a:rPr>
              <a:t> + I(</a:t>
            </a:r>
            <a:r>
              <a:rPr lang="en-US" sz="1600" b="1" dirty="0" err="1">
                <a:solidFill>
                  <a:srgbClr val="008000"/>
                </a:solidFill>
                <a:latin typeface="Courier"/>
              </a:rPr>
              <a:t>curb_weight</a:t>
            </a:r>
            <a:r>
              <a:rPr lang="en-US" sz="1600" b="1" dirty="0">
                <a:solidFill>
                  <a:srgbClr val="008000"/>
                </a:solidFill>
                <a:latin typeface="Courier"/>
              </a:rPr>
              <a:t>**2)</a:t>
            </a:r>
          </a:p>
          <a:p>
            <a:pPr marL="0" lvl="0" indent="0">
              <a:buNone/>
            </a:pPr>
            <a:endParaRPr lang="en-US" sz="1800" dirty="0"/>
          </a:p>
          <a:p>
            <a:r>
              <a:rPr lang="en-US" sz="1800" dirty="0"/>
              <a:t>All coefficients are significant    </a:t>
            </a:r>
          </a:p>
          <a:p>
            <a:r>
              <a:rPr lang="en-US" sz="1800" dirty="0"/>
              <a:t>The coefficients for diesel and gas cars are the means for each fuel type </a:t>
            </a:r>
          </a:p>
          <a:p>
            <a:r>
              <a:rPr lang="en-US" sz="1800" dirty="0"/>
              <a:t>Coefficients for centered </a:t>
            </a:r>
            <a:r>
              <a:rPr lang="en-US" sz="1800" dirty="0" err="1"/>
              <a:t>curb_weight</a:t>
            </a:r>
            <a:r>
              <a:rPr lang="en-US" sz="1800" dirty="0"/>
              <a:t> variables are the same as model with contrasts</a:t>
            </a:r>
          </a:p>
          <a:p>
            <a:pPr marL="628650" lvl="0" indent="-285750">
              <a:buFont typeface="Arial" panose="020B0604020202020204" pitchFamily="34" charset="0"/>
              <a:buChar char="•"/>
            </a:pPr>
            <a:endParaRPr lang="en-US" sz="1800" dirty="0">
              <a:latin typeface="Courier"/>
            </a:endParaRP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5DD18BEA-D338-EC38-171B-99074FC75054}"/>
              </a:ext>
            </a:extLst>
          </p:cNvPr>
          <p:cNvCxnSpPr>
            <a:cxnSpLocks/>
          </p:cNvCxnSpPr>
          <p:nvPr/>
        </p:nvCxnSpPr>
        <p:spPr>
          <a:xfrm>
            <a:off x="3756614" y="2571750"/>
            <a:ext cx="4302575" cy="35598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AB3B12D3-6C7D-039C-3255-6F13884C22BC}"/>
              </a:ext>
            </a:extLst>
          </p:cNvPr>
          <p:cNvCxnSpPr>
            <a:cxnSpLocks/>
          </p:cNvCxnSpPr>
          <p:nvPr/>
        </p:nvCxnSpPr>
        <p:spPr>
          <a:xfrm>
            <a:off x="5173426" y="2927731"/>
            <a:ext cx="678734" cy="285138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A3D58036-EB5A-102C-65D4-AA23B481A3CA}"/>
              </a:ext>
            </a:extLst>
          </p:cNvPr>
          <p:cNvCxnSpPr>
            <a:cxnSpLocks/>
          </p:cNvCxnSpPr>
          <p:nvPr/>
        </p:nvCxnSpPr>
        <p:spPr>
          <a:xfrm>
            <a:off x="5130615" y="2892829"/>
            <a:ext cx="721545" cy="56942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4B2CB184-A08F-E7D7-9EC5-99160C64BBC9}"/>
              </a:ext>
            </a:extLst>
          </p:cNvPr>
          <p:cNvCxnSpPr>
            <a:cxnSpLocks/>
          </p:cNvCxnSpPr>
          <p:nvPr/>
        </p:nvCxnSpPr>
        <p:spPr>
          <a:xfrm>
            <a:off x="4493029" y="3549535"/>
            <a:ext cx="1359131" cy="13178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CF3E1C5E-0726-F614-B5BE-CDDABC22BD97}"/>
              </a:ext>
            </a:extLst>
          </p:cNvPr>
          <p:cNvCxnSpPr>
            <a:cxnSpLocks/>
          </p:cNvCxnSpPr>
          <p:nvPr/>
        </p:nvCxnSpPr>
        <p:spPr>
          <a:xfrm>
            <a:off x="4493029" y="3562453"/>
            <a:ext cx="1288473" cy="30705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966336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590565"/>
          </a:xfrm>
        </p:spPr>
        <p:txBody>
          <a:bodyPr>
            <a:normAutofit fontScale="90000"/>
          </a:bodyPr>
          <a:lstStyle/>
          <a:p>
            <a:pPr marL="0" lvl="0" indent="0">
              <a:buNone/>
            </a:pPr>
            <a:r>
              <a:rPr dirty="0"/>
              <a:t>Working with Categorical Variables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8751" y="760617"/>
            <a:ext cx="8544837" cy="383330"/>
          </a:xfrm>
        </p:spPr>
        <p:txBody>
          <a:bodyPr>
            <a:noAutofit/>
          </a:bodyPr>
          <a:lstStyle/>
          <a:p>
            <a:pPr marL="0" lvl="0" indent="0">
              <a:buNone/>
            </a:pPr>
            <a:r>
              <a:rPr lang="en-US" sz="2000" dirty="0"/>
              <a:t>Example: Constructing linear model </a:t>
            </a:r>
            <a:r>
              <a:rPr lang="en-US" sz="2000" b="1" dirty="0"/>
              <a:t>with intercept </a:t>
            </a:r>
            <a:r>
              <a:rPr lang="en-US" sz="2000" dirty="0"/>
              <a:t>and </a:t>
            </a:r>
            <a:r>
              <a:rPr lang="en-US" sz="2000" b="1" dirty="0"/>
              <a:t>mixed variable types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C7BA786E-4AC1-0CFF-9A6A-B1C1453EFBE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36784" y="1516634"/>
            <a:ext cx="2672083" cy="3542284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CDFC3795-1870-6E13-B5FE-812EB8B8A7F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8751" y="1543054"/>
            <a:ext cx="2648493" cy="3515864"/>
          </a:xfrm>
          <a:prstGeom prst="rect">
            <a:avLst/>
          </a:prstGeom>
        </p:spPr>
      </p:pic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EA029791-CDA2-D90B-CCCF-A541AC861542}"/>
              </a:ext>
            </a:extLst>
          </p:cNvPr>
          <p:cNvCxnSpPr>
            <a:cxnSpLocks/>
          </p:cNvCxnSpPr>
          <p:nvPr/>
        </p:nvCxnSpPr>
        <p:spPr>
          <a:xfrm>
            <a:off x="2876204" y="1806956"/>
            <a:ext cx="5041669" cy="0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715E8E46-956E-9186-C4FA-61DD07F26476}"/>
              </a:ext>
            </a:extLst>
          </p:cNvPr>
          <p:cNvCxnSpPr>
            <a:cxnSpLocks/>
          </p:cNvCxnSpPr>
          <p:nvPr/>
        </p:nvCxnSpPr>
        <p:spPr>
          <a:xfrm>
            <a:off x="2876203" y="2179644"/>
            <a:ext cx="5041669" cy="0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1572209B-826E-EE7D-0DD0-1D2BF2C6D2CB}"/>
              </a:ext>
            </a:extLst>
          </p:cNvPr>
          <p:cNvCxnSpPr>
            <a:cxnSpLocks/>
          </p:cNvCxnSpPr>
          <p:nvPr/>
        </p:nvCxnSpPr>
        <p:spPr>
          <a:xfrm>
            <a:off x="2917767" y="2443942"/>
            <a:ext cx="4962698" cy="0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Content Placeholder 2">
                <a:extLst>
                  <a:ext uri="{FF2B5EF4-FFF2-40B4-BE49-F238E27FC236}">
                    <a16:creationId xmlns:a16="http://schemas.microsoft.com/office/drawing/2014/main" id="{A0A046A9-3484-AE18-3D71-197EA6B070B3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3133898" y="1129977"/>
                <a:ext cx="3560581" cy="413077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Autofit/>
              </a:bodyPr>
              <a:lstStyle>
                <a:lvl1pPr marL="3429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–"/>
                  <a:defRPr sz="21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0287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–"/>
                  <a:defRPr sz="15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7145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»"/>
                  <a:defRPr sz="15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0574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15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4003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15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27432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15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0861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15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/>
                  <a:buNone/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en-US" sz="180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800" i="1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p>
                        <m:r>
                          <a:rPr lang="en-US" sz="180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sz="1800" dirty="0"/>
                  <a:t>,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180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1800" i="1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800" i="1" smtClean="0">
                            <a:latin typeface="Cambria Math" panose="02040503050406030204" pitchFamily="18" charset="0"/>
                          </a:rPr>
                          <m:t>𝑎𝑑𝑗</m:t>
                        </m:r>
                      </m:sub>
                      <m:sup>
                        <m:r>
                          <a:rPr lang="en-US" sz="180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</m:oMath>
                </a14:m>
                <a:r>
                  <a:rPr lang="en-US" sz="1800" dirty="0"/>
                  <a:t>, F-statistic and p-value, and log likelihood are identical </a:t>
                </a:r>
              </a:p>
              <a:p>
                <a:pPr marL="628650" indent="-285750">
                  <a:buFont typeface="Arial" panose="020B0604020202020204" pitchFamily="34" charset="0"/>
                  <a:buChar char="•"/>
                </a:pPr>
                <a:endParaRPr lang="en-US" sz="1800" dirty="0">
                  <a:latin typeface="Courier"/>
                </a:endParaRPr>
              </a:p>
            </p:txBody>
          </p:sp>
        </mc:Choice>
        <mc:Fallback xmlns="">
          <p:sp>
            <p:nvSpPr>
              <p:cNvPr id="14" name="Content Placeholder 2">
                <a:extLst>
                  <a:ext uri="{FF2B5EF4-FFF2-40B4-BE49-F238E27FC236}">
                    <a16:creationId xmlns:a16="http://schemas.microsoft.com/office/drawing/2014/main" id="{A0A046A9-3484-AE18-3D71-197EA6B070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33898" y="1129977"/>
                <a:ext cx="3560581" cy="413077"/>
              </a:xfrm>
              <a:prstGeom prst="rect">
                <a:avLst/>
              </a:prstGeom>
              <a:blipFill>
                <a:blip r:embed="rId4"/>
                <a:stretch>
                  <a:fillRect l="-1370" t="-2941" b="-8970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52F59DD1-AD45-1B3D-39AF-225046CA6BED}"/>
              </a:ext>
            </a:extLst>
          </p:cNvPr>
          <p:cNvSpPr txBox="1">
            <a:spLocks/>
          </p:cNvSpPr>
          <p:nvPr/>
        </p:nvSpPr>
        <p:spPr>
          <a:xfrm>
            <a:off x="3226116" y="2977158"/>
            <a:ext cx="3246232" cy="57380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3429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342900" algn="l" defTabSz="342900" rtl="0" eaLnBrk="1" latinLnBrk="0" hangingPunct="1">
              <a:spcBef>
                <a:spcPct val="20000"/>
              </a:spcBef>
              <a:buFont typeface="Arial"/>
              <a:buChar char="–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287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-342900" algn="l" defTabSz="342900" rtl="0" eaLnBrk="1" latinLnBrk="0" hangingPunct="1">
              <a:spcBef>
                <a:spcPct val="20000"/>
              </a:spcBef>
              <a:buFont typeface="Arial"/>
              <a:buChar char="–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714500" indent="-342900" algn="l" defTabSz="342900" rtl="0" eaLnBrk="1" latinLnBrk="0" hangingPunct="1">
              <a:spcBef>
                <a:spcPct val="20000"/>
              </a:spcBef>
              <a:buFont typeface="Arial"/>
              <a:buChar char="»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0574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4003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7432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0861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/>
              <a:buNone/>
            </a:pPr>
            <a:r>
              <a:rPr lang="en-US" sz="1800" dirty="0"/>
              <a:t>Intercept and mean of diesel coefficients identical</a:t>
            </a:r>
          </a:p>
          <a:p>
            <a:pPr marL="628650" indent="-285750">
              <a:buFont typeface="Arial" panose="020B0604020202020204" pitchFamily="34" charset="0"/>
              <a:buChar char="•"/>
            </a:pPr>
            <a:endParaRPr lang="en-US" sz="1800" dirty="0">
              <a:latin typeface="Courier"/>
            </a:endParaRP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E14E23A7-C21F-9638-F896-88EE7C829C17}"/>
              </a:ext>
            </a:extLst>
          </p:cNvPr>
          <p:cNvCxnSpPr>
            <a:cxnSpLocks/>
          </p:cNvCxnSpPr>
          <p:nvPr/>
        </p:nvCxnSpPr>
        <p:spPr>
          <a:xfrm>
            <a:off x="1625138" y="3570316"/>
            <a:ext cx="5586153" cy="21209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Content Placeholder 2">
            <a:extLst>
              <a:ext uri="{FF2B5EF4-FFF2-40B4-BE49-F238E27FC236}">
                <a16:creationId xmlns:a16="http://schemas.microsoft.com/office/drawing/2014/main" id="{2196991A-9A18-AEC1-0871-FE5B7E7E2AB8}"/>
              </a:ext>
            </a:extLst>
          </p:cNvPr>
          <p:cNvSpPr txBox="1">
            <a:spLocks/>
          </p:cNvSpPr>
          <p:nvPr/>
        </p:nvSpPr>
        <p:spPr>
          <a:xfrm>
            <a:off x="3226116" y="4092562"/>
            <a:ext cx="3246232" cy="584771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3429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342900" algn="l" defTabSz="342900" rtl="0" eaLnBrk="1" latinLnBrk="0" hangingPunct="1">
              <a:spcBef>
                <a:spcPct val="20000"/>
              </a:spcBef>
              <a:buFont typeface="Arial"/>
              <a:buChar char="–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287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-342900" algn="l" defTabSz="342900" rtl="0" eaLnBrk="1" latinLnBrk="0" hangingPunct="1">
              <a:spcBef>
                <a:spcPct val="20000"/>
              </a:spcBef>
              <a:buFont typeface="Arial"/>
              <a:buChar char="–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714500" indent="-342900" algn="l" defTabSz="342900" rtl="0" eaLnBrk="1" latinLnBrk="0" hangingPunct="1">
              <a:spcBef>
                <a:spcPct val="20000"/>
              </a:spcBef>
              <a:buFont typeface="Arial"/>
              <a:buChar char="»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0574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4003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7432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0861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/>
              <a:buNone/>
            </a:pPr>
            <a:r>
              <a:rPr lang="en-US" sz="1800" dirty="0"/>
              <a:t>Coefficients of weight variables identical</a:t>
            </a:r>
          </a:p>
          <a:p>
            <a:pPr marL="628650" indent="-285750">
              <a:buFont typeface="Arial" panose="020B0604020202020204" pitchFamily="34" charset="0"/>
              <a:buChar char="•"/>
            </a:pPr>
            <a:endParaRPr lang="en-US" sz="1800" dirty="0">
              <a:latin typeface="Courier"/>
            </a:endParaRPr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9631263B-8B14-C570-FBEE-0CB326133D25}"/>
              </a:ext>
            </a:extLst>
          </p:cNvPr>
          <p:cNvCxnSpPr>
            <a:cxnSpLocks/>
          </p:cNvCxnSpPr>
          <p:nvPr/>
        </p:nvCxnSpPr>
        <p:spPr>
          <a:xfrm>
            <a:off x="1658389" y="3943003"/>
            <a:ext cx="5552902" cy="0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F363541F-D4D4-E86C-CD15-EA9C6F29078B}"/>
              </a:ext>
            </a:extLst>
          </p:cNvPr>
          <p:cNvCxnSpPr>
            <a:cxnSpLocks/>
          </p:cNvCxnSpPr>
          <p:nvPr/>
        </p:nvCxnSpPr>
        <p:spPr>
          <a:xfrm>
            <a:off x="1669473" y="4100944"/>
            <a:ext cx="5552902" cy="0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110940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5" grpId="0"/>
      <p:bldP spid="24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590565"/>
          </a:xfrm>
        </p:spPr>
        <p:txBody>
          <a:bodyPr>
            <a:normAutofit fontScale="90000"/>
          </a:bodyPr>
          <a:lstStyle/>
          <a:p>
            <a:pPr marL="0" lvl="0" indent="0">
              <a:buNone/>
            </a:pPr>
            <a:r>
              <a:rPr dirty="0"/>
              <a:t>Working with Categorical Variables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8751" y="760617"/>
            <a:ext cx="8544837" cy="383330"/>
          </a:xfrm>
        </p:spPr>
        <p:txBody>
          <a:bodyPr>
            <a:noAutofit/>
          </a:bodyPr>
          <a:lstStyle/>
          <a:p>
            <a:pPr marL="0" lvl="0" indent="0">
              <a:buNone/>
            </a:pPr>
            <a:r>
              <a:rPr lang="en-US" sz="2000" dirty="0"/>
              <a:t>Example: Constructing linear model </a:t>
            </a:r>
            <a:r>
              <a:rPr lang="en-US" sz="2000" b="1" dirty="0"/>
              <a:t>with intercept </a:t>
            </a:r>
            <a:r>
              <a:rPr lang="en-US" sz="2000" dirty="0"/>
              <a:t>and </a:t>
            </a:r>
            <a:r>
              <a:rPr lang="en-US" sz="2000" b="1" dirty="0"/>
              <a:t>mixed variable types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9429414-9F38-B51C-CFDC-E57BC46F51E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88129" y="1183219"/>
            <a:ext cx="3885460" cy="3921603"/>
          </a:xfrm>
          <a:prstGeom prst="rect">
            <a:avLst/>
          </a:prstGeom>
        </p:spPr>
      </p:pic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CA1022FA-3E11-ECAC-A3C8-7C2EDC34925B}"/>
              </a:ext>
            </a:extLst>
          </p:cNvPr>
          <p:cNvSpPr txBox="1">
            <a:spLocks/>
          </p:cNvSpPr>
          <p:nvPr/>
        </p:nvSpPr>
        <p:spPr>
          <a:xfrm>
            <a:off x="270256" y="1995424"/>
            <a:ext cx="4675632" cy="196697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3429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342900" algn="l" defTabSz="342900" rtl="0" eaLnBrk="1" latinLnBrk="0" hangingPunct="1">
              <a:spcBef>
                <a:spcPct val="20000"/>
              </a:spcBef>
              <a:buFont typeface="Arial"/>
              <a:buChar char="–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287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-342900" algn="l" defTabSz="342900" rtl="0" eaLnBrk="1" latinLnBrk="0" hangingPunct="1">
              <a:spcBef>
                <a:spcPct val="20000"/>
              </a:spcBef>
              <a:buFont typeface="Arial"/>
              <a:buChar char="–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714500" indent="-342900" algn="l" defTabSz="342900" rtl="0" eaLnBrk="1" latinLnBrk="0" hangingPunct="1">
              <a:spcBef>
                <a:spcPct val="20000"/>
              </a:spcBef>
              <a:buFont typeface="Arial"/>
              <a:buChar char="»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0574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4003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7432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0861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/>
              <a:buNone/>
            </a:pPr>
            <a:r>
              <a:rPr lang="en-US" sz="2000" dirty="0"/>
              <a:t>Plot of regression model prediction on scatter plot of observations </a:t>
            </a:r>
          </a:p>
          <a:p>
            <a:r>
              <a:rPr lang="en-US" sz="2000" dirty="0"/>
              <a:t>Model computes response (predictions) specific to fuel type</a:t>
            </a:r>
          </a:p>
          <a:p>
            <a:r>
              <a:rPr lang="en-US" sz="2000" dirty="0"/>
              <a:t>Response is identical between models</a:t>
            </a:r>
          </a:p>
          <a:p>
            <a:pPr marL="0" indent="0">
              <a:buFont typeface="Arial"/>
              <a:buNone/>
            </a:pPr>
            <a:endParaRPr lang="en-US" sz="1800" dirty="0"/>
          </a:p>
        </p:txBody>
      </p:sp>
    </p:spTree>
    <p:extLst>
      <p:ext uri="{BB962C8B-B14F-4D97-AF65-F5344CB8AC3E}">
        <p14:creationId xmlns:p14="http://schemas.microsoft.com/office/powerpoint/2010/main" val="184866018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Working with Categorical Variables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200151"/>
            <a:ext cx="8229600" cy="3737370"/>
          </a:xfrm>
        </p:spPr>
        <p:txBody>
          <a:bodyPr>
            <a:normAutofit fontScale="92500"/>
          </a:bodyPr>
          <a:lstStyle/>
          <a:p>
            <a:pPr marL="0" lvl="0" indent="0">
              <a:buNone/>
            </a:pPr>
            <a:r>
              <a:rPr dirty="0"/>
              <a:t>In a linear model we can </a:t>
            </a:r>
            <a:r>
              <a:rPr lang="en-US" dirty="0"/>
              <a:t>often</a:t>
            </a:r>
            <a:r>
              <a:rPr dirty="0"/>
              <a:t> relate the coefficient values to an effect size</a:t>
            </a:r>
          </a:p>
          <a:p>
            <a:pPr lvl="0"/>
            <a:r>
              <a:rPr dirty="0"/>
              <a:t>Assumes the </a:t>
            </a:r>
            <a:r>
              <a:rPr b="1" dirty="0"/>
              <a:t>treatments are orthogonal</a:t>
            </a:r>
          </a:p>
          <a:p>
            <a:pPr lvl="1"/>
            <a:r>
              <a:rPr dirty="0"/>
              <a:t>In other words, applied one at a time</a:t>
            </a:r>
          </a:p>
          <a:p>
            <a:pPr lvl="1"/>
            <a:r>
              <a:rPr dirty="0"/>
              <a:t>e.g. a case can only be in one category</a:t>
            </a:r>
          </a:p>
          <a:p>
            <a:pPr lvl="0"/>
            <a:r>
              <a:rPr dirty="0"/>
              <a:t>Assumes that the model coefficients are </a:t>
            </a:r>
            <a:r>
              <a:rPr b="1" dirty="0"/>
              <a:t>statistically independent</a:t>
            </a:r>
          </a:p>
          <a:p>
            <a:pPr lvl="1"/>
            <a:r>
              <a:rPr dirty="0"/>
              <a:t>Coefficients are dependent in overfit model</a:t>
            </a:r>
          </a:p>
          <a:p>
            <a:pPr lvl="0"/>
            <a:r>
              <a:rPr b="1" dirty="0"/>
              <a:t>I</a:t>
            </a:r>
            <a:r>
              <a:rPr lang="en-US" b="1" dirty="0"/>
              <a:t>nterpret</a:t>
            </a:r>
            <a:r>
              <a:rPr dirty="0"/>
              <a:t> </a:t>
            </a:r>
            <a:r>
              <a:rPr b="1" dirty="0"/>
              <a:t>with care!</a:t>
            </a:r>
          </a:p>
          <a:p>
            <a:pPr lvl="1"/>
            <a:r>
              <a:rPr dirty="0"/>
              <a:t>Don’t over-interpret your model</a:t>
            </a:r>
          </a:p>
          <a:p>
            <a:pPr lvl="1"/>
            <a:r>
              <a:rPr dirty="0"/>
              <a:t>Conditions in real world hard to verify, particularly for observational data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C4C17D-3037-4736-4C18-7F69A2E1B1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19A852-2C98-F793-E9D0-F2A009C2C8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Working with Categorical Variables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6D26B64-A416-2CF2-EFAC-6A5BB9C9F33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57200" y="1200151"/>
                <a:ext cx="8229600" cy="3737370"/>
              </a:xfrm>
            </p:spPr>
            <p:txBody>
              <a:bodyPr>
                <a:normAutofit/>
              </a:bodyPr>
              <a:lstStyle/>
              <a:p>
                <a:pPr marL="0" lvl="0" indent="0">
                  <a:buNone/>
                </a:pPr>
                <a:r>
                  <a:rPr lang="en-US" dirty="0"/>
                  <a:t>In a linear model we can often relate the coefficient values to an effect size</a:t>
                </a:r>
              </a:p>
              <a:p>
                <a:pPr lvl="0"/>
                <a:r>
                  <a:rPr lang="en-US" dirty="0"/>
                  <a:t>Often want to </a:t>
                </a:r>
                <a:r>
                  <a:rPr lang="en-US" b="1" dirty="0"/>
                  <a:t>adjust model response</a:t>
                </a:r>
                <a:r>
                  <a:rPr lang="en-US" dirty="0"/>
                  <a:t> </a:t>
                </a:r>
                <a:r>
                  <a:rPr lang="en-US" b="1" dirty="0"/>
                  <a:t>for an effect</a:t>
                </a:r>
              </a:p>
              <a:p>
                <a:pPr lvl="1"/>
                <a:r>
                  <a:rPr lang="en-US" dirty="0"/>
                  <a:t>Eliminate the effect of certain variables from analysis</a:t>
                </a:r>
              </a:p>
              <a:p>
                <a:pPr lvl="1"/>
                <a:r>
                  <a:rPr lang="en-US" dirty="0"/>
                  <a:t>Adjustment is the level (coefficient value) for categorical variables</a:t>
                </a:r>
              </a:p>
              <a:p>
                <a:r>
                  <a:rPr lang="en-US" dirty="0"/>
                  <a:t>Can use product of </a:t>
                </a:r>
                <a:r>
                  <a:rPr lang="en-US" b="1" dirty="0"/>
                  <a:t>fixed variable value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</m:oMath>
                </a14:m>
                <a:r>
                  <a:rPr lang="en-US" b="1" dirty="0"/>
                  <a:t> partial slope</a:t>
                </a:r>
                <a:r>
                  <a:rPr lang="en-US" dirty="0"/>
                  <a:t> of continuous variables</a:t>
                </a:r>
              </a:p>
              <a:p>
                <a:r>
                  <a:rPr lang="en-US" dirty="0"/>
                  <a:t>Example: adjust for the accident characteristics in auto safety study</a:t>
                </a:r>
                <a:endParaRPr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6D26B64-A416-2CF2-EFAC-6A5BB9C9F33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200151"/>
                <a:ext cx="8229600" cy="3737370"/>
              </a:xfrm>
              <a:blipFill>
                <a:blip r:embed="rId2"/>
                <a:stretch>
                  <a:fillRect l="-1111" t="-1305" r="-593" b="-114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753578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590565"/>
          </a:xfrm>
        </p:spPr>
        <p:txBody>
          <a:bodyPr>
            <a:normAutofit fontScale="90000"/>
          </a:bodyPr>
          <a:lstStyle/>
          <a:p>
            <a:pPr marL="0" lvl="0" indent="0">
              <a:buNone/>
            </a:pPr>
            <a:r>
              <a:rPr dirty="0"/>
              <a:t>Working with Categorical Variables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8751" y="760617"/>
            <a:ext cx="8544837" cy="383330"/>
          </a:xfrm>
        </p:spPr>
        <p:txBody>
          <a:bodyPr>
            <a:noAutofit/>
          </a:bodyPr>
          <a:lstStyle/>
          <a:p>
            <a:pPr marL="0" lvl="0" indent="0">
              <a:buNone/>
            </a:pPr>
            <a:r>
              <a:rPr lang="en-US" sz="2000" dirty="0"/>
              <a:t>Example: Applying </a:t>
            </a:r>
            <a:r>
              <a:rPr lang="en-US" sz="2000" b="1" dirty="0"/>
              <a:t>adjustment</a:t>
            </a:r>
            <a:r>
              <a:rPr lang="en-US" sz="2000" dirty="0"/>
              <a:t> for fuel type</a:t>
            </a:r>
            <a:endParaRPr lang="en-US" sz="2000" b="1" dirty="0"/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CA1022FA-3E11-ECAC-A3C8-7C2EDC34925B}"/>
              </a:ext>
            </a:extLst>
          </p:cNvPr>
          <p:cNvSpPr txBox="1">
            <a:spLocks/>
          </p:cNvSpPr>
          <p:nvPr/>
        </p:nvSpPr>
        <p:spPr>
          <a:xfrm>
            <a:off x="270256" y="1246909"/>
            <a:ext cx="4675632" cy="381138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3429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342900" algn="l" defTabSz="342900" rtl="0" eaLnBrk="1" latinLnBrk="0" hangingPunct="1">
              <a:spcBef>
                <a:spcPct val="20000"/>
              </a:spcBef>
              <a:buFont typeface="Arial"/>
              <a:buChar char="–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287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-342900" algn="l" defTabSz="342900" rtl="0" eaLnBrk="1" latinLnBrk="0" hangingPunct="1">
              <a:spcBef>
                <a:spcPct val="20000"/>
              </a:spcBef>
              <a:buFont typeface="Arial"/>
              <a:buChar char="–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714500" indent="-342900" algn="l" defTabSz="342900" rtl="0" eaLnBrk="1" latinLnBrk="0" hangingPunct="1">
              <a:spcBef>
                <a:spcPct val="20000"/>
              </a:spcBef>
              <a:buFont typeface="Arial"/>
              <a:buChar char="»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0574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4003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7432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0861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/>
              <a:buNone/>
            </a:pPr>
            <a:r>
              <a:rPr lang="en-US" sz="2000" dirty="0"/>
              <a:t>Plot of regression model prediction on scatter plot of observations </a:t>
            </a:r>
          </a:p>
          <a:p>
            <a:r>
              <a:rPr lang="en-US" sz="2000" dirty="0"/>
              <a:t>Apply </a:t>
            </a:r>
            <a:r>
              <a:rPr lang="en-US" sz="2000" b="1" dirty="0"/>
              <a:t>adjustment to diesel cars </a:t>
            </a:r>
          </a:p>
          <a:p>
            <a:pPr lvl="1"/>
            <a:r>
              <a:rPr lang="en-US" sz="1700" dirty="0"/>
              <a:t>Adjust diesel car observations by contrast value</a:t>
            </a:r>
          </a:p>
          <a:p>
            <a:pPr lvl="1"/>
            <a:r>
              <a:rPr lang="en-US" sz="1700" dirty="0"/>
              <a:t>Adjust model response by fuel type contrast value for diesel cars</a:t>
            </a:r>
          </a:p>
          <a:p>
            <a:r>
              <a:rPr lang="en-US" sz="2000" dirty="0"/>
              <a:t>Model response for the two fuel types is now the same!</a:t>
            </a:r>
          </a:p>
          <a:p>
            <a:r>
              <a:rPr lang="en-US" sz="2000" dirty="0"/>
              <a:t>We have adjusted for the effect of fuel type</a:t>
            </a:r>
          </a:p>
          <a:p>
            <a:pPr marL="0" indent="0">
              <a:buFont typeface="Arial"/>
              <a:buNone/>
            </a:pPr>
            <a:endParaRPr lang="en-US" sz="18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596B363-BB37-8731-1893-ACDA0064CD1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80001" y="1108008"/>
            <a:ext cx="3927492" cy="39867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36009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C890FB-523D-75F9-98C2-8A823685569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Models with Nonlinear Responses</a:t>
            </a:r>
          </a:p>
        </p:txBody>
      </p:sp>
    </p:spTree>
    <p:extLst>
      <p:ext uri="{BB962C8B-B14F-4D97-AF65-F5344CB8AC3E}">
        <p14:creationId xmlns:p14="http://schemas.microsoft.com/office/powerpoint/2010/main" val="414051809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Models with Nonlinear Response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57200" y="1200150"/>
                <a:ext cx="8229600" cy="3831099"/>
              </a:xfrm>
            </p:spPr>
            <p:txBody>
              <a:bodyPr>
                <a:normAutofit fontScale="85000" lnSpcReduction="10000"/>
              </a:bodyPr>
              <a:lstStyle/>
              <a:p>
                <a:pPr marL="0" lvl="0" indent="0">
                  <a:buNone/>
                </a:pPr>
                <a:r>
                  <a:rPr lang="en-US" dirty="0"/>
                  <a:t>How do we deal with models that do not have nonlinear response variables?</a:t>
                </a:r>
              </a:p>
              <a:p>
                <a:pPr lvl="0"/>
                <a:r>
                  <a:rPr lang="en-US" dirty="0"/>
                  <a:t>Example: binary response variable,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0,1</m:t>
                        </m:r>
                      </m:e>
                    </m:d>
                  </m:oMath>
                </a14:m>
                <a:r>
                  <a:rPr lang="ar-AE" dirty="0"/>
                  <a:t>, </a:t>
                </a:r>
                <a:r>
                  <a:rPr lang="en-US" dirty="0"/>
                  <a:t>with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𝐵𝑖𝑛</m:t>
                    </m:r>
                    <m:d>
                      <m:dPr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</m:d>
                  </m:oMath>
                </a14:m>
                <a:r>
                  <a:rPr lang="ar-AE" dirty="0"/>
                  <a:t> </a:t>
                </a:r>
                <a:r>
                  <a:rPr lang="en-US" dirty="0"/>
                  <a:t>distributed response</a:t>
                </a:r>
              </a:p>
              <a:p>
                <a:pPr lvl="1"/>
                <a:r>
                  <a:rPr lang="en-US" dirty="0"/>
                  <a:t>Probability parameter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𝜃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A binary classifier</a:t>
                </a:r>
              </a:p>
              <a:p>
                <a:pPr lvl="0"/>
                <a:r>
                  <a:rPr lang="en-US" dirty="0"/>
                  <a:t>Example: Intensity of an arrival process, with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𝑝𝑜𝑖𝑠𝑠𝑜𝑛</m:t>
                    </m:r>
                    <m:d>
                      <m:dPr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𝜆</m:t>
                        </m:r>
                      </m:e>
                    </m:d>
                  </m:oMath>
                </a14:m>
                <a:r>
                  <a:rPr lang="ar-AE" dirty="0"/>
                  <a:t> </a:t>
                </a:r>
                <a:r>
                  <a:rPr lang="en-US" dirty="0"/>
                  <a:t>response</a:t>
                </a:r>
              </a:p>
              <a:p>
                <a:pPr lvl="1"/>
                <a:r>
                  <a:rPr lang="en-US" dirty="0"/>
                  <a:t>Parameter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𝜆</m:t>
                    </m:r>
                  </m:oMath>
                </a14:m>
                <a:r>
                  <a:rPr lang="en-US" dirty="0"/>
                  <a:t> is the average rate or </a:t>
                </a:r>
                <a:r>
                  <a:rPr lang="en-US" b="1" dirty="0"/>
                  <a:t>intensity</a:t>
                </a:r>
                <a:r>
                  <a:rPr lang="en-US" dirty="0"/>
                  <a:t> of a point process</a:t>
                </a:r>
              </a:p>
              <a:p>
                <a:pPr lvl="0"/>
                <a:r>
                  <a:rPr lang="en-US" dirty="0"/>
                  <a:t>Example: Categorical response variable for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 categories, with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Cat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𝜋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ar-AE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ar-AE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𝜋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ar-AE">
                            <a:latin typeface="Cambria Math" panose="02040503050406030204" pitchFamily="18" charset="0"/>
                          </a:rPr>
                          <m:t>,…,</m:t>
                        </m:r>
                        <m:sSub>
                          <m:sSubPr>
                            <m:ctrlPr>
                              <a:rPr lang="ar-AE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𝜋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d>
                  </m:oMath>
                </a14:m>
                <a:r>
                  <a:rPr lang="ar-AE" dirty="0"/>
                  <a:t> </a:t>
                </a:r>
                <a:r>
                  <a:rPr lang="en-US" dirty="0"/>
                  <a:t>response: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 category classifier</a:t>
                </a:r>
              </a:p>
              <a:p>
                <a:pPr lvl="1"/>
                <a:r>
                  <a:rPr lang="en-US" dirty="0"/>
                  <a:t>Parameter is probability for each category,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𝛱</m:t>
                    </m:r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𝜋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ar-AE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ar-AE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𝜋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ar-AE">
                            <a:latin typeface="Cambria Math" panose="02040503050406030204" pitchFamily="18" charset="0"/>
                          </a:rPr>
                          <m:t>,…,</m:t>
                        </m:r>
                        <m:sSub>
                          <m:sSubPr>
                            <m:ctrlPr>
                              <a:rPr lang="ar-AE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𝜋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,   </m:t>
                    </m:r>
                    <m:nary>
                      <m:naryPr>
                        <m:chr m:val="∑"/>
                        <m:supHide m:val="on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7"/>
                          </m:rP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ar-AE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𝜋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=1.0</m:t>
                        </m:r>
                      </m:e>
                    </m:nary>
                  </m:oMath>
                </a14:m>
                <a:endParaRPr lang="en-US" dirty="0"/>
              </a:p>
              <a:p>
                <a:pPr lvl="0"/>
                <a:r>
                  <a:rPr lang="en-US" dirty="0"/>
                  <a:t>Example: Ranked </a:t>
                </a:r>
                <a:r>
                  <a:rPr lang="en-US" i="1" dirty="0"/>
                  <a:t>k</a:t>
                </a:r>
                <a:r>
                  <a:rPr lang="en-US" dirty="0"/>
                  <a:t>-level ordered response,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≺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≺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…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≺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endParaRPr dirty="0"/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200150"/>
                <a:ext cx="8229600" cy="3831099"/>
              </a:xfrm>
              <a:blipFill>
                <a:blip r:embed="rId2"/>
                <a:stretch>
                  <a:fillRect l="-741" t="-1752" b="-76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Models with Nonlinear Response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10000"/>
          </a:bodyPr>
          <a:lstStyle/>
          <a:p>
            <a:pPr marL="0" lvl="0" indent="0">
              <a:buNone/>
            </a:pPr>
            <a:r>
              <a:rPr dirty="0"/>
              <a:t>The </a:t>
            </a:r>
            <a:r>
              <a:rPr b="1" dirty="0"/>
              <a:t>generalized linear model (GLM)</a:t>
            </a:r>
            <a:r>
              <a:rPr dirty="0"/>
              <a:t> is a framework for </a:t>
            </a:r>
            <a:r>
              <a:rPr lang="en-US" dirty="0"/>
              <a:t>non-Normal or </a:t>
            </a:r>
            <a:r>
              <a:rPr dirty="0"/>
              <a:t>nonlinear response models</a:t>
            </a:r>
          </a:p>
          <a:p>
            <a:pPr lvl="0"/>
            <a:r>
              <a:rPr b="1" dirty="0"/>
              <a:t>Nonlinear response is n</a:t>
            </a:r>
            <a:r>
              <a:rPr lang="en-US" b="1" dirty="0"/>
              <a:t>ot </a:t>
            </a:r>
            <a:r>
              <a:rPr b="1" dirty="0"/>
              <a:t>Normally distributed</a:t>
            </a:r>
          </a:p>
          <a:p>
            <a:pPr lvl="0"/>
            <a:r>
              <a:rPr lang="en-US" dirty="0"/>
              <a:t>Us</a:t>
            </a:r>
            <a:r>
              <a:rPr dirty="0"/>
              <a:t>e a </a:t>
            </a:r>
            <a:r>
              <a:rPr b="1" dirty="0"/>
              <a:t>link function</a:t>
            </a:r>
            <a:r>
              <a:rPr dirty="0"/>
              <a:t> to transform to a linear model</a:t>
            </a:r>
          </a:p>
          <a:p>
            <a:pPr lvl="1"/>
            <a:r>
              <a:rPr b="1" dirty="0"/>
              <a:t>Linear model has Normally distributed response</a:t>
            </a:r>
          </a:p>
          <a:p>
            <a:pPr lvl="1"/>
            <a:r>
              <a:rPr dirty="0"/>
              <a:t>Link function transform nonlinear response to Normal distribution</a:t>
            </a:r>
          </a:p>
          <a:p>
            <a:pPr lvl="0"/>
            <a:r>
              <a:rPr dirty="0"/>
              <a:t>To compute the </a:t>
            </a:r>
            <a:r>
              <a:rPr b="1" dirty="0"/>
              <a:t>nonlinear response</a:t>
            </a:r>
          </a:p>
          <a:p>
            <a:pPr lvl="1"/>
            <a:r>
              <a:rPr dirty="0"/>
              <a:t>Start with a linear model, OLS</a:t>
            </a:r>
          </a:p>
          <a:p>
            <a:pPr lvl="1"/>
            <a:r>
              <a:rPr dirty="0"/>
              <a:t>Transform response with </a:t>
            </a:r>
            <a:r>
              <a:rPr b="1" dirty="0"/>
              <a:t>inverse link function</a:t>
            </a:r>
            <a:endParaRPr dirty="0"/>
          </a:p>
          <a:p>
            <a:r>
              <a:rPr lang="en-US" dirty="0"/>
              <a:t>Can formulate GLM</a:t>
            </a:r>
            <a:r>
              <a:rPr dirty="0"/>
              <a:t> for </a:t>
            </a:r>
            <a:r>
              <a:rPr lang="en-US" dirty="0"/>
              <a:t>any response in the </a:t>
            </a:r>
            <a:r>
              <a:rPr dirty="0"/>
              <a:t>exponential distribution</a:t>
            </a:r>
            <a:r>
              <a:rPr lang="en-US" dirty="0"/>
              <a:t> family</a:t>
            </a:r>
            <a:endParaRPr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The Generalized Linear Model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20000"/>
              </a:bodyPr>
              <a:lstStyle/>
              <a:p>
                <a:pPr marL="0" lvl="0" indent="0">
                  <a:buNone/>
                </a:pPr>
                <a:r>
                  <a:rPr lang="en-US" dirty="0"/>
                  <a:t>General form for </a:t>
                </a:r>
                <a:r>
                  <a:rPr lang="en-US" b="1" dirty="0"/>
                  <a:t>link function to transform to a Normally distributed response </a:t>
                </a:r>
                <a:r>
                  <a:rPr lang="en-US" dirty="0"/>
                  <a:t>is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𝙴</m:t>
                        </m:r>
                        <m:d>
                          <m:dPr>
                            <m:begChr m:val="["/>
                            <m:endChr m:val="]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ar-AE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|</m:t>
                            </m:r>
                            <m:sSub>
                              <m:sSubPr>
                                <m:ctrlPr>
                                  <a:rPr lang="ar-AE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d>
                      </m:e>
                    </m:d>
                  </m:oMath>
                </a14:m>
                <a:r>
                  <a:rPr lang="ar-AE" dirty="0"/>
                  <a:t> </a:t>
                </a:r>
              </a:p>
              <a:p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𝙴</m:t>
                    </m:r>
                    <m:d>
                      <m:dPr>
                        <m:begChr m:val="["/>
                        <m:endChr m:val="]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ar-AE">
                            <a:latin typeface="Cambria Math" panose="02040503050406030204" pitchFamily="18" charset="0"/>
                          </a:rPr>
                          <m:t>|</m:t>
                        </m:r>
                        <m:sSub>
                          <m:sSubPr>
                            <m:ctrlPr>
                              <a:rPr lang="ar-AE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d>
                  </m:oMath>
                </a14:m>
                <a:r>
                  <a:rPr lang="ar-AE" dirty="0"/>
                  <a:t> </a:t>
                </a:r>
                <a:r>
                  <a:rPr lang="en-US" dirty="0"/>
                  <a:t>is the expected value of the response,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ar-AE" dirty="0"/>
                  <a:t>, </a:t>
                </a:r>
                <a:r>
                  <a:rPr lang="en-US" dirty="0"/>
                  <a:t>given independent variables,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ar-AE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ar-AE" dirty="0"/>
              </a:p>
              <a:p>
                <a:pPr lvl="0"/>
                <a:r>
                  <a:rPr lang="en-US" dirty="0"/>
                  <a:t>Fit a linear a model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𝜆</m:t>
                        </m:r>
                      </m:e>
                    </m:acc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+</m:t>
                    </m:r>
                    <m:acc>
                      <m:accPr>
                        <m:chr m:val="⃗"/>
                        <m:ctrlPr>
                          <a:rPr lang="ar-AE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ar-AE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𝛽</m:t>
                        </m:r>
                      </m:e>
                    </m:acc>
                    <m:sSub>
                      <m:sSubPr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/>
                  <a:t>, with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ar-A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ar-A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𝛽</m:t>
                        </m:r>
                      </m:e>
                    </m:acc>
                  </m:oMath>
                </a14:m>
                <a:r>
                  <a:rPr lang="ar-AE" dirty="0"/>
                  <a:t> </a:t>
                </a:r>
                <a:r>
                  <a:rPr lang="en-US" dirty="0"/>
                  <a:t>the vector value model coefficients by transforming the response with a link faction 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a:rPr lang="en-US">
                          <a:latin typeface="Cambria Math" panose="02040503050406030204" pitchFamily="18" charset="0"/>
                        </a:rPr>
                        <m:t>𝑔</m:t>
                      </m:r>
                      <m:d>
                        <m:d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𝙴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ar-AE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|</m:t>
                              </m:r>
                              <m:sSub>
                                <m:sSubPr>
                                  <m:ctrlPr>
                                    <a:rPr lang="ar-AE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acc>
                        <m:accPr>
                          <m:chr m:val="̂"/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𝜆</m:t>
                          </m:r>
                        </m:e>
                      </m:acc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ar-AE">
                          <a:latin typeface="Cambria Math" panose="02040503050406030204" pitchFamily="18" charset="0"/>
                        </a:rPr>
                        <m:t>+</m:t>
                      </m:r>
                      <m:acc>
                        <m:accPr>
                          <m:chr m:val="⃗"/>
                          <m:ctrlPr>
                            <a:rPr lang="ar-A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ar-A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𝛽</m:t>
                          </m:r>
                        </m:e>
                      </m:acc>
                      <m:sSub>
                        <m:sSub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ar-AE" dirty="0"/>
              </a:p>
              <a:p>
                <a:r>
                  <a:rPr lang="en-US" dirty="0"/>
                  <a:t>To find the value of the response variable from the </a:t>
                </a:r>
                <a:r>
                  <a:rPr lang="en-US" b="1" dirty="0"/>
                  <a:t>linear model </a:t>
                </a:r>
                <a:r>
                  <a:rPr lang="en-US" dirty="0"/>
                  <a:t>we apply the </a:t>
                </a:r>
                <a:r>
                  <a:rPr lang="en-US" b="1" dirty="0"/>
                  <a:t>inverse link function</a:t>
                </a:r>
                <a:r>
                  <a:rPr lang="en-US" dirty="0"/>
                  <a:t>: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a:rPr lang="en-US">
                          <a:latin typeface="Cambria Math" panose="02040503050406030204" pitchFamily="18" charset="0"/>
                        </a:rPr>
                        <m:t>𝙴</m:t>
                      </m:r>
                      <m:d>
                        <m:dPr>
                          <m:begChr m:val="["/>
                          <m:endChr m:val="]"/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ar-AE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|</m:t>
                          </m:r>
                          <m:sSub>
                            <m:sSubPr>
                              <m:ctrlPr>
                                <a:rPr lang="ar-AE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𝑔</m:t>
                          </m:r>
                        </m:e>
                        <m:sup>
                          <m:r>
                            <a:rPr lang="ar-AE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̂"/>
                              <m:ctrlPr>
                                <a:rPr lang="ar-AE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𝜆</m:t>
                              </m:r>
                            </m:e>
                          </m:acc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𝑔</m:t>
                          </m:r>
                        </m:e>
                        <m:sup>
                          <m:r>
                            <a:rPr lang="ar-AE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ar-AE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𝛽</m:t>
                              </m:r>
                            </m:e>
                            <m:sub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+</m:t>
                          </m:r>
                          <m:acc>
                            <m:accPr>
                              <m:chr m:val="⃗"/>
                              <m:ctrlPr>
                                <a:rPr lang="ar-A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𝛽</m:t>
                              </m:r>
                            </m:e>
                          </m:acc>
                          <m:sSub>
                            <m:sSubPr>
                              <m:ctrlPr>
                                <a:rPr lang="ar-AE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dirty="0"/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63" t="-3052" r="-11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The Generalized Linear Model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lvl="0" indent="0">
                  <a:buNone/>
                </a:pPr>
                <a:r>
                  <a:rPr lang="en-US" dirty="0"/>
                  <a:t>Example: </a:t>
                </a:r>
                <a:r>
                  <a:rPr dirty="0"/>
                  <a:t>OLS has Normal response</a:t>
                </a:r>
              </a:p>
              <a:p>
                <a:pPr lvl="0"/>
                <a:r>
                  <a:rPr dirty="0"/>
                  <a:t>Link function for OLS is just unity, or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endParaRPr dirty="0"/>
              </a:p>
              <a:p>
                <a:pPr lvl="0"/>
                <a:r>
                  <a:rPr dirty="0"/>
                  <a:t>Output of linear model directly maps to Normally distributed response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sSubPr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>
                          <a:latin typeface="Cambria Math" panose="02040503050406030204" pitchFamily="18" charset="0"/>
                        </a:rPr>
                        <m:t>+</m:t>
                      </m:r>
                      <m:acc>
                        <m:accPr>
                          <m:chr m:val="⃗"/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𝛽</m:t>
                          </m:r>
                        </m:e>
                      </m:acc>
                      <m:r>
                        <a:rPr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>
                          <a:latin typeface="Cambria Math" panose="02040503050406030204" pitchFamily="18" charset="0"/>
                        </a:rPr>
                        <m:t>∼</m:t>
                      </m:r>
                      <m:r>
                        <a:rPr>
                          <a:latin typeface="Cambria Math" panose="02040503050406030204" pitchFamily="18" charset="0"/>
                        </a:rPr>
                        <m:t>𝑁</m:t>
                      </m:r>
                      <m:d>
                        <m:d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𝛽</m:t>
                              </m:r>
                            </m:e>
                            <m:sub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>
                              <a:latin typeface="Cambria Math" panose="02040503050406030204" pitchFamily="18" charset="0"/>
                            </a:rPr>
                            <m:t>+</m:t>
                          </m:r>
                          <m:acc>
                            <m:accPr>
                              <m:chr m:val="⃗"/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𝛽</m:t>
                              </m:r>
                            </m:e>
                          </m:acc>
                          <m:r>
                            <a:rPr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𝜎</m:t>
                          </m:r>
                        </m:e>
                      </m:d>
                    </m:oMath>
                  </m:oMathPara>
                </a14:m>
                <a:endParaRPr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111" t="-14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05649"/>
            <a:ext cx="8229600" cy="484901"/>
          </a:xfrm>
        </p:spPr>
        <p:txBody>
          <a:bodyPr>
            <a:normAutofit fontScale="90000"/>
          </a:bodyPr>
          <a:lstStyle/>
          <a:p>
            <a:pPr marL="0" lvl="0" indent="0">
              <a:buNone/>
            </a:pPr>
            <a:r>
              <a:rPr dirty="0"/>
              <a:t>The Generalized Linear Model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" name="Table 3">
                <a:extLst>
                  <a:ext uri="{FF2B5EF4-FFF2-40B4-BE49-F238E27FC236}">
                    <a16:creationId xmlns:a16="http://schemas.microsoft.com/office/drawing/2014/main" id="{C3541FB5-ED70-609C-000F-260C1FDFDAA5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224660765"/>
                  </p:ext>
                </p:extLst>
              </p:nvPr>
            </p:nvGraphicFramePr>
            <p:xfrm>
              <a:off x="2856992" y="731520"/>
              <a:ext cx="6287010" cy="4384356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095670">
                      <a:extLst>
                        <a:ext uri="{9D8B030D-6E8A-4147-A177-3AD203B41FA5}">
                          <a16:colId xmlns:a16="http://schemas.microsoft.com/office/drawing/2014/main" val="310204747"/>
                        </a:ext>
                      </a:extLst>
                    </a:gridCol>
                    <a:gridCol w="2095670">
                      <a:extLst>
                        <a:ext uri="{9D8B030D-6E8A-4147-A177-3AD203B41FA5}">
                          <a16:colId xmlns:a16="http://schemas.microsoft.com/office/drawing/2014/main" val="540153062"/>
                        </a:ext>
                      </a:extLst>
                    </a:gridCol>
                    <a:gridCol w="2095670">
                      <a:extLst>
                        <a:ext uri="{9D8B030D-6E8A-4147-A177-3AD203B41FA5}">
                          <a16:colId xmlns:a16="http://schemas.microsoft.com/office/drawing/2014/main" val="604041901"/>
                        </a:ext>
                      </a:extLst>
                    </a:gridCol>
                  </a:tblGrid>
                  <a:tr h="43605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600" b="1" dirty="0">
                              <a:solidFill>
                                <a:schemeClr val="tx1"/>
                              </a:solidFill>
                            </a:rPr>
                            <a:t>Distribution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600" b="1" dirty="0">
                              <a:solidFill>
                                <a:schemeClr val="tx1"/>
                              </a:solidFill>
                            </a:rPr>
                            <a:t>Link Function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600" b="1" dirty="0">
                              <a:solidFill>
                                <a:schemeClr val="tx1"/>
                              </a:solidFill>
                            </a:rPr>
                            <a:t>Inverse Link Function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273534007"/>
                      </a:ext>
                    </a:extLst>
                  </a:tr>
                  <a:tr h="545728">
                    <a:tc>
                      <a:txBody>
                        <a:bodyPr/>
                        <a:lstStyle/>
                        <a:p>
                          <a:r>
                            <a:rPr lang="en-US" sz="1600" dirty="0"/>
                            <a:t>Gaussian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𝑋</m:t>
                                </m:r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𝛽</m:t>
                                </m:r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lang="en-US" sz="16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𝜇</m:t>
                                </m:r>
                              </m:oMath>
                            </m:oMathPara>
                          </a14:m>
                          <a:endParaRPr 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3429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en-US" sz="16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𝜇</m:t>
                                </m:r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𝑋</m:t>
                                </m:r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𝛽</m:t>
                                </m:r>
                              </m:oMath>
                            </m:oMathPara>
                          </a14:m>
                          <a:endParaRPr lang="en-US" sz="1600" dirty="0"/>
                        </a:p>
                        <a:p>
                          <a:endParaRPr lang="en-US" sz="16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543036880"/>
                      </a:ext>
                    </a:extLst>
                  </a:tr>
                  <a:tr h="436054">
                    <a:tc>
                      <a:txBody>
                        <a:bodyPr/>
                        <a:lstStyle/>
                        <a:p>
                          <a:r>
                            <a:rPr lang="en-US" sz="1600" dirty="0"/>
                            <a:t>Inverse Gaussian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3429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𝑋</m:t>
                                </m:r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𝛽</m:t>
                                </m:r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=−</m:t>
                                </m:r>
                                <m:sSup>
                                  <m:sSupPr>
                                    <m:ctrlPr>
                                      <a:rPr lang="en-US" sz="16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16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𝜇</m:t>
                                    </m:r>
                                  </m:e>
                                  <m:sup>
                                    <m:r>
                                      <a:rPr lang="en-US" sz="16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−2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r>
                                  <a:rPr lang="en-US" sz="16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𝜇</m:t>
                                </m:r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=</m:t>
                                </m:r>
                                <m:sSup>
                                  <m:sSupPr>
                                    <m:ctrlPr>
                                      <a:rPr lang="en-US" sz="16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16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𝑋</m:t>
                                    </m:r>
                                    <m:r>
                                      <a:rPr lang="en-US" sz="16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𝛽</m:t>
                                    </m:r>
                                  </m:e>
                                  <m:sup>
                                    <m:r>
                                      <a:rPr lang="en-US" sz="16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−1/2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en-US" sz="16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623063124"/>
                      </a:ext>
                    </a:extLst>
                  </a:tr>
                  <a:tr h="600853">
                    <a:tc>
                      <a:txBody>
                        <a:bodyPr/>
                        <a:lstStyle/>
                        <a:p>
                          <a:pPr marL="0" marR="0" lvl="0" indent="0" algn="l" defTabSz="3429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1600" dirty="0"/>
                            <a:t>Bernoulli 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</a:rPr>
                                  <m:t>𝑋</m:t>
                                </m:r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𝛽</m:t>
                                </m:r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𝑙𝑛</m:t>
                                </m:r>
                                <m:d>
                                  <m:dPr>
                                    <m:ctrlPr>
                                      <a:rPr lang="en-US" sz="16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f>
                                      <m:fPr>
                                        <m:ctrlPr>
                                          <a:rPr lang="en-US" sz="16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fPr>
                                      <m:num>
                                        <m:r>
                                          <a:rPr lang="en-US" sz="16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𝑢</m:t>
                                        </m:r>
                                      </m:num>
                                      <m:den>
                                        <m:r>
                                          <a:rPr lang="en-US" sz="16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1−</m:t>
                                        </m:r>
                                        <m:r>
                                          <a:rPr lang="en-US" sz="16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𝜇</m:t>
                                        </m:r>
                                      </m:den>
                                    </m:f>
                                  </m:e>
                                </m:d>
                              </m:oMath>
                            </m:oMathPara>
                          </a14:m>
                          <a:endParaRPr 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r>
                                  <a:rPr lang="en-US" sz="16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𝜇</m:t>
                                </m:r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=</m:t>
                                </m:r>
                                <m:f>
                                  <m:fPr>
                                    <m:ctrlPr>
                                      <a:rPr lang="en-US" sz="16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sz="16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lang="en-US" sz="16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1+</m:t>
                                    </m:r>
                                    <m:r>
                                      <a:rPr lang="en-US" sz="16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𝑒𝑥𝑝</m:t>
                                    </m:r>
                                    <m:d>
                                      <m:dPr>
                                        <m:ctrlPr>
                                          <a:rPr lang="en-US" sz="16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sz="16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−</m:t>
                                        </m:r>
                                        <m:r>
                                          <a:rPr lang="en-US" sz="1600" b="0" i="1" smtClean="0">
                                            <a:latin typeface="Cambria Math" panose="02040503050406030204" pitchFamily="18" charset="0"/>
                                          </a:rPr>
                                          <m:t>𝑋</m:t>
                                        </m:r>
                                        <m:r>
                                          <a:rPr lang="en-US" sz="16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𝛽</m:t>
                                        </m:r>
                                      </m:e>
                                    </m:d>
                                  </m:den>
                                </m:f>
                              </m:oMath>
                            </m:oMathPara>
                          </a14:m>
                          <a:endParaRPr lang="en-US" sz="16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067432238"/>
                      </a:ext>
                    </a:extLst>
                  </a:tr>
                  <a:tr h="600853">
                    <a:tc>
                      <a:txBody>
                        <a:bodyPr/>
                        <a:lstStyle/>
                        <a:p>
                          <a:pPr marL="0" marR="0" lvl="0" indent="0" algn="l" defTabSz="3429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1600" dirty="0"/>
                            <a:t>Binomial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</a:rPr>
                                  <m:t>𝑋</m:t>
                                </m:r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𝛽</m:t>
                                </m:r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𝑙𝑛</m:t>
                                </m:r>
                                <m:d>
                                  <m:dPr>
                                    <m:ctrlPr>
                                      <a:rPr lang="en-US" sz="16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f>
                                      <m:fPr>
                                        <m:ctrlPr>
                                          <a:rPr lang="en-US" sz="16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fPr>
                                      <m:num>
                                        <m:r>
                                          <a:rPr lang="en-US" sz="16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𝑢</m:t>
                                        </m:r>
                                      </m:num>
                                      <m:den>
                                        <m:r>
                                          <a:rPr lang="en-US" sz="16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𝑛</m:t>
                                        </m:r>
                                        <m:r>
                                          <a:rPr lang="en-US" sz="16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−</m:t>
                                        </m:r>
                                        <m:r>
                                          <a:rPr lang="en-US" sz="16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𝜇</m:t>
                                        </m:r>
                                      </m:den>
                                    </m:f>
                                  </m:e>
                                </m:d>
                              </m:oMath>
                            </m:oMathPara>
                          </a14:m>
                          <a:endParaRPr 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r>
                                  <a:rPr lang="en-US" sz="16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𝜇</m:t>
                                </m:r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=</m:t>
                                </m:r>
                                <m:f>
                                  <m:fPr>
                                    <m:ctrlPr>
                                      <a:rPr lang="en-US" sz="16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sz="16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lang="en-US" sz="16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1+</m:t>
                                    </m:r>
                                    <m:r>
                                      <a:rPr lang="en-US" sz="16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𝑒𝑥𝑝</m:t>
                                    </m:r>
                                    <m:d>
                                      <m:dPr>
                                        <m:ctrlPr>
                                          <a:rPr lang="en-US" sz="16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sz="16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−</m:t>
                                        </m:r>
                                        <m:r>
                                          <a:rPr lang="en-US" sz="1600" b="0" i="1" smtClean="0">
                                            <a:latin typeface="Cambria Math" panose="02040503050406030204" pitchFamily="18" charset="0"/>
                                          </a:rPr>
                                          <m:t>𝑋</m:t>
                                        </m:r>
                                        <m:r>
                                          <a:rPr lang="en-US" sz="16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𝛽</m:t>
                                        </m:r>
                                      </m:e>
                                    </m:d>
                                  </m:den>
                                </m:f>
                              </m:oMath>
                            </m:oMathPara>
                          </a14:m>
                          <a:endParaRPr lang="en-US" sz="16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873166096"/>
                      </a:ext>
                    </a:extLst>
                  </a:tr>
                  <a:tr h="600853">
                    <a:tc>
                      <a:txBody>
                        <a:bodyPr/>
                        <a:lstStyle/>
                        <a:p>
                          <a:r>
                            <a:rPr lang="en-US" sz="1600" dirty="0"/>
                            <a:t>Categorical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</a:rPr>
                                  <m:t>𝑋</m:t>
                                </m:r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𝛽</m:t>
                                </m:r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𝑙𝑛</m:t>
                                </m:r>
                                <m:d>
                                  <m:dPr>
                                    <m:ctrlPr>
                                      <a:rPr lang="en-US" sz="16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f>
                                      <m:fPr>
                                        <m:ctrlPr>
                                          <a:rPr lang="en-US" sz="16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fPr>
                                      <m:num>
                                        <m:r>
                                          <a:rPr lang="en-US" sz="16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𝑢</m:t>
                                        </m:r>
                                      </m:num>
                                      <m:den>
                                        <m:r>
                                          <a:rPr lang="en-US" sz="16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𝑛</m:t>
                                        </m:r>
                                        <m:r>
                                          <a:rPr lang="en-US" sz="16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−</m:t>
                                        </m:r>
                                        <m:r>
                                          <a:rPr lang="en-US" sz="16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𝜇</m:t>
                                        </m:r>
                                      </m:den>
                                    </m:f>
                                  </m:e>
                                </m:d>
                              </m:oMath>
                            </m:oMathPara>
                          </a14:m>
                          <a:endParaRPr 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r>
                                  <a:rPr lang="en-US" sz="16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𝜇</m:t>
                                </m:r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=</m:t>
                                </m:r>
                                <m:f>
                                  <m:fPr>
                                    <m:ctrlPr>
                                      <a:rPr lang="en-US" sz="16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sz="16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lang="en-US" sz="16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1+</m:t>
                                    </m:r>
                                    <m:r>
                                      <a:rPr lang="en-US" sz="16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𝑒𝑥𝑝</m:t>
                                    </m:r>
                                    <m:d>
                                      <m:dPr>
                                        <m:ctrlPr>
                                          <a:rPr lang="en-US" sz="16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sz="16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−</m:t>
                                        </m:r>
                                        <m:r>
                                          <a:rPr lang="en-US" sz="1600" b="0" i="1" smtClean="0">
                                            <a:latin typeface="Cambria Math" panose="02040503050406030204" pitchFamily="18" charset="0"/>
                                          </a:rPr>
                                          <m:t>𝑋</m:t>
                                        </m:r>
                                        <m:r>
                                          <a:rPr lang="en-US" sz="16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𝛽</m:t>
                                        </m:r>
                                      </m:e>
                                    </m:d>
                                  </m:den>
                                </m:f>
                              </m:oMath>
                            </m:oMathPara>
                          </a14:m>
                          <a:endParaRPr lang="en-US" sz="16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82618877"/>
                      </a:ext>
                    </a:extLst>
                  </a:tr>
                  <a:tr h="436054">
                    <a:tc>
                      <a:txBody>
                        <a:bodyPr/>
                        <a:lstStyle/>
                        <a:p>
                          <a:r>
                            <a:rPr lang="en-US" sz="1600" dirty="0"/>
                            <a:t>Poisson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</a:rPr>
                                  <m:t>𝑋</m:t>
                                </m:r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𝛽</m:t>
                                </m:r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𝑙𝑛</m:t>
                                </m:r>
                                <m:d>
                                  <m:dPr>
                                    <m:ctrlPr>
                                      <a:rPr lang="en-US" sz="16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16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𝑢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r>
                                  <a:rPr lang="en-US" sz="16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𝜇</m:t>
                                </m:r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𝑒𝑥𝑝</m:t>
                                </m:r>
                                <m:d>
                                  <m:dPr>
                                    <m:ctrlPr>
                                      <a:rPr lang="en-US" sz="16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1600" b="0" i="1" smtClean="0">
                                        <a:latin typeface="Cambria Math" panose="02040503050406030204" pitchFamily="18" charset="0"/>
                                      </a:rPr>
                                      <m:t>𝑋</m:t>
                                    </m:r>
                                    <m:r>
                                      <a:rPr lang="en-US" sz="16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𝛽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en-US" sz="16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404821180"/>
                      </a:ext>
                    </a:extLst>
                  </a:tr>
                  <a:tr h="545728">
                    <a:tc>
                      <a:txBody>
                        <a:bodyPr/>
                        <a:lstStyle/>
                        <a:p>
                          <a:r>
                            <a:rPr lang="en-US" sz="1600" dirty="0"/>
                            <a:t>Exponential-Gamma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3429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𝑋</m:t>
                                </m:r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𝛽</m:t>
                                </m:r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=−</m:t>
                                </m:r>
                                <m:sSup>
                                  <m:sSupPr>
                                    <m:ctrlPr>
                                      <a:rPr lang="en-US" sz="16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16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𝜇</m:t>
                                    </m:r>
                                  </m:e>
                                  <m:sup>
                                    <m:r>
                                      <a:rPr lang="en-US" sz="16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−1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en-US" sz="1600" dirty="0"/>
                        </a:p>
                        <a:p>
                          <a:endParaRPr 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r>
                                  <a:rPr lang="en-US" sz="16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𝜇</m:t>
                                </m:r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=</m:t>
                                </m:r>
                                <m:sSup>
                                  <m:sSupPr>
                                    <m:ctrlPr>
                                      <a:rPr lang="en-US" sz="16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16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𝑋</m:t>
                                    </m:r>
                                    <m:r>
                                      <a:rPr lang="en-US" sz="16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𝛽</m:t>
                                    </m:r>
                                  </m:e>
                                  <m:sup>
                                    <m:r>
                                      <a:rPr lang="en-US" sz="16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−1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en-US" sz="16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786607252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4" name="Table 3">
                <a:extLst>
                  <a:ext uri="{FF2B5EF4-FFF2-40B4-BE49-F238E27FC236}">
                    <a16:creationId xmlns:a16="http://schemas.microsoft.com/office/drawing/2014/main" id="{C3541FB5-ED70-609C-000F-260C1FDFDAA5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224660765"/>
                  </p:ext>
                </p:extLst>
              </p:nvPr>
            </p:nvGraphicFramePr>
            <p:xfrm>
              <a:off x="2856992" y="731520"/>
              <a:ext cx="6287010" cy="4384356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095670">
                      <a:extLst>
                        <a:ext uri="{9D8B030D-6E8A-4147-A177-3AD203B41FA5}">
                          <a16:colId xmlns:a16="http://schemas.microsoft.com/office/drawing/2014/main" val="310204747"/>
                        </a:ext>
                      </a:extLst>
                    </a:gridCol>
                    <a:gridCol w="2095670">
                      <a:extLst>
                        <a:ext uri="{9D8B030D-6E8A-4147-A177-3AD203B41FA5}">
                          <a16:colId xmlns:a16="http://schemas.microsoft.com/office/drawing/2014/main" val="540153062"/>
                        </a:ext>
                      </a:extLst>
                    </a:gridCol>
                    <a:gridCol w="2095670">
                      <a:extLst>
                        <a:ext uri="{9D8B030D-6E8A-4147-A177-3AD203B41FA5}">
                          <a16:colId xmlns:a16="http://schemas.microsoft.com/office/drawing/2014/main" val="604041901"/>
                        </a:ext>
                      </a:extLst>
                    </a:gridCol>
                  </a:tblGrid>
                  <a:tr h="43605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600" b="1" dirty="0">
                              <a:solidFill>
                                <a:schemeClr val="tx1"/>
                              </a:solidFill>
                            </a:rPr>
                            <a:t>Distribution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600" b="1" dirty="0">
                              <a:solidFill>
                                <a:schemeClr val="tx1"/>
                              </a:solidFill>
                            </a:rPr>
                            <a:t>Link Function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600" b="1" dirty="0">
                              <a:solidFill>
                                <a:schemeClr val="tx1"/>
                              </a:solidFill>
                            </a:rPr>
                            <a:t>Inverse Link Function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273534007"/>
                      </a:ext>
                    </a:extLst>
                  </a:tr>
                  <a:tr h="579120">
                    <a:tc>
                      <a:txBody>
                        <a:bodyPr/>
                        <a:lstStyle/>
                        <a:p>
                          <a:r>
                            <a:rPr lang="en-US" sz="1600" dirty="0"/>
                            <a:t>Gaussian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00000" t="-78947" r="-100870" b="-58421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00581" t="-78947" r="-1163" b="-58421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543036880"/>
                      </a:ext>
                    </a:extLst>
                  </a:tr>
                  <a:tr h="436054">
                    <a:tc>
                      <a:txBody>
                        <a:bodyPr/>
                        <a:lstStyle/>
                        <a:p>
                          <a:r>
                            <a:rPr lang="en-US" sz="1600" dirty="0"/>
                            <a:t>Inverse Gaussian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00000" t="-239437" r="-100870" b="-6816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00581" t="-239437" r="-1163" b="-68169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623063124"/>
                      </a:ext>
                    </a:extLst>
                  </a:tr>
                  <a:tr h="639318">
                    <a:tc>
                      <a:txBody>
                        <a:bodyPr/>
                        <a:lstStyle/>
                        <a:p>
                          <a:pPr marL="0" marR="0" lvl="0" indent="0" algn="l" defTabSz="3429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1600" dirty="0"/>
                            <a:t>Bernoulli 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00000" t="-229524" r="-100870" b="-36095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00581" t="-229524" r="-1163" b="-36095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067432238"/>
                      </a:ext>
                    </a:extLst>
                  </a:tr>
                  <a:tr h="639318">
                    <a:tc>
                      <a:txBody>
                        <a:bodyPr/>
                        <a:lstStyle/>
                        <a:p>
                          <a:pPr marL="0" marR="0" lvl="0" indent="0" algn="l" defTabSz="3429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1600" dirty="0"/>
                            <a:t>Binomial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00000" t="-329524" r="-100870" b="-26095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00581" t="-329524" r="-1163" b="-26095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873166096"/>
                      </a:ext>
                    </a:extLst>
                  </a:tr>
                  <a:tr h="639318">
                    <a:tc>
                      <a:txBody>
                        <a:bodyPr/>
                        <a:lstStyle/>
                        <a:p>
                          <a:r>
                            <a:rPr lang="en-US" sz="1600" dirty="0"/>
                            <a:t>Categorical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00000" t="-429524" r="-100870" b="-16095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00581" t="-429524" r="-1163" b="-16095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82618877"/>
                      </a:ext>
                    </a:extLst>
                  </a:tr>
                  <a:tr h="436054">
                    <a:tc>
                      <a:txBody>
                        <a:bodyPr/>
                        <a:lstStyle/>
                        <a:p>
                          <a:r>
                            <a:rPr lang="en-US" sz="1600" dirty="0"/>
                            <a:t>Poisson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00000" t="-772222" r="-100870" b="-13472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00581" t="-772222" r="-1163" b="-13472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404821180"/>
                      </a:ext>
                    </a:extLst>
                  </a:tr>
                  <a:tr h="579120">
                    <a:tc>
                      <a:txBody>
                        <a:bodyPr/>
                        <a:lstStyle/>
                        <a:p>
                          <a:r>
                            <a:rPr lang="en-US" sz="1600" dirty="0"/>
                            <a:t>Exponential-Gamma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00000" t="-661053" r="-100870" b="-210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00581" t="-661053" r="-1163" b="-210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786607252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58E3A949-63F6-1B7E-6BF9-C1BD5DFDC718}"/>
              </a:ext>
            </a:extLst>
          </p:cNvPr>
          <p:cNvSpPr txBox="1">
            <a:spLocks/>
          </p:cNvSpPr>
          <p:nvPr/>
        </p:nvSpPr>
        <p:spPr>
          <a:xfrm>
            <a:off x="333248" y="1093216"/>
            <a:ext cx="2775712" cy="397459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342900" algn="l" defTabSz="342900" rtl="0" eaLnBrk="1" latinLnBrk="0" hangingPunct="1">
              <a:spcBef>
                <a:spcPct val="20000"/>
              </a:spcBef>
              <a:buFont typeface="Arial"/>
              <a:buChar char="–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287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-342900" algn="l" defTabSz="342900" rtl="0" eaLnBrk="1" latinLnBrk="0" hangingPunct="1">
              <a:spcBef>
                <a:spcPct val="20000"/>
              </a:spcBef>
              <a:buFont typeface="Arial"/>
              <a:buChar char="–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714500" indent="-342900" algn="l" defTabSz="342900" rtl="0" eaLnBrk="1" latinLnBrk="0" hangingPunct="1">
              <a:spcBef>
                <a:spcPct val="20000"/>
              </a:spcBef>
              <a:buFont typeface="Arial"/>
              <a:buChar char="»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0574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4003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7432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0861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Example </a:t>
            </a:r>
            <a:r>
              <a:rPr lang="en-US" dirty="0">
                <a:hlinkClick r:id="rId3"/>
              </a:rPr>
              <a:t>Link functions </a:t>
            </a:r>
            <a:endParaRPr lang="en-US" dirty="0"/>
          </a:p>
          <a:p>
            <a:r>
              <a:rPr lang="en-US" dirty="0"/>
              <a:t>Supported in </a:t>
            </a:r>
            <a:r>
              <a:rPr lang="en-US" dirty="0" err="1">
                <a:hlinkClick r:id="rId4"/>
              </a:rPr>
              <a:t>statsmodels</a:t>
            </a:r>
            <a:endParaRPr lang="en-US" dirty="0">
              <a:hlinkClick r:id="rId4"/>
            </a:endParaRPr>
          </a:p>
          <a:p>
            <a:r>
              <a:rPr lang="en-US" dirty="0"/>
              <a:t>Supported in </a:t>
            </a:r>
            <a:r>
              <a:rPr lang="en-US" dirty="0">
                <a:hlinkClick r:id="rId5"/>
              </a:rPr>
              <a:t>Scikit-Learn</a:t>
            </a:r>
          </a:p>
          <a:p>
            <a:pPr marL="0" indent="0">
              <a:buFont typeface="Arial"/>
              <a:buNone/>
            </a:pPr>
            <a:endParaRPr lang="en-US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The Logistic Regression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210833"/>
            <a:ext cx="8229600" cy="3726688"/>
          </a:xfrm>
        </p:spPr>
        <p:txBody>
          <a:bodyPr>
            <a:normAutofit fontScale="92500"/>
          </a:bodyPr>
          <a:lstStyle/>
          <a:p>
            <a:pPr marL="0" lvl="0" indent="0">
              <a:buNone/>
            </a:pPr>
            <a:r>
              <a:rPr dirty="0"/>
              <a:t>Construct a generalized linear model using a </a:t>
            </a:r>
            <a:r>
              <a:rPr b="1" dirty="0"/>
              <a:t>Binomial distribution</a:t>
            </a:r>
          </a:p>
          <a:p>
            <a:pPr lvl="0"/>
            <a:r>
              <a:rPr dirty="0"/>
              <a:t>Commonly known as </a:t>
            </a:r>
            <a:r>
              <a:rPr b="1" dirty="0">
                <a:hlinkClick r:id="rId2"/>
              </a:rPr>
              <a:t>logistic regression</a:t>
            </a:r>
          </a:p>
          <a:p>
            <a:pPr lvl="0"/>
            <a:r>
              <a:rPr dirty="0"/>
              <a:t>Logistic regression is linear model, with a</a:t>
            </a:r>
            <a:r>
              <a:rPr lang="en-US" dirty="0"/>
              <a:t> discrete</a:t>
            </a:r>
            <a:r>
              <a:rPr dirty="0"/>
              <a:t> binary response, </a:t>
            </a:r>
            <a:r>
              <a:rPr dirty="0">
                <a:latin typeface="Courier"/>
              </a:rPr>
              <a:t>{False, True}</a:t>
            </a:r>
            <a:r>
              <a:rPr dirty="0"/>
              <a:t> or </a:t>
            </a:r>
            <a:r>
              <a:rPr dirty="0">
                <a:latin typeface="Courier"/>
              </a:rPr>
              <a:t>{0, 1}</a:t>
            </a:r>
          </a:p>
          <a:p>
            <a:pPr lvl="0"/>
            <a:r>
              <a:rPr dirty="0"/>
              <a:t>Response computed as a log likelihood, leading to a Binomial distributed response</a:t>
            </a:r>
          </a:p>
          <a:p>
            <a:pPr lvl="0"/>
            <a:r>
              <a:rPr dirty="0"/>
              <a:t>Categorical response is simple extension to categorical distribution</a:t>
            </a:r>
          </a:p>
          <a:p>
            <a:pPr lvl="1"/>
            <a:r>
              <a:rPr dirty="0"/>
              <a:t>One Binomial to many</a:t>
            </a:r>
          </a:p>
          <a:p>
            <a:pPr lvl="1"/>
            <a:r>
              <a:rPr dirty="0"/>
              <a:t>Many Binomial to many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The Logistic Regression Model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57200" y="1200150"/>
                <a:ext cx="8229600" cy="3570985"/>
              </a:xfrm>
            </p:spPr>
            <p:txBody>
              <a:bodyPr>
                <a:normAutofit fontScale="92500" lnSpcReduction="20000"/>
              </a:bodyPr>
              <a:lstStyle/>
              <a:p>
                <a:pPr marL="0" lvl="0" indent="0">
                  <a:buNone/>
                </a:pPr>
                <a:r>
                  <a:rPr lang="en-US" dirty="0"/>
                  <a:t>Construct logistic regression as a GLM</a:t>
                </a:r>
              </a:p>
              <a:p>
                <a:pPr lvl="0"/>
                <a:r>
                  <a:rPr lang="en-US" dirty="0"/>
                  <a:t>Start with a model for the </a:t>
                </a:r>
                <a:r>
                  <a:rPr lang="en-US" b="1" dirty="0"/>
                  <a:t>log-odds</a:t>
                </a:r>
                <a:r>
                  <a:rPr lang="en-US" dirty="0"/>
                  <a:t> of response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US" dirty="0"/>
                  <a:t> vs. 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Probability of success, 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=1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)=</m:t>
                    </m:r>
                    <m:sSub>
                      <m:sSubPr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endParaRPr lang="ar-AE" dirty="0"/>
              </a:p>
              <a:p>
                <a:pPr lvl="1"/>
                <a:r>
                  <a:rPr lang="en-US" dirty="0"/>
                  <a:t>Independent variable vector,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1">
                            <a:latin typeface="Cambria Math" panose="02040503050406030204" pitchFamily="18" charset="0"/>
                          </a:rPr>
                          <m:t>𝐱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endParaRPr lang="ar-AE" dirty="0"/>
              </a:p>
              <a:p>
                <a:pPr lvl="1"/>
                <a:r>
                  <a:rPr lang="en-US" dirty="0"/>
                  <a:t>Model parameter vector,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ar-AE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ar-AE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𝜷</m:t>
                        </m:r>
                      </m:e>
                    </m:acc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Binary response,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0,1</m:t>
                        </m:r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∼</m:t>
                    </m:r>
                    <m:r>
                      <a:rPr lang="ar-AE">
                        <a:latin typeface="Cambria Math" panose="02040503050406030204" pitchFamily="18" charset="0"/>
                      </a:rPr>
                      <m:t>𝐵𝑖𝑛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d>
                  </m:oMath>
                </a14:m>
                <a:endParaRPr lang="ar-AE" dirty="0"/>
              </a:p>
              <a:p>
                <a:pPr lvl="0"/>
                <a:r>
                  <a:rPr lang="en-US" dirty="0"/>
                  <a:t>The odds ratio 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a:rPr lang="en-US">
                          <a:latin typeface="Cambria Math" panose="02040503050406030204" pitchFamily="18" charset="0"/>
                        </a:rPr>
                        <m:t>o</m:t>
                      </m:r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dds</m:t>
                      </m:r>
                      <m:r>
                        <a:rPr lang="en-US" b="0" i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ratio</m:t>
                      </m:r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f>
                            <m:f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𝑃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  <m:r>
                                <a:rPr lang="en-US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num>
                            <m:den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𝑃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  <m:r>
                                <a:rPr lang="en-US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den>
                          </m:f>
                        </m:num>
                        <m:den>
                          <m:f>
                            <m:f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𝑃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en-US">
                                  <a:latin typeface="Cambria Math" panose="02040503050406030204" pitchFamily="18" charset="0"/>
                                </a:rPr>
                                <m:t>0)</m:t>
                              </m:r>
                            </m:num>
                            <m:den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𝑃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en-US">
                                  <a:latin typeface="Cambria Math" panose="02040503050406030204" pitchFamily="18" charset="0"/>
                                </a:rPr>
                                <m:t>0)</m:t>
                              </m:r>
                            </m:den>
                          </m:f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ar-AE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d>
                            <m:d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ar-AE" b="1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ar-AE" b="1" i="1">
                                      <a:latin typeface="Cambria Math" panose="02040503050406030204" pitchFamily="18" charset="0"/>
                                    </a:rPr>
                                    <m:t>𝐱</m:t>
                                  </m:r>
                                </m:e>
                                <m:sub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</m:num>
                        <m:den>
                          <m:r>
                            <a:rPr lang="ar-AE">
                              <a:latin typeface="Cambria Math" panose="02040503050406030204" pitchFamily="18" charset="0"/>
                            </a:rPr>
                            <m:t>1−</m:t>
                          </m:r>
                          <m:sSub>
                            <m:sSubPr>
                              <m:ctrlPr>
                                <a:rPr lang="ar-AE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d>
                            <m:d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ar-AE" b="1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ar-AE" b="1" i="1">
                                      <a:latin typeface="Cambria Math" panose="02040503050406030204" pitchFamily="18" charset="0"/>
                                    </a:rPr>
                                    <m:t>𝐱</m:t>
                                  </m:r>
                                </m:e>
                                <m:sub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</m:den>
                      </m:f>
                    </m:oMath>
                  </m:oMathPara>
                </a14:m>
                <a:endParaRPr dirty="0"/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200150"/>
                <a:ext cx="8229600" cy="3570985"/>
              </a:xfrm>
              <a:blipFill>
                <a:blip r:embed="rId2"/>
                <a:stretch>
                  <a:fillRect l="-963" t="-290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The Logistic Regression Model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57200" y="1200150"/>
                <a:ext cx="8229600" cy="3570985"/>
              </a:xfrm>
            </p:spPr>
            <p:txBody>
              <a:bodyPr>
                <a:normAutofit lnSpcReduction="10000"/>
              </a:bodyPr>
              <a:lstStyle/>
              <a:p>
                <a:pPr marL="0" lvl="0" indent="0">
                  <a:buNone/>
                </a:pPr>
                <a:r>
                  <a:rPr lang="en-US" dirty="0"/>
                  <a:t>Construct logistic regression as a GLM</a:t>
                </a:r>
              </a:p>
              <a:p>
                <a:pPr lvl="0"/>
                <a:r>
                  <a:rPr lang="en-US" dirty="0"/>
                  <a:t>Start with a model for the </a:t>
                </a:r>
                <a:r>
                  <a:rPr lang="en-US" b="1" dirty="0"/>
                  <a:t>log-odds</a:t>
                </a:r>
                <a:r>
                  <a:rPr lang="en-US" dirty="0"/>
                  <a:t> of response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US" dirty="0"/>
                  <a:t> vs. 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Probability of success, 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P</m:t>
                        </m:r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  <m:r>
                      <a:rPr lang="ar-AE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ar-AE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endParaRPr lang="ar-AE" dirty="0"/>
              </a:p>
              <a:p>
                <a:pPr lvl="1"/>
                <a:r>
                  <a:rPr lang="en-US" dirty="0"/>
                  <a:t>Independent variable vector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endParaRPr lang="ar-AE" dirty="0"/>
              </a:p>
              <a:p>
                <a:pPr lvl="1"/>
                <a:r>
                  <a:rPr lang="en-US" dirty="0"/>
                  <a:t>Model parameter vector,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ar-A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ar-A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𝛽</m:t>
                        </m:r>
                      </m:e>
                    </m:acc>
                  </m:oMath>
                </a14:m>
                <a:endParaRPr lang="ar-AE" dirty="0"/>
              </a:p>
              <a:p>
                <a:pPr lvl="1"/>
                <a:r>
                  <a:rPr lang="en-US" dirty="0"/>
                  <a:t>Binary response,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0,1</m:t>
                        </m:r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∼</m:t>
                    </m:r>
                    <m:r>
                      <a:rPr lang="ar-AE">
                        <a:latin typeface="Cambria Math" panose="02040503050406030204" pitchFamily="18" charset="0"/>
                      </a:rPr>
                      <m:t>𝐵𝑖𝑛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d>
                  </m:oMath>
                </a14:m>
                <a:endParaRPr lang="ar-AE" dirty="0"/>
              </a:p>
              <a:p>
                <a:pPr lvl="0"/>
                <a:r>
                  <a:rPr lang="en-US" dirty="0"/>
                  <a:t>Define the link function, know as the or </a:t>
                </a:r>
                <a:r>
                  <a:rPr lang="en-US" b="1" dirty="0"/>
                  <a:t>logit function</a:t>
                </a:r>
                <a:r>
                  <a:rPr lang="en-US" dirty="0"/>
                  <a:t>: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a:rPr lang="en-US">
                          <a:latin typeface="Cambria Math" panose="02040503050406030204" pitchFamily="18" charset="0"/>
                        </a:rPr>
                        <m:t>𝑙𝑜𝑔𝑖𝑡</m:t>
                      </m:r>
                      <m:d>
                        <m:d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𝙴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ar-AE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|</m:t>
                              </m:r>
                              <m:sSub>
                                <m:sSubPr>
                                  <m:ctrlPr>
                                    <a:rPr lang="ar-AE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ar-AE">
                          <a:latin typeface="Cambria Math" panose="02040503050406030204" pitchFamily="18" charset="0"/>
                        </a:rPr>
                        <m:t>𝑙𝑜𝑔𝑖𝑡</m:t>
                      </m:r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ar-AE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d>
                            <m:d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ar-AE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ar-AE">
                          <a:latin typeface="Cambria Math" panose="02040503050406030204" pitchFamily="18" charset="0"/>
                        </a:rPr>
                        <m:t>𝑙𝑛</m:t>
                      </m:r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ar-AE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</m:e>
                                <m:sub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ar-AE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ar-AE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ar-AE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ar-AE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e>
                              </m:d>
                            </m:num>
                            <m:den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sSub>
                                <m:sSubPr>
                                  <m:ctrlPr>
                                    <a:rPr lang="ar-AE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</m:e>
                                <m:sub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ar-AE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ar-AE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ar-AE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ar-AE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e>
                              </m:d>
                            </m:den>
                          </m:f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ar-AE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⃗"/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𝛽</m:t>
                              </m:r>
                            </m:e>
                          </m:acc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200150"/>
                <a:ext cx="8229600" cy="3570985"/>
              </a:xfrm>
              <a:blipFill>
                <a:blip r:embed="rId2"/>
                <a:stretch>
                  <a:fillRect l="-1111" t="-23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205571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The Logistic Regression Model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lvl="0" indent="0">
                  <a:buNone/>
                </a:pPr>
                <a:r>
                  <a:rPr lang="en-US" dirty="0"/>
                  <a:t>Response of linear model is transformed to the binomially distributed random variable through the </a:t>
                </a:r>
                <a:r>
                  <a:rPr lang="en-US" b="1" dirty="0"/>
                  <a:t>inverse link function</a:t>
                </a:r>
              </a:p>
              <a:p>
                <a:pPr lvl="0"/>
                <a:r>
                  <a:rPr lang="en-US" dirty="0"/>
                  <a:t>Known as the </a:t>
                </a:r>
                <a:r>
                  <a:rPr lang="en-US" b="1" dirty="0"/>
                  <a:t>inverse logit function</a:t>
                </a:r>
                <a:r>
                  <a:rPr lang="en-US" dirty="0"/>
                  <a:t>, or </a:t>
                </a:r>
                <a:r>
                  <a:rPr lang="en-US" b="1" dirty="0"/>
                  <a:t>logistic function</a:t>
                </a:r>
                <a:r>
                  <a:rPr lang="en-US" dirty="0"/>
                  <a:t>,</a:t>
                </a:r>
                <a:endParaRPr lang="en-US" dirty="0">
                  <a:latin typeface="Cambria Math" panose="02040503050406030204" pitchFamily="18" charset="0"/>
                </a:endParaRP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𝑔</m:t>
                          </m:r>
                        </m:e>
                        <m:sup>
                          <m:r>
                            <a:rPr lang="ar-AE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ar-AE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𝛽</m:t>
                              </m:r>
                            </m:e>
                            <m:sub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+</m:t>
                          </m:r>
                          <m:acc>
                            <m:accPr>
                              <m:chr m:val="⃗"/>
                              <m:ctrlPr>
                                <a:rPr lang="ar-A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𝛽</m:t>
                              </m:r>
                            </m:e>
                          </m:acc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ar-AE" dirty="0"/>
              </a:p>
              <a:p>
                <a:pPr lvl="0"/>
                <a:r>
                  <a:rPr lang="en-US" dirty="0"/>
                  <a:t>After some algebra we can arrive at: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>
                          <a:latin typeface="Cambria Math" panose="02040503050406030204" pitchFamily="18" charset="0"/>
                        </a:rPr>
                        <m:t>𝙴</m:t>
                      </m:r>
                      <m:d>
                        <m:dPr>
                          <m:begChr m:val="["/>
                          <m:endChr m:val="]"/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ar-AE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|</m:t>
                          </m:r>
                          <m:sSub>
                            <m:sSubPr>
                              <m:ctrlPr>
                                <a:rPr lang="ar-AE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  <m:r>
                        <a:rPr lang="ar-AE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ar-A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ar-A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ar-A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1+</m:t>
                          </m:r>
                          <m:r>
                            <a:rPr lang="ar-A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𝑒𝑥𝑝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d>
                            <m:d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ar-AE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𝛽</m:t>
                                  </m:r>
                                </m:e>
                                <m:sub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  <m: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acc>
                                <m:accPr>
                                  <m:chr m:val="⃗"/>
                                  <m:ctrlPr>
                                    <a:rPr lang="ar-AE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ar-AE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𝛽</m:t>
                                  </m:r>
                                </m:e>
                              </m:acc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</m:den>
                      </m:f>
                    </m:oMath>
                  </m:oMathPara>
                </a14:m>
                <a:endParaRPr dirty="0"/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111" t="-14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8227567" cy="644589"/>
          </a:xfrm>
        </p:spPr>
        <p:txBody>
          <a:bodyPr>
            <a:normAutofit/>
          </a:bodyPr>
          <a:lstStyle/>
          <a:p>
            <a:pPr marL="0" lvl="0" indent="0" algn="ctr">
              <a:buNone/>
            </a:pPr>
            <a:r>
              <a:rPr sz="3200" dirty="0"/>
              <a:t>Logistic Regression Model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 Placeholder 3"/>
              <p:cNvSpPr>
                <a:spLocks noGrp="1"/>
              </p:cNvSpPr>
              <p:nvPr>
                <p:ph type="body" sz="half" idx="2"/>
              </p:nvPr>
            </p:nvSpPr>
            <p:spPr>
              <a:xfrm>
                <a:off x="457201" y="1076326"/>
                <a:ext cx="3180079" cy="3518297"/>
              </a:xfrm>
            </p:spPr>
            <p:txBody>
              <a:bodyPr>
                <a:normAutofit/>
              </a:bodyPr>
              <a:lstStyle/>
              <a:p>
                <a:pPr marL="0" lvl="0" indent="0">
                  <a:buNone/>
                </a:pPr>
                <a:r>
                  <a:rPr lang="en-US" sz="1800" dirty="0"/>
                  <a:t>Plot of the logistic function</a:t>
                </a:r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a:rPr lang="en-US" sz="1600">
                          <a:latin typeface="Cambria Math" panose="02040503050406030204" pitchFamily="18" charset="0"/>
                        </a:rPr>
                        <m:t>𝙴</m:t>
                      </m:r>
                      <m:d>
                        <m:dPr>
                          <m:begChr m:val="["/>
                          <m:endChr m:val="]"/>
                          <m:ctrlPr>
                            <a:rPr lang="ar-AE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ar-AE" sz="160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 sz="160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ar-AE" sz="160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ar-AE" sz="1600">
                              <a:latin typeface="Cambria Math" panose="02040503050406030204" pitchFamily="18" charset="0"/>
                            </a:rPr>
                            <m:t>|</m:t>
                          </m:r>
                          <m:sSub>
                            <m:sSubPr>
                              <m:ctrlPr>
                                <a:rPr lang="ar-AE" sz="160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 sz="160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ar-AE" sz="160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  <m:r>
                        <a:rPr lang="ar-AE" sz="16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ar-AE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ar-AE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ar-AE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1+</m:t>
                          </m:r>
                          <m:r>
                            <a:rPr lang="ar-AE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𝑒𝑥𝑝</m:t>
                          </m:r>
                          <m:r>
                            <a:rPr lang="en-US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d>
                            <m:dPr>
                              <m:ctrlPr>
                                <a:rPr lang="ar-AE" sz="16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ar-AE" sz="160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ar-AE" sz="1600">
                                      <a:latin typeface="Cambria Math" panose="02040503050406030204" pitchFamily="18" charset="0"/>
                                    </a:rPr>
                                    <m:t>𝛽</m:t>
                                  </m:r>
                                </m:e>
                                <m:sub>
                                  <m:r>
                                    <a:rPr lang="ar-AE" sz="160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  <m:r>
                                <a:rPr lang="en-US" sz="1600" b="0" i="0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acc>
                                <m:accPr>
                                  <m:chr m:val="⃗"/>
                                  <m:ctrlPr>
                                    <a:rPr lang="ar-AE" sz="16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ar-AE" sz="16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𝛽</m:t>
                                  </m:r>
                                </m:e>
                              </m:acc>
                              <m:sSub>
                                <m:sSubPr>
                                  <m:ctrlPr>
                                    <a:rPr lang="en-US" sz="16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6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sz="16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</m:den>
                      </m:f>
                    </m:oMath>
                  </m:oMathPara>
                </a14:m>
                <a:endParaRPr lang="ar-AE" sz="1600" dirty="0"/>
              </a:p>
              <a:p>
                <a:pPr marL="285750" lvl="0" indent="-285750">
                  <a:buFont typeface="Arial" panose="020B0604020202020204" pitchFamily="34" charset="0"/>
                  <a:buChar char="•"/>
                </a:pPr>
                <a:r>
                  <a:rPr lang="en-US" sz="1800" dirty="0"/>
                  <a:t>As </a:t>
                </a:r>
                <a14:m>
                  <m:oMath xmlns:m="http://schemas.openxmlformats.org/officeDocument/2006/math">
                    <m:r>
                      <a:rPr lang="en-US" sz="1800" b="1" i="1" smtClean="0"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sz="1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en-US" sz="1800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𝜷</m:t>
                    </m:r>
                  </m:oMath>
                </a14:m>
                <a:r>
                  <a:rPr lang="en-US" sz="1800" dirty="0"/>
                  <a:t> increases </a:t>
                </a:r>
                <a14:m>
                  <m:oMath xmlns:m="http://schemas.openxmlformats.org/officeDocument/2006/math"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sz="18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d>
                    <m:r>
                      <a:rPr lang="en-US" sz="1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</m:t>
                    </m:r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US" sz="1800" dirty="0"/>
                  <a:t> increases</a:t>
                </a:r>
              </a:p>
              <a:p>
                <a:pPr marL="285750" lvl="0" indent="-285750">
                  <a:buFont typeface="Arial" panose="020B0604020202020204" pitchFamily="34" charset="0"/>
                  <a:buChar char="•"/>
                </a:pPr>
                <a:r>
                  <a:rPr lang="en-US" sz="1800" dirty="0"/>
                  <a:t>As </a:t>
                </a:r>
                <a14:m>
                  <m:oMath xmlns:m="http://schemas.openxmlformats.org/officeDocument/2006/math">
                    <m:r>
                      <a:rPr lang="en-US" sz="1800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sz="18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en-US" sz="1800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𝜷</m:t>
                    </m:r>
                  </m:oMath>
                </a14:m>
                <a:r>
                  <a:rPr lang="en-US" sz="1800" dirty="0"/>
                  <a:t> decreases </a:t>
                </a:r>
                <a14:m>
                  <m:oMath xmlns:m="http://schemas.openxmlformats.org/officeDocument/2006/math"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sz="18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d>
                    <m:r>
                      <a:rPr lang="en-US" sz="18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</m:t>
                    </m:r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en-US" sz="1800" dirty="0"/>
                  <a:t> increases</a:t>
                </a:r>
              </a:p>
              <a:p>
                <a:pPr marL="285750" lvl="0" indent="-285750">
                  <a:buFont typeface="Arial" panose="020B0604020202020204" pitchFamily="34" charset="0"/>
                  <a:buChar char="•"/>
                </a:pPr>
                <a:r>
                  <a:rPr lang="en-US" sz="1800" dirty="0"/>
                  <a:t>The logistic function is said to </a:t>
                </a:r>
                <a:r>
                  <a:rPr lang="en-US" sz="1800" b="1" dirty="0"/>
                  <a:t>squash the output </a:t>
                </a:r>
                <a:r>
                  <a:rPr lang="en-US" sz="1800" dirty="0"/>
                  <a:t>of the linear model, </a:t>
                </a:r>
                <a14:m>
                  <m:oMath xmlns:m="http://schemas.openxmlformats.org/officeDocument/2006/math">
                    <m:r>
                      <a:rPr lang="en-US" sz="1800" b="1" i="1" smtClean="0">
                        <a:latin typeface="Cambria Math" panose="02040503050406030204" pitchFamily="18" charset="0"/>
                      </a:rPr>
                      <m:t>𝑿</m:t>
                    </m:r>
                    <m:r>
                      <a:rPr lang="en-US" sz="1800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𝜷</m:t>
                    </m:r>
                  </m:oMath>
                </a14:m>
                <a:r>
                  <a:rPr lang="en-US" sz="1800" dirty="0"/>
                  <a:t> </a:t>
                </a:r>
                <a:endParaRPr sz="1800" dirty="0"/>
              </a:p>
            </p:txBody>
          </p:sp>
        </mc:Choice>
        <mc:Fallback>
          <p:sp>
            <p:nvSpPr>
              <p:cNvPr id="4" name="Text Placeholder 3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half" idx="2"/>
              </p:nvPr>
            </p:nvSpPr>
            <p:spPr>
              <a:xfrm>
                <a:off x="457201" y="1076326"/>
                <a:ext cx="3180079" cy="3518297"/>
              </a:xfrm>
              <a:blipFill>
                <a:blip r:embed="rId2"/>
                <a:stretch>
                  <a:fillRect l="-1533" t="-104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5">
            <a:extLst>
              <a:ext uri="{FF2B5EF4-FFF2-40B4-BE49-F238E27FC236}">
                <a16:creationId xmlns:a16="http://schemas.microsoft.com/office/drawing/2014/main" id="{8ECB68FC-5B88-DB27-EC38-7B8F9E01BE9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89373" y="1276096"/>
            <a:ext cx="5422115" cy="361950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66D81C72-1BBF-15D5-F903-E12234066EEA}"/>
                  </a:ext>
                </a:extLst>
              </p:cNvPr>
              <p:cNvSpPr txBox="1"/>
              <p:nvPr/>
            </p:nvSpPr>
            <p:spPr>
              <a:xfrm rot="16200000">
                <a:off x="3437513" y="2828780"/>
                <a:ext cx="578979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𝑝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14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66D81C72-1BBF-15D5-F903-E12234066EE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16200000">
                <a:off x="3437513" y="2828780"/>
                <a:ext cx="578979" cy="307777"/>
              </a:xfrm>
              <a:prstGeom prst="rect">
                <a:avLst/>
              </a:prstGeom>
              <a:blipFill>
                <a:blip r:embed="rId4"/>
                <a:stretch>
                  <a:fillRect r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F7516972-4A38-23D5-C04B-AD12822BED0D}"/>
              </a:ext>
            </a:extLst>
          </p:cNvPr>
          <p:cNvCxnSpPr>
            <a:cxnSpLocks/>
          </p:cNvCxnSpPr>
          <p:nvPr/>
        </p:nvCxnSpPr>
        <p:spPr>
          <a:xfrm flipV="1">
            <a:off x="3518185" y="1699953"/>
            <a:ext cx="3917550" cy="477385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0D60CE3F-D41B-BE3D-5CE2-8EF60981BE7C}"/>
              </a:ext>
            </a:extLst>
          </p:cNvPr>
          <p:cNvCxnSpPr>
            <a:cxnSpLocks/>
          </p:cNvCxnSpPr>
          <p:nvPr/>
        </p:nvCxnSpPr>
        <p:spPr>
          <a:xfrm>
            <a:off x="3464879" y="2966163"/>
            <a:ext cx="1019837" cy="135229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8227567" cy="644589"/>
          </a:xfrm>
        </p:spPr>
        <p:txBody>
          <a:bodyPr>
            <a:normAutofit/>
          </a:bodyPr>
          <a:lstStyle/>
          <a:p>
            <a:pPr marL="0" lvl="0" indent="0" algn="ctr">
              <a:buNone/>
            </a:pPr>
            <a:r>
              <a:rPr sz="3200" dirty="0"/>
              <a:t>Logistic Regression Model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 Placeholder 3"/>
              <p:cNvSpPr>
                <a:spLocks noGrp="1"/>
              </p:cNvSpPr>
              <p:nvPr>
                <p:ph type="body" sz="half" idx="2"/>
              </p:nvPr>
            </p:nvSpPr>
            <p:spPr>
              <a:xfrm>
                <a:off x="457201" y="1076326"/>
                <a:ext cx="3176015" cy="3819270"/>
              </a:xfrm>
            </p:spPr>
            <p:txBody>
              <a:bodyPr>
                <a:normAutofit fontScale="92500" lnSpcReduction="10000"/>
              </a:bodyPr>
              <a:lstStyle/>
              <a:p>
                <a:pPr marL="0" lvl="0" indent="0">
                  <a:buNone/>
                </a:pPr>
                <a:r>
                  <a:rPr lang="en-US" sz="1800" dirty="0"/>
                  <a:t>Plot of the logistic function</a:t>
                </a:r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a:rPr lang="en-US" sz="1800">
                          <a:latin typeface="Cambria Math" panose="02040503050406030204" pitchFamily="18" charset="0"/>
                        </a:rPr>
                        <m:t>𝙴</m:t>
                      </m:r>
                      <m:d>
                        <m:dPr>
                          <m:begChr m:val="["/>
                          <m:endChr m:val="]"/>
                          <m:ctrlPr>
                            <a:rPr lang="ar-AE" sz="18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ar-AE" sz="180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 sz="180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ar-AE" sz="180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ar-AE" sz="1800">
                              <a:latin typeface="Cambria Math" panose="02040503050406030204" pitchFamily="18" charset="0"/>
                            </a:rPr>
                            <m:t>|</m:t>
                          </m:r>
                          <m:sSub>
                            <m:sSubPr>
                              <m:ctrlPr>
                                <a:rPr lang="ar-AE" sz="180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 sz="180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ar-AE" sz="180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  <m:r>
                        <a:rPr lang="ar-AE" sz="1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ar-AE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ar-AE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ar-AE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1+</m:t>
                          </m:r>
                          <m:r>
                            <a:rPr lang="ar-AE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𝑒𝑥𝑝</m:t>
                          </m:r>
                          <m:r>
                            <a:rPr lang="en-US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d>
                            <m:dPr>
                              <m:ctrlPr>
                                <a:rPr lang="ar-AE" sz="18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ar-AE" sz="180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ar-AE" sz="1800">
                                      <a:latin typeface="Cambria Math" panose="02040503050406030204" pitchFamily="18" charset="0"/>
                                    </a:rPr>
                                    <m:t>𝛽</m:t>
                                  </m:r>
                                </m:e>
                                <m:sub>
                                  <m:r>
                                    <a:rPr lang="ar-AE" sz="180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  <m:r>
                                <a:rPr lang="en-US" sz="1800" b="0" i="0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acc>
                                <m:accPr>
                                  <m:chr m:val="⃗"/>
                                  <m:ctrlPr>
                                    <a:rPr lang="ar-AE" sz="18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ar-AE" sz="18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𝛽</m:t>
                                  </m:r>
                                </m:e>
                              </m:acc>
                              <m:sSub>
                                <m:sSubPr>
                                  <m:ctrlPr>
                                    <a:rPr lang="en-US" sz="18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8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sz="18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</m:den>
                      </m:f>
                    </m:oMath>
                  </m:oMathPara>
                </a14:m>
                <a:endParaRPr lang="ar-AE" sz="1800" dirty="0"/>
              </a:p>
              <a:p>
                <a:pPr marL="285750" lvl="0" indent="-285750">
                  <a:buFont typeface="Arial" panose="020B0604020202020204" pitchFamily="34" charset="0"/>
                  <a:buChar char="•"/>
                </a:pPr>
                <a:r>
                  <a:rPr lang="en-US" sz="1800" dirty="0"/>
                  <a:t>The logistic function is said to </a:t>
                </a:r>
                <a:r>
                  <a:rPr lang="en-US" sz="1800" b="1" dirty="0"/>
                  <a:t>squash the output </a:t>
                </a:r>
                <a:r>
                  <a:rPr lang="en-US" sz="1800" dirty="0"/>
                  <a:t>of the linear model, </a:t>
                </a:r>
                <a14:m>
                  <m:oMath xmlns:m="http://schemas.openxmlformats.org/officeDocument/2006/math">
                    <m:r>
                      <a:rPr lang="en-US" sz="1800" b="1" i="1" smtClean="0">
                        <a:latin typeface="Cambria Math" panose="02040503050406030204" pitchFamily="18" charset="0"/>
                      </a:rPr>
                      <m:t>𝑿</m:t>
                    </m:r>
                    <m:r>
                      <a:rPr lang="en-US" sz="1800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𝜷</m:t>
                    </m:r>
                  </m:oMath>
                </a14:m>
                <a:r>
                  <a:rPr lang="en-US" sz="1800" b="1" dirty="0"/>
                  <a:t> </a:t>
                </a:r>
              </a:p>
              <a:p>
                <a:pPr marL="285750" lvl="0" indent="-285750">
                  <a:buFont typeface="Arial" panose="020B0604020202020204" pitchFamily="34" charset="0"/>
                  <a:buChar char="•"/>
                </a:pPr>
                <a:r>
                  <a:rPr lang="en-US" sz="1800" dirty="0"/>
                  <a:t>Use threshold to get </a:t>
                </a:r>
                <a14:m>
                  <m:oMath xmlns:m="http://schemas.openxmlformats.org/officeDocument/2006/math">
                    <m:d>
                      <m:dPr>
                        <m:begChr m:val="{"/>
                        <m:endChr m:val="}"/>
                        <m:ctrlPr>
                          <a:rPr lang="en-US" sz="18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0,1</m:t>
                        </m:r>
                      </m:e>
                    </m:d>
                  </m:oMath>
                </a14:m>
                <a:r>
                  <a:rPr lang="en-US" sz="1800" dirty="0"/>
                  <a:t> output</a:t>
                </a:r>
              </a:p>
              <a:p>
                <a:pPr lvl="0"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ar-AE" sz="180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sz="180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ar-AE" sz="180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ar-AE" sz="1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en-US" sz="18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1800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US" sz="18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  <m:r>
                                  <m:rPr>
                                    <m:brk m:alnAt="7"/>
                                  </m:rPr>
                                  <a:rPr lang="en-US" sz="1800" b="0" i="1" smtClean="0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m:rPr>
                                    <m:brk m:alnAt="7"/>
                                  </m:rPr>
                                  <a:rPr lang="en-US" sz="1800" b="0" i="0" smtClean="0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en-US" sz="1800">
                                    <a:latin typeface="Cambria Math" panose="02040503050406030204" pitchFamily="18" charset="0"/>
                                  </a:rPr>
                                  <m:t>𝙴</m:t>
                                </m:r>
                                <m:d>
                                  <m:dPr>
                                    <m:begChr m:val="["/>
                                    <m:endChr m:val="]"/>
                                    <m:ctrlPr>
                                      <a:rPr lang="ar-AE" sz="1800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ar-AE" sz="180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ar-AE" sz="1800">
                                            <a:latin typeface="Cambria Math" panose="02040503050406030204" pitchFamily="18" charset="0"/>
                                          </a:rPr>
                                          <m:t>𝑦</m:t>
                                        </m:r>
                                      </m:e>
                                      <m:sub>
                                        <m:r>
                                          <a:rPr lang="ar-AE" sz="1800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  <m:r>
                                      <a:rPr lang="ar-AE" sz="1800">
                                        <a:latin typeface="Cambria Math" panose="02040503050406030204" pitchFamily="18" charset="0"/>
                                      </a:rPr>
                                      <m:t>|</m:t>
                                    </m:r>
                                    <m:sSub>
                                      <m:sSubPr>
                                        <m:ctrlPr>
                                          <a:rPr lang="ar-AE" sz="180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ar-AE" sz="1800">
                                            <a:latin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e>
                                      <m:sub>
                                        <m:r>
                                          <a:rPr lang="ar-AE" sz="1800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d>
                                <m:r>
                                  <a:rPr lang="en-US" sz="1800" b="0" i="1" smtClean="0">
                                    <a:latin typeface="Cambria Math" panose="02040503050406030204" pitchFamily="18" charset="0"/>
                                  </a:rPr>
                                  <m:t>&gt;</m:t>
                                </m:r>
                                <m:r>
                                  <a:rPr lang="en-US" sz="1800" b="0" i="1" smtClean="0">
                                    <a:latin typeface="Cambria Math" panose="02040503050406030204" pitchFamily="18" charset="0"/>
                                  </a:rPr>
                                  <m:t>𝑡ℎ𝑟𝑒𝑠ℎ𝑜𝑙𝑑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18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  <m:r>
                                  <m:rPr>
                                    <m:brk m:alnAt="7"/>
                                  </m:rPr>
                                  <a:rPr lang="en-US" sz="1800" i="1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m:rPr>
                                    <m:brk m:alnAt="7"/>
                                  </m:rPr>
                                  <a:rPr lang="en-US" sz="1800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en-US" sz="1800">
                                    <a:latin typeface="Cambria Math" panose="02040503050406030204" pitchFamily="18" charset="0"/>
                                  </a:rPr>
                                  <m:t>𝙴</m:t>
                                </m:r>
                                <m:d>
                                  <m:dPr>
                                    <m:begChr m:val="["/>
                                    <m:endChr m:val="]"/>
                                    <m:ctrlPr>
                                      <a:rPr lang="ar-AE" sz="1800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ar-AE" sz="180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ar-AE" sz="1800">
                                            <a:latin typeface="Cambria Math" panose="02040503050406030204" pitchFamily="18" charset="0"/>
                                          </a:rPr>
                                          <m:t>𝑦</m:t>
                                        </m:r>
                                      </m:e>
                                      <m:sub>
                                        <m:r>
                                          <a:rPr lang="ar-AE" sz="1800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  <m:r>
                                      <a:rPr lang="ar-AE" sz="1800">
                                        <a:latin typeface="Cambria Math" panose="02040503050406030204" pitchFamily="18" charset="0"/>
                                      </a:rPr>
                                      <m:t>|</m:t>
                                    </m:r>
                                    <m:sSub>
                                      <m:sSubPr>
                                        <m:ctrlPr>
                                          <a:rPr lang="ar-AE" sz="180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ar-AE" sz="1800">
                                            <a:latin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e>
                                      <m:sub>
                                        <m:r>
                                          <a:rPr lang="ar-AE" sz="1800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d>
                                <m:r>
                                  <a:rPr lang="en-US" sz="1800" b="0" i="1" smtClean="0">
                                    <a:latin typeface="Cambria Math" panose="02040503050406030204" pitchFamily="18" charset="0"/>
                                  </a:rPr>
                                  <m:t>&lt;</m:t>
                                </m:r>
                                <m:r>
                                  <a:rPr lang="en-US" sz="1800" b="0" i="1" smtClean="0">
                                    <a:latin typeface="Cambria Math" panose="02040503050406030204" pitchFamily="18" charset="0"/>
                                  </a:rPr>
                                  <m:t>𝑡ℎ𝑟𝑒𝑠ℎ𝑜𝑙𝑑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sz="1800" dirty="0"/>
              </a:p>
              <a:p>
                <a:pPr marL="285750" lvl="0" indent="-285750">
                  <a:buFont typeface="Arial" panose="020B0604020202020204" pitchFamily="34" charset="0"/>
                  <a:buChar char="•"/>
                </a:pPr>
                <a:r>
                  <a:rPr lang="en-US" sz="1800" dirty="0"/>
                  <a:t>Can set threshold as error trade-off</a:t>
                </a:r>
              </a:p>
              <a:p>
                <a:pPr marL="285750" lvl="0" indent="-285750">
                  <a:buFont typeface="Arial" panose="020B0604020202020204" pitchFamily="34" charset="0"/>
                  <a:buChar char="•"/>
                </a:pPr>
                <a:r>
                  <a:rPr lang="en-US" sz="1800" dirty="0"/>
                  <a:t>Default threshold = 0.5</a:t>
                </a:r>
                <a:endParaRPr sz="1800" dirty="0"/>
              </a:p>
            </p:txBody>
          </p:sp>
        </mc:Choice>
        <mc:Fallback>
          <p:sp>
            <p:nvSpPr>
              <p:cNvPr id="4" name="Text Placeholder 3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half" idx="2"/>
              </p:nvPr>
            </p:nvSpPr>
            <p:spPr>
              <a:xfrm>
                <a:off x="457201" y="1076326"/>
                <a:ext cx="3176015" cy="3819270"/>
              </a:xfrm>
              <a:blipFill>
                <a:blip r:embed="rId2"/>
                <a:stretch>
                  <a:fillRect l="-1152" t="-127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5">
            <a:extLst>
              <a:ext uri="{FF2B5EF4-FFF2-40B4-BE49-F238E27FC236}">
                <a16:creationId xmlns:a16="http://schemas.microsoft.com/office/drawing/2014/main" id="{8ECB68FC-5B88-DB27-EC38-7B8F9E01BE9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89373" y="1276096"/>
            <a:ext cx="5422115" cy="361950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74C2839B-941F-0DD9-FEE9-9855B4B5A03A}"/>
                  </a:ext>
                </a:extLst>
              </p:cNvPr>
              <p:cNvSpPr txBox="1"/>
              <p:nvPr/>
            </p:nvSpPr>
            <p:spPr>
              <a:xfrm rot="16200000">
                <a:off x="3437513" y="2828780"/>
                <a:ext cx="578979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𝑝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1400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74C2839B-941F-0DD9-FEE9-9855B4B5A03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16200000">
                <a:off x="3437513" y="2828780"/>
                <a:ext cx="578979" cy="307777"/>
              </a:xfrm>
              <a:prstGeom prst="rect">
                <a:avLst/>
              </a:prstGeom>
              <a:blipFill>
                <a:blip r:embed="rId4"/>
                <a:stretch>
                  <a:fillRect r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854228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198EF2-2277-4A29-E2C1-5B4166CB73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9D6C5D-1D2F-653A-7673-AD10C27DA35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Evaluation of Binary Responses</a:t>
            </a:r>
          </a:p>
        </p:txBody>
      </p:sp>
    </p:spTree>
    <p:extLst>
      <p:ext uri="{BB962C8B-B14F-4D97-AF65-F5344CB8AC3E}">
        <p14:creationId xmlns:p14="http://schemas.microsoft.com/office/powerpoint/2010/main" val="107803866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8447023" cy="713677"/>
          </a:xfrm>
        </p:spPr>
        <p:txBody>
          <a:bodyPr>
            <a:normAutofit/>
          </a:bodyPr>
          <a:lstStyle/>
          <a:p>
            <a:pPr marL="0" lvl="0" indent="0" algn="ctr">
              <a:buNone/>
            </a:pPr>
            <a:r>
              <a:rPr sz="3200" dirty="0"/>
              <a:t>Evaluation of </a:t>
            </a:r>
            <a:r>
              <a:rPr lang="en-US" sz="3200" dirty="0"/>
              <a:t>Binary Response</a:t>
            </a:r>
            <a:endParaRPr sz="3200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8479535" cy="2473209"/>
          </a:xfrm>
        </p:spPr>
        <p:txBody>
          <a:bodyPr>
            <a:normAutofit/>
          </a:bodyPr>
          <a:lstStyle/>
          <a:p>
            <a:pPr marL="0" lvl="0" indent="0">
              <a:buNone/>
            </a:pPr>
            <a:r>
              <a:rPr sz="1800" dirty="0"/>
              <a:t>How can we evaluate </a:t>
            </a:r>
            <a:r>
              <a:rPr lang="en-US" sz="1800" dirty="0"/>
              <a:t>a binary </a:t>
            </a:r>
            <a:r>
              <a:rPr lang="en-US" sz="1800" dirty="0" err="1"/>
              <a:t>respose</a:t>
            </a:r>
            <a:r>
              <a:rPr sz="1800" dirty="0"/>
              <a:t>?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sz="1800" dirty="0"/>
              <a:t>Determine proportions of test cases which are classified as:</a:t>
            </a:r>
            <a:endParaRPr lang="en-US" sz="1800" dirty="0"/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sz="1650" b="1" dirty="0"/>
              <a:t>True Positives (TP)</a:t>
            </a:r>
            <a:r>
              <a:rPr sz="1650" dirty="0"/>
              <a:t>: Are positive and should be positive</a:t>
            </a:r>
            <a:endParaRPr lang="en-US" sz="1650" dirty="0"/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sz="1800" b="1" dirty="0"/>
              <a:t>True Negatives (TN)</a:t>
            </a:r>
            <a:r>
              <a:rPr sz="1800" dirty="0"/>
              <a:t>: Are negative and should be negative</a:t>
            </a:r>
            <a:endParaRPr lang="en-US" sz="1800" dirty="0"/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sz="1800" b="1" dirty="0"/>
              <a:t>False Positives (FP)</a:t>
            </a:r>
            <a:r>
              <a:rPr sz="1800" dirty="0"/>
              <a:t>: Classified as positive but are actually negative; </a:t>
            </a:r>
            <a:r>
              <a:rPr sz="1800" b="1" dirty="0"/>
              <a:t>Type I errors</a:t>
            </a:r>
            <a:endParaRPr lang="en-US" sz="1800" b="1" dirty="0"/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sz="1800" b="1" dirty="0"/>
              <a:t>False Negatives (FN)</a:t>
            </a:r>
            <a:r>
              <a:rPr sz="1800" dirty="0"/>
              <a:t>: Classified as negative but are actually positive; </a:t>
            </a:r>
            <a:r>
              <a:rPr sz="1800" b="1" dirty="0"/>
              <a:t>Type II errors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sz="1800" dirty="0"/>
              <a:t>Organize these metrics into a </a:t>
            </a:r>
            <a:r>
              <a:rPr sz="1800" b="1" dirty="0"/>
              <a:t>confusion matrix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911462466"/>
              </p:ext>
            </p:extLst>
          </p:nvPr>
        </p:nvGraphicFramePr>
        <p:xfrm>
          <a:off x="1877568" y="3645408"/>
          <a:ext cx="6116319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075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0278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0278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endParaRPr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sz="1800" dirty="0">
                          <a:solidFill>
                            <a:schemeClr val="tx1"/>
                          </a:solidFill>
                        </a:rPr>
                        <a:t>Classified Negative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sz="1800" dirty="0">
                          <a:solidFill>
                            <a:schemeClr val="tx1"/>
                          </a:solidFill>
                        </a:rPr>
                        <a:t>Classified Positive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1800" b="1" dirty="0"/>
                        <a:t>True </a:t>
                      </a:r>
                      <a:r>
                        <a:rPr sz="1800" b="1" dirty="0"/>
                        <a:t>Negative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sz="1800" dirty="0"/>
                        <a:t>TN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sz="1800" dirty="0"/>
                        <a:t>FP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1800" b="1" dirty="0"/>
                        <a:t>True </a:t>
                      </a:r>
                      <a:r>
                        <a:rPr sz="1800" b="1" dirty="0"/>
                        <a:t>Positive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sz="1800"/>
                        <a:t>FN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sz="1800" dirty="0"/>
                        <a:t>TP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Evaluation of Classifiers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20000"/>
              </a:bodyPr>
              <a:lstStyle/>
              <a:p>
                <a:pPr marL="0" lvl="0" indent="0">
                  <a:buNone/>
                </a:pPr>
                <a:r>
                  <a:rPr dirty="0"/>
                  <a:t>The other metrics are defined as follows:</a:t>
                </a:r>
              </a:p>
              <a:p>
                <a:pPr lvl="0"/>
                <a:r>
                  <a:rPr b="1" dirty="0"/>
                  <a:t>Accuracy</a:t>
                </a:r>
                <a:r>
                  <a:rPr dirty="0"/>
                  <a:t> = (TP + TN) / (TP + FP + TN + FN)</a:t>
                </a:r>
              </a:p>
              <a:p>
                <a:pPr lvl="0"/>
                <a:r>
                  <a:rPr dirty="0"/>
                  <a:t>Selectivity or </a:t>
                </a:r>
                <a:r>
                  <a:rPr b="1" dirty="0"/>
                  <a:t>Precision</a:t>
                </a:r>
                <a:r>
                  <a:rPr dirty="0"/>
                  <a:t> = TP / (TP + FP)</a:t>
                </a:r>
              </a:p>
              <a:p>
                <a:pPr lvl="1"/>
                <a:r>
                  <a:rPr dirty="0"/>
                  <a:t>Precision is the fraction of the relevant class predictions which are correct</a:t>
                </a:r>
              </a:p>
              <a:p>
                <a:pPr lvl="0"/>
                <a:r>
                  <a:rPr dirty="0"/>
                  <a:t>Sensitivity or </a:t>
                </a:r>
                <a:r>
                  <a:rPr b="1" dirty="0"/>
                  <a:t>Recall</a:t>
                </a:r>
                <a:r>
                  <a:rPr dirty="0"/>
                  <a:t> = TP / (TP + FN)</a:t>
                </a:r>
              </a:p>
              <a:p>
                <a:pPr lvl="1"/>
                <a:r>
                  <a:rPr dirty="0"/>
                  <a:t>Recall is the fraction of the relevant class </a:t>
                </a:r>
                <a:r>
                  <a:rPr lang="en-US" dirty="0"/>
                  <a:t>correctly </a:t>
                </a:r>
                <a:r>
                  <a:rPr dirty="0"/>
                  <a:t>predict</a:t>
                </a:r>
                <a:r>
                  <a:rPr lang="en-US" dirty="0"/>
                  <a:t>ed</a:t>
                </a:r>
                <a:endParaRPr dirty="0"/>
              </a:p>
              <a:p>
                <a:pPr lvl="0"/>
                <a:r>
                  <a:rPr lang="en-US" dirty="0"/>
                  <a:t>T</a:t>
                </a:r>
                <a:r>
                  <a:rPr dirty="0"/>
                  <a:t>rade-off between precision and recall</a:t>
                </a:r>
              </a:p>
              <a:p>
                <a:pPr lvl="1"/>
                <a:r>
                  <a:rPr dirty="0"/>
                  <a:t>Consider </a:t>
                </a:r>
                <a:r>
                  <a:rPr b="1" dirty="0"/>
                  <a:t>changing the decision threshold</a:t>
                </a:r>
              </a:p>
              <a:p>
                <a:pPr lvl="1"/>
                <a:r>
                  <a:rPr dirty="0"/>
                  <a:t>High threshold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dirty="0"/>
                  <a:t> lower recall, more false negative</a:t>
                </a:r>
                <a:endParaRPr dirty="0"/>
              </a:p>
              <a:p>
                <a:pPr lvl="1"/>
                <a:r>
                  <a:rPr dirty="0"/>
                  <a:t>Low threshold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dirty="0"/>
                  <a:t> </a:t>
                </a:r>
                <a:r>
                  <a:rPr lang="en-US" dirty="0"/>
                  <a:t>lower precision, more false positives</a:t>
                </a:r>
                <a:endParaRPr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63" t="-305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C97D13-957C-D3E5-BA0B-5EE0C9A1D3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E5AE82-EBA8-387C-32E4-D276F05B3F8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Example: Logistic Regression </a:t>
            </a:r>
          </a:p>
        </p:txBody>
      </p:sp>
    </p:spTree>
    <p:extLst>
      <p:ext uri="{BB962C8B-B14F-4D97-AF65-F5344CB8AC3E}">
        <p14:creationId xmlns:p14="http://schemas.microsoft.com/office/powerpoint/2010/main" val="3471828277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Example of Logistic Regression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Content Placeholder 2">
                <a:extLst>
                  <a:ext uri="{FF2B5EF4-FFF2-40B4-BE49-F238E27FC236}">
                    <a16:creationId xmlns:a16="http://schemas.microsoft.com/office/drawing/2014/main" id="{BA88ADC1-5DA7-6472-EFB5-1F13B141F9A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57200" y="1200151"/>
                <a:ext cx="8229600" cy="1929129"/>
              </a:xfrm>
            </p:spPr>
            <p:txBody>
              <a:bodyPr>
                <a:normAutofit fontScale="92500"/>
              </a:bodyPr>
              <a:lstStyle/>
              <a:p>
                <a:pPr marL="0" lvl="0" indent="0">
                  <a:buNone/>
                </a:pPr>
                <a:r>
                  <a:rPr lang="en-US" dirty="0"/>
                  <a:t>Example: create model to predict which employes are likely to leave a company</a:t>
                </a:r>
              </a:p>
              <a:p>
                <a:r>
                  <a:rPr lang="en-US" dirty="0"/>
                  <a:t>Is a logistic regression problem with response </a:t>
                </a:r>
                <a14:m>
                  <m:oMath xmlns:m="http://schemas.openxmlformats.org/officeDocument/2006/math">
                    <m:d>
                      <m:dPr>
                        <m:begChr m:val="{"/>
                        <m:endChr m:val="}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𝑛𝑜𝑡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𝑙𝑒𝑎𝑣𝑒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𝑙𝑒𝑎𝑣𝑒</m:t>
                        </m:r>
                      </m:e>
                    </m:d>
                  </m:oMath>
                </a14:m>
                <a:endParaRPr lang="en-US" b="0" dirty="0"/>
              </a:p>
              <a:p>
                <a:r>
                  <a:rPr lang="en-US" dirty="0"/>
                  <a:t>Employee characteristics are independent mixed numeric and categorical variables   </a:t>
                </a:r>
              </a:p>
              <a:p>
                <a:pPr marL="0" indent="0">
                  <a:buNone/>
                </a:pPr>
                <a:endParaRPr lang="en-US" b="0" dirty="0"/>
              </a:p>
              <a:p>
                <a:endParaRPr lang="en-US" b="0" dirty="0"/>
              </a:p>
              <a:p>
                <a:endParaRPr dirty="0"/>
              </a:p>
            </p:txBody>
          </p:sp>
        </mc:Choice>
        <mc:Fallback xmlns="">
          <p:sp>
            <p:nvSpPr>
              <p:cNvPr id="6" name="Content Placeholder 2">
                <a:extLst>
                  <a:ext uri="{FF2B5EF4-FFF2-40B4-BE49-F238E27FC236}">
                    <a16:creationId xmlns:a16="http://schemas.microsoft.com/office/drawing/2014/main" id="{BA88ADC1-5DA7-6472-EFB5-1F13B141F9A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200151"/>
                <a:ext cx="8229600" cy="1929129"/>
              </a:xfrm>
              <a:blipFill>
                <a:blip r:embed="rId2"/>
                <a:stretch>
                  <a:fillRect l="-963" t="-2215" b="-506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" name="Picture 9">
            <a:extLst>
              <a:ext uri="{FF2B5EF4-FFF2-40B4-BE49-F238E27FC236}">
                <a16:creationId xmlns:a16="http://schemas.microsoft.com/office/drawing/2014/main" id="{568B1D91-E5D9-875E-2557-84C46D61C05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1523" y="3324508"/>
            <a:ext cx="8663341" cy="1460486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Example of Logistic Regression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Content Placeholder 2">
                <a:extLst>
                  <a:ext uri="{FF2B5EF4-FFF2-40B4-BE49-F238E27FC236}">
                    <a16:creationId xmlns:a16="http://schemas.microsoft.com/office/drawing/2014/main" id="{BA88ADC1-5DA7-6472-EFB5-1F13B141F9A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57200" y="1200151"/>
                <a:ext cx="4663440" cy="3664457"/>
              </a:xfrm>
            </p:spPr>
            <p:txBody>
              <a:bodyPr>
                <a:normAutofit fontScale="92500" lnSpcReduction="20000"/>
              </a:bodyPr>
              <a:lstStyle/>
              <a:p>
                <a:pPr marL="0" lvl="0" indent="0">
                  <a:buNone/>
                </a:pPr>
                <a:r>
                  <a:rPr lang="en-US" dirty="0"/>
                  <a:t>Example: fit model</a:t>
                </a:r>
              </a:p>
              <a:p>
                <a:pPr marL="0" lvl="0" indent="0">
                  <a:buNone/>
                </a:pPr>
                <a:r>
                  <a:rPr lang="en-US" sz="1800" dirty="0"/>
                  <a:t>left ~ </a:t>
                </a:r>
                <a:r>
                  <a:rPr lang="en-US" sz="1800" dirty="0" err="1"/>
                  <a:t>satisfaction_level</a:t>
                </a:r>
                <a:r>
                  <a:rPr lang="en-US" sz="1800" dirty="0"/>
                  <a:t> + </a:t>
                </a:r>
                <a:r>
                  <a:rPr lang="en-US" sz="1800" dirty="0" err="1"/>
                  <a:t>average_montly_hours</a:t>
                </a:r>
                <a:r>
                  <a:rPr lang="en-US" sz="1800" dirty="0"/>
                  <a:t> + </a:t>
                </a:r>
                <a:r>
                  <a:rPr lang="en-US" sz="1800" dirty="0" err="1"/>
                  <a:t>last_evaluation</a:t>
                </a:r>
                <a:r>
                  <a:rPr lang="en-US" sz="1800" dirty="0"/>
                  <a:t> + C(salary) + C(promotion_last_5years)</a:t>
                </a:r>
              </a:p>
              <a:p>
                <a:r>
                  <a:rPr lang="en-US" dirty="0"/>
                  <a:t>All coefficients are significant</a:t>
                </a:r>
              </a:p>
              <a:p>
                <a:r>
                  <a:rPr lang="en-US" dirty="0"/>
                  <a:t>2 coefficients for 3 salary levels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ℎ𝑖𝑔ℎ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≻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𝑚𝑒𝑑𝑖𝑢𝑚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≻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𝑙𝑜𝑤</m:t>
                      </m:r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1 coefficient for 2 promotion levels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𝑝𝑟𝑜𝑚𝑜𝑡𝑖𝑜𝑛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≻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𝑛𝑜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𝑝𝑟𝑜𝑚𝑜𝑡𝑖𝑜𝑛</m:t>
                      </m:r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High satisfaction reduces </a:t>
                </a:r>
                <a:r>
                  <a:rPr lang="en-US" i="1" dirty="0"/>
                  <a:t>p(leave)</a:t>
                </a:r>
              </a:p>
              <a:p>
                <a:r>
                  <a:rPr lang="en-US" dirty="0"/>
                  <a:t>Model uses </a:t>
                </a:r>
                <a:r>
                  <a:rPr lang="en-US" b="1" dirty="0"/>
                  <a:t>method of contrasts</a:t>
                </a:r>
              </a:p>
              <a:p>
                <a:pPr lvl="1"/>
                <a:r>
                  <a:rPr lang="en-US" sz="1800" dirty="0"/>
                  <a:t>Intercept = high salary, no promotion</a:t>
                </a:r>
              </a:p>
              <a:p>
                <a:endParaRPr lang="en-US" dirty="0"/>
              </a:p>
              <a:p>
                <a:pPr marL="0" indent="0">
                  <a:buNone/>
                </a:pPr>
                <a:endParaRPr lang="en-US" b="0" dirty="0"/>
              </a:p>
              <a:p>
                <a:endParaRPr lang="en-US" b="0" dirty="0"/>
              </a:p>
              <a:p>
                <a:endParaRPr dirty="0"/>
              </a:p>
            </p:txBody>
          </p:sp>
        </mc:Choice>
        <mc:Fallback xmlns="">
          <p:sp>
            <p:nvSpPr>
              <p:cNvPr id="6" name="Content Placeholder 2">
                <a:extLst>
                  <a:ext uri="{FF2B5EF4-FFF2-40B4-BE49-F238E27FC236}">
                    <a16:creationId xmlns:a16="http://schemas.microsoft.com/office/drawing/2014/main" id="{BA88ADC1-5DA7-6472-EFB5-1F13B141F9A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200151"/>
                <a:ext cx="4663440" cy="3664457"/>
              </a:xfrm>
              <a:blipFill>
                <a:blip r:embed="rId2"/>
                <a:stretch>
                  <a:fillRect l="-1699" t="-2829" b="-18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>
            <a:extLst>
              <a:ext uri="{FF2B5EF4-FFF2-40B4-BE49-F238E27FC236}">
                <a16:creationId xmlns:a16="http://schemas.microsoft.com/office/drawing/2014/main" id="{ADA85742-080E-E959-4B1F-37C085B620A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78111" y="963168"/>
            <a:ext cx="3816838" cy="4050284"/>
          </a:xfrm>
          <a:prstGeom prst="rect">
            <a:avLst/>
          </a:prstGeom>
        </p:spPr>
      </p:pic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A9B57B93-C0E7-00BF-8318-C9B05A28D09B}"/>
              </a:ext>
            </a:extLst>
          </p:cNvPr>
          <p:cNvCxnSpPr>
            <a:cxnSpLocks/>
          </p:cNvCxnSpPr>
          <p:nvPr/>
        </p:nvCxnSpPr>
        <p:spPr>
          <a:xfrm>
            <a:off x="4247804" y="2356658"/>
            <a:ext cx="3794852" cy="83542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5B25795A-9EE9-B499-7BF2-C07DC2F97557}"/>
              </a:ext>
            </a:extLst>
          </p:cNvPr>
          <p:cNvCxnSpPr>
            <a:cxnSpLocks/>
          </p:cNvCxnSpPr>
          <p:nvPr/>
        </p:nvCxnSpPr>
        <p:spPr>
          <a:xfrm>
            <a:off x="4430684" y="2867891"/>
            <a:ext cx="1413348" cy="110670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ADA33E75-5158-E7B8-3622-0C6CFCFA035F}"/>
              </a:ext>
            </a:extLst>
          </p:cNvPr>
          <p:cNvCxnSpPr>
            <a:cxnSpLocks/>
          </p:cNvCxnSpPr>
          <p:nvPr/>
        </p:nvCxnSpPr>
        <p:spPr>
          <a:xfrm>
            <a:off x="4430684" y="2867891"/>
            <a:ext cx="1604356" cy="89537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D49A47CA-0740-69F6-3C73-A95B987E960E}"/>
              </a:ext>
            </a:extLst>
          </p:cNvPr>
          <p:cNvCxnSpPr>
            <a:cxnSpLocks/>
          </p:cNvCxnSpPr>
          <p:nvPr/>
        </p:nvCxnSpPr>
        <p:spPr>
          <a:xfrm>
            <a:off x="4821382" y="3549535"/>
            <a:ext cx="677487" cy="54448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C06A039D-53FF-E8D7-9ABE-242D76DD8F8C}"/>
              </a:ext>
            </a:extLst>
          </p:cNvPr>
          <p:cNvCxnSpPr>
            <a:cxnSpLocks/>
          </p:cNvCxnSpPr>
          <p:nvPr/>
        </p:nvCxnSpPr>
        <p:spPr>
          <a:xfrm>
            <a:off x="4713316" y="4094018"/>
            <a:ext cx="1167939" cy="33250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29399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8447023" cy="713677"/>
          </a:xfrm>
        </p:spPr>
        <p:txBody>
          <a:bodyPr>
            <a:normAutofit/>
          </a:bodyPr>
          <a:lstStyle/>
          <a:p>
            <a:pPr marL="0" lvl="0" indent="0" algn="ctr">
              <a:buNone/>
            </a:pPr>
            <a:r>
              <a:rPr sz="3200" dirty="0"/>
              <a:t>Evaluation of Classifiers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24128"/>
            <a:ext cx="8479535" cy="1739391"/>
          </a:xfrm>
        </p:spPr>
        <p:txBody>
          <a:bodyPr>
            <a:normAutofit/>
          </a:bodyPr>
          <a:lstStyle/>
          <a:p>
            <a:pPr marL="0" lvl="0" indent="0">
              <a:buNone/>
            </a:pPr>
            <a:r>
              <a:rPr sz="1800" dirty="0"/>
              <a:t>How can we evaluate a classifier’s?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sz="1800" dirty="0"/>
              <a:t>Determine proportions of test cases which are classified a</a:t>
            </a:r>
            <a:r>
              <a:rPr lang="en-US" sz="1800" dirty="0"/>
              <a:t>s {no leave, leave}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sz="1800" dirty="0"/>
              <a:t>Logistic function computes </a:t>
            </a:r>
            <a:r>
              <a:rPr lang="en-US" sz="1800" b="1" dirty="0"/>
              <a:t>probability of class 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sz="1800" dirty="0"/>
              <a:t>Examine probabilities by known response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sz="1800" b="1" dirty="0"/>
              <a:t>Threshold</a:t>
            </a:r>
            <a:r>
              <a:rPr lang="en-US" sz="1800" dirty="0"/>
              <a:t> of 0.5 is not optimal in this case, high false negative  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57D546E1-9062-F063-8734-82BC28718DC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77568" y="2865086"/>
            <a:ext cx="5522976" cy="2229646"/>
          </a:xfrm>
          <a:prstGeom prst="rect">
            <a:avLst/>
          </a:prstGeom>
        </p:spPr>
      </p:pic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A75C6273-42FD-BDD5-EC93-956BE033ACA1}"/>
              </a:ext>
            </a:extLst>
          </p:cNvPr>
          <p:cNvCxnSpPr/>
          <p:nvPr/>
        </p:nvCxnSpPr>
        <p:spPr>
          <a:xfrm>
            <a:off x="4970272" y="3710432"/>
            <a:ext cx="2385568" cy="0"/>
          </a:xfrm>
          <a:prstGeom prst="line">
            <a:avLst/>
          </a:prstGeom>
          <a:ln>
            <a:solidFill>
              <a:schemeClr val="accent2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18BBB416-58FF-46D0-2EFD-ACF64332EE14}"/>
              </a:ext>
            </a:extLst>
          </p:cNvPr>
          <p:cNvCxnSpPr>
            <a:cxnSpLocks/>
          </p:cNvCxnSpPr>
          <p:nvPr/>
        </p:nvCxnSpPr>
        <p:spPr>
          <a:xfrm flipV="1">
            <a:off x="3320934" y="2909455"/>
            <a:ext cx="0" cy="1974272"/>
          </a:xfrm>
          <a:prstGeom prst="line">
            <a:avLst/>
          </a:prstGeom>
          <a:ln>
            <a:solidFill>
              <a:schemeClr val="accent2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251474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8447023" cy="713677"/>
          </a:xfrm>
        </p:spPr>
        <p:txBody>
          <a:bodyPr>
            <a:normAutofit/>
          </a:bodyPr>
          <a:lstStyle/>
          <a:p>
            <a:pPr marL="0" lvl="0" indent="0" algn="ctr">
              <a:buNone/>
            </a:pPr>
            <a:r>
              <a:rPr sz="3200" dirty="0"/>
              <a:t>Evaluation of Classifiers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24128"/>
            <a:ext cx="8479535" cy="1739391"/>
          </a:xfrm>
        </p:spPr>
        <p:txBody>
          <a:bodyPr>
            <a:normAutofit/>
          </a:bodyPr>
          <a:lstStyle/>
          <a:p>
            <a:pPr marL="0" lvl="0" indent="0">
              <a:buNone/>
            </a:pPr>
            <a:r>
              <a:rPr sz="1800" dirty="0"/>
              <a:t>How can we evaluate a classifier’s accuracy?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sz="1800" dirty="0"/>
              <a:t>Examine probabilities by known response (label))    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sz="1800" b="1" dirty="0"/>
              <a:t>Threshold</a:t>
            </a:r>
            <a:r>
              <a:rPr lang="en-US" sz="1800" dirty="0"/>
              <a:t> of 0.35 gives better balance of error types  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sz="1800" dirty="0"/>
              <a:t>No threshold value will eliminate errors! 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57D546E1-9062-F063-8734-82BC28718DC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77568" y="2865086"/>
            <a:ext cx="5522976" cy="2229646"/>
          </a:xfrm>
          <a:prstGeom prst="rect">
            <a:avLst/>
          </a:prstGeom>
        </p:spPr>
      </p:pic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A75C6273-42FD-BDD5-EC93-956BE033ACA1}"/>
              </a:ext>
            </a:extLst>
          </p:cNvPr>
          <p:cNvCxnSpPr/>
          <p:nvPr/>
        </p:nvCxnSpPr>
        <p:spPr>
          <a:xfrm>
            <a:off x="4970272" y="3997221"/>
            <a:ext cx="2385568" cy="0"/>
          </a:xfrm>
          <a:prstGeom prst="line">
            <a:avLst/>
          </a:prstGeom>
          <a:ln>
            <a:solidFill>
              <a:schemeClr val="accent2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18BBB416-58FF-46D0-2EFD-ACF64332EE14}"/>
              </a:ext>
            </a:extLst>
          </p:cNvPr>
          <p:cNvCxnSpPr>
            <a:cxnSpLocks/>
          </p:cNvCxnSpPr>
          <p:nvPr/>
        </p:nvCxnSpPr>
        <p:spPr>
          <a:xfrm flipV="1">
            <a:off x="2926079" y="2909455"/>
            <a:ext cx="0" cy="1974272"/>
          </a:xfrm>
          <a:prstGeom prst="line">
            <a:avLst/>
          </a:prstGeom>
          <a:ln>
            <a:solidFill>
              <a:schemeClr val="accent2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04122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Example of Logistic Regression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BA88ADC1-5DA7-6472-EFB5-1F13B141F9A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200151"/>
            <a:ext cx="4081549" cy="3664457"/>
          </a:xfrm>
        </p:spPr>
        <p:txBody>
          <a:bodyPr>
            <a:normAutofit fontScale="92500" lnSpcReduction="20000"/>
          </a:bodyPr>
          <a:lstStyle/>
          <a:p>
            <a:pPr marL="0" lvl="0" indent="0">
              <a:buNone/>
            </a:pPr>
            <a:r>
              <a:rPr lang="en-US" dirty="0"/>
              <a:t>Example: Evaluation of model predictions </a:t>
            </a:r>
          </a:p>
          <a:p>
            <a:r>
              <a:rPr lang="en-US" dirty="0"/>
              <a:t>Use decision threshold = 0.35</a:t>
            </a:r>
          </a:p>
          <a:p>
            <a:r>
              <a:rPr lang="en-US" dirty="0"/>
              <a:t>Examine </a:t>
            </a:r>
            <a:r>
              <a:rPr lang="en-US" b="1" dirty="0"/>
              <a:t>confusion matrix </a:t>
            </a:r>
          </a:p>
          <a:p>
            <a:pPr lvl="1"/>
            <a:r>
              <a:rPr lang="en-US" dirty="0"/>
              <a:t>Diagonal terms are correctly classified </a:t>
            </a:r>
          </a:p>
          <a:p>
            <a:pPr lvl="1"/>
            <a:r>
              <a:rPr lang="en-US" dirty="0"/>
              <a:t>Errors are the off-diagonal terms </a:t>
            </a:r>
          </a:p>
          <a:p>
            <a:r>
              <a:rPr lang="en-US" dirty="0"/>
              <a:t>Watch out!! The relatively high accuracy of this model is deceptive</a:t>
            </a:r>
          </a:p>
          <a:p>
            <a:r>
              <a:rPr lang="en-US" dirty="0"/>
              <a:t>Low </a:t>
            </a:r>
            <a:r>
              <a:rPr lang="en-US" b="1" dirty="0"/>
              <a:t>precision</a:t>
            </a:r>
            <a:r>
              <a:rPr lang="en-US" dirty="0"/>
              <a:t> and </a:t>
            </a:r>
            <a:r>
              <a:rPr lang="en-US" b="1" dirty="0"/>
              <a:t>recall</a:t>
            </a:r>
            <a:r>
              <a:rPr lang="en-US" dirty="0"/>
              <a:t> from high error rate </a:t>
            </a:r>
          </a:p>
          <a:p>
            <a:endParaRPr lang="en-US" dirty="0"/>
          </a:p>
          <a:p>
            <a:pPr marL="0" indent="0">
              <a:buNone/>
            </a:pPr>
            <a:endParaRPr lang="en-US" b="0" dirty="0"/>
          </a:p>
          <a:p>
            <a:endParaRPr lang="en-US" b="0" dirty="0"/>
          </a:p>
          <a:p>
            <a:endParaRPr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247D810-5E05-77ED-C3B1-13DA5996C2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36337" y="1769309"/>
            <a:ext cx="4707664" cy="19423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488273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6E9BFB-D04B-0957-AD28-460D78C173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B67CBD-830B-7AE9-9E29-A0C41F9C5DC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Measuring Deviance</a:t>
            </a:r>
          </a:p>
        </p:txBody>
      </p:sp>
    </p:spTree>
    <p:extLst>
      <p:ext uri="{BB962C8B-B14F-4D97-AF65-F5344CB8AC3E}">
        <p14:creationId xmlns:p14="http://schemas.microsoft.com/office/powerpoint/2010/main" val="2160650033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What is Deviance?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57200" y="1200151"/>
                <a:ext cx="8229600" cy="3675264"/>
              </a:xfrm>
            </p:spPr>
            <p:txBody>
              <a:bodyPr>
                <a:normAutofit lnSpcReduction="10000"/>
              </a:bodyPr>
              <a:lstStyle/>
              <a:p>
                <a:pPr marL="0" lvl="0" indent="0">
                  <a:buNone/>
                </a:pPr>
                <a:r>
                  <a:rPr dirty="0"/>
                  <a:t>The significance of the GLM is expressed in terms of a statistic called </a:t>
                </a:r>
                <a:r>
                  <a:rPr b="1" dirty="0"/>
                  <a:t>deviance</a:t>
                </a:r>
              </a:p>
              <a:p>
                <a:pPr lvl="0"/>
                <a:r>
                  <a:rPr lang="en-US" dirty="0"/>
                  <a:t>OLS regression models often evaluated using variance ratios such as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ar-AE" dirty="0"/>
                  <a:t> </a:t>
                </a:r>
                <a:r>
                  <a:rPr lang="en-US" dirty="0"/>
                  <a:t>or error metrics like RMSE</a:t>
                </a:r>
              </a:p>
              <a:p>
                <a:pPr lvl="0"/>
                <a:r>
                  <a:rPr lang="en-US" dirty="0"/>
                  <a:t>Must use another metric, </a:t>
                </a:r>
                <a:r>
                  <a:rPr lang="en-US" b="1" dirty="0"/>
                  <a:t>deviance</a:t>
                </a:r>
                <a:r>
                  <a:rPr lang="en-US" dirty="0"/>
                  <a:t>, for GLM given a nonlinear mapping</a:t>
                </a:r>
              </a:p>
              <a:p>
                <a:pPr lvl="1"/>
                <a:r>
                  <a:rPr lang="en-US" dirty="0"/>
                  <a:t>Deviance is closely related to </a:t>
                </a:r>
                <a:r>
                  <a:rPr lang="en-US" b="1" dirty="0"/>
                  <a:t>log likelihood ratio</a:t>
                </a:r>
              </a:p>
              <a:p>
                <a:pPr lvl="1"/>
                <a:r>
                  <a:rPr dirty="0"/>
                  <a:t>It can be challenging to understand </a:t>
                </a:r>
                <a:r>
                  <a:rPr lang="en-US" dirty="0"/>
                  <a:t>what </a:t>
                </a:r>
                <a:r>
                  <a:rPr dirty="0"/>
                  <a:t>deviance means</a:t>
                </a:r>
              </a:p>
              <a:p>
                <a:pPr lvl="1"/>
                <a:r>
                  <a:rPr lang="en-US" dirty="0"/>
                  <a:t>Several commonly used forms of deviance complicate understanding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200151"/>
                <a:ext cx="8229600" cy="3675264"/>
              </a:xfrm>
              <a:blipFill>
                <a:blip r:embed="rId2"/>
                <a:stretch>
                  <a:fillRect l="-1111" t="-2322" r="-16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What is Deviance?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20000"/>
              </a:bodyPr>
              <a:lstStyle/>
              <a:p>
                <a:pPr marL="0" lvl="0" indent="0">
                  <a:buNone/>
                </a:pPr>
                <a:r>
                  <a:rPr lang="en-US" dirty="0"/>
                  <a:t>The significance of the GLM is expressed in terms of a statistic called </a:t>
                </a:r>
                <a:r>
                  <a:rPr lang="en-US" b="1" dirty="0"/>
                  <a:t>deviance</a:t>
                </a:r>
              </a:p>
              <a:p>
                <a:pPr lvl="0"/>
                <a:r>
                  <a:rPr lang="en-US" dirty="0"/>
                  <a:t>Wrapping your head around deviance takes some work</a:t>
                </a:r>
              </a:p>
              <a:p>
                <a:pPr lvl="0"/>
                <a:r>
                  <a:rPr lang="en-US" dirty="0"/>
                  <a:t>In summary, deviance is the </a:t>
                </a:r>
                <a:r>
                  <a:rPr lang="en-US" b="1" dirty="0"/>
                  <a:t>log likelihood ratio of a model to</a:t>
                </a:r>
                <a:r>
                  <a:rPr lang="en-US" dirty="0"/>
                  <a:t> </a:t>
                </a:r>
                <a:r>
                  <a:rPr lang="en-US" b="1" dirty="0"/>
                  <a:t>a reference model</a:t>
                </a:r>
              </a:p>
              <a:p>
                <a:pPr lvl="0"/>
                <a:r>
                  <a:rPr lang="en-US" dirty="0"/>
                  <a:t>Let’s start with by defining some notation</a:t>
                </a:r>
              </a:p>
              <a:p>
                <a:pPr lvl="1"/>
                <a:r>
                  <a:rPr lang="en-US" dirty="0"/>
                  <a:t>The model is written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𝜙</m:t>
                        </m:r>
                      </m:e>
                    </m:d>
                  </m:oMath>
                </a14:m>
                <a:r>
                  <a:rPr lang="ar-AE" dirty="0"/>
                  <a:t>, </a:t>
                </a:r>
                <a:r>
                  <a:rPr lang="en-US" dirty="0"/>
                  <a:t>with parameters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𝜙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The reference model is written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𝜙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𝑅</m:t>
                            </m:r>
                          </m:sub>
                        </m:sSub>
                      </m:e>
                    </m:d>
                  </m:oMath>
                </a14:m>
                <a:r>
                  <a:rPr lang="ar-AE" dirty="0"/>
                  <a:t>, </a:t>
                </a:r>
                <a:r>
                  <a:rPr lang="en-US" dirty="0"/>
                  <a:t>with parameters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𝜙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𝑅</m:t>
                        </m:r>
                      </m:sub>
                    </m:sSub>
                  </m:oMath>
                </a14:m>
                <a:r>
                  <a:rPr lang="ar-AE" dirty="0"/>
                  <a:t>: </a:t>
                </a:r>
                <a:r>
                  <a:rPr lang="en-US" dirty="0"/>
                  <a:t>Some sources use notation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𝜙</m:t>
                            </m:r>
                          </m:e>
                          <m:sub>
                            <m:r>
                              <a:rPr lang="ar-AE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</m:oMath>
                </a14:m>
                <a:endParaRPr lang="ar-AE" dirty="0"/>
              </a:p>
              <a:p>
                <a:pPr lvl="1"/>
                <a14:m>
                  <m:oMath xmlns:m="http://schemas.openxmlformats.org/officeDocument/2006/math">
                    <m:r>
                      <a:rPr lang="ar-AE">
                        <a:latin typeface="Cambria Math" panose="02040503050406030204" pitchFamily="18" charset="0"/>
                      </a:rPr>
                      <m:t>𝐗</m:t>
                    </m:r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ar-AE" dirty="0"/>
                  <a:t> </a:t>
                </a:r>
                <a:r>
                  <a:rPr lang="en-US" dirty="0"/>
                  <a:t>the array of observations or model matrix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𝑙</m:t>
                    </m:r>
                    <m:d>
                      <m:dPr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ar-AE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𝐗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𝜙</m:t>
                            </m:r>
                          </m:e>
                        </m:d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ar-AE" dirty="0"/>
                  <a:t> </a:t>
                </a:r>
                <a:r>
                  <a:rPr lang="en-US" dirty="0"/>
                  <a:t>the log-likelihood of the model</a:t>
                </a:r>
                <a:endParaRPr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63" t="-3052" r="-370" b="-10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What is Deviance?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10000"/>
              </a:bodyPr>
              <a:lstStyle/>
              <a:p>
                <a:pPr marL="0" lvl="0" indent="0">
                  <a:buNone/>
                </a:pPr>
                <a:r>
                  <a:rPr lang="en-US" dirty="0"/>
                  <a:t>The significance of the GLM is expressed in terms of a statistic called </a:t>
                </a:r>
                <a:r>
                  <a:rPr lang="en-US" b="1" dirty="0"/>
                  <a:t>deviance</a:t>
                </a:r>
              </a:p>
              <a:p>
                <a:pPr lvl="0"/>
                <a:r>
                  <a:rPr lang="en-US" dirty="0"/>
                  <a:t>Deviance is based on the </a:t>
                </a:r>
                <a:r>
                  <a:rPr lang="en-US" b="1" dirty="0"/>
                  <a:t>log likelihood ratio </a:t>
                </a:r>
                <a:r>
                  <a:rPr lang="en-US" dirty="0"/>
                  <a:t>between a model and a reference model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ar-AE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𝜆</m:t>
                          </m:r>
                        </m:e>
                        <m:sub>
                          <m:r>
                            <a:rPr lang="ar-AE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=2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𝑙𝑛</m:t>
                      </m:r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ar-AE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  <m:d>
                                <m:dPr>
                                  <m:ctrlPr>
                                    <a:rPr lang="ar-AE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𝐗</m:t>
                                  </m:r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sSub>
                                    <m:sSubPr>
                                      <m:ctrlPr>
                                        <a:rPr lang="ar-AE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ar-AE">
                                          <a:latin typeface="Cambria Math" panose="02040503050406030204" pitchFamily="18" charset="0"/>
                                        </a:rPr>
                                        <m:t>𝜙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 </m:t>
                                      </m:r>
                                    </m:sub>
                                  </m:sSub>
                                </m:e>
                              </m:d>
                            </m:num>
                            <m:den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  <m:d>
                                <m:dPr>
                                  <m:ctrlPr>
                                    <a:rPr lang="ar-AE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𝐗</m:t>
                                  </m:r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, </m:t>
                                  </m:r>
                                  <m:sSub>
                                    <m:sSubPr>
                                      <m:ctrlPr>
                                        <a:rPr lang="ar-AE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ar-AE">
                                          <a:latin typeface="Cambria Math" panose="02040503050406030204" pitchFamily="18" charset="0"/>
                                        </a:rPr>
                                        <m:t>𝜙</m:t>
                                      </m:r>
                                    </m:e>
                                    <m:sub>
                                      <m:r>
                                        <a:rPr lang="ar-AE">
                                          <a:latin typeface="Cambria Math" panose="02040503050406030204" pitchFamily="18" charset="0"/>
                                        </a:rPr>
                                        <m:t>𝑅</m:t>
                                      </m:r>
                                    </m:sub>
                                  </m:sSub>
                                </m:e>
                              </m:d>
                            </m:den>
                          </m:f>
                        </m:e>
                      </m:d>
                    </m:oMath>
                  </m:oMathPara>
                </a14:m>
                <a:endParaRPr lang="en-US" dirty="0"/>
              </a:p>
              <a:p>
                <a:pPr marL="685800" lvl="2" indent="0">
                  <a:buNone/>
                </a:pPr>
                <a:r>
                  <a:rPr lang="en-US" dirty="0"/>
                  <a:t>Where the factor of 2 scales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𝜆</m:t>
                        </m:r>
                      </m:e>
                      <m:sub>
                        <m:r>
                          <a:rPr lang="ar-AE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sub>
                    </m:sSub>
                  </m:oMath>
                </a14:m>
                <a:r>
                  <a:rPr lang="en-US" dirty="0"/>
                  <a:t> to have a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𝜒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dirty="0"/>
                  <a:t> distribution with 1 </a:t>
                </a:r>
                <a:r>
                  <a:rPr lang="en-US" dirty="0" err="1"/>
                  <a:t>DoF</a:t>
                </a:r>
                <a:endParaRPr lang="ar-AE" dirty="0"/>
              </a:p>
              <a:p>
                <a:r>
                  <a:rPr lang="en-US" dirty="0"/>
                  <a:t>Rearranging terms gives a formulation of deviance </a:t>
                </a:r>
                <a:endParaRPr lang="ar-AE" dirty="0"/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a:rPr lang="ar-AE">
                          <a:latin typeface="Cambria Math" panose="02040503050406030204" pitchFamily="18" charset="0"/>
                        </a:rPr>
                        <m:t>𝐷</m:t>
                      </m:r>
                      <m:d>
                        <m:d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𝑓</m:t>
                          </m:r>
                          <m:d>
                            <m:dPr>
                              <m:ctrlPr>
                                <a:rPr lang="ar-AE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𝐗</m:t>
                              </m:r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𝜙</m:t>
                              </m:r>
                            </m:e>
                          </m:d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=2</m:t>
                      </m:r>
                      <m:d>
                        <m:d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𝑙</m:t>
                          </m:r>
                          <m:d>
                            <m:dPr>
                              <m:ctrlPr>
                                <a:rPr lang="ar-AE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  <m:d>
                                <m:dPr>
                                  <m:ctrlPr>
                                    <a:rPr lang="ar-AE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𝐗</m:t>
                                  </m:r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sSub>
                                    <m:sSubPr>
                                      <m:ctrlPr>
                                        <a:rPr lang="ar-AE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ar-AE">
                                          <a:latin typeface="Cambria Math" panose="02040503050406030204" pitchFamily="18" charset="0"/>
                                        </a:rPr>
                                        <m:t>𝜙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 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𝑙</m:t>
                          </m:r>
                          <m:d>
                            <m:dPr>
                              <m:ctrlPr>
                                <a:rPr lang="ar-AE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  <m:d>
                                <m:dPr>
                                  <m:ctrlPr>
                                    <a:rPr lang="ar-AE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𝐗</m:t>
                                  </m:r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sSub>
                                    <m:sSubPr>
                                      <m:ctrlPr>
                                        <a:rPr lang="ar-AE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ar-AE">
                                          <a:latin typeface="Cambria Math" panose="02040503050406030204" pitchFamily="18" charset="0"/>
                                        </a:rPr>
                                        <m:t>𝜙</m:t>
                                      </m:r>
                                    </m:e>
                                    <m:sub>
                                      <m:r>
                                        <a:rPr lang="ar-AE">
                                          <a:latin typeface="Cambria Math" panose="02040503050406030204" pitchFamily="18" charset="0"/>
                                        </a:rPr>
                                        <m:t>𝑅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d>
                        </m:e>
                      </m:d>
                    </m:oMath>
                  </m:oMathPara>
                </a14:m>
                <a:endParaRPr lang="ar-AE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63" t="-2334" r="-7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951604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What is Deviance?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57200" y="1200150"/>
                <a:ext cx="8229600" cy="3666951"/>
              </a:xfrm>
            </p:spPr>
            <p:txBody>
              <a:bodyPr>
                <a:normAutofit fontScale="85000" lnSpcReduction="20000"/>
              </a:bodyPr>
              <a:lstStyle/>
              <a:p>
                <a:pPr marL="0" lvl="0" indent="0">
                  <a:buNone/>
                </a:pPr>
                <a:r>
                  <a:rPr lang="en-US" dirty="0"/>
                  <a:t>There are several commonly used forms of deviance:</a:t>
                </a:r>
              </a:p>
              <a:p>
                <a:pPr lvl="0"/>
                <a:r>
                  <a:rPr lang="en-US" b="1" dirty="0"/>
                  <a:t>Residual deviance</a:t>
                </a:r>
                <a:r>
                  <a:rPr lang="en-US" dirty="0"/>
                  <a:t> uses a </a:t>
                </a:r>
                <a:r>
                  <a:rPr lang="en-US" b="1" dirty="0"/>
                  <a:t>saturated model</a:t>
                </a:r>
                <a:r>
                  <a:rPr lang="en-US" dirty="0"/>
                  <a:t> as a reference</a:t>
                </a:r>
              </a:p>
              <a:p>
                <a:pPr lvl="1"/>
                <a:r>
                  <a:rPr lang="en-US" dirty="0"/>
                  <a:t>Saturated model has a degree of freedom (parameter) for each observation used to fit</a:t>
                </a:r>
              </a:p>
              <a:p>
                <a:pPr lvl="1"/>
                <a:r>
                  <a:rPr lang="en-US" dirty="0"/>
                  <a:t>Model has a perfect fit to training data</a:t>
                </a:r>
              </a:p>
              <a:p>
                <a:pPr lvl="1"/>
                <a:r>
                  <a:rPr lang="en-US" dirty="0"/>
                  <a:t>But poor </a:t>
                </a:r>
                <a:r>
                  <a:rPr lang="en-US" b="1" dirty="0"/>
                  <a:t>generalization</a:t>
                </a:r>
                <a:r>
                  <a:rPr lang="en-US" dirty="0"/>
                  <a:t> or accuracy for new observations</a:t>
                </a:r>
              </a:p>
              <a:p>
                <a:pPr lvl="0"/>
                <a:r>
                  <a:rPr lang="en-US" b="1" dirty="0"/>
                  <a:t>Likelihood ratio test </a:t>
                </a:r>
                <a:r>
                  <a:rPr lang="en-US" dirty="0"/>
                  <a:t>uses a </a:t>
                </a:r>
                <a:r>
                  <a:rPr lang="en-US" b="1" dirty="0"/>
                  <a:t>null model</a:t>
                </a:r>
                <a:r>
                  <a:rPr lang="en-US" dirty="0"/>
                  <a:t> as a reference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−2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</m:oMath>
                </a14:m>
                <a:r>
                  <a:rPr lang="en-US" dirty="0"/>
                  <a:t> the likelihood ratio is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𝜒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dirty="0"/>
                  <a:t> distributed with 1 </a:t>
                </a:r>
                <a:r>
                  <a:rPr lang="en-US" dirty="0" err="1"/>
                  <a:t>DoF</a:t>
                </a:r>
                <a:endParaRPr lang="en-US" dirty="0"/>
              </a:p>
              <a:p>
                <a:pPr lvl="1"/>
                <a:r>
                  <a:rPr lang="en-US" dirty="0"/>
                  <a:t>Null model explains none of the variance of the data</a:t>
                </a:r>
              </a:p>
              <a:p>
                <a:pPr lvl="1"/>
                <a:r>
                  <a:rPr lang="en-US" dirty="0"/>
                  <a:t>Example: for Normally distributed response null model is the mean of response vector</a:t>
                </a:r>
              </a:p>
              <a:p>
                <a:pPr lvl="1"/>
                <a:r>
                  <a:rPr lang="en-US" dirty="0"/>
                  <a:t>Example: for Binomially distributed response null model random guesses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0,1</m:t>
                        </m:r>
                      </m:e>
                    </m:d>
                  </m:oMath>
                </a14:m>
                <a:r>
                  <a:rPr lang="ar-AE" dirty="0"/>
                  <a:t> </a:t>
                </a:r>
                <a:r>
                  <a:rPr lang="en-US" dirty="0"/>
                  <a:t>based on the probability parameter,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dirty="0"/>
                  <a:t>, of the response vector</a:t>
                </a:r>
                <a:endParaRPr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200150"/>
                <a:ext cx="8229600" cy="3666951"/>
              </a:xfrm>
              <a:blipFill>
                <a:blip r:embed="rId2"/>
                <a:stretch>
                  <a:fillRect l="-741" t="-2496" r="-10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What is Deviance?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pPr marL="0" lvl="0" indent="0">
                  <a:buNone/>
                </a:pPr>
                <a:r>
                  <a:rPr dirty="0"/>
                  <a:t>The deviance</a:t>
                </a:r>
                <a:r>
                  <a:rPr lang="en-US" dirty="0"/>
                  <a:t> </a:t>
                </a:r>
                <a:r>
                  <a:rPr dirty="0"/>
                  <a:t>statistic</a:t>
                </a:r>
                <a:r>
                  <a:rPr lang="en-US" dirty="0"/>
                  <a:t> is</a:t>
                </a:r>
                <a:r>
                  <a:rPr dirty="0"/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𝜒</m:t>
                        </m:r>
                      </m:e>
                      <m:sup>
                        <m:r>
                          <a:rPr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dirty="0"/>
                  <a:t> distributed</a:t>
                </a:r>
                <a:r>
                  <a:rPr lang="en-US" dirty="0"/>
                  <a:t> with 1 </a:t>
                </a:r>
                <a:r>
                  <a:rPr lang="en-US" dirty="0" err="1"/>
                  <a:t>DoF</a:t>
                </a:r>
                <a:endParaRPr dirty="0"/>
              </a:p>
              <a:p>
                <a:pPr lvl="0"/>
                <a:r>
                  <a:rPr dirty="0"/>
                  <a:t>Can apply a significance test on a model</a:t>
                </a:r>
              </a:p>
              <a:p>
                <a:pPr lvl="0"/>
                <a:r>
                  <a:rPr dirty="0"/>
                  <a:t>A model with small deviance is little better that informed guessing</a:t>
                </a:r>
              </a:p>
              <a:p>
                <a:pPr lvl="1"/>
                <a:r>
                  <a:rPr dirty="0"/>
                  <a:t>Has small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𝜒</m:t>
                        </m:r>
                      </m:e>
                      <m:sup>
                        <m:r>
                          <a:rPr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dirty="0"/>
                  <a:t> and is </a:t>
                </a:r>
                <a:r>
                  <a:rPr b="1" dirty="0"/>
                  <a:t>not significant</a:t>
                </a:r>
                <a:r>
                  <a:rPr lang="en-US" b="1" dirty="0"/>
                  <a:t>ly different </a:t>
                </a:r>
                <a:r>
                  <a:rPr lang="en-US" dirty="0"/>
                  <a:t>than the reference model</a:t>
                </a:r>
                <a:endParaRPr dirty="0"/>
              </a:p>
              <a:p>
                <a:pPr lvl="0"/>
                <a:r>
                  <a:rPr dirty="0"/>
                  <a:t>A model with large deviance has a large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𝜒</m:t>
                        </m:r>
                      </m:e>
                      <m:sup>
                        <m:r>
                          <a:rPr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endParaRPr dirty="0"/>
              </a:p>
              <a:p>
                <a:pPr lvl="1"/>
                <a:r>
                  <a:rPr dirty="0"/>
                  <a:t>Exhibits a </a:t>
                </a:r>
                <a:r>
                  <a:rPr lang="en-US" b="1" dirty="0"/>
                  <a:t>statistically </a:t>
                </a:r>
                <a:r>
                  <a:rPr b="1" dirty="0"/>
                  <a:t>significant improvement </a:t>
                </a:r>
                <a:r>
                  <a:rPr dirty="0"/>
                  <a:t>in accuracy</a:t>
                </a:r>
                <a:r>
                  <a:rPr lang="en-US" dirty="0"/>
                  <a:t> compared to reference model</a:t>
                </a:r>
                <a:endParaRPr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111" t="-251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Residual Deviance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20000"/>
              </a:bodyPr>
              <a:lstStyle/>
              <a:p>
                <a:pPr marL="0" lvl="0" indent="0">
                  <a:buNone/>
                </a:pPr>
                <a:r>
                  <a:rPr lang="en-US" b="1" dirty="0"/>
                  <a:t>Residual deviance</a:t>
                </a:r>
                <a:r>
                  <a:rPr lang="en-US" dirty="0"/>
                  <a:t> is 2 times the difference between the log likelihood of a saturated model,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𝐗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ar-AE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𝜙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𝑆</m:t>
                            </m:r>
                          </m:sub>
                        </m:sSub>
                      </m:e>
                    </m:d>
                  </m:oMath>
                </a14:m>
                <a:r>
                  <a:rPr lang="ar-AE" dirty="0"/>
                  <a:t>, </a:t>
                </a:r>
                <a:r>
                  <a:rPr lang="en-US" dirty="0"/>
                  <a:t>and some other model: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sSub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  <m: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𝑅</m:t>
                          </m:r>
                        </m:sub>
                      </m:sSub>
                      <m:d>
                        <m:d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𝑓</m:t>
                          </m:r>
                          <m:d>
                            <m:dPr>
                              <m:ctrlPr>
                                <a:rPr lang="ar-AE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𝐗</m:t>
                              </m:r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𝜙</m:t>
                              </m:r>
                            </m:e>
                          </m:d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0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ar-AE">
                          <a:latin typeface="Cambria Math" panose="02040503050406030204" pitchFamily="18" charset="0"/>
                        </a:rPr>
                        <m:t>2</m:t>
                      </m:r>
                      <m:d>
                        <m:d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𝑙</m:t>
                          </m:r>
                          <m:d>
                            <m:dPr>
                              <m:ctrlPr>
                                <a:rPr lang="ar-AE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  <m:d>
                                <m:dPr>
                                  <m:ctrlPr>
                                    <a:rPr lang="ar-AE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𝐗</m:t>
                                  </m:r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𝜙</m:t>
                                  </m:r>
                                </m:e>
                              </m:d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𝑙</m:t>
                          </m:r>
                          <m:d>
                            <m:dPr>
                              <m:ctrlPr>
                                <a:rPr lang="ar-AE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  <m:d>
                                <m:dPr>
                                  <m:ctrlPr>
                                    <a:rPr lang="ar-AE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𝐗</m:t>
                                  </m:r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sSub>
                                    <m:sSubPr>
                                      <m:ctrlPr>
                                        <a:rPr lang="ar-AE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ar-AE">
                                          <a:latin typeface="Cambria Math" panose="02040503050406030204" pitchFamily="18" charset="0"/>
                                        </a:rPr>
                                        <m:t>𝜙</m:t>
                                      </m:r>
                                    </m:e>
                                    <m:sub>
                                      <m:r>
                                        <a:rPr lang="ar-AE">
                                          <a:latin typeface="Cambria Math" panose="02040503050406030204" pitchFamily="18" charset="0"/>
                                        </a:rPr>
                                        <m:t>𝑆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d>
                        </m:e>
                      </m:d>
                    </m:oMath>
                  </m:oMathPara>
                </a14:m>
                <a:endParaRPr lang="ar-AE" dirty="0"/>
              </a:p>
              <a:p>
                <a:pPr marL="0" lvl="0" indent="0">
                  <a:buNone/>
                </a:pPr>
                <a:r>
                  <a:rPr lang="en-US" dirty="0"/>
                  <a:t>Residual deviance has several important properties.</a:t>
                </a:r>
              </a:p>
              <a:p>
                <a:pPr lvl="0"/>
                <a:r>
                  <a:rPr lang="en-US" dirty="0"/>
                  <a:t>Log likelihood of saturated model is 0 for some common distributions</a:t>
                </a:r>
              </a:p>
              <a:p>
                <a:pPr lvl="1"/>
                <a:r>
                  <a:rPr lang="en-US" dirty="0"/>
                  <a:t>Examples, Normal distribution or Binomial distribution</a:t>
                </a:r>
              </a:p>
              <a:p>
                <a:pPr lvl="1"/>
                <a:r>
                  <a:rPr lang="en-US" dirty="0"/>
                  <a:t>In these cases, deviance </a:t>
                </a:r>
                <a14:m>
                  <m:oMath xmlns:m="http://schemas.openxmlformats.org/officeDocument/2006/math">
                    <m:r>
                      <a:rPr lang="en-US" b="0" i="0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>
                        <a:latin typeface="Cambria Math" panose="02040503050406030204" pitchFamily="18" charset="0"/>
                      </a:rPr>
                      <m:t>2 </m:t>
                    </m:r>
                    <m:r>
                      <a:rPr lang="en-US">
                        <a:latin typeface="Cambria Math" panose="02040503050406030204" pitchFamily="18" charset="0"/>
                      </a:rPr>
                      <m:t>𝑙</m:t>
                    </m:r>
                    <m:d>
                      <m:dPr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ar-AE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𝐗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𝜙</m:t>
                            </m:r>
                          </m:e>
                        </m:d>
                      </m:e>
                    </m:d>
                  </m:oMath>
                </a14:m>
                <a:endParaRPr lang="ar-AE" dirty="0"/>
              </a:p>
              <a:p>
                <a:pPr lvl="0"/>
                <a:r>
                  <a:rPr lang="en-US" dirty="0"/>
                  <a:t>In other cases log likelihood of saturated model is not 0:</a:t>
                </a:r>
              </a:p>
              <a:p>
                <a:pPr lvl="1"/>
                <a:r>
                  <a:rPr lang="en-US" dirty="0"/>
                  <a:t>Example, Poisson distribution</a:t>
                </a:r>
                <a:endParaRPr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63" t="-3052" r="-444" b="-7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Residual Deviance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57200" y="1063230"/>
                <a:ext cx="8229600" cy="3808028"/>
              </a:xfrm>
            </p:spPr>
            <p:txBody>
              <a:bodyPr>
                <a:normAutofit fontScale="77500" lnSpcReduction="20000"/>
              </a:bodyPr>
              <a:lstStyle/>
              <a:p>
                <a:pPr marL="0" lvl="0" indent="0">
                  <a:buNone/>
                </a:pPr>
                <a:r>
                  <a:rPr b="1" dirty="0"/>
                  <a:t>Normal saturated model:</a:t>
                </a:r>
              </a:p>
              <a:p>
                <a:r>
                  <a:rPr dirty="0"/>
                  <a:t>We can construct a saturated model for normally distributed values by having a free mean parameter,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dirty="0"/>
                  <a:t> for each observation,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dirty="0"/>
                  <a:t>.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d>
                        <m:dPr>
                          <m:begChr m:val="["/>
                          <m:endChr m:val="]"/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>
                                        <a:latin typeface="Cambria Math" panose="02040503050406030204" pitchFamily="18" charset="0"/>
                                      </a:rPr>
                                      <m:t>3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r>
                                  <a:rPr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  <m:r>
                        <a:rPr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>
                                    <a:latin typeface="Cambria Math" panose="02040503050406030204" pitchFamily="18" charset="0"/>
                                  </a:rPr>
                                  <m:t>1,0,0,…,0</m:t>
                                </m:r>
                              </m:e>
                            </m:mr>
                            <m:mr>
                              <m:e>
                                <m:r>
                                  <a:rPr>
                                    <a:latin typeface="Cambria Math" panose="02040503050406030204" pitchFamily="18" charset="0"/>
                                  </a:rPr>
                                  <m:t>0,1,0,…,0</m:t>
                                </m:r>
                              </m:e>
                            </m:mr>
                            <m:mr>
                              <m:e>
                                <m:r>
                                  <a:rPr>
                                    <a:latin typeface="Cambria Math" panose="02040503050406030204" pitchFamily="18" charset="0"/>
                                  </a:rPr>
                                  <m:t>0,0,1,…,0</m:t>
                                </m:r>
                              </m:e>
                            </m:mr>
                            <m:mr>
                              <m:e>
                                <m:r>
                                  <a:rPr>
                                    <a:latin typeface="Cambria Math" panose="02040503050406030204" pitchFamily="18" charset="0"/>
                                  </a:rPr>
                                  <m:t>⋮, ⋮, ⋮, ⋱, ⋮</m:t>
                                </m:r>
                              </m:e>
                            </m:mr>
                            <m:mr>
                              <m:e>
                                <m:r>
                                  <a:rPr>
                                    <a:latin typeface="Cambria Math" panose="02040503050406030204" pitchFamily="18" charset="0"/>
                                  </a:rPr>
                                  <m:t>0,0,0,…,1</m:t>
                                </m:r>
                              </m:e>
                            </m:mr>
                          </m:m>
                        </m:e>
                      </m:d>
                      <m:d>
                        <m:dPr>
                          <m:begChr m:val="["/>
                          <m:endChr m:val="]"/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>
                                        <a:latin typeface="Cambria Math" panose="02040503050406030204" pitchFamily="18" charset="0"/>
                                      </a:rPr>
                                      <m:t>𝜇</m:t>
                                    </m:r>
                                  </m:e>
                                  <m:sub>
                                    <m:r>
                                      <a:rPr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>
                                        <a:latin typeface="Cambria Math" panose="02040503050406030204" pitchFamily="18" charset="0"/>
                                      </a:rPr>
                                      <m:t>𝜇</m:t>
                                    </m:r>
                                  </m:e>
                                  <m:sub>
                                    <m:r>
                                      <a:rPr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>
                                        <a:latin typeface="Cambria Math" panose="02040503050406030204" pitchFamily="18" charset="0"/>
                                      </a:rPr>
                                      <m:t>𝜇</m:t>
                                    </m:r>
                                  </m:e>
                                  <m:sub>
                                    <m:r>
                                      <a:rPr>
                                        <a:latin typeface="Cambria Math" panose="02040503050406030204" pitchFamily="18" charset="0"/>
                                      </a:rPr>
                                      <m:t>3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r>
                                  <a:rPr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>
                                        <a:latin typeface="Cambria Math" panose="02040503050406030204" pitchFamily="18" charset="0"/>
                                      </a:rPr>
                                      <m:t>𝜇</m:t>
                                    </m:r>
                                  </m:e>
                                  <m:sub>
                                    <m:r>
                                      <a:rPr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dirty="0"/>
              </a:p>
              <a:p>
                <a:r>
                  <a:rPr lang="en-US" dirty="0"/>
                  <a:t>T</a:t>
                </a:r>
                <a:r>
                  <a:rPr dirty="0"/>
                  <a:t>he normal likelihood for this models is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a:rPr>
                          <a:latin typeface="Cambria Math" panose="02040503050406030204" pitchFamily="18" charset="0"/>
                        </a:rPr>
                        <m:t>ℒ</m:t>
                      </m:r>
                      <m:d>
                        <m:dPr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𝐗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| 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𝛍</m:t>
                          </m:r>
                        </m:e>
                      </m:d>
                      <m:r>
                        <a:rPr>
                          <a:latin typeface="Cambria Math" panose="02040503050406030204" pitchFamily="18" charset="0"/>
                        </a:rPr>
                        <m:t>=−</m:t>
                      </m:r>
                      <m:f>
                        <m:fPr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p>
                            <m:sSupPr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  <m:sSup>
                                    <m:sSupPr>
                                      <m:ctrlPr>
                                        <a:rPr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>
                                          <a:latin typeface="Cambria Math" panose="02040503050406030204" pitchFamily="18" charset="0"/>
                                        </a:rPr>
                                        <m:t>𝜎</m:t>
                                      </m:r>
                                    </m:e>
                                    <m:sup>
                                      <m:r>
                                        <a:rPr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</m:e>
                              </m:d>
                            </m:e>
                            <m:sup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/2</m:t>
                              </m:r>
                            </m:sup>
                          </m:sSup>
                        </m:den>
                      </m:f>
                      <m:r>
                        <a:rPr>
                          <a:latin typeface="Cambria Math" panose="02040503050406030204" pitchFamily="18" charset="0"/>
                        </a:rPr>
                        <m:t>𝑒𝑥𝑝</m:t>
                      </m:r>
                      <m:d>
                        <m:dPr>
                          <m:begChr m:val="["/>
                          <m:endChr m:val="]"/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sSup>
                                <m:sSupPr>
                                  <m:ctrlPr>
                                    <a:rPr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>
                                      <a:latin typeface="Cambria Math" panose="02040503050406030204" pitchFamily="18" charset="0"/>
                                    </a:rPr>
                                    <m:t>𝜎</m:t>
                                  </m:r>
                                </m:e>
                                <m:sup>
                                  <m:r>
                                    <a:rPr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den>
                          </m:f>
                          <m:nary>
                            <m:naryPr>
                              <m:chr m:val="∑"/>
                              <m:limLoc m:val="undOvr"/>
                              <m:ctrlPr>
                                <a:rPr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p>
                            <m:e>
                              <m:sSup>
                                <m:sSupPr>
                                  <m:ctrlPr>
                                    <a:rPr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  <m:r>
                                        <a:rPr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sSub>
                                        <m:sSubPr>
                                          <m:ctrlPr>
                                            <a:rPr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>
                                              <a:latin typeface="Cambria Math" panose="02040503050406030204" pitchFamily="18" charset="0"/>
                                            </a:rPr>
                                            <m:t>𝜇</m:t>
                                          </m:r>
                                        </m:e>
                                        <m:sub>
                                          <m:r>
                                            <a:rPr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  <m:sup>
                                  <m:r>
                                    <a:rPr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nary>
                        </m:e>
                      </m:d>
                    </m:oMath>
                  </m:oMathPara>
                </a14:m>
                <a:endParaRPr dirty="0"/>
              </a:p>
              <a:p>
                <a:r>
                  <a:rPr dirty="0"/>
                  <a:t>Since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dirty="0"/>
                  <a:t>, the Normal likelihood is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1.0</m:t>
                    </m:r>
                  </m:oMath>
                </a14:m>
                <a:r>
                  <a:rPr dirty="0"/>
                  <a:t> and the log likelihood is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0.0</m:t>
                    </m:r>
                  </m:oMath>
                </a14:m>
                <a:r>
                  <a:rPr dirty="0"/>
                  <a:t>.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063230"/>
                <a:ext cx="8229600" cy="3808028"/>
              </a:xfrm>
              <a:blipFill>
                <a:blip r:embed="rId2"/>
                <a:stretch>
                  <a:fillRect l="-667" t="-2080" b="-16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Residual Deviance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20000"/>
              </a:bodyPr>
              <a:lstStyle/>
              <a:p>
                <a:pPr marL="0" lvl="0" indent="0">
                  <a:buNone/>
                </a:pPr>
                <a:r>
                  <a:rPr b="1" dirty="0"/>
                  <a:t>Binomial </a:t>
                </a:r>
                <a:r>
                  <a:rPr b="1" dirty="0" err="1"/>
                  <a:t>staturated</a:t>
                </a:r>
                <a:r>
                  <a:rPr b="1" dirty="0"/>
                  <a:t> model:</a:t>
                </a:r>
              </a:p>
              <a:p>
                <a:r>
                  <a:rPr dirty="0"/>
                  <a:t>A saturated Binomial model can be constructed if for each outcome,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dirty="0"/>
                  <a:t>, the probability parameter is: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sSubPr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  <m:sub>
                          <m:r>
                            <a:rPr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m:rPr>
                                    <m:nor/>
                                  </m:rPr>
                                  <a:rPr i="0"/>
                                  <m:t>if </m:t>
                                </m:r>
                                <m:sSub>
                                  <m:sSubPr>
                                    <m:ctrlPr>
                                      <a:rPr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  <m:sub>
                                    <m:r>
                                      <a:rPr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>
                                    <a:latin typeface="Cambria Math" panose="02040503050406030204" pitchFamily="18" charset="0"/>
                                  </a:rPr>
                                  <m:t>=1</m:t>
                                </m:r>
                              </m:e>
                            </m:mr>
                            <m:mr>
                              <m:e>
                                <m:r>
                                  <a:rPr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m:rPr>
                                    <m:nor/>
                                  </m:rPr>
                                  <a:rPr i="0"/>
                                  <m:t>if </m:t>
                                </m:r>
                                <m:sSub>
                                  <m:sSubPr>
                                    <m:ctrlPr>
                                      <a:rPr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  <m:sub>
                                    <m:r>
                                      <a:rPr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>
                                    <a:latin typeface="Cambria Math" panose="02040503050406030204" pitchFamily="18" charset="0"/>
                                  </a:rPr>
                                  <m:t>=0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dirty="0"/>
              </a:p>
              <a:p>
                <a:r>
                  <a:rPr dirty="0"/>
                  <a:t>The likelihood can be writ</a:t>
                </a:r>
                <a:r>
                  <a:rPr lang="en-US" dirty="0"/>
                  <a:t>t</a:t>
                </a:r>
                <a:r>
                  <a:rPr dirty="0"/>
                  <a:t>en: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nary>
                        <m:naryPr>
                          <m:chr m:val="∏"/>
                          <m:limLoc m:val="undOvr"/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sSubSup>
                            <m:sSubSupPr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acc>
                                <m:accPr>
                                  <m:chr m:val="̂"/>
                                  <m:ctrlPr>
                                    <a:rPr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e>
                              </m:acc>
                            </m:e>
                            <m:sub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  <m:sup>
                              <m:sSub>
                                <m:sSubPr>
                                  <m:ctrlPr>
                                    <a:rPr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sup>
                          </m:sSubSup>
                        </m:e>
                      </m:nary>
                      <m:sSup>
                        <m:sSup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sSub>
                                <m:sSubPr>
                                  <m:ctrlPr>
                                    <a:rPr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acc>
                                    <m:accPr>
                                      <m:chr m:val="̂"/>
                                      <m:ctrlPr>
                                        <a:rPr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>
                                          <a:latin typeface="Cambria Math" panose="02040503050406030204" pitchFamily="18" charset="0"/>
                                        </a:rPr>
                                        <m:t>𝜋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a:rPr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</m:e>
                        <m:sup>
                          <m:r>
                            <a:rPr>
                              <a:latin typeface="Cambria Math" panose="02040503050406030204" pitchFamily="18" charset="0"/>
                            </a:rPr>
                            <m:t>1−</m:t>
                          </m:r>
                          <m:sSub>
                            <m:sSubPr>
                              <m:ctrlPr>
                                <a:rPr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sup>
                      </m:sSup>
                      <m:r>
                        <a:rPr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  <m:sup>
                          <m:r>
                            <a:rPr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</m:sSup>
                      <m:r>
                        <a:rPr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dirty="0"/>
              </a:p>
              <a:p>
                <a:r>
                  <a:rPr dirty="0"/>
                  <a:t>Since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𝑙𝑜𝑔</m:t>
                    </m:r>
                    <m:d>
                      <m:d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1</m:t>
                        </m:r>
                      </m:e>
                    </m:d>
                    <m:r>
                      <a:rPr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dirty="0"/>
                  <a:t>, the log likelihood of the saturated model.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63" t="-3052" b="-89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Properties of Deviance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lvl="0" indent="0">
                  <a:buNone/>
                </a:pPr>
                <a:r>
                  <a:rPr lang="en-US" dirty="0"/>
                  <a:t>What are some key properties of deviance?</a:t>
                </a:r>
              </a:p>
              <a:p>
                <a:pPr lvl="0"/>
                <a:r>
                  <a:rPr lang="en-US" dirty="0"/>
                  <a:t>Deviance can be applied to any GLM</a:t>
                </a:r>
              </a:p>
              <a:p>
                <a:pPr lvl="0"/>
                <a:r>
                  <a:rPr lang="en-US" dirty="0"/>
                  <a:t>Recall that log-likelihood is usually a negative number</a:t>
                </a:r>
              </a:p>
              <a:p>
                <a:pPr lvl="1"/>
                <a:r>
                  <a:rPr lang="en-US" dirty="0"/>
                  <a:t>Higher log-likelihood has smaller magnitude</a:t>
                </a:r>
              </a:p>
              <a:p>
                <a:pPr lvl="0"/>
                <a:r>
                  <a:rPr lang="en-US" dirty="0"/>
                  <a:t>Sign of ratio chosen to ensure deviance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≥0</m:t>
                    </m:r>
                  </m:oMath>
                </a14:m>
                <a:r>
                  <a:rPr lang="en-US" dirty="0"/>
                  <a:t> always</a:t>
                </a:r>
              </a:p>
              <a:p>
                <a:pPr lvl="1"/>
                <a:r>
                  <a:rPr lang="en-US" dirty="0"/>
                  <a:t>If model is no better than the reference model,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𝓁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𝑅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𝓁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𝜙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→</m:t>
                    </m:r>
                    <m:r>
                      <a:rPr lang="ar-AE">
                        <a:latin typeface="Cambria Math" panose="02040503050406030204" pitchFamily="18" charset="0"/>
                      </a:rPr>
                      <m:t>𝐷</m:t>
                    </m:r>
                    <m:r>
                      <a:rPr lang="ar-AE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endParaRPr lang="ar-AE" dirty="0"/>
              </a:p>
              <a:p>
                <a:pPr lvl="1"/>
                <a:r>
                  <a:rPr lang="en-US" dirty="0"/>
                  <a:t>For model with greater predictive power,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𝓁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𝜙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&gt;</m:t>
                    </m:r>
                    <m:sSub>
                      <m:sSubPr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𝓁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𝑅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→</m:t>
                    </m:r>
                    <m:r>
                      <a:rPr lang="ar-AE">
                        <a:latin typeface="Cambria Math" panose="02040503050406030204" pitchFamily="18" charset="0"/>
                      </a:rPr>
                      <m:t>𝐷</m:t>
                    </m:r>
                    <m:r>
                      <a:rPr lang="ar-AE">
                        <a:latin typeface="Cambria Math" panose="02040503050406030204" pitchFamily="18" charset="0"/>
                      </a:rPr>
                      <m:t>&gt;0</m:t>
                    </m:r>
                  </m:oMath>
                </a14:m>
                <a:endParaRPr dirty="0"/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111" t="-14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Example of Logistic Regression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Content Placeholder 2">
                <a:extLst>
                  <a:ext uri="{FF2B5EF4-FFF2-40B4-BE49-F238E27FC236}">
                    <a16:creationId xmlns:a16="http://schemas.microsoft.com/office/drawing/2014/main" id="{BA88ADC1-5DA7-6472-EFB5-1F13B141F9A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57200" y="1200151"/>
                <a:ext cx="4663440" cy="3664457"/>
              </a:xfrm>
            </p:spPr>
            <p:txBody>
              <a:bodyPr>
                <a:normAutofit lnSpcReduction="10000"/>
              </a:bodyPr>
              <a:lstStyle/>
              <a:p>
                <a:pPr marL="0" lvl="0" indent="0">
                  <a:buNone/>
                </a:pPr>
                <a:r>
                  <a:rPr lang="en-US" dirty="0"/>
                  <a:t>Example: fit model</a:t>
                </a:r>
              </a:p>
              <a:p>
                <a:pPr marL="0" lvl="0" indent="0">
                  <a:buNone/>
                </a:pPr>
                <a:r>
                  <a:rPr lang="en-US" sz="1800" dirty="0"/>
                  <a:t>left ~ </a:t>
                </a:r>
                <a:r>
                  <a:rPr lang="en-US" sz="1800" dirty="0" err="1"/>
                  <a:t>satisfaction_level</a:t>
                </a:r>
                <a:r>
                  <a:rPr lang="en-US" sz="1800" dirty="0"/>
                  <a:t> + </a:t>
                </a:r>
                <a:r>
                  <a:rPr lang="en-US" sz="1800" dirty="0" err="1"/>
                  <a:t>average_montly_hours</a:t>
                </a:r>
                <a:r>
                  <a:rPr lang="en-US" sz="1800" dirty="0"/>
                  <a:t> + </a:t>
                </a:r>
                <a:r>
                  <a:rPr lang="en-US" sz="1800" dirty="0" err="1"/>
                  <a:t>last_evaluation</a:t>
                </a:r>
                <a:r>
                  <a:rPr lang="en-US" sz="1800" dirty="0"/>
                  <a:t> + C(salary) + C(promotion_last_5years)</a:t>
                </a:r>
              </a:p>
              <a:p>
                <a:r>
                  <a:rPr lang="en-US" dirty="0"/>
                  <a:t>Deviance by itself is hard to interpret – useful for model selection and comparison</a:t>
                </a:r>
              </a:p>
              <a:p>
                <a14:m>
                  <m:oMath xmlns:m="http://schemas.openxmlformats.org/officeDocument/2006/math">
                    <m:sSup>
                      <m:sSupPr>
                        <m:ctrlP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𝜒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dirty="0"/>
                  <a:t> p-value shows model is statistically significant compared to the saturated model </a:t>
                </a:r>
                <a:endParaRPr lang="en-US" sz="1800" dirty="0"/>
              </a:p>
              <a:p>
                <a:endParaRPr lang="en-US" dirty="0"/>
              </a:p>
              <a:p>
                <a:pPr marL="0" indent="0">
                  <a:buNone/>
                </a:pPr>
                <a:endParaRPr lang="en-US" b="0" dirty="0"/>
              </a:p>
              <a:p>
                <a:endParaRPr lang="en-US" b="0" dirty="0"/>
              </a:p>
              <a:p>
                <a:endParaRPr dirty="0"/>
              </a:p>
            </p:txBody>
          </p:sp>
        </mc:Choice>
        <mc:Fallback xmlns="">
          <p:sp>
            <p:nvSpPr>
              <p:cNvPr id="6" name="Content Placeholder 2">
                <a:extLst>
                  <a:ext uri="{FF2B5EF4-FFF2-40B4-BE49-F238E27FC236}">
                    <a16:creationId xmlns:a16="http://schemas.microsoft.com/office/drawing/2014/main" id="{BA88ADC1-5DA7-6472-EFB5-1F13B141F9A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200151"/>
                <a:ext cx="4663440" cy="3664457"/>
              </a:xfrm>
              <a:blipFill>
                <a:blip r:embed="rId2"/>
                <a:stretch>
                  <a:fillRect l="-1961" t="-2329" r="-65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>
            <a:extLst>
              <a:ext uri="{FF2B5EF4-FFF2-40B4-BE49-F238E27FC236}">
                <a16:creationId xmlns:a16="http://schemas.microsoft.com/office/drawing/2014/main" id="{ADA85742-080E-E959-4B1F-37C085B620A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78111" y="963168"/>
            <a:ext cx="3816838" cy="4050284"/>
          </a:xfrm>
          <a:prstGeom prst="rect">
            <a:avLst/>
          </a:prstGeom>
        </p:spPr>
      </p:pic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A9B57B93-C0E7-00BF-8318-C9B05A28D09B}"/>
              </a:ext>
            </a:extLst>
          </p:cNvPr>
          <p:cNvCxnSpPr>
            <a:cxnSpLocks/>
          </p:cNvCxnSpPr>
          <p:nvPr/>
        </p:nvCxnSpPr>
        <p:spPr>
          <a:xfrm flipV="1">
            <a:off x="4430684" y="2312416"/>
            <a:ext cx="3038301" cy="50800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ADA33E75-5158-E7B8-3622-0C6CFCFA035F}"/>
              </a:ext>
            </a:extLst>
          </p:cNvPr>
          <p:cNvCxnSpPr>
            <a:cxnSpLocks/>
          </p:cNvCxnSpPr>
          <p:nvPr/>
        </p:nvCxnSpPr>
        <p:spPr>
          <a:xfrm flipV="1">
            <a:off x="4915267" y="2527808"/>
            <a:ext cx="2354213" cy="1296416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26239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1AAB80-6C9F-ABEE-2E86-0036A56E63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8C95BC-8703-5204-7E48-D057F879148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Poisson Regression as a GLM</a:t>
            </a:r>
          </a:p>
        </p:txBody>
      </p:sp>
    </p:spTree>
    <p:extLst>
      <p:ext uri="{BB962C8B-B14F-4D97-AF65-F5344CB8AC3E}">
        <p14:creationId xmlns:p14="http://schemas.microsoft.com/office/powerpoint/2010/main" val="524424305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Poisson Regression as GLM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57200" y="1200151"/>
                <a:ext cx="5145578" cy="3394472"/>
              </a:xfrm>
            </p:spPr>
            <p:txBody>
              <a:bodyPr>
                <a:normAutofit lnSpcReduction="10000"/>
              </a:bodyPr>
              <a:lstStyle/>
              <a:p>
                <a:pPr marL="0" lvl="0" indent="0">
                  <a:buNone/>
                </a:pPr>
                <a:r>
                  <a:rPr lang="en-US" b="1" dirty="0">
                    <a:hlinkClick r:id="rId2"/>
                  </a:rPr>
                  <a:t>Poisson regression </a:t>
                </a:r>
                <a:r>
                  <a:rPr lang="en-US" dirty="0"/>
                  <a:t>is example of a GLM</a:t>
                </a:r>
              </a:p>
              <a:p>
                <a:pPr lvl="0"/>
                <a:r>
                  <a:rPr lang="en-US" dirty="0"/>
                  <a:t>Poisson regression is an example of nonlinear response model</a:t>
                </a:r>
              </a:p>
              <a:p>
                <a:pPr lvl="0"/>
                <a:r>
                  <a:rPr lang="en-US" dirty="0"/>
                  <a:t>Recall, the Poisson distribution has an </a:t>
                </a:r>
                <a:r>
                  <a:rPr lang="en-US" b="1" dirty="0"/>
                  <a:t>exponential form </a:t>
                </a:r>
                <a:r>
                  <a:rPr lang="en-US" dirty="0"/>
                  <a:t>with a single parameter,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𝜆</m:t>
                    </m:r>
                  </m:oMath>
                </a14:m>
                <a:endParaRPr lang="en-US" dirty="0"/>
              </a:p>
              <a:p>
                <a:pPr lvl="0"/>
                <a:r>
                  <a:rPr lang="en-US" dirty="0"/>
                  <a:t>The probability of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dirty="0"/>
                  <a:t> arrivals 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𝜆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p>
                          </m:sSup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𝜆</m:t>
                              </m:r>
                            </m:sup>
                          </m:sSup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!</m:t>
                          </m:r>
                        </m:den>
                      </m:f>
                    </m:oMath>
                  </m:oMathPara>
                </a14:m>
                <a:endParaRPr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200151"/>
                <a:ext cx="5145578" cy="3394472"/>
              </a:xfrm>
              <a:blipFill>
                <a:blip r:embed="rId3"/>
                <a:stretch>
                  <a:fillRect l="-1777" t="-2513" r="-59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3F55446E-49E6-A461-3A13-564B546B576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53253" y="1458884"/>
            <a:ext cx="3439953" cy="2838796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B06ECB91-7EE8-99AE-6A68-8AE1BA9A99F3}"/>
              </a:ext>
            </a:extLst>
          </p:cNvPr>
          <p:cNvSpPr txBox="1"/>
          <p:nvPr/>
        </p:nvSpPr>
        <p:spPr>
          <a:xfrm>
            <a:off x="6080759" y="4253754"/>
            <a:ext cx="29759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hlinkClick r:id="rId2"/>
              </a:rPr>
              <a:t>Figure from Wiki Commons</a:t>
            </a:r>
            <a:endParaRPr lang="en-US" sz="1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5D84FB-4A66-2BBB-BECA-635B46DB21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6D2F0B-A2CB-E224-97ED-D66B34D93B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Poisson Regression as GLM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AE9AD08-CA48-5C5C-6A10-EA6F7E10E85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lvl="0" indent="0">
                  <a:buNone/>
                </a:pPr>
                <a:r>
                  <a:rPr lang="en-US" b="1" dirty="0"/>
                  <a:t>Poisson regression </a:t>
                </a:r>
                <a:r>
                  <a:rPr lang="en-US" dirty="0"/>
                  <a:t>is example of a GLM</a:t>
                </a:r>
              </a:p>
              <a:p>
                <a:pPr lvl="0"/>
                <a:r>
                  <a:rPr lang="en-US" dirty="0"/>
                  <a:t>Parameter,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𝜆</m:t>
                    </m:r>
                  </m:oMath>
                </a14:m>
                <a:r>
                  <a:rPr lang="en-US" dirty="0"/>
                  <a:t>, is the </a:t>
                </a:r>
                <a:r>
                  <a:rPr lang="en-US" b="1" dirty="0"/>
                  <a:t>expected arrival rate </a:t>
                </a:r>
                <a:r>
                  <a:rPr lang="en-US" dirty="0"/>
                  <a:t>of the process</a:t>
                </a:r>
              </a:p>
              <a:p>
                <a:pPr lvl="1"/>
                <a:r>
                  <a:rPr lang="en-US" dirty="0"/>
                  <a:t>For a finite sample period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E</m:t>
                    </m:r>
                    <m:r>
                      <a:rPr lang="en-US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[</m:t>
                    </m:r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𝜆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]</m:t>
                    </m:r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⟶</m:t>
                    </m:r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𝜇</m:t>
                    </m:r>
                  </m:oMath>
                </a14:m>
                <a:r>
                  <a:rPr lang="en-US" dirty="0"/>
                  <a:t> the mean arrival rate</a:t>
                </a:r>
              </a:p>
              <a:p>
                <a:pPr lvl="0"/>
                <a:r>
                  <a:rPr lang="en-US" dirty="0"/>
                  <a:t>Predictions of response,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ar-AE" dirty="0"/>
                  <a:t>, </a:t>
                </a:r>
                <a:r>
                  <a:rPr lang="en-US" dirty="0"/>
                  <a:t>computed from observations,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ar-AE" dirty="0"/>
                  <a:t> </a:t>
                </a:r>
                <a:r>
                  <a:rPr lang="en-US" dirty="0"/>
                  <a:t>and model parameter,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𝜆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endParaRPr lang="ar-AE" dirty="0"/>
              </a:p>
              <a:p>
                <a:pPr lvl="0"/>
                <a:r>
                  <a:rPr lang="en-US" dirty="0"/>
                  <a:t>Link function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⇔</m:t>
                    </m:r>
                  </m:oMath>
                </a14:m>
                <a:r>
                  <a:rPr lang="en-US" dirty="0"/>
                  <a:t> Inverse link function: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a:rPr lang="en-US">
                          <a:latin typeface="Cambria Math" panose="02040503050406030204" pitchFamily="18" charset="0"/>
                        </a:rPr>
                        <m:t>𝑙𝑜𝑔</m:t>
                      </m:r>
                      <m:d>
                        <m:dPr>
                          <m:begChr m:val="["/>
                          <m:endChr m:val="]"/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𝙴</m:t>
                          </m:r>
                          <m:d>
                            <m:d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ar-AE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|</m:t>
                              </m:r>
                              <m:sSub>
                                <m:sSubPr>
                                  <m:ctrlPr>
                                    <a:rPr lang="ar-AE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sSub>
                        <m:sSub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𝜆</m:t>
                          </m:r>
                        </m:e>
                        <m: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ar-AE">
                          <a:latin typeface="Cambria Math" panose="02040503050406030204" pitchFamily="18" charset="0"/>
                        </a:rPr>
                        <m:t>⇔</m:t>
                      </m:r>
                      <m:r>
                        <a:rPr lang="ar-AE">
                          <a:latin typeface="Cambria Math" panose="02040503050406030204" pitchFamily="18" charset="0"/>
                        </a:rPr>
                        <m:t>𝙴</m:t>
                      </m:r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ar-AE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|</m:t>
                          </m:r>
                          <m:sSub>
                            <m:sSubPr>
                              <m:ctrlPr>
                                <a:rPr lang="ar-AE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sSub>
                            <m:sSubPr>
                              <m:ctrlPr>
                                <a:rPr lang="ar-AE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sSub>
                            <m:sSubPr>
                              <m:ctrlPr>
                                <a:rPr lang="ar-AE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𝜆</m:t>
                              </m:r>
                            </m:e>
                            <m:sub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sup>
                      </m:sSup>
                    </m:oMath>
                  </m:oMathPara>
                </a14:m>
                <a:endParaRPr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AE9AD08-CA48-5C5C-6A10-EA6F7E10E85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111" t="-14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7195553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Poisson Regression as GLM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lvl="0" indent="0">
                  <a:buNone/>
                </a:pPr>
                <a:r>
                  <a:rPr dirty="0"/>
                  <a:t>Extend relationship using a linear model for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𝜆</m:t>
                    </m:r>
                  </m:oMath>
                </a14:m>
                <a:endParaRPr dirty="0"/>
              </a:p>
              <a:p>
                <a:pPr lvl="0"/>
                <a:r>
                  <a:rPr dirty="0"/>
                  <a:t>Expected arrival rate </a:t>
                </a:r>
                <a:r>
                  <a:rPr lang="en-US" dirty="0"/>
                  <a:t>depends on </a:t>
                </a:r>
                <a:r>
                  <a:rPr dirty="0"/>
                  <a:t>the independent variable</a:t>
                </a:r>
                <a:r>
                  <a:rPr lang="en-US" dirty="0"/>
                  <a:t>(s)</a:t>
                </a:r>
                <a:endParaRPr dirty="0"/>
              </a:p>
              <a:p>
                <a:pPr lvl="0"/>
                <a:r>
                  <a:rPr dirty="0"/>
                  <a:t>Example, linear model with intercept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dirty="0"/>
                  <a:t>, and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dirty="0"/>
                  <a:t> dimensional </a:t>
                </a:r>
                <a:r>
                  <a:rPr lang="en-US" dirty="0"/>
                  <a:t>partial </a:t>
                </a:r>
                <a:r>
                  <a:rPr dirty="0"/>
                  <a:t>slope parameter vector,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b="1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b="1" i="1">
                            <a:latin typeface="Cambria Math" panose="02040503050406030204" pitchFamily="18" charset="0"/>
                          </a:rPr>
                          <m:t>𝛃</m:t>
                        </m:r>
                      </m:e>
                    </m:acc>
                  </m:oMath>
                </a14:m>
                <a:endParaRPr dirty="0"/>
              </a:p>
              <a:p>
                <a:pPr lvl="1"/>
                <a:r>
                  <a:rPr dirty="0"/>
                  <a:t>Estimate 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𝜆</m:t>
                        </m:r>
                      </m:e>
                      <m:sub>
                        <m:r>
                          <a:rPr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dirty="0"/>
                  <a:t>, for a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dirty="0"/>
                  <a:t> dimensional observation vector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𝐱</m:t>
                        </m:r>
                      </m:e>
                      <m:sub>
                        <m:r>
                          <a:rPr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endParaRPr dirty="0"/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a:rPr>
                          <a:latin typeface="Cambria Math" panose="02040503050406030204" pitchFamily="18" charset="0"/>
                        </a:rPr>
                        <m:t>𝑙𝑜𝑔</m:t>
                      </m:r>
                      <m:d>
                        <m:d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𝜆</m:t>
                              </m:r>
                            </m:e>
                            <m:sub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  <m:r>
                        <a:rPr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𝐱</m:t>
                          </m:r>
                        </m:e>
                        <m:sub>
                          <m:r>
                            <a:rPr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acc>
                        <m:accPr>
                          <m:chr m:val="⃗"/>
                          <m:ctrlPr>
                            <a:rPr b="1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b="1" i="1">
                              <a:latin typeface="Cambria Math" panose="02040503050406030204" pitchFamily="18" charset="0"/>
                            </a:rPr>
                            <m:t>𝛃</m:t>
                          </m:r>
                        </m:e>
                      </m:acc>
                      <m:r>
                        <a:rPr>
                          <a:latin typeface="Cambria Math" panose="02040503050406030204" pitchFamily="18" charset="0"/>
                        </a:rPr>
                        <m:t>⇔</m:t>
                      </m:r>
                      <m:sSub>
                        <m:sSubPr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𝜆</m:t>
                          </m:r>
                        </m:e>
                        <m:sub>
                          <m:r>
                            <a:rPr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d>
                            <m:dPr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>
                                      <a:latin typeface="Cambria Math" panose="02040503050406030204" pitchFamily="18" charset="0"/>
                                    </a:rPr>
                                    <m:t>𝛽</m:t>
                                  </m:r>
                                </m:e>
                                <m:sub>
                                  <m:r>
                                    <a:rPr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>
                                      <a:latin typeface="Cambria Math" panose="02040503050406030204" pitchFamily="18" charset="0"/>
                                    </a:rPr>
                                    <m:t>𝐱</m:t>
                                  </m:r>
                                </m:e>
                                <m:sub>
                                  <m:r>
                                    <a:rPr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acc>
                                <m:accPr>
                                  <m:chr m:val="⃗"/>
                                  <m:ctrlPr>
                                    <a:rPr b="1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b="1" i="1">
                                      <a:latin typeface="Cambria Math" panose="02040503050406030204" pitchFamily="18" charset="0"/>
                                    </a:rPr>
                                    <m:t>𝛃</m:t>
                                  </m:r>
                                </m:e>
                              </m:acc>
                            </m:e>
                          </m:d>
                        </m:sup>
                      </m:sSup>
                    </m:oMath>
                  </m:oMathPara>
                </a14:m>
                <a:endParaRPr dirty="0"/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111" t="-14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8233755" cy="614017"/>
          </a:xfrm>
        </p:spPr>
        <p:txBody>
          <a:bodyPr>
            <a:normAutofit/>
          </a:bodyPr>
          <a:lstStyle/>
          <a:p>
            <a:pPr marL="0" lvl="0" indent="0" algn="ctr">
              <a:buNone/>
            </a:pPr>
            <a:r>
              <a:rPr sz="3200" b="0" dirty="0">
                <a:latin typeface="+mn-lt"/>
              </a:rPr>
              <a:t>Poisson Regression Example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 Placeholder 3"/>
              <p:cNvSpPr>
                <a:spLocks noGrp="1"/>
              </p:cNvSpPr>
              <p:nvPr>
                <p:ph type="body" sz="half" idx="2"/>
              </p:nvPr>
            </p:nvSpPr>
            <p:spPr>
              <a:xfrm>
                <a:off x="457201" y="1363287"/>
                <a:ext cx="4264428" cy="3231336"/>
              </a:xfrm>
            </p:spPr>
            <p:txBody>
              <a:bodyPr>
                <a:normAutofit lnSpcReduction="10000"/>
              </a:bodyPr>
              <a:lstStyle/>
              <a:p>
                <a:pPr marL="0" lvl="0" indent="0">
                  <a:buNone/>
                </a:pPr>
                <a:r>
                  <a:rPr lang="en-US" sz="2000" dirty="0"/>
                  <a:t>Example:  number of awards for students</a:t>
                </a:r>
              </a:p>
              <a:p>
                <a:pPr marL="342900" lvl="0" indent="-342900">
                  <a:buFont typeface="Arial" panose="020B0604020202020204" pitchFamily="34" charset="0"/>
                  <a:buChar char="•"/>
                </a:pPr>
                <a:r>
                  <a:rPr lang="en-US" sz="2000" dirty="0"/>
                  <a:t>Independent variables are program,</a:t>
                </a:r>
                <a14:m>
                  <m:oMath xmlns:m="http://schemas.openxmlformats.org/officeDocument/2006/math">
                    <m:d>
                      <m:dPr>
                        <m:begChr m:val="{"/>
                        <m:endChr m:val="}"/>
                        <m:ctrlPr>
                          <a:rPr lang="ar-AE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sz="2000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𝑐𝑎𝑑𝑒𝑚𝑖𝑐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𝑔𝑒𝑛𝑒𝑟𝑎𝑙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𝑣𝑜𝑐𝑎𝑡𝑖𝑜𝑛𝑎𝑙</m:t>
                        </m:r>
                      </m:e>
                    </m:d>
                  </m:oMath>
                </a14:m>
                <a:r>
                  <a:rPr lang="ar-AE" sz="2000" dirty="0"/>
                  <a:t> , </a:t>
                </a:r>
                <a:r>
                  <a:rPr lang="en-US" sz="2000" dirty="0"/>
                  <a:t>and math score</a:t>
                </a:r>
              </a:p>
              <a:p>
                <a:pPr marL="342900" lvl="0" indent="-342900">
                  <a:buFont typeface="Arial" panose="020B0604020202020204" pitchFamily="34" charset="0"/>
                  <a:buChar char="•"/>
                </a:pPr>
                <a:r>
                  <a:rPr lang="en-US" sz="2000" dirty="0"/>
                  <a:t>Count data - suitable for Poisson model</a:t>
                </a:r>
              </a:p>
              <a:p>
                <a:pPr marL="342900" lvl="0" indent="-342900">
                  <a:buFont typeface="Arial" panose="020B0604020202020204" pitchFamily="34" charset="0"/>
                  <a:buChar char="•"/>
                </a:pPr>
                <a:r>
                  <a:rPr lang="en-US" sz="2000" dirty="0"/>
                  <a:t>Note exponential decrease in award counts by program</a:t>
                </a:r>
                <a:endParaRPr sz="2000" dirty="0"/>
              </a:p>
            </p:txBody>
          </p:sp>
        </mc:Choice>
        <mc:Fallback xmlns="">
          <p:sp>
            <p:nvSpPr>
              <p:cNvPr id="4" name="Text Placeholder 3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half" idx="2"/>
              </p:nvPr>
            </p:nvSpPr>
            <p:spPr>
              <a:xfrm>
                <a:off x="457201" y="1363287"/>
                <a:ext cx="4264428" cy="3231336"/>
              </a:xfrm>
              <a:blipFill>
                <a:blip r:embed="rId2"/>
                <a:stretch>
                  <a:fillRect l="-1429" t="-2075" r="-21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5">
            <a:extLst>
              <a:ext uri="{FF2B5EF4-FFF2-40B4-BE49-F238E27FC236}">
                <a16:creationId xmlns:a16="http://schemas.microsoft.com/office/drawing/2014/main" id="{A03BC6CA-6748-B704-0AAA-4393A2EB638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91603" y="1109749"/>
            <a:ext cx="4352397" cy="3335482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62454"/>
          </a:xfrm>
        </p:spPr>
        <p:txBody>
          <a:bodyPr>
            <a:normAutofit/>
          </a:bodyPr>
          <a:lstStyle/>
          <a:p>
            <a:pPr marL="0" lvl="0" indent="0">
              <a:buNone/>
            </a:pPr>
            <a:r>
              <a:rPr sz="3200" dirty="0">
                <a:latin typeface="+mn-lt"/>
              </a:rPr>
              <a:t>Poisson Regression Example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3D63785-FE0E-1E0A-4018-448CF53E15E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10019" y="1236983"/>
            <a:ext cx="4165010" cy="3588316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8" name="Content Placeholder 2">
                <a:extLst>
                  <a:ext uri="{FF2B5EF4-FFF2-40B4-BE49-F238E27FC236}">
                    <a16:creationId xmlns:a16="http://schemas.microsoft.com/office/drawing/2014/main" id="{95D4DC41-687B-A833-D70C-ADE378B35DB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57200" y="1200151"/>
                <a:ext cx="4663440" cy="3664457"/>
              </a:xfrm>
            </p:spPr>
            <p:txBody>
              <a:bodyPr>
                <a:normAutofit fontScale="85000" lnSpcReduction="20000"/>
              </a:bodyPr>
              <a:lstStyle/>
              <a:p>
                <a:pPr marL="0" lvl="0" indent="0">
                  <a:buNone/>
                </a:pPr>
                <a:r>
                  <a:rPr lang="en-US" dirty="0"/>
                  <a:t>Fit model</a:t>
                </a:r>
              </a:p>
              <a:p>
                <a:pPr marL="0" lvl="0" indent="0">
                  <a:buNone/>
                </a:pPr>
                <a:r>
                  <a:rPr lang="en-US" dirty="0" err="1"/>
                  <a:t>num_awards</a:t>
                </a:r>
                <a:r>
                  <a:rPr lang="en-US" dirty="0"/>
                  <a:t> ~ math + C(prog)</a:t>
                </a:r>
              </a:p>
              <a:p>
                <a:r>
                  <a:rPr lang="en-US" dirty="0"/>
                  <a:t>Likelihood ratio indicates model is statistically significant compared to a null model</a:t>
                </a:r>
              </a:p>
              <a:p>
                <a:r>
                  <a:rPr lang="en-US" dirty="0"/>
                  <a:t>All coefficients are significant</a:t>
                </a:r>
              </a:p>
              <a:p>
                <a:r>
                  <a:rPr lang="en-US" dirty="0" err="1"/>
                  <a:t>Intersept</a:t>
                </a:r>
                <a:r>
                  <a:rPr lang="en-US" dirty="0"/>
                  <a:t> for mean rate of academic program</a:t>
                </a:r>
              </a:p>
              <a:p>
                <a:r>
                  <a:rPr lang="en-US" dirty="0"/>
                  <a:t>2 coefficients for 3 program levels 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𝑔𝑒𝑛𝑒𝑟𝑎𝑙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≺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𝑣𝑜𝑐𝑎𝑡𝑖𝑜𝑛𝑎𝑙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≺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𝑎𝑐𝑎𝑑𝑒𝑚𝑖𝑐</m:t>
                      </m:r>
                    </m:oMath>
                  </m:oMathPara>
                </a14:m>
                <a:endParaRPr lang="en-US" sz="2400" dirty="0"/>
              </a:p>
              <a:p>
                <a:r>
                  <a:rPr lang="en-US" dirty="0"/>
                  <a:t>Increased math score increases rate of awards</a:t>
                </a:r>
                <a:endParaRPr lang="en-US" sz="1800" dirty="0"/>
              </a:p>
              <a:p>
                <a:endParaRPr lang="en-US" dirty="0"/>
              </a:p>
              <a:p>
                <a:pPr marL="0" indent="0">
                  <a:buNone/>
                </a:pPr>
                <a:endParaRPr lang="en-US" b="0" dirty="0"/>
              </a:p>
              <a:p>
                <a:endParaRPr lang="en-US" b="0" dirty="0"/>
              </a:p>
              <a:p>
                <a:endParaRPr dirty="0"/>
              </a:p>
            </p:txBody>
          </p:sp>
        </mc:Choice>
        <mc:Fallback>
          <p:sp>
            <p:nvSpPr>
              <p:cNvPr id="8" name="Content Placeholder 2">
                <a:extLst>
                  <a:ext uri="{FF2B5EF4-FFF2-40B4-BE49-F238E27FC236}">
                    <a16:creationId xmlns:a16="http://schemas.microsoft.com/office/drawing/2014/main" id="{95D4DC41-687B-A833-D70C-ADE378B35DB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200151"/>
                <a:ext cx="4663440" cy="3664457"/>
              </a:xfrm>
              <a:blipFill>
                <a:blip r:embed="rId3"/>
                <a:stretch>
                  <a:fillRect l="-1307" t="-249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3EA57CF0-AB59-3633-748E-2191C271CCD7}"/>
              </a:ext>
            </a:extLst>
          </p:cNvPr>
          <p:cNvCxnSpPr>
            <a:cxnSpLocks/>
          </p:cNvCxnSpPr>
          <p:nvPr/>
        </p:nvCxnSpPr>
        <p:spPr>
          <a:xfrm>
            <a:off x="4110644" y="2743200"/>
            <a:ext cx="3649287" cy="723207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2A4E4314-5E99-CE7B-6684-9C10D0CF65D8}"/>
              </a:ext>
            </a:extLst>
          </p:cNvPr>
          <p:cNvCxnSpPr>
            <a:cxnSpLocks/>
          </p:cNvCxnSpPr>
          <p:nvPr/>
        </p:nvCxnSpPr>
        <p:spPr>
          <a:xfrm>
            <a:off x="4729942" y="3943349"/>
            <a:ext cx="419793" cy="142356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C2A7D637-6DE4-6ACB-5C74-4A2B91325ADC}"/>
              </a:ext>
            </a:extLst>
          </p:cNvPr>
          <p:cNvCxnSpPr>
            <a:cxnSpLocks/>
          </p:cNvCxnSpPr>
          <p:nvPr/>
        </p:nvCxnSpPr>
        <p:spPr>
          <a:xfrm>
            <a:off x="4609407" y="3129742"/>
            <a:ext cx="1425633" cy="63352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FF9F4B30-DA91-5577-C7BE-9C9A2F98A305}"/>
              </a:ext>
            </a:extLst>
          </p:cNvPr>
          <p:cNvCxnSpPr>
            <a:cxnSpLocks/>
          </p:cNvCxnSpPr>
          <p:nvPr/>
        </p:nvCxnSpPr>
        <p:spPr>
          <a:xfrm>
            <a:off x="4783975" y="3943349"/>
            <a:ext cx="286789" cy="31078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47F646C9-457F-2D54-54B9-EE499A15EF09}"/>
              </a:ext>
            </a:extLst>
          </p:cNvPr>
          <p:cNvCxnSpPr>
            <a:cxnSpLocks/>
          </p:cNvCxnSpPr>
          <p:nvPr/>
        </p:nvCxnSpPr>
        <p:spPr>
          <a:xfrm>
            <a:off x="4233982" y="4354676"/>
            <a:ext cx="1626491" cy="266277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F27C3370-179F-E7B4-FB8D-BD34DD7C2A83}"/>
              </a:ext>
            </a:extLst>
          </p:cNvPr>
          <p:cNvCxnSpPr>
            <a:cxnSpLocks/>
          </p:cNvCxnSpPr>
          <p:nvPr/>
        </p:nvCxnSpPr>
        <p:spPr>
          <a:xfrm>
            <a:off x="4783975" y="2190404"/>
            <a:ext cx="2527069" cy="939338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592F8CB7-40E9-432B-1A64-92BF44D6CD49}"/>
              </a:ext>
            </a:extLst>
          </p:cNvPr>
          <p:cNvCxnSpPr>
            <a:cxnSpLocks/>
          </p:cNvCxnSpPr>
          <p:nvPr/>
        </p:nvCxnSpPr>
        <p:spPr>
          <a:xfrm>
            <a:off x="4783975" y="2190404"/>
            <a:ext cx="2310938" cy="415636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6615C4BB-171B-73C4-2E73-CD286507A53A}"/>
              </a:ext>
            </a:extLst>
          </p:cNvPr>
          <p:cNvCxnSpPr>
            <a:cxnSpLocks/>
          </p:cNvCxnSpPr>
          <p:nvPr/>
        </p:nvCxnSpPr>
        <p:spPr>
          <a:xfrm>
            <a:off x="4783975" y="2190404"/>
            <a:ext cx="2668385" cy="689956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8553795" cy="634798"/>
          </a:xfrm>
        </p:spPr>
        <p:txBody>
          <a:bodyPr>
            <a:normAutofit/>
          </a:bodyPr>
          <a:lstStyle/>
          <a:p>
            <a:pPr marL="0" lvl="0" indent="0" algn="ctr">
              <a:buNone/>
            </a:pPr>
            <a:r>
              <a:rPr sz="3200" b="0" dirty="0">
                <a:latin typeface="+mn-lt"/>
              </a:rPr>
              <a:t>Poisson Regression Example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 Placeholder 3"/>
              <p:cNvSpPr>
                <a:spLocks noGrp="1"/>
              </p:cNvSpPr>
              <p:nvPr>
                <p:ph type="body" sz="half" idx="2"/>
              </p:nvPr>
            </p:nvSpPr>
            <p:spPr>
              <a:xfrm>
                <a:off x="457201" y="1076326"/>
                <a:ext cx="4372494" cy="3518297"/>
              </a:xfrm>
            </p:spPr>
            <p:txBody>
              <a:bodyPr>
                <a:normAutofit/>
              </a:bodyPr>
              <a:lstStyle/>
              <a:p>
                <a:pPr marL="0" lvl="0" indent="0">
                  <a:buNone/>
                </a:pPr>
                <a:r>
                  <a:rPr lang="en-US" sz="2000" dirty="0"/>
                  <a:t>Fit of the model response to the observed award rate</a:t>
                </a:r>
              </a:p>
              <a:p>
                <a:pPr marL="342900" lvl="0" indent="-342900">
                  <a:buFont typeface="Arial" panose="020B0604020202020204" pitchFamily="34" charset="0"/>
                  <a:buChar char="•"/>
                </a:pPr>
                <a:r>
                  <a:rPr lang="en-US" sz="2000" dirty="0"/>
                  <a:t>The award rate increases with program</a:t>
                </a:r>
              </a:p>
              <a:p>
                <a:pPr lvl="0"/>
                <a14:m>
                  <m:oMathPara xmlns:m="http://schemas.openxmlformats.org/officeDocument/2006/math">
                    <m:oMath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𝑔𝑒𝑛𝑒𝑟𝑎𝑙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≺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𝑣𝑜𝑐𝑎𝑡𝑖𝑜𝑛𝑎𝑙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≺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𝑎𝑐𝑎𝑑𝑒𝑚𝑖𝑐</m:t>
                      </m:r>
                    </m:oMath>
                  </m:oMathPara>
                </a14:m>
                <a:endParaRPr lang="en-US" sz="2000" dirty="0"/>
              </a:p>
              <a:p>
                <a:pPr marL="342900" lvl="0" indent="-342900">
                  <a:buFont typeface="Arial" panose="020B0604020202020204" pitchFamily="34" charset="0"/>
                  <a:buChar char="•"/>
                </a:pPr>
                <a:r>
                  <a:rPr lang="en-US" sz="2000" dirty="0"/>
                  <a:t>Rate of awards increases with math score</a:t>
                </a:r>
                <a:endParaRPr sz="2000" dirty="0"/>
              </a:p>
            </p:txBody>
          </p:sp>
        </mc:Choice>
        <mc:Fallback xmlns="">
          <p:sp>
            <p:nvSpPr>
              <p:cNvPr id="4" name="Text Placeholder 3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half" idx="2"/>
              </p:nvPr>
            </p:nvSpPr>
            <p:spPr>
              <a:xfrm>
                <a:off x="457201" y="1076326"/>
                <a:ext cx="4372494" cy="3518297"/>
              </a:xfrm>
              <a:blipFill>
                <a:blip r:embed="rId2"/>
                <a:stretch>
                  <a:fillRect l="-1395" t="-104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5">
            <a:extLst>
              <a:ext uri="{FF2B5EF4-FFF2-40B4-BE49-F238E27FC236}">
                <a16:creationId xmlns:a16="http://schemas.microsoft.com/office/drawing/2014/main" id="{64FC85EA-2704-1816-7DF4-6164E927305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95055" y="991169"/>
            <a:ext cx="3970799" cy="4046344"/>
          </a:xfrm>
          <a:prstGeom prst="rect">
            <a:avLst/>
          </a:prstGeom>
        </p:spPr>
      </p:pic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F7F695-D1C6-0DFF-7782-7EFEE1A0BE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4581DD-AFEF-CF00-9905-1F2D7F285DA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Ordinal Regression </a:t>
            </a:r>
          </a:p>
        </p:txBody>
      </p:sp>
    </p:spTree>
    <p:extLst>
      <p:ext uri="{BB962C8B-B14F-4D97-AF65-F5344CB8AC3E}">
        <p14:creationId xmlns:p14="http://schemas.microsoft.com/office/powerpoint/2010/main" val="2926988659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5DAAF5-4CBD-441B-54B6-6F87B14BE9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7EB637-FF53-8B85-1C22-6C61E0B59A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en-US" dirty="0"/>
              <a:t>Ordinal regression </a:t>
            </a:r>
            <a:endParaRPr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6070E2-70F7-A018-6E47-2030E69C172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>
              <a:buNone/>
            </a:pPr>
            <a:r>
              <a:rPr lang="en-US" dirty="0"/>
              <a:t>Ordinal variables are commonly encountered </a:t>
            </a:r>
          </a:p>
          <a:p>
            <a:pPr lvl="0"/>
            <a:r>
              <a:rPr lang="en-US" dirty="0"/>
              <a:t>Levels in online reviews; e.g. 1-5 stars</a:t>
            </a:r>
          </a:p>
          <a:p>
            <a:pPr lvl="0"/>
            <a:r>
              <a:rPr lang="en-US" dirty="0"/>
              <a:t>Satisfaction levels in surveys; e.g. very dissatisfied, dissatisfied, okay, satisfied, very satisfied    </a:t>
            </a:r>
          </a:p>
          <a:p>
            <a:pPr lvl="0"/>
            <a:r>
              <a:rPr lang="en-US" dirty="0"/>
              <a:t>Bond ratings; AAA, AA+, AA, AA-, A+, A, A-, ….</a:t>
            </a:r>
          </a:p>
          <a:p>
            <a:pPr lvl="0"/>
            <a:r>
              <a:rPr lang="en-US" dirty="0"/>
              <a:t>Grades at Harvard University, A, A-, B+, B, B-, … </a:t>
            </a:r>
          </a:p>
          <a:p>
            <a:pPr lvl="0"/>
            <a:r>
              <a:rPr lang="en-US" dirty="0"/>
              <a:t>And many more…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2279404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F87FCC-2F15-05A8-72C7-6E37D9B345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456D64-0B84-563B-8907-41C08659B5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en-US" dirty="0"/>
              <a:t>Ordinal regression </a:t>
            </a:r>
            <a:endParaRPr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DCC5C27-9615-6DC7-8E87-E9A919758EC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pPr marL="0" lvl="0" indent="0">
                  <a:buNone/>
                </a:pPr>
                <a:r>
                  <a:rPr lang="en-US" dirty="0"/>
                  <a:t>How to we deal with rank as a response variable?  </a:t>
                </a:r>
              </a:p>
              <a:p>
                <a:pPr lvl="0"/>
                <a:r>
                  <a:rPr lang="en-US" dirty="0"/>
                  <a:t>The rank in the </a:t>
                </a:r>
                <a:r>
                  <a:rPr lang="en-US" i="1" dirty="0"/>
                  <a:t>k</a:t>
                </a:r>
                <a:r>
                  <a:rPr lang="en-US" dirty="0"/>
                  <a:t>-level ordered response needs to be estimated     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≺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≺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…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≺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  <a:p>
                <a:pPr lvl="0"/>
                <a:r>
                  <a:rPr lang="en-US" dirty="0"/>
                  <a:t>Ranks do not have numeric variables  </a:t>
                </a:r>
              </a:p>
              <a:p>
                <a:pPr lvl="0"/>
                <a:r>
                  <a:rPr lang="en-US" dirty="0"/>
                  <a:t>We need to estimate the probabilities for the ranks   </a:t>
                </a:r>
              </a:p>
              <a:p>
                <a:pPr lvl="1"/>
                <a:r>
                  <a:rPr lang="en-US" dirty="0"/>
                  <a:t>Logit model estimates ranks from range of the log odds</a:t>
                </a:r>
              </a:p>
              <a:p>
                <a:pPr lvl="1"/>
                <a:r>
                  <a:rPr lang="en-US" dirty="0"/>
                  <a:t>Probit model estimates ranks from ranges of the CDF of the normal distribution  </a:t>
                </a:r>
                <a:endParaRPr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DCC5C27-9615-6DC7-8E87-E9A919758EC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111" t="-2513" r="-296" b="-10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610488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F79AF8-25BB-3132-9B5A-4F1FBD5E7C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FFF13C-0089-D0B2-3D87-51B731638F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en-US" dirty="0"/>
              <a:t>Ordinal regression </a:t>
            </a:r>
            <a:endParaRPr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595CEEA-C82C-D491-7C04-4EC51B3EE70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lvl="0" indent="0">
                  <a:buNone/>
                </a:pPr>
                <a:r>
                  <a:rPr lang="en-US" dirty="0"/>
                  <a:t>The </a:t>
                </a:r>
                <a:r>
                  <a:rPr lang="en-US" b="1" dirty="0">
                    <a:hlinkClick r:id="rId2"/>
                  </a:rPr>
                  <a:t>ordered probit model </a:t>
                </a:r>
                <a:r>
                  <a:rPr lang="en-US" dirty="0"/>
                  <a:t>is formulated as a GLM </a:t>
                </a:r>
              </a:p>
              <a:p>
                <a:pPr lvl="0"/>
                <a:r>
                  <a:rPr lang="en-US" dirty="0"/>
                  <a:t>Given observation vectors,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1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𝒊</m:t>
                        </m:r>
                      </m:sub>
                    </m:sSub>
                  </m:oMath>
                </a14:m>
                <a:r>
                  <a:rPr lang="en-US" dirty="0"/>
                  <a:t>, response,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y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∈{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≺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≺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…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≺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}</m:t>
                    </m:r>
                  </m:oMath>
                </a14:m>
                <a:r>
                  <a:rPr lang="en-US" dirty="0"/>
                  <a:t>, and model parameter vector, </a:t>
                </a:r>
                <a14:m>
                  <m:oMath xmlns:m="http://schemas.openxmlformats.org/officeDocument/2006/math">
                    <m:r>
                      <a:rPr lang="en-US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𝜷</m:t>
                    </m:r>
                  </m:oMath>
                </a14:m>
                <a:r>
                  <a:rPr lang="en-US" dirty="0"/>
                  <a:t>, we can define a set of thresholds </a:t>
                </a:r>
                <a14:m>
                  <m:oMath xmlns:m="http://schemas.openxmlformats.org/officeDocument/2006/math">
                    <m:d>
                      <m:dPr>
                        <m:begChr m:val="{"/>
                        <m:endChr m:val="}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&lt;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&lt;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…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dirty="0"/>
                  <a:t> for a model 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endChr m:val="|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≤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𝑟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en-US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𝒙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)=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𝜎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r>
                            <a:rPr lang="en-US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𝜷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∙</m:t>
                          </m:r>
                          <m:r>
                            <a:rPr lang="en-US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𝒙</m:t>
                          </m:r>
                        </m:e>
                      </m:d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This model sets thresholds on the </a:t>
                </a:r>
                <a:r>
                  <a:rPr lang="en-US" b="1" dirty="0"/>
                  <a:t>cumulative distribution function (CDF)</a:t>
                </a:r>
                <a:r>
                  <a:rPr lang="en-US" dirty="0"/>
                  <a:t> of the linear model  </a:t>
                </a:r>
              </a:p>
              <a:p>
                <a:pPr lvl="0"/>
                <a:endParaRPr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595CEEA-C82C-D491-7C04-4EC51B3EE70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1111" t="-14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373036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EC5F53-5048-9C7C-C417-62762B6160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C53DD1-3795-9AF9-3CA7-0F9F259787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en-US" dirty="0"/>
              <a:t>Ordinal regression </a:t>
            </a:r>
            <a:endParaRPr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732DD76-379B-1F13-439F-7D1F3B4A50B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pPr marL="0" lvl="0" indent="0">
                  <a:buNone/>
                </a:pPr>
                <a:r>
                  <a:rPr lang="en-US" dirty="0"/>
                  <a:t>The ordered probit model is formulated as a GLM </a:t>
                </a:r>
              </a:p>
              <a:p>
                <a:pPr lvl="0"/>
                <a:r>
                  <a:rPr lang="en-US" dirty="0"/>
                  <a:t>Given the logistic inverse link function     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𝜎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r>
                            <a:rPr lang="en-US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𝜷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∙</m:t>
                          </m:r>
                          <m:r>
                            <a:rPr lang="en-US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𝒙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1+</m:t>
                          </m:r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𝜃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b="1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𝜷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∙</m:t>
                                  </m:r>
                                  <m:r>
                                    <a:rPr lang="en-US" b="1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𝒙</m:t>
                                  </m:r>
                                </m:e>
                              </m:d>
                            </m:sup>
                          </m:sSup>
                        </m:den>
                      </m:f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We can define a </a:t>
                </a:r>
                <a:r>
                  <a:rPr lang="en-US" b="1" dirty="0"/>
                  <a:t>latent variable</a:t>
                </a:r>
                <a:r>
                  <a:rPr lang="en-US" dirty="0"/>
                  <a:t>,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en-US" dirty="0"/>
                  <a:t>, representing the linear  response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𝜷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en-US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𝒙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𝜀</m:t>
                      </m:r>
                    </m:oMath>
                  </m:oMathPara>
                </a14:m>
                <a:endParaRPr lang="en-US" dirty="0"/>
              </a:p>
              <a:p>
                <a:pPr lvl="1"/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en-US" dirty="0"/>
                  <a:t> is latent since it is a computed value and cannot be observed  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𝜀</m:t>
                    </m:r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~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𝑁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𝜗</m:t>
                        </m:r>
                      </m:e>
                    </m:d>
                  </m:oMath>
                </a14:m>
                <a:r>
                  <a:rPr lang="en-US" dirty="0"/>
                  <a:t>, a zero-centered normally distributed residual    </a:t>
                </a:r>
              </a:p>
              <a:p>
                <a:pPr marL="0" indent="0">
                  <a:buNone/>
                </a:pPr>
                <a:endParaRPr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732DD76-379B-1F13-439F-7D1F3B4A50B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111" t="-2513" b="-16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529719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86C0B9-E721-649D-60BA-9A45C7EFA1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44AFA6-1E05-7368-3C7E-D72A1F21F3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en-US" dirty="0"/>
              <a:t>Ordinal regression </a:t>
            </a:r>
            <a:endParaRPr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361C60A-2180-E752-D05A-11BD9D7A283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57200" y="1200150"/>
                <a:ext cx="8229600" cy="3831099"/>
              </a:xfrm>
            </p:spPr>
            <p:txBody>
              <a:bodyPr>
                <a:normAutofit lnSpcReduction="10000"/>
              </a:bodyPr>
              <a:lstStyle/>
              <a:p>
                <a:pPr marL="0" lvl="0" indent="0">
                  <a:buNone/>
                </a:pPr>
                <a:r>
                  <a:rPr lang="en-US" dirty="0"/>
                  <a:t>The order probit model uses thresholds on a latent variable</a:t>
                </a:r>
              </a:p>
              <a:p>
                <a:r>
                  <a:rPr lang="en-US" dirty="0"/>
                  <a:t>We can define a </a:t>
                </a:r>
                <a:r>
                  <a:rPr lang="en-US" b="1" dirty="0"/>
                  <a:t>latent variable</a:t>
                </a:r>
                <a:r>
                  <a:rPr lang="en-US" dirty="0"/>
                  <a:t>,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en-US" dirty="0"/>
                  <a:t>, representing the linear  response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𝜷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en-US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𝒙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𝜀</m:t>
                      </m:r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By applying thresholds,</a:t>
                </a:r>
                <a14:m>
                  <m:oMath xmlns:m="http://schemas.openxmlformats.org/officeDocument/2006/math">
                    <m:d>
                      <m:dPr>
                        <m:begChr m:val="{"/>
                        <m:endChr m:val="}"/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&lt;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&lt;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…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dirty="0"/>
                  <a:t>, to the latent variable we can estimate the rank,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/>
                  <a:t>, of the response,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US" dirty="0"/>
                  <a:t>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𝑟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𝑟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⋮</m:t>
                                      </m:r>
                                    </m:e>
                                  </m:m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𝑟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</m:mr>
                          </m:m>
                        </m:e>
                      </m:d>
                      <m:m>
                        <m:mPr>
                          <m:mcs>
                            <m:mc>
                              <m:mcPr>
                                <m:count m:val="1"/>
                                <m:mcJc m:val="center"/>
                              </m:mcPr>
                            </m:mc>
                          </m:mcs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mPr>
                        <m:mr>
                          <m:e>
                            <m:sSup>
                              <m:sSup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p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∗</m:t>
                                </m:r>
                              </m:sup>
                            </m:sSup>
                            <m:r>
                              <a:rPr lang="en-US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≤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 </m:t>
                            </m:r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𝜃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e>
                        </m:mr>
                        <m:mr>
                          <m:e>
                            <m:sSup>
                              <m:sSupPr>
                                <m:ctrlP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𝜃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&lt;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p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∗</m:t>
                                </m:r>
                              </m:sup>
                            </m:sSup>
                            <m:r>
                              <a:rPr lang="en-US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≤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 </m:t>
                            </m:r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𝜃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e>
                        </m:mr>
                        <m:mr>
                          <m:e>
                            <m:m>
                              <m:mPr>
                                <m:mcs>
                                  <m:mc>
                                    <m:mcPr>
                                      <m:count m:val="1"/>
                                      <m:mcJc m:val="center"/>
                                    </m:mcPr>
                                  </m:mc>
                                </m:mcs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mPr>
                              <m:mr>
                                <m:e>
                                  <m:r>
                                    <m:rPr>
                                      <m:brk m:alnAt="7"/>
                                    </m:rP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⋮</m:t>
                                  </m:r>
                                </m:e>
                              </m:mr>
                              <m:mr>
                                <m:e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𝜃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𝑘</m:t>
                                      </m:r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−1</m:t>
                                      </m:r>
                                    </m:sub>
                                  </m:s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&lt;</m:t>
                                  </m:r>
                                  <m:sSup>
                                    <m:sSup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e>
                                    <m:sup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∗</m:t>
                                      </m:r>
                                    </m:sup>
                                  </m:sSup>
                                </m:e>
                              </m:mr>
                            </m:m>
                          </m:e>
                        </m:mr>
                      </m:m>
                    </m:oMath>
                  </m:oMathPara>
                </a14:m>
                <a:endParaRPr lang="en-US" dirty="0"/>
              </a:p>
              <a:p>
                <a:pPr marL="0" lvl="0" indent="0">
                  <a:buNone/>
                </a:pPr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361C60A-2180-E752-D05A-11BD9D7A283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200150"/>
                <a:ext cx="8229600" cy="3831099"/>
              </a:xfrm>
              <a:blipFill>
                <a:blip r:embed="rId2"/>
                <a:stretch>
                  <a:fillRect l="-1111" t="-222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094570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DECAC0-FBCC-B2A7-27B8-6A2122C939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BB9B3D-D43B-4317-702E-1270637006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en-US" dirty="0"/>
              <a:t>Ordinal regression </a:t>
            </a:r>
            <a:endParaRPr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5E64756-8D3E-0886-EFFA-F6EA1845ED0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57200" y="1200150"/>
                <a:ext cx="8229600" cy="3831099"/>
              </a:xfrm>
            </p:spPr>
            <p:txBody>
              <a:bodyPr>
                <a:normAutofit fontScale="92500" lnSpcReduction="20000"/>
              </a:bodyPr>
              <a:lstStyle/>
              <a:p>
                <a:pPr marL="0" lvl="0" indent="0">
                  <a:buNone/>
                </a:pPr>
                <a:r>
                  <a:rPr lang="en-US" dirty="0"/>
                  <a:t>We fit the ordered probit model by </a:t>
                </a:r>
                <a:r>
                  <a:rPr lang="en-US" b="1" dirty="0"/>
                  <a:t>maximizing the log likelihood </a:t>
                </a:r>
              </a:p>
              <a:p>
                <a:r>
                  <a:rPr lang="en-US" dirty="0"/>
                  <a:t>Given the foregoing, we can work out the conditional distribution of the linear response,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/>
                  <a:t>, with Normal CDF,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l-G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Φ</m:t>
                    </m:r>
                    <m:d>
                      <m:dPr>
                        <m:ctrlP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𝜉</m:t>
                        </m:r>
                      </m:e>
                    </m:d>
                  </m:oMath>
                </a14:m>
                <a:r>
                  <a:rPr lang="en-US" dirty="0"/>
                  <a:t>, and setting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−∞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→∞</m:t>
                    </m:r>
                  </m:oMath>
                </a14:m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i="1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endChr m:val="|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𝑦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𝑟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en-US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𝒙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)=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−1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&lt;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</m:sup>
                          </m:sSup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≤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 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| </m:t>
                          </m:r>
                          <m:r>
                            <a:rPr lang="en-US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𝒙</m:t>
                          </m:r>
                        </m:e>
                      </m:d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i="1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endChr m:val="|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𝑦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=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𝑟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en-US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𝒙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)=</m:t>
                      </m:r>
                      <m:r>
                        <m:rPr>
                          <m:sty m:val="p"/>
                        </m:rPr>
                        <a:rPr lang="el-G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Φ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r>
                            <a:rPr lang="en-US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𝜷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∙</m:t>
                          </m:r>
                          <m:r>
                            <a:rPr lang="en-US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𝒙</m:t>
                          </m:r>
                        </m:e>
                      </m:d>
                      <m:r>
                        <a:rPr lang="en-US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r>
                        <m:rPr>
                          <m:sty m:val="p"/>
                        </m:rPr>
                        <a:rPr lang="el-G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Φ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−1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r>
                            <a:rPr lang="en-US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𝜷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∙</m:t>
                          </m:r>
                          <m:r>
                            <a:rPr lang="en-US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𝒙</m:t>
                          </m:r>
                        </m:e>
                      </m:d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The log likelihood  for a single training example,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US" dirty="0"/>
                  <a:t>,is then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m:rPr>
                          <m:sty m:val="p"/>
                        </m:rP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ℓ</m:t>
                      </m:r>
                      <m:d>
                        <m:dPr>
                          <m:ctrlPr>
                            <a:rPr lang="en-US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𝜷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| 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  <m:r>
                            <m:rPr>
                              <m:brk m:alnAt="23"/>
                            </m:r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</m:t>
                          </m:r>
                          <m:r>
                            <m:rPr>
                              <m:brk m:alnAt="23"/>
                            </m:r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</m:sup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=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𝑟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</m:e>
                      </m:nary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𝑙𝑜𝑔</m:t>
                      </m:r>
                      <m:d>
                        <m:dPr>
                          <m:begChr m:val="["/>
                          <m:endChr m:val="]"/>
                          <m:ctrlPr>
                            <a:rPr lang="el-G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l-G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Φ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𝜷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∙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</m:e>
                          </m:d>
                          <m:r>
                            <a:rPr lang="en-US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r>
                            <m:rPr>
                              <m:sty m:val="p"/>
                            </m:rPr>
                            <a:rPr lang="el-G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Φ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−1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𝜷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∙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</m:e>
                          </m:d>
                        </m:e>
                      </m:d>
                    </m:oMath>
                  </m:oMathPara>
                </a14:m>
                <a:endParaRPr lang="en-US" dirty="0"/>
              </a:p>
              <a:p>
                <a:pPr marL="342900" lvl="1" indent="0">
                  <a:buNone/>
                </a:pPr>
                <a:r>
                  <a:rPr lang="en-US" dirty="0"/>
                  <a:t>Where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𝑟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dirty="0"/>
                  <a:t> is an </a:t>
                </a:r>
                <a:r>
                  <a:rPr lang="en-US" dirty="0">
                    <a:hlinkClick r:id="rId2"/>
                  </a:rPr>
                  <a:t>Iverson bracket </a:t>
                </a:r>
                <a:r>
                  <a:rPr lang="en-US" dirty="0"/>
                  <a:t>for the discrete response for the response in the range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&lt;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endParaRPr lang="en-US" dirty="0"/>
              </a:p>
              <a:p>
                <a:pPr marL="0" lvl="0" indent="0">
                  <a:buNone/>
                </a:pPr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5E64756-8D3E-0886-EFFA-F6EA1845ED0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200150"/>
                <a:ext cx="8229600" cy="3831099"/>
              </a:xfrm>
              <a:blipFill>
                <a:blip r:embed="rId3"/>
                <a:stretch>
                  <a:fillRect l="-963" t="-2707" r="-1630" b="-159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7266746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941743-5875-BD53-F2EA-2B4B47D907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3EB323-2ACC-B70F-17DC-69440F929F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en-US" dirty="0"/>
              <a:t>Ordinal regression </a:t>
            </a:r>
            <a:endParaRPr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455B9FE-7D37-66A5-308E-09C03178B04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57200" y="980008"/>
                <a:ext cx="8229600" cy="4051242"/>
              </a:xfrm>
            </p:spPr>
            <p:txBody>
              <a:bodyPr>
                <a:normAutofit fontScale="85000" lnSpcReduction="20000"/>
              </a:bodyPr>
              <a:lstStyle/>
              <a:p>
                <a:pPr marL="0" lvl="0" indent="0">
                  <a:buNone/>
                </a:pPr>
                <a:r>
                  <a:rPr lang="en-US" dirty="0"/>
                  <a:t>The </a:t>
                </a:r>
                <a:r>
                  <a:rPr lang="en-US" b="1" dirty="0">
                    <a:hlinkClick r:id="rId2"/>
                  </a:rPr>
                  <a:t>ordered logit model </a:t>
                </a:r>
                <a:r>
                  <a:rPr lang="en-US" dirty="0"/>
                  <a:t>is based on log proportional odds</a:t>
                </a:r>
              </a:p>
              <a:p>
                <a:pPr lvl="0"/>
                <a:r>
                  <a:rPr lang="en-US" dirty="0"/>
                  <a:t>For n-level ordered ranks,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≺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≺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…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≺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en-US" dirty="0"/>
                  <a:t>, for observation,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dirty="0"/>
                  <a:t>, we can define the ordered log odds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: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𝑙𝑜𝑔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sub>
                          </m:sSub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+…+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)</m:t>
                          </m:r>
                        </m:den>
                      </m:f>
                    </m:oMath>
                  </m:oMathPara>
                </a14:m>
                <a:endParaRPr lang="en-US" dirty="0"/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𝑜𝑟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: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𝑙𝑜𝑔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d>
                        </m:num>
                        <m:den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d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sub>
                          </m:sSub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d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+…+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)</m:t>
                          </m:r>
                        </m:den>
                      </m:f>
                    </m:oMath>
                  </m:oMathPara>
                </a14:m>
                <a:endParaRPr lang="en-US" dirty="0"/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lang="en-US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𝑜𝑟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… 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𝑜𝑟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: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𝑙𝑜𝑔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d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d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sub>
                          </m:sSub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d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+…+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)</m:t>
                          </m:r>
                        </m:den>
                      </m:f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The ordered logit model is then constructed by imposing a set of </a:t>
                </a:r>
                <a:r>
                  <a:rPr lang="en-US" b="1" dirty="0"/>
                  <a:t>thresholds on a latent variable</a:t>
                </a:r>
                <a:r>
                  <a:rPr lang="en-US" dirty="0"/>
                  <a:t>, but with the error term,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𝜀</m:t>
                    </m:r>
                  </m:oMath>
                </a14:m>
                <a:r>
                  <a:rPr lang="en-US" dirty="0"/>
                  <a:t>, is assumed to follow a standard </a:t>
                </a:r>
                <a:r>
                  <a:rPr lang="en-US" dirty="0">
                    <a:hlinkClick r:id="rId3"/>
                  </a:rPr>
                  <a:t>logistic distribution </a:t>
                </a:r>
                <a:endParaRPr lang="en-US" b="1" dirty="0"/>
              </a:p>
              <a:p>
                <a:pPr marL="0" lvl="0" indent="0">
                  <a:buNone/>
                </a:pPr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455B9FE-7D37-66A5-308E-09C03178B04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980008"/>
                <a:ext cx="8229600" cy="4051242"/>
              </a:xfrm>
              <a:blipFill>
                <a:blip r:embed="rId4"/>
                <a:stretch>
                  <a:fillRect l="-741" t="-225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4817489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39353C-1F79-D0FC-1EBA-842771A6D5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D90C8A-9A28-C47A-C735-0E809718753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Summary</a:t>
            </a:r>
          </a:p>
        </p:txBody>
      </p:sp>
    </p:spTree>
    <p:extLst>
      <p:ext uri="{BB962C8B-B14F-4D97-AF65-F5344CB8AC3E}">
        <p14:creationId xmlns:p14="http://schemas.microsoft.com/office/powerpoint/2010/main" val="956940509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B8DF9F-0D35-8607-ECFE-297876033E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A1BC6E-6224-5F9F-39DD-4192D8F458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FB7750-2A74-A281-31F4-891FD14417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>
              <a:buNone/>
            </a:pPr>
            <a:r>
              <a:rPr lang="en-US" dirty="0"/>
              <a:t>Categorical variables are encoded in </a:t>
            </a:r>
            <a:r>
              <a:rPr lang="en-US"/>
              <a:t>model matrix</a:t>
            </a:r>
          </a:p>
          <a:p>
            <a:pPr lvl="0"/>
            <a:r>
              <a:rPr lang="en-US" dirty="0"/>
              <a:t>Categorical variables encoded with </a:t>
            </a:r>
            <a:r>
              <a:rPr lang="en-US" b="1" dirty="0"/>
              <a:t>one hot encoding   </a:t>
            </a:r>
          </a:p>
          <a:p>
            <a:pPr lvl="1"/>
            <a:r>
              <a:rPr lang="en-US" dirty="0"/>
              <a:t>n dummy variables with no intercept</a:t>
            </a:r>
          </a:p>
          <a:p>
            <a:pPr lvl="1"/>
            <a:r>
              <a:rPr lang="en-US" dirty="0"/>
              <a:t>n-1 dummy variables encode </a:t>
            </a:r>
            <a:r>
              <a:rPr lang="en-US" b="1" dirty="0"/>
              <a:t>contrasts</a:t>
            </a:r>
            <a:r>
              <a:rPr lang="en-US" dirty="0"/>
              <a:t> to intercept variable </a:t>
            </a:r>
          </a:p>
          <a:p>
            <a:pPr lvl="1"/>
            <a:r>
              <a:rPr lang="en-US" dirty="0"/>
              <a:t>Either encoding gives same model results </a:t>
            </a:r>
          </a:p>
          <a:p>
            <a:pPr lvl="0"/>
            <a:r>
              <a:rPr lang="en-US" dirty="0"/>
              <a:t>Can adjust observations and response for </a:t>
            </a:r>
            <a:r>
              <a:rPr lang="en-US" b="1" dirty="0"/>
              <a:t>effects</a:t>
            </a:r>
            <a:endParaRPr b="1" dirty="0"/>
          </a:p>
        </p:txBody>
      </p:sp>
    </p:spTree>
    <p:extLst>
      <p:ext uri="{BB962C8B-B14F-4D97-AF65-F5344CB8AC3E}">
        <p14:creationId xmlns:p14="http://schemas.microsoft.com/office/powerpoint/2010/main" val="2812832621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403FAB-44AB-D252-6A94-8C4F7285DF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250A9F-F6F3-9762-176A-FB2AD81C54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D6220E-459F-6E38-4F30-8217CD3688D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>
              <a:buNone/>
            </a:pPr>
            <a:r>
              <a:rPr lang="en-US" dirty="0"/>
              <a:t>Categorical variables are encoded in </a:t>
            </a:r>
            <a:r>
              <a:rPr lang="en-US"/>
              <a:t>model matrix</a:t>
            </a:r>
          </a:p>
          <a:p>
            <a:pPr lvl="0"/>
            <a:r>
              <a:rPr lang="en-US" dirty="0"/>
              <a:t>Categorical variables encoded with </a:t>
            </a:r>
            <a:r>
              <a:rPr lang="en-US" b="1" dirty="0"/>
              <a:t>one hot encoding   </a:t>
            </a:r>
          </a:p>
          <a:p>
            <a:pPr lvl="1"/>
            <a:r>
              <a:rPr lang="en-US" dirty="0"/>
              <a:t>n dummy variables with no intercept</a:t>
            </a:r>
          </a:p>
          <a:p>
            <a:pPr lvl="1"/>
            <a:r>
              <a:rPr lang="en-US" dirty="0"/>
              <a:t>n-1 dummy variables encode </a:t>
            </a:r>
            <a:r>
              <a:rPr lang="en-US" b="1" dirty="0"/>
              <a:t>contrasts</a:t>
            </a:r>
            <a:r>
              <a:rPr lang="en-US" dirty="0"/>
              <a:t> to intercept variable </a:t>
            </a:r>
          </a:p>
          <a:p>
            <a:pPr lvl="1"/>
            <a:r>
              <a:rPr lang="en-US" dirty="0"/>
              <a:t>Either encoding gives same model results </a:t>
            </a:r>
          </a:p>
          <a:p>
            <a:pPr lvl="0"/>
            <a:r>
              <a:rPr lang="en-US" dirty="0"/>
              <a:t>Can adjust observations and response for </a:t>
            </a:r>
            <a:r>
              <a:rPr lang="en-US" b="1" dirty="0"/>
              <a:t>effects</a:t>
            </a:r>
            <a:endParaRPr b="1" dirty="0"/>
          </a:p>
        </p:txBody>
      </p:sp>
    </p:spTree>
    <p:extLst>
      <p:ext uri="{BB962C8B-B14F-4D97-AF65-F5344CB8AC3E}">
        <p14:creationId xmlns:p14="http://schemas.microsoft.com/office/powerpoint/2010/main" val="758538384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 marL="0" lvl="0" indent="0">
              <a:buNone/>
            </a:pPr>
            <a:r>
              <a:rPr dirty="0"/>
              <a:t>Models with nonlinear response have non-Normal distributions</a:t>
            </a:r>
          </a:p>
          <a:p>
            <a:pPr lvl="0"/>
            <a:r>
              <a:rPr dirty="0"/>
              <a:t>The </a:t>
            </a:r>
            <a:r>
              <a:rPr b="1" dirty="0"/>
              <a:t>generalized linear model</a:t>
            </a:r>
            <a:r>
              <a:rPr lang="en-US" b="1" dirty="0"/>
              <a:t> (GLM)</a:t>
            </a:r>
            <a:r>
              <a:rPr dirty="0"/>
              <a:t> accommodates nonlinear response distributions</a:t>
            </a:r>
          </a:p>
          <a:p>
            <a:pPr lvl="0"/>
            <a:r>
              <a:rPr b="1" dirty="0"/>
              <a:t>Link function</a:t>
            </a:r>
            <a:r>
              <a:rPr dirty="0"/>
              <a:t> transforms to linear model</a:t>
            </a:r>
          </a:p>
          <a:p>
            <a:pPr lvl="1"/>
            <a:r>
              <a:rPr b="1" dirty="0"/>
              <a:t>Inverse link function </a:t>
            </a:r>
            <a:r>
              <a:rPr dirty="0"/>
              <a:t>transforms from Normal distribution to response distribution</a:t>
            </a:r>
          </a:p>
          <a:p>
            <a:pPr lvl="0"/>
            <a:r>
              <a:rPr dirty="0"/>
              <a:t>Evaluating Binomial response models</a:t>
            </a:r>
          </a:p>
          <a:p>
            <a:pPr lvl="1"/>
            <a:r>
              <a:rPr dirty="0"/>
              <a:t>Confusion matrix organizes</a:t>
            </a:r>
          </a:p>
          <a:p>
            <a:pPr lvl="1"/>
            <a:r>
              <a:rPr dirty="0"/>
              <a:t>Compute metrics from elements of confusion matrix</a:t>
            </a:r>
          </a:p>
          <a:p>
            <a:pPr lvl="1"/>
            <a:r>
              <a:rPr dirty="0"/>
              <a:t>Use multiple evaluation criteria</a:t>
            </a:r>
          </a:p>
          <a:p>
            <a:pPr lvl="0"/>
            <a:r>
              <a:rPr dirty="0"/>
              <a:t>Compare model performance with </a:t>
            </a:r>
            <a:r>
              <a:rPr b="1" dirty="0"/>
              <a:t>deviance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7851</TotalTime>
  <Words>4317</Words>
  <Application>Microsoft Office PowerPoint</Application>
  <PresentationFormat>On-screen Show (16:9)</PresentationFormat>
  <Paragraphs>529</Paragraphs>
  <Slides>72</Slides>
  <Notes>3</Notes>
  <HiddenSlides>6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72</vt:i4>
      </vt:variant>
    </vt:vector>
  </HeadingPairs>
  <TitlesOfParts>
    <vt:vector size="77" baseType="lpstr">
      <vt:lpstr>Arial</vt:lpstr>
      <vt:lpstr>Calibri</vt:lpstr>
      <vt:lpstr>Cambria Math</vt:lpstr>
      <vt:lpstr>Courier</vt:lpstr>
      <vt:lpstr>Office Theme</vt:lpstr>
      <vt:lpstr>Models Categorical Variables and Nonlinear Responses</vt:lpstr>
      <vt:lpstr>Review</vt:lpstr>
      <vt:lpstr>Review</vt:lpstr>
      <vt:lpstr>Review</vt:lpstr>
      <vt:lpstr>Review</vt:lpstr>
      <vt:lpstr>Introduction</vt:lpstr>
      <vt:lpstr>Introduction</vt:lpstr>
      <vt:lpstr>Working with Categorical Variables </vt:lpstr>
      <vt:lpstr>Working with Categorical Variables</vt:lpstr>
      <vt:lpstr>Working with Categorical Variables</vt:lpstr>
      <vt:lpstr>Working with Categorical Variables</vt:lpstr>
      <vt:lpstr>Working with Categorical Variables</vt:lpstr>
      <vt:lpstr>Working with Categorical Variables</vt:lpstr>
      <vt:lpstr>Working with Categorical Variables</vt:lpstr>
      <vt:lpstr>Working with Categorical Variables</vt:lpstr>
      <vt:lpstr>Working with Categorical Variables</vt:lpstr>
      <vt:lpstr>Working with Categorical Variables</vt:lpstr>
      <vt:lpstr>Working with Categorical Variables</vt:lpstr>
      <vt:lpstr>Working with Categorical Variables</vt:lpstr>
      <vt:lpstr>Working with Categorical Variables</vt:lpstr>
      <vt:lpstr>Working with Categorical Variables</vt:lpstr>
      <vt:lpstr>Models with Nonlinear Responses</vt:lpstr>
      <vt:lpstr>Models with Nonlinear Response</vt:lpstr>
      <vt:lpstr>Models with Nonlinear Response</vt:lpstr>
      <vt:lpstr>The Generalized Linear Model</vt:lpstr>
      <vt:lpstr>The Generalized Linear Model</vt:lpstr>
      <vt:lpstr>The Generalized Linear Model</vt:lpstr>
      <vt:lpstr>The Logistic Regression Model</vt:lpstr>
      <vt:lpstr>The Logistic Regression Model</vt:lpstr>
      <vt:lpstr>The Logistic Regression Model</vt:lpstr>
      <vt:lpstr>The Logistic Regression Model</vt:lpstr>
      <vt:lpstr>Logistic Regression Model</vt:lpstr>
      <vt:lpstr>Logistic Regression Model</vt:lpstr>
      <vt:lpstr>Evaluation of Binary Responses</vt:lpstr>
      <vt:lpstr>Evaluation of Binary Response</vt:lpstr>
      <vt:lpstr>Evaluation of Classifiers</vt:lpstr>
      <vt:lpstr>Example: Logistic Regression </vt:lpstr>
      <vt:lpstr>Example of Logistic Regression</vt:lpstr>
      <vt:lpstr>Example of Logistic Regression</vt:lpstr>
      <vt:lpstr>Evaluation of Classifiers</vt:lpstr>
      <vt:lpstr>Evaluation of Classifiers</vt:lpstr>
      <vt:lpstr>Example of Logistic Regression</vt:lpstr>
      <vt:lpstr>Measuring Deviance</vt:lpstr>
      <vt:lpstr>What is Deviance?</vt:lpstr>
      <vt:lpstr>What is Deviance?</vt:lpstr>
      <vt:lpstr>What is Deviance?</vt:lpstr>
      <vt:lpstr>What is Deviance?</vt:lpstr>
      <vt:lpstr>What is Deviance?</vt:lpstr>
      <vt:lpstr>Residual Deviance</vt:lpstr>
      <vt:lpstr>Residual Deviance</vt:lpstr>
      <vt:lpstr>Residual Deviance</vt:lpstr>
      <vt:lpstr>Properties of Deviance</vt:lpstr>
      <vt:lpstr>Example of Logistic Regression</vt:lpstr>
      <vt:lpstr>Poisson Regression as a GLM</vt:lpstr>
      <vt:lpstr>Poisson Regression as GLM</vt:lpstr>
      <vt:lpstr>Poisson Regression as GLM</vt:lpstr>
      <vt:lpstr>Poisson Regression as GLM</vt:lpstr>
      <vt:lpstr>Poisson Regression Example</vt:lpstr>
      <vt:lpstr>Poisson Regression Example</vt:lpstr>
      <vt:lpstr>Poisson Regression Example</vt:lpstr>
      <vt:lpstr>Ordinal Regression </vt:lpstr>
      <vt:lpstr>Ordinal regression </vt:lpstr>
      <vt:lpstr>Ordinal regression </vt:lpstr>
      <vt:lpstr>Ordinal regression </vt:lpstr>
      <vt:lpstr>Ordinal regression </vt:lpstr>
      <vt:lpstr>Ordinal regression </vt:lpstr>
      <vt:lpstr>Ordinal regression </vt:lpstr>
      <vt:lpstr>Ordinal regression </vt:lpstr>
      <vt:lpstr>Summary</vt:lpstr>
      <vt:lpstr>Summary</vt:lpstr>
      <vt:lpstr>Summary</vt:lpstr>
      <vt:lpstr>Summary</vt:lpstr>
    </vt:vector>
  </TitlesOfParts>
  <LinksUpToDate>false</LinksUpToDate>
  <SharedDoc>false</SharedDoc>
  <HyperlinksChanged>false</HyperlinksChanged>
  <AppVersion>16.0000</AppVersion>
</Properties>
</file>

<file path=docProps/app0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Models Categorical Variables and Nonlinear Response</dc:title>
  <dc:creator>Steve Elston</dc:creator>
  <cp:keywords/>
  <cp:lastModifiedBy>Stephen Elston</cp:lastModifiedBy>
  <cp:revision>245</cp:revision>
  <dcterms:created xsi:type="dcterms:W3CDTF">2024-08-16T02:30:27Z</dcterms:created>
  <dcterms:modified xsi:type="dcterms:W3CDTF">2026-10-01T23:44:30Z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10/30/2023</vt:lpwstr>
  </property>
  <property fmtid="{D5CDD505-2E9C-101B-9397-08002B2CF9AE}" pid="3" name="output">
    <vt:lpwstr/>
  </property>
</Properties>
</file>