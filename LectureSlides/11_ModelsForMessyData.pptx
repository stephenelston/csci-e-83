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0"/>
  </p:notesMasterIdLst>
  <p:sldIdLst>
    <p:sldId id="337" r:id="rId2"/>
    <p:sldId id="338" r:id="rId3"/>
    <p:sldId id="340" r:id="rId4"/>
    <p:sldId id="344" r:id="rId5"/>
    <p:sldId id="345" r:id="rId6"/>
    <p:sldId id="346" r:id="rId7"/>
    <p:sldId id="347" r:id="rId8"/>
    <p:sldId id="348" r:id="rId9"/>
    <p:sldId id="350" r:id="rId10"/>
    <p:sldId id="355" r:id="rId11"/>
    <p:sldId id="356" r:id="rId12"/>
    <p:sldId id="373" r:id="rId13"/>
    <p:sldId id="369" r:id="rId14"/>
    <p:sldId id="372" r:id="rId15"/>
    <p:sldId id="374" r:id="rId16"/>
    <p:sldId id="371" r:id="rId17"/>
    <p:sldId id="341" r:id="rId18"/>
    <p:sldId id="353" r:id="rId19"/>
    <p:sldId id="352" r:id="rId20"/>
    <p:sldId id="349" r:id="rId21"/>
    <p:sldId id="354" r:id="rId22"/>
    <p:sldId id="358" r:id="rId23"/>
    <p:sldId id="360" r:id="rId24"/>
    <p:sldId id="384" r:id="rId25"/>
    <p:sldId id="361" r:id="rId26"/>
    <p:sldId id="362" r:id="rId27"/>
    <p:sldId id="351" r:id="rId28"/>
    <p:sldId id="383" r:id="rId29"/>
    <p:sldId id="375" r:id="rId30"/>
    <p:sldId id="376" r:id="rId31"/>
    <p:sldId id="380" r:id="rId32"/>
    <p:sldId id="378" r:id="rId33"/>
    <p:sldId id="379" r:id="rId34"/>
    <p:sldId id="377" r:id="rId35"/>
    <p:sldId id="320" r:id="rId36"/>
    <p:sldId id="321" r:id="rId37"/>
    <p:sldId id="364" r:id="rId38"/>
    <p:sldId id="365" r:id="rId39"/>
    <p:sldId id="382" r:id="rId40"/>
    <p:sldId id="323" r:id="rId41"/>
    <p:sldId id="324" r:id="rId42"/>
    <p:sldId id="326" r:id="rId43"/>
    <p:sldId id="366" r:id="rId44"/>
    <p:sldId id="327" r:id="rId45"/>
    <p:sldId id="328" r:id="rId46"/>
    <p:sldId id="329" r:id="rId47"/>
    <p:sldId id="330" r:id="rId48"/>
    <p:sldId id="331" r:id="rId49"/>
    <p:sldId id="332" r:id="rId50"/>
    <p:sldId id="333" r:id="rId51"/>
    <p:sldId id="367" r:id="rId52"/>
    <p:sldId id="368" r:id="rId53"/>
    <p:sldId id="403" r:id="rId54"/>
    <p:sldId id="408" r:id="rId55"/>
    <p:sldId id="386" r:id="rId56"/>
    <p:sldId id="389" r:id="rId57"/>
    <p:sldId id="409" r:id="rId58"/>
    <p:sldId id="387" r:id="rId59"/>
    <p:sldId id="399" r:id="rId60"/>
    <p:sldId id="400" r:id="rId61"/>
    <p:sldId id="404" r:id="rId62"/>
    <p:sldId id="388" r:id="rId63"/>
    <p:sldId id="391" r:id="rId64"/>
    <p:sldId id="392" r:id="rId65"/>
    <p:sldId id="390" r:id="rId66"/>
    <p:sldId id="395" r:id="rId67"/>
    <p:sldId id="393" r:id="rId68"/>
    <p:sldId id="396" r:id="rId69"/>
    <p:sldId id="394" r:id="rId70"/>
    <p:sldId id="397" r:id="rId71"/>
    <p:sldId id="398" r:id="rId72"/>
    <p:sldId id="401" r:id="rId73"/>
    <p:sldId id="405" r:id="rId74"/>
    <p:sldId id="402" r:id="rId75"/>
    <p:sldId id="407" r:id="rId76"/>
    <p:sldId id="406" r:id="rId77"/>
    <p:sldId id="385" r:id="rId78"/>
    <p:sldId id="381" r:id="rId79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43" autoAdjust="0"/>
    <p:restoredTop sz="94694" autoAdjust="0"/>
  </p:normalViewPr>
  <p:slideViewPr>
    <p:cSldViewPr snapToGrid="0" snapToObjects="1">
      <p:cViewPr varScale="1">
        <p:scale>
          <a:sx n="97" d="100"/>
          <a:sy n="97" d="100"/>
        </p:scale>
        <p:origin x="94" y="36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tableStyles" Target="tableStyle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45A0028-71D2-4800-AD8E-38BD1BCDF688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A90C29-277A-4C0B-9914-D82F5D04F8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51087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en.wikipedia.org/wiki/Zero-inflated_model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hyperlink" Target="https://www.statology.org/pearson-residuals/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s://en.wikipedia.org/wiki/Mixture_distribution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Heavy-tailed_distribution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Binomial_coefficient" TargetMode="External"/><Relationship Id="rId2" Type="http://schemas.openxmlformats.org/officeDocument/2006/relationships/hyperlink" Target="https://en.wikipedia.org/wiki/Negative_binomial_distribution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s://en.wikipedia.org/wiki/Negative_binomial_distribution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en.wikipedia.org/wiki/Negative_binomial_distribution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hyperlink" Target="https://www.ncss.com/wp-content/themes/ncss/pdf/Procedures/NCSS/Zero-Inflated_Negative_Binomial_Regression.pdf" TargetMode="Externa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8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8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8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8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9.png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hyperlink" Target="https://en.wikipedia.org/wiki/Studentized_residual" TargetMode="Externa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0.png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8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8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8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searchgate.net/publication/346630632_Robust_Statistics_The_Approach_Based_on_Influence_Functions" TargetMode="External"/><Relationship Id="rId2" Type="http://schemas.openxmlformats.org/officeDocument/2006/relationships/hyperlink" Target="https://www.wiley.com/en-ie/shop/general-introductory-statistics/robust-statistics-theory-and-methods-(with-r)-2nd-edition-p-9781119214687" TargetMode="External"/><Relationship Id="rId1" Type="http://schemas.openxmlformats.org/officeDocument/2006/relationships/slideLayout" Target="../slideLayouts/slideLayout8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Expectation%E2%80%93maximization_algorithm" TargetMode="Externa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Predictive_mean_matching" TargetMode="External"/><Relationship Id="rId2" Type="http://schemas.openxmlformats.org/officeDocument/2006/relationships/hyperlink" Target="https://pmc.ncbi.nlm.nih.gov/articles/PMC3074241/" TargetMode="Externa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hyperlink" Target="https://pmc.ncbi.nlm.nih.gov/articles/PMC3074241/" TargetMode="Externa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hyperlink" Target="https://pmc.ncbi.nlm.nih.gov/articles/PMC3074241/" TargetMode="Externa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hyperlink" Target="https://pmc.ncbi.nlm.nih.gov/articles/PMC3074241/" TargetMode="Externa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hyperlink" Target="https://casrai.org/guides/rubins-rules-pooling-imputed-estimates" TargetMode="External"/><Relationship Id="rId2" Type="http://schemas.openxmlformats.org/officeDocument/2006/relationships/hyperlink" Target="https://pmc.ncbi.nlm.nih.gov/articles/PMC3074241/" TargetMode="Externa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0.png"/><Relationship Id="rId2" Type="http://schemas.openxmlformats.org/officeDocument/2006/relationships/hyperlink" Target="https://casrai.org/guides/rubins-rules-pooling-imputed-estimates" TargetMode="Externa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hyperlink" Target="https://casrai.org/guides/rubins-rules-pooling-imputed-estimates" TargetMode="Externa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hyperlink" Target="https://content.e-bookshelf.de/media/reading/L-12468270-75fd0fbf69.pdf" TargetMode="External"/><Relationship Id="rId2" Type="http://schemas.openxmlformats.org/officeDocument/2006/relationships/hyperlink" Target="https://stefvanbuuren.name/fimd/" TargetMode="Externa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517003"/>
            <a:ext cx="7772400" cy="1515861"/>
          </a:xfrm>
        </p:spPr>
        <p:txBody>
          <a:bodyPr/>
          <a:lstStyle/>
          <a:p>
            <a:pPr marL="0" lvl="0" indent="0">
              <a:buNone/>
            </a:pPr>
            <a:r>
              <a:rPr lang="en-US" dirty="0"/>
              <a:t>Models for Messy Data</a:t>
            </a:r>
            <a:endParaRPr b="1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1878957"/>
            <a:ext cx="6400800" cy="563301"/>
          </a:xfrm>
        </p:spPr>
        <p:txBody>
          <a:bodyPr>
            <a:normAutofit fontScale="32500" lnSpcReduction="20000"/>
          </a:bodyPr>
          <a:lstStyle/>
          <a:p>
            <a:pPr marL="0" lvl="0" indent="0">
              <a:buNone/>
            </a:pPr>
            <a:br>
              <a:rPr dirty="0"/>
            </a:br>
            <a:br>
              <a:rPr dirty="0"/>
            </a:br>
            <a:r>
              <a:rPr sz="5900" b="1" dirty="0"/>
              <a:t>Steve Elston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lvl="0" indent="0">
              <a:buNone/>
            </a:pPr>
            <a:r>
              <a:t>09/04/2023</a:t>
            </a:r>
          </a:p>
        </p:txBody>
      </p:sp>
      <p:pic>
        <p:nvPicPr>
          <p:cNvPr id="5" name="Picture 2" descr="Image result for harvard extension school logo">
            <a:extLst>
              <a:ext uri="{FF2B5EF4-FFF2-40B4-BE49-F238E27FC236}">
                <a16:creationId xmlns:a16="http://schemas.microsoft.com/office/drawing/2014/main" id="{4589CD93-89FF-3DF6-420D-DE6D671B6D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1067" y="3659436"/>
            <a:ext cx="2345803" cy="9651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74191BF-5D24-EFDF-F46A-91EA7CBF856B}"/>
              </a:ext>
            </a:extLst>
          </p:cNvPr>
          <p:cNvSpPr txBox="1"/>
          <p:nvPr/>
        </p:nvSpPr>
        <p:spPr>
          <a:xfrm>
            <a:off x="1805276" y="4705706"/>
            <a:ext cx="5744633" cy="5386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Copyright 2018, 2019, 2020, 2021, 2022, 2023 2024, 2025, 2026,  Stephen F Elston. All rights reserved</a:t>
            </a:r>
            <a:r>
              <a:rPr lang="en-US" dirty="0"/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CC54D-A93E-7DF0-F2EC-603642194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5EEC6-D606-BDA0-212E-8D3ADDACF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Introduction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854A8C-8365-5A51-A4BD-48F8386E85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lvl="0" indent="0">
              <a:buNone/>
            </a:pPr>
            <a:r>
              <a:rPr lang="en-US" dirty="0"/>
              <a:t>Several commonly encountered data problems affect models used for inference   </a:t>
            </a:r>
            <a:endParaRPr dirty="0"/>
          </a:p>
          <a:p>
            <a:pPr lvl="0"/>
            <a:r>
              <a:rPr lang="en-US" b="1" dirty="0"/>
              <a:t>Zero inflated response variables </a:t>
            </a:r>
            <a:r>
              <a:rPr lang="en-US" dirty="0"/>
              <a:t>have an unusual number of zero values   </a:t>
            </a:r>
          </a:p>
          <a:p>
            <a:pPr lvl="1"/>
            <a:r>
              <a:rPr lang="en-US" dirty="0"/>
              <a:t>Use a </a:t>
            </a:r>
            <a:r>
              <a:rPr lang="en-US" b="1" dirty="0"/>
              <a:t>mixture model </a:t>
            </a:r>
            <a:r>
              <a:rPr lang="en-US" dirty="0"/>
              <a:t>to switch between a binomial and another distribution</a:t>
            </a:r>
          </a:p>
          <a:p>
            <a:pPr lvl="0"/>
            <a:r>
              <a:rPr lang="en-US" b="1" dirty="0"/>
              <a:t>Over-dispersed response variables </a:t>
            </a:r>
            <a:r>
              <a:rPr lang="en-US" dirty="0"/>
              <a:t>have a long tails </a:t>
            </a:r>
          </a:p>
          <a:p>
            <a:pPr lvl="1"/>
            <a:r>
              <a:rPr lang="en-US" dirty="0"/>
              <a:t>Can be symmetric or asymmetric with long tails</a:t>
            </a:r>
          </a:p>
          <a:p>
            <a:pPr lvl="1"/>
            <a:r>
              <a:rPr lang="en-US" dirty="0"/>
              <a:t>Use heavy tailed distribution models</a:t>
            </a:r>
          </a:p>
          <a:p>
            <a:pPr lvl="1"/>
            <a:r>
              <a:rPr lang="en-US" dirty="0"/>
              <a:t>Apply models with mixtures of distributions to account for large low probability responses </a:t>
            </a:r>
          </a:p>
          <a:p>
            <a:pPr lvl="0"/>
            <a:r>
              <a:rPr lang="en-US" b="1" dirty="0"/>
              <a:t>Outliers in independent variables </a:t>
            </a:r>
            <a:r>
              <a:rPr lang="en-US" dirty="0"/>
              <a:t>have an undue influence on OLS and GLM models </a:t>
            </a:r>
          </a:p>
          <a:p>
            <a:pPr lvl="1"/>
            <a:r>
              <a:rPr lang="en-US" dirty="0"/>
              <a:t>Robust regression models </a:t>
            </a:r>
            <a:r>
              <a:rPr lang="en-US" b="1" dirty="0"/>
              <a:t>limit the influence of outliers </a:t>
            </a:r>
            <a:r>
              <a:rPr lang="en-US" dirty="0"/>
              <a:t>on parameter estimates</a:t>
            </a:r>
          </a:p>
          <a:p>
            <a:r>
              <a:rPr lang="en-US" b="1" dirty="0"/>
              <a:t>Missing data </a:t>
            </a:r>
            <a:r>
              <a:rPr lang="en-US" dirty="0"/>
              <a:t>are common in many real-world dataset     </a:t>
            </a:r>
          </a:p>
          <a:p>
            <a:pPr lvl="1"/>
            <a:r>
              <a:rPr lang="en-US" dirty="0"/>
              <a:t>Imputation methods must preserve distributions to be valid for inference   </a:t>
            </a:r>
          </a:p>
          <a:p>
            <a:pPr lvl="0"/>
            <a:r>
              <a:rPr lang="en-US" dirty="0"/>
              <a:t>We can extend the OLS and GLM frameworks to deal with these situations 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87459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8C255-8488-A6BF-D8CF-6C0F8BDB0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1081" y="1850264"/>
            <a:ext cx="7772400" cy="1021556"/>
          </a:xfrm>
        </p:spPr>
        <p:txBody>
          <a:bodyPr/>
          <a:lstStyle/>
          <a:p>
            <a:pPr algn="ctr"/>
            <a:r>
              <a:rPr lang="en-US" b="0" cap="none" dirty="0"/>
              <a:t>Models for Zero-Inflated Response</a:t>
            </a:r>
          </a:p>
        </p:txBody>
      </p:sp>
    </p:spTree>
    <p:extLst>
      <p:ext uri="{BB962C8B-B14F-4D97-AF65-F5344CB8AC3E}">
        <p14:creationId xmlns:p14="http://schemas.microsoft.com/office/powerpoint/2010/main" val="37617949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68F5F-5608-0C70-F2DD-623A1DC2F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CF49BB-AD56-E7CF-4823-D942D28B5E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Zero-Inflated Responses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E97D54-EC36-0EE6-7D66-58D0B07E5E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lvl="0" indent="0">
              <a:buNone/>
            </a:pPr>
            <a:r>
              <a:rPr lang="en-US" dirty="0"/>
              <a:t>Zero-inflated response variables arise in many situations </a:t>
            </a:r>
            <a:endParaRPr dirty="0"/>
          </a:p>
          <a:p>
            <a:pPr lvl="0"/>
            <a:r>
              <a:rPr lang="en-US" dirty="0"/>
              <a:t>Most people who view an ecommerce site buy 0 products</a:t>
            </a:r>
          </a:p>
          <a:p>
            <a:pPr lvl="0"/>
            <a:r>
              <a:rPr lang="en-US" dirty="0"/>
              <a:t>Most auto drivers have 0 crashes per year </a:t>
            </a:r>
          </a:p>
          <a:p>
            <a:pPr lvl="0"/>
            <a:r>
              <a:rPr lang="en-US" dirty="0"/>
              <a:t>Most dental patients examined require 0 root canals </a:t>
            </a:r>
          </a:p>
          <a:p>
            <a:pPr lvl="0"/>
            <a:r>
              <a:rPr lang="en-US" dirty="0"/>
              <a:t>In much of the world the average rainfall measured on a specific day is 0 </a:t>
            </a:r>
          </a:p>
          <a:p>
            <a:pPr lvl="0"/>
            <a:r>
              <a:rPr lang="en-US" dirty="0"/>
              <a:t>The number of severe weather events in a specific area per month is typically 0  </a:t>
            </a:r>
          </a:p>
          <a:p>
            <a:r>
              <a:rPr lang="en-US" dirty="0"/>
              <a:t>In epidemiology the probability distribution of the of people contracting a disease per day in a geographic area is often 0</a:t>
            </a:r>
          </a:p>
          <a:p>
            <a:r>
              <a:rPr lang="en-US" dirty="0"/>
              <a:t>Etc.</a:t>
            </a:r>
          </a:p>
          <a:p>
            <a:pPr lvl="0"/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178969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4D2F8-E9B0-B458-3221-728A7417F9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B26928FC-ABFC-E215-267D-029ABCD9E3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9246" y="1861604"/>
            <a:ext cx="4116664" cy="286566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C43B79-51BC-5AB4-B7E8-AEF722E34F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Zero-Inflated Responses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311C61B-337B-8E4D-BA08-45ECEB736EA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4484624" cy="3394472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Example of a </a:t>
                </a:r>
                <a:r>
                  <a:rPr lang="en-US" b="1" dirty="0"/>
                  <a:t>zero-inflated Poisson distribution  </a:t>
                </a:r>
              </a:p>
              <a:p>
                <a:pPr lvl="0"/>
                <a:r>
                  <a:rPr lang="en-US" dirty="0"/>
                  <a:t>The number of zero values is inflated compared to a standard Poisson distribution   </a:t>
                </a:r>
              </a:p>
              <a:p>
                <a:pPr lvl="0"/>
                <a:r>
                  <a:rPr lang="en-US" dirty="0"/>
                  <a:t>The rest of the distribution is standard Poisson with parameter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=5.0</m:t>
                    </m:r>
                  </m:oMath>
                </a14:m>
                <a:endParaRPr lang="en-US" dirty="0"/>
              </a:p>
              <a:p>
                <a:pPr lvl="0"/>
                <a:endParaRPr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311C61B-337B-8E4D-BA08-45ECEB736EA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4484624" cy="3394472"/>
              </a:xfrm>
              <a:blipFill>
                <a:blip r:embed="rId3"/>
                <a:stretch>
                  <a:fillRect l="-2038" t="-1436" r="-32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0F7A29A-7157-D61A-8920-AF8969DB3B73}"/>
              </a:ext>
            </a:extLst>
          </p:cNvPr>
          <p:cNvCxnSpPr>
            <a:cxnSpLocks/>
          </p:cNvCxnSpPr>
          <p:nvPr/>
        </p:nvCxnSpPr>
        <p:spPr>
          <a:xfrm>
            <a:off x="4498192" y="2271648"/>
            <a:ext cx="1215792" cy="36182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E363DF7-0DA2-26E6-3AEA-FF10AC23BE52}"/>
              </a:ext>
            </a:extLst>
          </p:cNvPr>
          <p:cNvCxnSpPr>
            <a:cxnSpLocks/>
          </p:cNvCxnSpPr>
          <p:nvPr/>
        </p:nvCxnSpPr>
        <p:spPr>
          <a:xfrm>
            <a:off x="4498192" y="3432075"/>
            <a:ext cx="2050224" cy="36182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49687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993F59-9009-4191-4BD0-62EAFBE30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5D5B7B-EC31-F645-671E-3F2116407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Modeling Zero-Inflated Distributions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4AB32E-A8D9-3191-4BF8-4C76B8CCB7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How can we model zero inflated distributions?  </a:t>
            </a:r>
            <a:endParaRPr dirty="0"/>
          </a:p>
          <a:p>
            <a:pPr lvl="0"/>
            <a:r>
              <a:rPr lang="en-US" dirty="0"/>
              <a:t>Standard ‘named’ distributions do not account for zero-inflation  </a:t>
            </a:r>
          </a:p>
          <a:p>
            <a:pPr lvl="0"/>
            <a:r>
              <a:rPr lang="en-US" dirty="0"/>
              <a:t>Can use a mixture of two distributions  </a:t>
            </a:r>
          </a:p>
          <a:p>
            <a:pPr lvl="1"/>
            <a:r>
              <a:rPr lang="en-US" dirty="0"/>
              <a:t>A binomial distribution, or switching distribution  </a:t>
            </a:r>
          </a:p>
          <a:p>
            <a:pPr lvl="1"/>
            <a:r>
              <a:rPr lang="en-US" dirty="0"/>
              <a:t>A standard distribution </a:t>
            </a:r>
          </a:p>
          <a:p>
            <a:r>
              <a:rPr lang="en-US" dirty="0"/>
              <a:t>The binomial distribution serves as a ‘switch’ between 0 response and response drawn from another distribution   </a:t>
            </a:r>
          </a:p>
          <a:p>
            <a:pPr lvl="0"/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64511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CB693C-681F-BD19-D494-D40455944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98A9A6-0BBC-2038-40FF-92376FBF12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Modeling Zero-Inflated Distributions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CB4BBAF-F98F-3F4D-1C51-EE48865A9F2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69916" y="1200151"/>
                <a:ext cx="8229600" cy="3621976"/>
              </a:xfrm>
            </p:spPr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How can we model zero inflated distributions?  </a:t>
                </a:r>
              </a:p>
              <a:p>
                <a:r>
                  <a:rPr lang="en-US" dirty="0"/>
                  <a:t>The binomial distribution serves as a ‘switch’ between 0 response and the other distribution  </a:t>
                </a:r>
              </a:p>
              <a:p>
                <a:r>
                  <a:rPr lang="en-US" dirty="0"/>
                  <a:t>Let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dirty="0"/>
                  <a:t> be the probability density of the other distribution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dirty="0"/>
                  <a:t> may include 0 responses, but insufficient number  </a:t>
                </a:r>
              </a:p>
              <a:p>
                <a:r>
                  <a:rPr lang="en-US" dirty="0"/>
                  <a:t>Binomial distribution switches between 0 response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dirty="0"/>
                  <a:t> with probability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m>
                        <m:mPr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e>
                            </m:d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1−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</m:d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 |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</m:e>
                        </m:m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&gt;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d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1−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</m:d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 |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dirty="0"/>
                  <a:t>Switching probability adds an addition degree of freedom</a:t>
                </a:r>
              </a:p>
              <a:p>
                <a:pPr lvl="0"/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CB4BBAF-F98F-3F4D-1C51-EE48865A9F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69916" y="1200151"/>
                <a:ext cx="8229600" cy="3621976"/>
              </a:xfrm>
              <a:blipFill>
                <a:blip r:embed="rId2"/>
                <a:stretch>
                  <a:fillRect l="-963" t="-21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417650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DC65D1-0629-048B-E925-6A17F56DA0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6AF045-2CA5-7833-C0AC-1E68DA4D7B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Zero-Inflated Poisson Distribution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FDF26E4-3371-064A-6570-B618A730606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621976"/>
              </a:xfrm>
            </p:spPr>
            <p:txBody>
              <a:bodyPr>
                <a:normAutofit fontScale="85000"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Example</a:t>
                </a:r>
                <a:r>
                  <a:rPr lang="en-US" b="1" dirty="0"/>
                  <a:t>, </a:t>
                </a:r>
                <a:r>
                  <a:rPr lang="en-US" b="1" dirty="0">
                    <a:hlinkClick r:id="rId2"/>
                  </a:rPr>
                  <a:t>zero-inflated Poisson distribution </a:t>
                </a:r>
                <a:endParaRPr lang="en-US" b="1" dirty="0"/>
              </a:p>
              <a:p>
                <a:r>
                  <a:rPr lang="en-US" dirty="0"/>
                  <a:t>Recall the PMF of the standard Poisson distribution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p>
                          </m:sSup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sup>
                          </m:sSup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!</m:t>
                          </m:r>
                        </m:den>
                      </m:f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= count of events</a:t>
                </a:r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dirty="0"/>
                  <a:t>= mean count</a:t>
                </a:r>
              </a:p>
              <a:p>
                <a:r>
                  <a:rPr lang="en-US" dirty="0"/>
                  <a:t>Mix Poisson distribution with a binomial distribution with parameter,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m>
                        <m:mPr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e>
                            </m:d>
                            <m:r>
                              <m:rPr>
                                <m:brk m:alnAt="7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1−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</m:d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</m:sup>
                            </m:sSup>
                          </m:e>
                        </m:m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&gt;0</m:t>
                                </m:r>
                              </m:e>
                            </m:d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1−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p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sup>
                                </m:sSup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sup>
                                </m:sSup>
                              </m:num>
                              <m:den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!</m:t>
                                </m:r>
                              </m:den>
                            </m:f>
                          </m:e>
                        </m:mr>
                      </m:m>
                    </m:oMath>
                  </m:oMathPara>
                </a14:m>
                <a:endParaRPr lang="en-US" dirty="0"/>
              </a:p>
              <a:p>
                <a:pPr lvl="0"/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FDF26E4-3371-064A-6570-B618A730606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621976"/>
              </a:xfrm>
              <a:blipFill>
                <a:blip r:embed="rId3"/>
                <a:stretch>
                  <a:fillRect l="-741" t="-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736589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C8B609-0209-30CC-95E8-278C2AE03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2DAA27-D2A3-2195-57D9-6998CD5662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655115"/>
          </a:xfrm>
        </p:spPr>
        <p:txBody>
          <a:bodyPr/>
          <a:lstStyle/>
          <a:p>
            <a:pPr marL="0" lvl="0" indent="0">
              <a:buNone/>
            </a:pPr>
            <a:r>
              <a:rPr lang="en-US" dirty="0"/>
              <a:t>Zero-Inflated Poisson Distribution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6AEE55-B0CC-A536-1D87-C17E87E0750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28497" y="1098920"/>
                <a:ext cx="4434635" cy="3879023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Example</a:t>
                </a:r>
                <a:r>
                  <a:rPr lang="en-US" b="1" dirty="0"/>
                  <a:t>, zero-inflated Poisson distribution </a:t>
                </a:r>
              </a:p>
              <a:p>
                <a:r>
                  <a:rPr lang="en-US" dirty="0"/>
                  <a:t>Standard Poisson distributions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=2.0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=5.0</m:t>
                    </m:r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Zero inflated Poisson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=0.2 </a:t>
                </a:r>
              </a:p>
              <a:p>
                <a:r>
                  <a:rPr lang="en-US" dirty="0"/>
                  <a:t>Zero inflated Poisson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=0.5 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pPr lvl="0"/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6AEE55-B0CC-A536-1D87-C17E87E0750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28497" y="1098920"/>
                <a:ext cx="4434635" cy="3879023"/>
              </a:xfrm>
              <a:blipFill>
                <a:blip r:embed="rId2"/>
                <a:stretch>
                  <a:fillRect l="-2060" t="-12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7510F70D-36A7-155F-2485-5367BDFEC2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4698" y="973343"/>
            <a:ext cx="4028802" cy="410455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49D24AF-BB61-12F9-B828-4888004FDC0A}"/>
              </a:ext>
            </a:extLst>
          </p:cNvPr>
          <p:cNvCxnSpPr>
            <a:cxnSpLocks/>
          </p:cNvCxnSpPr>
          <p:nvPr/>
        </p:nvCxnSpPr>
        <p:spPr>
          <a:xfrm flipV="1">
            <a:off x="4736018" y="1853403"/>
            <a:ext cx="385442" cy="270629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1EE4919-AC92-DFD5-ABB9-999E7D3BC294}"/>
              </a:ext>
            </a:extLst>
          </p:cNvPr>
          <p:cNvCxnSpPr>
            <a:cxnSpLocks/>
          </p:cNvCxnSpPr>
          <p:nvPr/>
        </p:nvCxnSpPr>
        <p:spPr>
          <a:xfrm>
            <a:off x="4108649" y="3004092"/>
            <a:ext cx="943103" cy="186057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29E9038-E8A3-1C1E-5E16-7AFDFF3C889D}"/>
              </a:ext>
            </a:extLst>
          </p:cNvPr>
          <p:cNvCxnSpPr>
            <a:cxnSpLocks/>
          </p:cNvCxnSpPr>
          <p:nvPr/>
        </p:nvCxnSpPr>
        <p:spPr>
          <a:xfrm>
            <a:off x="4108649" y="3797015"/>
            <a:ext cx="824190" cy="537159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69631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BC6A4-857B-DC6B-9336-D253B4B3D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D648C5-DECC-C14B-D6E1-6ADC55A2F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Zero-Inflated Response Regression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BB3C24-B2A6-ABAB-74A0-C12FD142248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621976"/>
              </a:xfrm>
            </p:spPr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How can we fit a model with zero inflated distributions?  </a:t>
                </a:r>
              </a:p>
              <a:p>
                <a:r>
                  <a:rPr lang="en-US" dirty="0"/>
                  <a:t>In some cases, a nearly analytic solution is possible    </a:t>
                </a:r>
              </a:p>
              <a:p>
                <a:r>
                  <a:rPr lang="en-US" dirty="0"/>
                  <a:t>How can we find a numerical solution? </a:t>
                </a:r>
              </a:p>
              <a:p>
                <a:pPr lvl="1"/>
                <a:r>
                  <a:rPr lang="en-US" dirty="0"/>
                  <a:t>Fit parameters of the switching distribution </a:t>
                </a:r>
              </a:p>
              <a:p>
                <a:pPr lvl="1"/>
                <a:r>
                  <a:rPr lang="en-US" dirty="0"/>
                  <a:t>Fit parameters of the other distribution </a:t>
                </a:r>
              </a:p>
              <a:p>
                <a:pPr lvl="1"/>
                <a:r>
                  <a:rPr lang="en-US" dirty="0"/>
                  <a:t>The model is nonlinear!</a:t>
                </a:r>
              </a:p>
              <a:p>
                <a:r>
                  <a:rPr lang="en-US" dirty="0"/>
                  <a:t>Use an iterative (alternating) solution</a:t>
                </a:r>
              </a:p>
              <a:p>
                <a:pPr marL="800100" lvl="1" indent="-457200">
                  <a:buFont typeface="+mj-lt"/>
                  <a:buAutoNum type="arabicPeriod"/>
                </a:pPr>
                <a:r>
                  <a:rPr lang="en-US" dirty="0"/>
                  <a:t>Estimate parameter(s) of switching distribution</a:t>
                </a:r>
              </a:p>
              <a:p>
                <a:pPr marL="800100" lvl="1" indent="-457200">
                  <a:buFont typeface="+mj-lt"/>
                  <a:buAutoNum type="arabicPeriod"/>
                </a:pPr>
                <a:r>
                  <a:rPr lang="en-US" dirty="0"/>
                  <a:t>Estimate parameter(s) of other distribution</a:t>
                </a:r>
              </a:p>
              <a:p>
                <a:pPr marL="800100" lvl="1" indent="-457200">
                  <a:buFont typeface="+mj-lt"/>
                  <a:buAutoNum type="arabicPeriod"/>
                </a:pPr>
                <a:r>
                  <a:rPr lang="en-US" dirty="0"/>
                  <a:t>Estimate error in fit to the data </a:t>
                </a:r>
              </a:p>
              <a:p>
                <a:pPr marL="800100" lvl="1" indent="-457200">
                  <a:buFont typeface="+mj-lt"/>
                  <a:buAutoNum type="arabicPeriod"/>
                </a:pPr>
                <a:r>
                  <a:rPr lang="en-US" dirty="0"/>
                  <a:t>Repeat steps 1, 2 and 3 until convergence,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𝑒𝑟𝑟𝑜𝑟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𝑡ℎ𝑟𝑒𝑠ℎ𝑜𝑙𝑑</m:t>
                    </m:r>
                  </m:oMath>
                </a14:m>
                <a:r>
                  <a:rPr lang="en-US" dirty="0"/>
                  <a:t>  </a:t>
                </a:r>
              </a:p>
              <a:p>
                <a:endParaRPr lang="en-US" dirty="0"/>
              </a:p>
              <a:p>
                <a:pPr lvl="0"/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BB3C24-B2A6-ABAB-74A0-C12FD142248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621976"/>
              </a:xfrm>
              <a:blipFill>
                <a:blip r:embed="rId2"/>
                <a:stretch>
                  <a:fillRect l="-963" t="-28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346391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4FCDCC-A891-FAD2-7E8E-28DACE3CB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F9469-8BB5-D00E-F486-A613048D3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Zero-Inflated Response Regression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B482F6-6F05-517A-F3BD-DC90A1974F6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621976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How can we fit a model with zero inflated distributions?  </a:t>
                </a:r>
              </a:p>
              <a:p>
                <a:pPr marL="0" indent="0">
                  <a:buNone/>
                </a:pPr>
                <a:r>
                  <a:rPr lang="en-US" dirty="0"/>
                  <a:t>Example, zero-inflated Poisson distribution  </a:t>
                </a:r>
              </a:p>
              <a:p>
                <a:pPr marL="800100" lvl="1" indent="-457200">
                  <a:buFont typeface="+mj-lt"/>
                  <a:buAutoNum type="arabicPeriod"/>
                </a:pPr>
                <a:r>
                  <a:rPr lang="en-US" dirty="0"/>
                  <a:t>Estimate parameter,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, of binomial distribution as GLM</a:t>
                </a:r>
              </a:p>
              <a:p>
                <a:pPr lvl="2"/>
                <a:r>
                  <a:rPr lang="en-US" dirty="0"/>
                  <a:t>Poisson distribution parameter held constant </a:t>
                </a:r>
              </a:p>
              <a:p>
                <a:pPr marL="800100" lvl="1" indent="-457200">
                  <a:buFont typeface="+mj-lt"/>
                  <a:buAutoNum type="arabicPeriod"/>
                </a:pPr>
                <a:r>
                  <a:rPr lang="en-US" dirty="0"/>
                  <a:t>Estimate parameter,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, of Poisson distribution as GLM</a:t>
                </a:r>
              </a:p>
              <a:p>
                <a:pPr lvl="2"/>
                <a:r>
                  <a:rPr lang="en-US" dirty="0"/>
                  <a:t>Binomial distribution parameter held constant</a:t>
                </a:r>
              </a:p>
              <a:p>
                <a:pPr marL="800100" lvl="1" indent="-457200">
                  <a:buFont typeface="+mj-lt"/>
                  <a:buAutoNum type="arabicPeriod"/>
                </a:pPr>
                <a:r>
                  <a:rPr lang="en-US" dirty="0"/>
                  <a:t>Find error between estimate and observed data </a:t>
                </a:r>
              </a:p>
              <a:p>
                <a:pPr marL="800100" lvl="1" indent="-457200">
                  <a:buFont typeface="+mj-lt"/>
                  <a:buAutoNum type="arabicPeriod"/>
                </a:pPr>
                <a:r>
                  <a:rPr lang="en-US" dirty="0"/>
                  <a:t>Repeat steps 1, 2 and 3 until convergence 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lvl="0"/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B482F6-6F05-517A-F3BD-DC90A1974F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621976"/>
              </a:xfrm>
              <a:blipFill>
                <a:blip r:embed="rId2"/>
                <a:stretch>
                  <a:fillRect l="-1111" t="-13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04392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A83D6F-D893-DA13-853F-A9881CC56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87A3F3-7181-C173-382B-2D2AA99BC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204787"/>
            <a:ext cx="8441574" cy="451918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Example: Zero-Inflated Poisson Regression</a:t>
            </a:r>
            <a:endParaRPr sz="3200" b="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5D9DE8-3CA0-350C-E556-EEFC894046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1" y="1995055"/>
            <a:ext cx="3871650" cy="2685011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000" dirty="0"/>
              <a:t>Example: </a:t>
            </a:r>
            <a:r>
              <a:rPr lang="en-US" sz="2000" dirty="0"/>
              <a:t>model for fish caught by parties visiting a park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The distribution is zero inflated, many parties do not catch any fish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2C0445D-ABCD-B101-00A3-EF9F7082F5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5869" y="1512916"/>
            <a:ext cx="4729701" cy="3058181"/>
          </a:xfrm>
          <a:prstGeom prst="rect">
            <a:avLst/>
          </a:prstGeom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26BF2677-7F67-46D3-02CB-2BBB9F7E6387}"/>
              </a:ext>
            </a:extLst>
          </p:cNvPr>
          <p:cNvCxnSpPr>
            <a:cxnSpLocks/>
          </p:cNvCxnSpPr>
          <p:nvPr/>
        </p:nvCxnSpPr>
        <p:spPr>
          <a:xfrm>
            <a:off x="4060767" y="3125585"/>
            <a:ext cx="935182" cy="332510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8049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19EA63-83E3-1C55-7E5E-003914F59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EBB3EF-8AFD-D43E-E1F9-1C70D0D87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204787"/>
            <a:ext cx="8441574" cy="451918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Example: Zero-Inflated Poisson Regression</a:t>
            </a:r>
            <a:endParaRPr sz="3200" b="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5354A87-DA9E-3737-627D-548F0DEF026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84466" y="812601"/>
            <a:ext cx="8381305" cy="1564839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000" dirty="0"/>
              <a:t>Example: </a:t>
            </a:r>
            <a:r>
              <a:rPr lang="en-US" sz="2000" dirty="0"/>
              <a:t>model for fish caught by parties visiting a park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Exogenous variables, persons in party, children in party, did the party camp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Facet plot of the response variable vs. the exogenous variables 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F26E4EE-106F-5AB2-1AA2-C4E81F014B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668970"/>
            <a:ext cx="8244431" cy="2458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69997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294746-4749-4FB0-5CB4-48DBD2CA76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926857-4CA1-DF47-C163-671D555670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204787"/>
            <a:ext cx="8441574" cy="451918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Example: Zero-Inflated Poisson Regression</a:t>
            </a:r>
            <a:endParaRPr sz="3200" b="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88B0C5-D708-13A5-020E-78E79C75A1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84466" y="1068185"/>
            <a:ext cx="4653048" cy="3537065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000" dirty="0"/>
              <a:t>Example: </a:t>
            </a:r>
            <a:r>
              <a:rPr lang="en-US" sz="2000" dirty="0"/>
              <a:t>model for fish caught by parties visiting a park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Model is significant in explaining the data compared to the null model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The coefficients are all significant</a:t>
            </a:r>
          </a:p>
          <a:p>
            <a:pPr marL="685800" lvl="1" indent="-342900">
              <a:buFont typeface="Arial" panose="020B0604020202020204" pitchFamily="34" charset="0"/>
              <a:buChar char="•"/>
            </a:pPr>
            <a:r>
              <a:rPr lang="en-US" sz="1800" dirty="0"/>
              <a:t>Coefficient for switching</a:t>
            </a:r>
          </a:p>
          <a:p>
            <a:pPr marL="685800" lvl="1" indent="-342900">
              <a:buFont typeface="Arial" panose="020B0604020202020204" pitchFamily="34" charset="0"/>
              <a:buChar char="•"/>
            </a:pPr>
            <a:r>
              <a:rPr lang="en-US" sz="1700" dirty="0"/>
              <a:t>Adding people to party or camping increases expected number of fish caught</a:t>
            </a:r>
          </a:p>
          <a:p>
            <a:pPr marL="685800" lvl="1" indent="-342900">
              <a:buFont typeface="Arial" panose="020B0604020202020204" pitchFamily="34" charset="0"/>
              <a:buChar char="•"/>
            </a:pPr>
            <a:r>
              <a:rPr lang="en-US" sz="1700" dirty="0"/>
              <a:t>Children in party reduce expected number of fish caught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A3AE126-A2E1-4BB6-62EC-3A9E876031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6712" y="893616"/>
            <a:ext cx="3645628" cy="4075315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3AA0651-EF34-BE67-36D9-ED87C3AB1760}"/>
              </a:ext>
            </a:extLst>
          </p:cNvPr>
          <p:cNvCxnSpPr>
            <a:cxnSpLocks/>
          </p:cNvCxnSpPr>
          <p:nvPr/>
        </p:nvCxnSpPr>
        <p:spPr>
          <a:xfrm>
            <a:off x="4572000" y="2049087"/>
            <a:ext cx="3084023" cy="1305097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522EFC8-1E22-00B6-1333-C5684091AA57}"/>
              </a:ext>
            </a:extLst>
          </p:cNvPr>
          <p:cNvCxnSpPr>
            <a:cxnSpLocks/>
          </p:cNvCxnSpPr>
          <p:nvPr/>
        </p:nvCxnSpPr>
        <p:spPr>
          <a:xfrm>
            <a:off x="3653444" y="2937555"/>
            <a:ext cx="2622665" cy="1030036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54A3AF0-A54E-AA24-9428-9795BB249912}"/>
              </a:ext>
            </a:extLst>
          </p:cNvPr>
          <p:cNvCxnSpPr>
            <a:cxnSpLocks/>
          </p:cNvCxnSpPr>
          <p:nvPr/>
        </p:nvCxnSpPr>
        <p:spPr>
          <a:xfrm>
            <a:off x="4821382" y="3602527"/>
            <a:ext cx="749999" cy="693073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01F32A9-C574-B383-2D30-A94CF83FA8A9}"/>
              </a:ext>
            </a:extLst>
          </p:cNvPr>
          <p:cNvCxnSpPr>
            <a:cxnSpLocks/>
          </p:cNvCxnSpPr>
          <p:nvPr/>
        </p:nvCxnSpPr>
        <p:spPr>
          <a:xfrm>
            <a:off x="4756959" y="3948543"/>
            <a:ext cx="926869" cy="631766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4CFA3CC1-AFAE-5D22-0215-84C2EABFAABF}"/>
              </a:ext>
            </a:extLst>
          </p:cNvPr>
          <p:cNvCxnSpPr>
            <a:cxnSpLocks/>
          </p:cNvCxnSpPr>
          <p:nvPr/>
        </p:nvCxnSpPr>
        <p:spPr>
          <a:xfrm>
            <a:off x="4268585" y="2662494"/>
            <a:ext cx="3429001" cy="1103170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16703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927D63-CE8B-7C84-26AC-FBBCF013A0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92CBA2-E206-728D-2AA7-52C261CBE16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51560"/>
                <a:ext cx="8229600" cy="3770567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Residuals of GLM models are not expected to be Normally distributed  </a:t>
                </a:r>
              </a:p>
              <a:p>
                <a:r>
                  <a:rPr lang="en-US" dirty="0"/>
                  <a:t>Need a transformation of residuals to an easier to understand distribution  </a:t>
                </a:r>
              </a:p>
              <a:p>
                <a:r>
                  <a:rPr lang="en-US" dirty="0"/>
                  <a:t>The </a:t>
                </a:r>
                <a:r>
                  <a:rPr lang="en-US" dirty="0">
                    <a:hlinkClick r:id="rId2"/>
                  </a:rPr>
                  <a:t>Pearson adjustment </a:t>
                </a:r>
                <a:r>
                  <a:rPr lang="en-US" dirty="0"/>
                  <a:t>transforms the distributions of the residuals to approximately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rad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lvl="0"/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92CBA2-E206-728D-2AA7-52C261CBE16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51560"/>
                <a:ext cx="8229600" cy="3770567"/>
              </a:xfrm>
              <a:blipFill>
                <a:blip r:embed="rId3"/>
                <a:stretch>
                  <a:fillRect l="-1111" t="-1294" r="-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2DC14BED-D8BA-13A9-A5D6-1D39057753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204787"/>
            <a:ext cx="8441574" cy="451918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Example: Zero-Inflated Poisson Regression</a:t>
            </a:r>
            <a:endParaRPr sz="3200" b="0" dirty="0"/>
          </a:p>
        </p:txBody>
      </p:sp>
    </p:spTree>
    <p:extLst>
      <p:ext uri="{BB962C8B-B14F-4D97-AF65-F5344CB8AC3E}">
        <p14:creationId xmlns:p14="http://schemas.microsoft.com/office/powerpoint/2010/main" val="4155744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DE16C-B8BA-7E63-0400-D9D4B825C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4CF0C0-57E2-E59F-7F90-2C8E61191B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204787"/>
            <a:ext cx="8441574" cy="451918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Example: Zero-Inflated Poisson Regression</a:t>
            </a:r>
            <a:endParaRPr sz="3200" b="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0DC013-3F3F-9611-72C4-36CB32D35F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84466" y="1376794"/>
            <a:ext cx="4274818" cy="3362499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sz="2000" dirty="0"/>
              <a:t>Example: </a:t>
            </a:r>
            <a:r>
              <a:rPr lang="en-US" sz="2000" dirty="0"/>
              <a:t>model for fish caught by parties visiting a park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Pearson adjusted residuals show some heteroscedastic behavior</a:t>
            </a:r>
          </a:p>
          <a:p>
            <a:pPr marL="685800" lvl="1" indent="-342900">
              <a:buFont typeface="Arial" panose="020B0604020202020204" pitchFamily="34" charset="0"/>
              <a:buChar char="•"/>
            </a:pPr>
            <a:r>
              <a:rPr lang="en-US" sz="1850" b="1" dirty="0"/>
              <a:t>Do not over interpret this plot!</a:t>
            </a:r>
          </a:p>
          <a:p>
            <a:pPr marL="685800" lvl="1" indent="-342900">
              <a:buFont typeface="Arial" panose="020B0604020202020204" pitchFamily="34" charset="0"/>
              <a:buChar char="•"/>
            </a:pPr>
            <a:r>
              <a:rPr lang="en-US" sz="1850" dirty="0"/>
              <a:t>A sample of only 250 cases is small and there can be </a:t>
            </a:r>
            <a:r>
              <a:rPr lang="en-US" sz="1850" b="1" dirty="0"/>
              <a:t>considerable variation from sampling alone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Histogram and Q-Q plot show considerable right skew and larger outliers in the Pearson adjusted residuals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2921FE1-0E21-7AB3-9569-8F43858745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3718" y="1026622"/>
            <a:ext cx="4450282" cy="4062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72197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D5C1C8-BE41-6056-2236-1780797FA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07884-1785-002A-C91F-EB861AA82D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1081" y="1850264"/>
            <a:ext cx="7772400" cy="1021556"/>
          </a:xfrm>
        </p:spPr>
        <p:txBody>
          <a:bodyPr/>
          <a:lstStyle/>
          <a:p>
            <a:pPr algn="ctr"/>
            <a:r>
              <a:rPr lang="en-US" b="0" cap="none" dirty="0"/>
              <a:t>Models for Over-Dispersed Response</a:t>
            </a:r>
          </a:p>
        </p:txBody>
      </p:sp>
    </p:spTree>
    <p:extLst>
      <p:ext uri="{BB962C8B-B14F-4D97-AF65-F5344CB8AC3E}">
        <p14:creationId xmlns:p14="http://schemas.microsoft.com/office/powerpoint/2010/main" val="154029796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2D7613-D14E-EC43-A019-B4A9F531D8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21483E-65DC-99C1-549C-85BA0EF488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Over-Dispersed </a:t>
            </a:r>
            <a:r>
              <a:rPr lang="en-US"/>
              <a:t>Response Distributions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D17C2F-7BD8-0D47-C916-F716C08460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lvl="0" indent="0">
              <a:buNone/>
            </a:pPr>
            <a:r>
              <a:rPr lang="en-US" dirty="0"/>
              <a:t>Over-dispersed response variables are commonly encountered     </a:t>
            </a:r>
            <a:endParaRPr dirty="0"/>
          </a:p>
          <a:p>
            <a:pPr lvl="0"/>
            <a:r>
              <a:rPr lang="en-US" dirty="0"/>
              <a:t>Sales volume of a product can show have sudden surges</a:t>
            </a:r>
          </a:p>
          <a:p>
            <a:pPr lvl="0"/>
            <a:r>
              <a:rPr lang="en-US" dirty="0"/>
              <a:t>Demand on an electric grid can have extreme spikes beyond the mean load</a:t>
            </a:r>
          </a:p>
          <a:p>
            <a:pPr lvl="0"/>
            <a:r>
              <a:rPr lang="en-US" dirty="0"/>
              <a:t>Number of emergency patients seen at a hospital can surge well beyond the norm</a:t>
            </a:r>
          </a:p>
          <a:p>
            <a:pPr lvl="0"/>
            <a:r>
              <a:rPr lang="en-US" dirty="0"/>
              <a:t>Sightings of herd and flock animals seen at a location can have large numbers at some times</a:t>
            </a:r>
          </a:p>
          <a:p>
            <a:pPr lvl="0"/>
            <a:r>
              <a:rPr lang="en-US" dirty="0"/>
              <a:t>Frequency of tornados is subject to outbreaks</a:t>
            </a:r>
          </a:p>
          <a:p>
            <a:pPr lvl="0"/>
            <a:r>
              <a:rPr lang="en-US" dirty="0"/>
              <a:t>Number of publications by academic researchers, where a few people have very high numbers</a:t>
            </a:r>
          </a:p>
          <a:p>
            <a:pPr lvl="0"/>
            <a:r>
              <a:rPr lang="en-US" dirty="0"/>
              <a:t>The daily trading volume of a stock can spike occasionally  </a:t>
            </a:r>
          </a:p>
          <a:p>
            <a:r>
              <a:rPr lang="en-US" dirty="0"/>
              <a:t>In epidemiology, the number of people contracting a disease is generally low, but can spike to large numbers</a:t>
            </a:r>
          </a:p>
          <a:p>
            <a:r>
              <a:rPr lang="en-US" dirty="0"/>
              <a:t>Etc.</a:t>
            </a:r>
          </a:p>
          <a:p>
            <a:pPr lvl="0"/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40420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13FC11-9C3C-118F-79AB-D990D84D8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63682E-2FF7-FAAB-55B1-B9E5F9544F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Modeling Over-Dispersed Distributions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270A91-AE2B-4B56-0879-723A7F8B04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How can we model over-dispersed distributions?  </a:t>
            </a:r>
            <a:endParaRPr dirty="0"/>
          </a:p>
          <a:p>
            <a:pPr lvl="0"/>
            <a:r>
              <a:rPr lang="en-US" dirty="0"/>
              <a:t>Two widely used options  </a:t>
            </a:r>
          </a:p>
          <a:p>
            <a:pPr lvl="0"/>
            <a:r>
              <a:rPr lang="en-US" dirty="0"/>
              <a:t>Inherently heavy tailed distributions   </a:t>
            </a:r>
          </a:p>
          <a:p>
            <a:pPr lvl="0"/>
            <a:r>
              <a:rPr lang="en-US" dirty="0"/>
              <a:t>Mixtures of distributions   </a:t>
            </a:r>
          </a:p>
          <a:p>
            <a:pPr lvl="0"/>
            <a:r>
              <a:rPr lang="en-US" dirty="0"/>
              <a:t>Or both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153565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7A82E9-2C31-4130-2849-5001590572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EB3605-78EF-6927-618F-A0DDE1DD32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Modeling Over-Dispersed Distributions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714F5DE-1921-738D-F785-5363AED3B45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706866"/>
              </a:xfrm>
            </p:spPr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How do we construct finite </a:t>
                </a:r>
                <a:r>
                  <a:rPr lang="en-US" b="1" dirty="0">
                    <a:hlinkClick r:id="rId2"/>
                  </a:rPr>
                  <a:t>mixtures of distributions</a:t>
                </a:r>
                <a:endParaRPr lang="en-US" b="1" dirty="0"/>
              </a:p>
              <a:p>
                <a:pPr lvl="0"/>
                <a:r>
                  <a:rPr lang="en-US" dirty="0"/>
                  <a:t>Model has two components   </a:t>
                </a:r>
              </a:p>
              <a:p>
                <a:pPr lvl="1"/>
                <a:r>
                  <a:rPr lang="en-US" dirty="0"/>
                  <a:t>A switching distribution, e.g. binomial or categorical   </a:t>
                </a:r>
              </a:p>
              <a:p>
                <a:pPr lvl="1"/>
                <a:r>
                  <a:rPr lang="en-US" dirty="0"/>
                  <a:t>Two or more other distributions</a:t>
                </a:r>
              </a:p>
              <a:p>
                <a:pPr lvl="0"/>
                <a:r>
                  <a:rPr lang="en-US" dirty="0"/>
                  <a:t>Example, </a:t>
                </a:r>
                <a:r>
                  <a:rPr lang="en-US" b="1" dirty="0"/>
                  <a:t>mixture of three Normal distributions </a:t>
                </a:r>
                <a:r>
                  <a:rPr lang="en-US" dirty="0"/>
                  <a:t>creates distribution with high dispersion   </a:t>
                </a:r>
              </a:p>
              <a:p>
                <a:pPr lvl="1"/>
                <a:r>
                  <a:rPr lang="en-US" dirty="0"/>
                  <a:t>Switching probabilities from categorical distribution,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ar-AE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Three Normal distributions with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ar-AE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dirty="0"/>
                  <a:t>  </a:t>
                </a:r>
              </a:p>
              <a:p>
                <a:pPr lvl="1"/>
                <a:r>
                  <a:rPr lang="en-US" dirty="0"/>
                  <a:t>First and third distributions have weight on left and right tails </a:t>
                </a:r>
              </a:p>
              <a:p>
                <a:pPr lvl="1"/>
                <a:r>
                  <a:rPr lang="en-US" dirty="0"/>
                  <a:t>Switching probabilities and normal distribution parameters are fit by iterative maximum likelihood algorithm</a:t>
                </a:r>
                <a:endParaRPr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714F5DE-1921-738D-F785-5363AED3B4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706866"/>
              </a:xfrm>
              <a:blipFill>
                <a:blip r:embed="rId3"/>
                <a:stretch>
                  <a:fillRect l="-963" t="-27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388028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B9F2A-0799-0329-3BFF-4F3FD9AC6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7F8645-A612-547B-BE69-1774C4B4F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Modeling Over-Dispersed Distributions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1178F1-CBE5-7762-35DD-4AB3F3A43C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lang="en-US" dirty="0"/>
              <a:t>Many choices of </a:t>
            </a:r>
            <a:r>
              <a:rPr lang="en-US" dirty="0">
                <a:hlinkClick r:id="rId2"/>
              </a:rPr>
              <a:t>heavy tailed distributions </a:t>
            </a:r>
            <a:r>
              <a:rPr lang="en-US" dirty="0"/>
              <a:t>to model over-dispersed variables </a:t>
            </a:r>
            <a:endParaRPr dirty="0"/>
          </a:p>
          <a:p>
            <a:pPr lvl="0"/>
            <a:r>
              <a:rPr lang="en-US" dirty="0"/>
              <a:t>Student-t with low degrees of freedom – cannot use GLM! </a:t>
            </a:r>
          </a:p>
          <a:p>
            <a:pPr lvl="0"/>
            <a:r>
              <a:rPr lang="en-US" dirty="0"/>
              <a:t>Negative binomial</a:t>
            </a:r>
          </a:p>
          <a:p>
            <a:pPr lvl="0"/>
            <a:r>
              <a:rPr lang="en-US" dirty="0"/>
              <a:t>Log-gamma</a:t>
            </a:r>
          </a:p>
          <a:p>
            <a:pPr lvl="0"/>
            <a:r>
              <a:rPr lang="en-US" dirty="0"/>
              <a:t>Pareto</a:t>
            </a:r>
          </a:p>
          <a:p>
            <a:pPr lvl="0"/>
            <a:r>
              <a:rPr lang="en-US" dirty="0"/>
              <a:t>Log-logistic</a:t>
            </a:r>
          </a:p>
          <a:p>
            <a:pPr lvl="0"/>
            <a:r>
              <a:rPr lang="en-US" dirty="0"/>
              <a:t>Log-normal </a:t>
            </a:r>
          </a:p>
          <a:p>
            <a:pPr lvl="0"/>
            <a:r>
              <a:rPr lang="en-US" dirty="0"/>
              <a:t>Etc.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4773476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5B436B-EC23-FEE9-FC8D-FF8C5CEDB6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91029-867C-D91C-69AA-494FD00088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Negative Binomial Distribution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3D034CF-91F6-FE3D-104F-E5818A54504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0" y="1137920"/>
                <a:ext cx="8229600" cy="3616959"/>
              </a:xfrm>
            </p:spPr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𝐧𝐞𝐠𝐚𝐭𝐢𝐯𝐞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 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𝐛𝐢𝐧𝐨𝐦𝐢𝐚𝐥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 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𝐝𝐢𝐬𝐭𝐫𝐢𝐛𝐮𝐭𝐢𝐨𝐧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 </m:t>
                    </m:r>
                  </m:oMath>
                </a14:m>
                <a:r>
                  <a:rPr lang="en-US" dirty="0"/>
                  <a:t>is a generalization of the Poisson distribution </a:t>
                </a:r>
              </a:p>
              <a:p>
                <a:r>
                  <a:rPr lang="en-US" dirty="0"/>
                  <a:t>The general form of the negative binomial distribution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|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mr>
                          </m:m>
                        </m:e>
                      </m:d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p>
                      </m:sSup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pPr marL="342900" lvl="1" indent="0">
                  <a:buNone/>
                </a:pPr>
                <a:r>
                  <a:rPr lang="en-US" dirty="0"/>
                  <a:t>Where </a:t>
                </a:r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number of trials</a:t>
                </a:r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number of failures</a:t>
                </a:r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number of successes</a:t>
                </a:r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probability of success</a:t>
                </a:r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mr>
                        </m:m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latin typeface="Cambria Math" panose="02040503050406030204" pitchFamily="18" charset="0"/>
                        <a:hlinkClick r:id="rId3"/>
                      </a:rPr>
                      <m:t>𝐛𝐢𝐧𝐨𝐦𝐢𝐚𝐥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3"/>
                      </a:rPr>
                      <m:t> 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3"/>
                      </a:rPr>
                      <m:t>𝐜𝐨𝐞𝐟𝐟𝐢𝐜𝐢𝐞𝐧𝐭</m:t>
                    </m:r>
                  </m:oMath>
                </a14:m>
                <a:r>
                  <a:rPr lang="en-US" dirty="0"/>
                  <a:t>, pronounced ‘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choose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’, is the number of combinations of size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from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items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3D034CF-91F6-FE3D-104F-E5818A54504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0" y="1137920"/>
                <a:ext cx="8229600" cy="3616959"/>
              </a:xfrm>
              <a:blipFill>
                <a:blip r:embed="rId4"/>
                <a:stretch>
                  <a:fillRect l="-741" t="-25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921248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313279-F436-FB2E-C060-C62748F09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DD94E5-8555-ECFC-E468-D9EEF55872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Negative Binomial Distribution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64107CC-0B7A-2331-4339-E9C4D766CB5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05408"/>
                <a:ext cx="8229600" cy="3616959"/>
              </a:xfrm>
            </p:spPr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𝐧𝐞𝐠𝐚𝐭𝐢𝐯𝐞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 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𝐛𝐢𝐧𝐨𝐦𝐢𝐚𝐥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 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𝐝𝐢𝐬𝐭𝐫𝐢𝐛𝐮𝐭𝐢𝐨𝐧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 </m:t>
                    </m:r>
                  </m:oMath>
                </a14:m>
                <a:r>
                  <a:rPr lang="en-US" dirty="0"/>
                  <a:t>is a generalization of the Poisson distribution </a:t>
                </a:r>
              </a:p>
              <a:p>
                <a:r>
                  <a:rPr lang="en-US" dirty="0"/>
                  <a:t>We can reparametrize to get a form suitable for analysis in terms of the average arrival rate,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dirty="0"/>
                  <a:t>, and the variance,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The form of the negative binomial distribution is then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|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f>
                                  <m:f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den>
                                </m:f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</m:mr>
                          </m:m>
                        </m:e>
                      </m:d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 </m:t>
                                      </m:r>
                                    </m:sup>
                                  </m:sSup>
                                </m:num>
                                <m:den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 </m:t>
                                      </m:r>
                                    </m:sup>
                                  </m:sSup>
                                </m:num>
                                <m:den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den>
                              </m:f>
                            </m:e>
                          </m:d>
                        </m:e>
                        <m:sup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pPr lvl="1"/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64107CC-0B7A-2331-4339-E9C4D766CB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05408"/>
                <a:ext cx="8229600" cy="3616959"/>
              </a:xfrm>
              <a:blipFill>
                <a:blip r:embed="rId3"/>
                <a:stretch>
                  <a:fillRect l="-963" t="-1852" r="-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629986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030D59-FC5A-4187-23EF-2D853B9B47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26DC8-5E3C-C7C0-5F01-A17371AE8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Negative Binomial Distribution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3FD7361-F608-6D5C-7F2E-ADAE3E265B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05408"/>
                <a:ext cx="8229600" cy="3616959"/>
              </a:xfrm>
            </p:spPr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𝐧𝐞𝐠𝐚𝐭𝐢𝐯𝐞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 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𝐛𝐢𝐧𝐨𝐦𝐢𝐚𝐥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 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𝐝𝐢𝐬𝐭𝐫𝐢𝐛𝐮𝐭𝐢𝐨𝐧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 </m:t>
                    </m:r>
                  </m:oMath>
                </a14:m>
                <a:r>
                  <a:rPr lang="en-US" dirty="0"/>
                  <a:t>is a generalization of the Poisson distribution </a:t>
                </a:r>
              </a:p>
              <a:p>
                <a:r>
                  <a:rPr lang="en-US" dirty="0"/>
                  <a:t>We can reparametrize to get a form suitable for analysis in terms of the average arrival rate,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dirty="0"/>
                  <a:t>, and the variance,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Compare this parameterization to the Poisson distribution  </a:t>
                </a:r>
              </a:p>
              <a:p>
                <a:pPr lvl="1"/>
                <a:r>
                  <a:rPr lang="en-US" dirty="0"/>
                  <a:t>For the Poisson distribution, the variance equals the mean,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When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dirty="0"/>
                  <a:t> the distribution has </a:t>
                </a:r>
                <a:r>
                  <a:rPr lang="en-US" b="1" dirty="0"/>
                  <a:t>excess dispersion </a:t>
                </a:r>
                <a:r>
                  <a:rPr lang="en-US" dirty="0"/>
                  <a:t>since r in</a:t>
                </a:r>
              </a:p>
              <a:p>
                <a:pPr lvl="1"/>
                <a:r>
                  <a:rPr lang="en-US" dirty="0"/>
                  <a:t>For the Poisson distribution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num>
                      <m:den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,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1/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den>
                    </m:f>
                  </m:oMath>
                </a14:m>
                <a:endParaRPr lang="en-US" dirty="0"/>
              </a:p>
              <a:p>
                <a:pPr lvl="1"/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3FD7361-F608-6D5C-7F2E-ADAE3E265B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05408"/>
                <a:ext cx="8229600" cy="3616959"/>
              </a:xfrm>
              <a:blipFill>
                <a:blip r:embed="rId3"/>
                <a:stretch>
                  <a:fillRect l="-963" t="-1852" r="-667" b="-3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8116899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BF2F3-8894-1B9E-15CE-B3FC1B795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11F966-FC29-1E41-EEEA-01BA21E09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Zero-Inflated Over-Dispersed Distributions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7D4FEF-C2B0-84F8-8459-C7B206F8FB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05408"/>
            <a:ext cx="8229600" cy="3832113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lang="en-US" dirty="0"/>
              <a:t>How can we work with distributions that exhibit both zero-inflation and over-dispersion? </a:t>
            </a:r>
          </a:p>
          <a:p>
            <a:r>
              <a:rPr lang="en-US" dirty="0"/>
              <a:t>Create a mixture of two distributions </a:t>
            </a:r>
          </a:p>
          <a:p>
            <a:pPr lvl="1"/>
            <a:r>
              <a:rPr lang="en-US" dirty="0"/>
              <a:t>A binomial switching distribution for the zero-inflation</a:t>
            </a:r>
          </a:p>
          <a:p>
            <a:pPr lvl="1"/>
            <a:r>
              <a:rPr lang="en-US" dirty="0"/>
              <a:t>An over-dispersed distribution </a:t>
            </a:r>
          </a:p>
          <a:p>
            <a:r>
              <a:rPr lang="en-US" dirty="0"/>
              <a:t>Examples of zero-inflated and over-dispersed count data:</a:t>
            </a:r>
          </a:p>
          <a:p>
            <a:pPr lvl="1"/>
            <a:r>
              <a:rPr lang="en-US" dirty="0"/>
              <a:t>There are zero tornados on most days in most area, but can have large outbreaks with low probability</a:t>
            </a:r>
          </a:p>
          <a:p>
            <a:pPr lvl="1"/>
            <a:r>
              <a:rPr lang="en-US" dirty="0"/>
              <a:t>A wildlife biologist may spot none of a specific species on a given day, but could encounter large numbers occasionally   </a:t>
            </a:r>
          </a:p>
          <a:p>
            <a:pPr lvl="1"/>
            <a:r>
              <a:rPr lang="en-US" dirty="0"/>
              <a:t>Most days there are no auto accidents on a segment of road, but there are a few days with high numbers of accidents   </a:t>
            </a:r>
          </a:p>
          <a:p>
            <a:pPr lvl="1"/>
            <a:r>
              <a:rPr lang="en-US" dirty="0"/>
              <a:t>Demand for a rarely purchased product is zero on most days, but can have spikes in demand</a:t>
            </a:r>
          </a:p>
        </p:txBody>
      </p:sp>
    </p:spTree>
    <p:extLst>
      <p:ext uri="{BB962C8B-B14F-4D97-AF65-F5344CB8AC3E}">
        <p14:creationId xmlns:p14="http://schemas.microsoft.com/office/powerpoint/2010/main" val="31530640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AED322-EC72-9B4B-B7DF-34CE131EAC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D588C3-4F96-E656-796F-780A92B395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Zero-Inflated Negative Binomial Distribution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B402454-ACF7-9F01-68E1-AAF1064ECD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05408"/>
                <a:ext cx="8229600" cy="3616959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 </a:t>
                </a:r>
                <a:r>
                  <a:rPr lang="en-US" b="1" dirty="0">
                    <a:hlinkClick r:id="rId2"/>
                  </a:rPr>
                  <a:t>zero-inflated n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𝐞𝐠𝐚𝐭𝐢𝐯𝐞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 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𝐛𝐢𝐧𝐨𝐦𝐢𝐚𝐥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 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𝐝𝐢𝐬𝐭𝐫𝐢𝐛𝐮𝐭𝐢𝐨𝐧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 </m:t>
                    </m:r>
                  </m:oMath>
                </a14:m>
                <a:r>
                  <a:rPr lang="en-US" dirty="0"/>
                  <a:t>is a generalization of the zero-inflated Poisson distribution </a:t>
                </a:r>
              </a:p>
              <a:p>
                <a:r>
                  <a:rPr lang="en-US" dirty="0"/>
                  <a:t>We can create a mixture distribution with binomial switching probability,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=0 |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</m:oMath>
                  </m:oMathPara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|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mr>
                          </m:m>
                        </m:e>
                      </m:d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</m:sup>
                      </m:sSup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This distribution is both </a:t>
                </a:r>
                <a:r>
                  <a:rPr lang="en-US" b="1" dirty="0"/>
                  <a:t>zero-inflated and over-dispersed!</a:t>
                </a:r>
              </a:p>
              <a:p>
                <a:pPr lvl="1"/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B402454-ACF7-9F01-68E1-AAF1064ECD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05408"/>
                <a:ext cx="8229600" cy="3616959"/>
              </a:xfrm>
              <a:blipFill>
                <a:blip r:embed="rId3"/>
                <a:stretch>
                  <a:fillRect l="-1111" t="-13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7441168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C731EE-7D67-38D5-F926-AC676739B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E80B6A-949A-70C5-ADEE-1B777AA37E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655115"/>
          </a:xfrm>
        </p:spPr>
        <p:txBody>
          <a:bodyPr/>
          <a:lstStyle/>
          <a:p>
            <a:pPr marL="0" lvl="0" indent="0">
              <a:buNone/>
            </a:pPr>
            <a:r>
              <a:rPr lang="en-US" dirty="0"/>
              <a:t>Zero-Inflated Negative Binomial Distribution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EAD4097-0951-82F3-F594-38F57DC99DE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951304"/>
                <a:ext cx="3651449" cy="4026639"/>
              </a:xfrm>
            </p:spPr>
            <p:txBody>
              <a:bodyPr>
                <a:normAutofit fontScale="925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Example</a:t>
                </a:r>
                <a:r>
                  <a:rPr lang="en-US" b="1" dirty="0"/>
                  <a:t>, zero-inflated negative binomial distribution </a:t>
                </a:r>
              </a:p>
              <a:p>
                <a:r>
                  <a:rPr lang="en-US" dirty="0"/>
                  <a:t>Standard negative binomial distribution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=2.0,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=1.0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=2.0,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=4.0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=5.0,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=2.0</m:t>
                    </m:r>
                  </m:oMath>
                </a14:m>
                <a:endParaRPr lang="en-US" dirty="0"/>
              </a:p>
              <a:p>
                <a:r>
                  <a:rPr lang="en-US" dirty="0"/>
                  <a:t>Zero inflated negative binomial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=0.2 </a:t>
                </a:r>
              </a:p>
              <a:p>
                <a:r>
                  <a:rPr lang="en-US" dirty="0"/>
                  <a:t>Zero inflated negative binomial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=0.5 </a:t>
                </a:r>
              </a:p>
              <a:p>
                <a:pPr lvl="0"/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EAD4097-0951-82F3-F594-38F57DC99DE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951304"/>
                <a:ext cx="3651449" cy="4026639"/>
              </a:xfrm>
              <a:blipFill>
                <a:blip r:embed="rId2"/>
                <a:stretch>
                  <a:fillRect l="-2170" t="-1059" r="-3005" b="-19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CB39DC39-B936-ABB8-14A5-08C488C282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7352" y="1332025"/>
            <a:ext cx="4973802" cy="3458471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39F19F43-F7EE-BF41-AF5E-4CCC505D1543}"/>
              </a:ext>
            </a:extLst>
          </p:cNvPr>
          <p:cNvCxnSpPr>
            <a:cxnSpLocks/>
          </p:cNvCxnSpPr>
          <p:nvPr/>
        </p:nvCxnSpPr>
        <p:spPr>
          <a:xfrm flipV="1">
            <a:off x="3987685" y="2146274"/>
            <a:ext cx="219374" cy="114813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EF5ECBC-6B77-9FE1-CA50-680606ED289E}"/>
              </a:ext>
            </a:extLst>
          </p:cNvPr>
          <p:cNvCxnSpPr>
            <a:cxnSpLocks/>
          </p:cNvCxnSpPr>
          <p:nvPr/>
        </p:nvCxnSpPr>
        <p:spPr>
          <a:xfrm flipV="1">
            <a:off x="3378770" y="3190149"/>
            <a:ext cx="820089" cy="762553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BFFF6A4-71EC-AE04-2191-240F91A54AC0}"/>
              </a:ext>
            </a:extLst>
          </p:cNvPr>
          <p:cNvCxnSpPr>
            <a:cxnSpLocks/>
          </p:cNvCxnSpPr>
          <p:nvPr/>
        </p:nvCxnSpPr>
        <p:spPr>
          <a:xfrm flipV="1">
            <a:off x="3378770" y="4334174"/>
            <a:ext cx="791386" cy="12711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0369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7AE21E-FA0D-ED24-47F8-1E46927A34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7892C8-0A70-0F50-73AA-664033EB19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204787"/>
            <a:ext cx="8441574" cy="451918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Example: Zero-Inflated Poisson Regression</a:t>
            </a:r>
            <a:endParaRPr sz="3200" b="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E7B798-D7EA-4958-6E54-8FA77CBF9F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1" y="1995055"/>
            <a:ext cx="3871650" cy="2685011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sz="2000" dirty="0"/>
              <a:t>Example: </a:t>
            </a:r>
            <a:r>
              <a:rPr lang="en-US" sz="2000" dirty="0"/>
              <a:t>model for fish caught by parties visiting a park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The distribution is zero inflated, many parties do not catch any fish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There is a strong right skew, some parties catch large numbers of fish – </a:t>
            </a:r>
            <a:r>
              <a:rPr lang="en-US" sz="2000" b="1" dirty="0"/>
              <a:t>over-dispersion!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B5E8469-02D9-A783-1EFB-74AB523C74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5869" y="1512916"/>
            <a:ext cx="4729701" cy="3058181"/>
          </a:xfrm>
          <a:prstGeom prst="rect">
            <a:avLst/>
          </a:prstGeom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A95693FF-EB30-0F9D-74A8-44D2DBEC16AD}"/>
              </a:ext>
            </a:extLst>
          </p:cNvPr>
          <p:cNvCxnSpPr>
            <a:cxnSpLocks/>
          </p:cNvCxnSpPr>
          <p:nvPr/>
        </p:nvCxnSpPr>
        <p:spPr>
          <a:xfrm>
            <a:off x="4060767" y="3125585"/>
            <a:ext cx="910244" cy="336666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202D0DE-1B74-3843-2A04-E924FE113FDA}"/>
              </a:ext>
            </a:extLst>
          </p:cNvPr>
          <p:cNvCxnSpPr>
            <a:cxnSpLocks/>
          </p:cNvCxnSpPr>
          <p:nvPr/>
        </p:nvCxnSpPr>
        <p:spPr>
          <a:xfrm>
            <a:off x="3167149" y="4443153"/>
            <a:ext cx="3133898" cy="0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72118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708D65-F0CE-46C8-50FA-290102D5DF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0835584-6F5A-BF20-32A6-4531D32549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7514" y="1020984"/>
            <a:ext cx="4004425" cy="341516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518FB71-6756-E980-79DD-868281B237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204787"/>
            <a:ext cx="8441574" cy="451918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Example: Zero-Inflated NB Distribution Regression</a:t>
            </a:r>
            <a:endParaRPr sz="3200" b="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E43A19-21FE-4DBB-A146-D3AB3928BA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84466" y="1068185"/>
            <a:ext cx="4653048" cy="3870528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sz="2000" dirty="0"/>
              <a:t>Example: </a:t>
            </a:r>
            <a:r>
              <a:rPr lang="en-US" sz="2000" dirty="0"/>
              <a:t>The zero-inflated Poisson regression model for fish caught showed significant over-dispersion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Try zero-inflated negative binomial distribution regression 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Log-likelihood increased from -542 for zero-inflated Poisson regression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All coefficients are significant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The inflation coefficient has a large  standard error and wide CI!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Significant over-dispersion coefficient</a:t>
            </a:r>
          </a:p>
          <a:p>
            <a:pPr marL="685800" lvl="1" indent="-342900">
              <a:buFont typeface="Arial" panose="020B0604020202020204" pitchFamily="34" charset="0"/>
              <a:buChar char="•"/>
            </a:pPr>
            <a:r>
              <a:rPr lang="en-US" sz="1850" dirty="0"/>
              <a:t>Adds 1 extra parameter to model compared to zero-inflated Poisson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529B1D4-FC2D-51F9-8621-C63FA036283B}"/>
              </a:ext>
            </a:extLst>
          </p:cNvPr>
          <p:cNvCxnSpPr>
            <a:cxnSpLocks/>
          </p:cNvCxnSpPr>
          <p:nvPr/>
        </p:nvCxnSpPr>
        <p:spPr>
          <a:xfrm flipV="1">
            <a:off x="3757353" y="3063240"/>
            <a:ext cx="3208712" cy="166255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16DB7B1-1D9B-F928-F82B-17A5ADE04979}"/>
              </a:ext>
            </a:extLst>
          </p:cNvPr>
          <p:cNvCxnSpPr>
            <a:cxnSpLocks/>
          </p:cNvCxnSpPr>
          <p:nvPr/>
        </p:nvCxnSpPr>
        <p:spPr>
          <a:xfrm>
            <a:off x="4605251" y="4122516"/>
            <a:ext cx="806334" cy="208415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0C5723A-46E6-BCA6-18E3-AE6820E4BA68}"/>
              </a:ext>
            </a:extLst>
          </p:cNvPr>
          <p:cNvCxnSpPr>
            <a:cxnSpLocks/>
          </p:cNvCxnSpPr>
          <p:nvPr/>
        </p:nvCxnSpPr>
        <p:spPr>
          <a:xfrm flipV="1">
            <a:off x="4572000" y="2227811"/>
            <a:ext cx="3046615" cy="436418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ACC8F22-5695-5760-E022-0AEDE4D0DCE8}"/>
              </a:ext>
            </a:extLst>
          </p:cNvPr>
          <p:cNvCxnSpPr>
            <a:cxnSpLocks/>
          </p:cNvCxnSpPr>
          <p:nvPr/>
        </p:nvCxnSpPr>
        <p:spPr>
          <a:xfrm flipV="1">
            <a:off x="4276768" y="3366655"/>
            <a:ext cx="835559" cy="232756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45520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8E0BEB-C4D8-6D31-BDF0-B0D260502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A29765-EFBE-27B5-F1F3-F4CFD020E7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204787"/>
            <a:ext cx="8441574" cy="451918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Example: Zero-Inflated NB Distribution Regression</a:t>
            </a:r>
            <a:endParaRPr sz="3200" b="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84235B-8D87-745E-4745-282CADA350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68971" y="922713"/>
            <a:ext cx="8441574" cy="1558636"/>
          </a:xfrm>
        </p:spPr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sz="2000" dirty="0"/>
              <a:t>Example: </a:t>
            </a:r>
            <a:r>
              <a:rPr lang="en-US" sz="2000" dirty="0"/>
              <a:t>Compare zero-inflated negative binomial distribution regression to zero-inflated Poisson regression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The distribution of the over-dispersion coefficient is far from Normal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Distribution is bimodal with asymmetric CI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Perhaps a Bayesian model would have been a better choice?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908BEBC3-B293-3D25-0FC6-29736DFDE9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3901" y="2373285"/>
            <a:ext cx="5735783" cy="2729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9038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4012A-BE18-6CD3-D327-452A0A9948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63DF84-1411-966E-9D2C-0D43DA3A1C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204787"/>
            <a:ext cx="8441574" cy="451918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Example: Zero-Inflated NB Distribution Regression</a:t>
            </a:r>
            <a:endParaRPr sz="3200" b="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3BAA0D-11B3-4FE6-8B3F-57C5C55C60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68971" y="922713"/>
            <a:ext cx="8441574" cy="1558636"/>
          </a:xfrm>
        </p:spPr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sz="2000" dirty="0"/>
              <a:t>Example: </a:t>
            </a:r>
            <a:r>
              <a:rPr lang="en-US" sz="2000" dirty="0"/>
              <a:t>Compare zero-inflated negative binomial distribution regression to zero-inflated Poisson regression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Residual plots are similar, with noticeable outliers   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Both models exhibit a bit of heteroskedasticity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Heteroskedasticity near zero could be result of poor fit of binomial parameter   </a:t>
            </a:r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EBF1277F-D87C-5759-C27E-1463704BF9BB}"/>
              </a:ext>
            </a:extLst>
          </p:cNvPr>
          <p:cNvSpPr txBox="1"/>
          <p:nvPr/>
        </p:nvSpPr>
        <p:spPr>
          <a:xfrm>
            <a:off x="315884" y="4739781"/>
            <a:ext cx="4039985" cy="339098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lang="en-US" dirty="0"/>
              <a:t>Zero-inflated Poisson regression</a:t>
            </a:r>
            <a:endParaRPr dirty="0"/>
          </a:p>
        </p:txBody>
      </p:sp>
      <p:sp>
        <p:nvSpPr>
          <p:cNvPr id="6" name="TextBox 3">
            <a:extLst>
              <a:ext uri="{FF2B5EF4-FFF2-40B4-BE49-F238E27FC236}">
                <a16:creationId xmlns:a16="http://schemas.microsoft.com/office/drawing/2014/main" id="{2C16CA9F-3456-8E6B-A082-8DE642E0C06C}"/>
              </a:ext>
            </a:extLst>
          </p:cNvPr>
          <p:cNvSpPr txBox="1"/>
          <p:nvPr/>
        </p:nvSpPr>
        <p:spPr>
          <a:xfrm>
            <a:off x="4953000" y="4727521"/>
            <a:ext cx="4039985" cy="339098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lang="en-US" dirty="0"/>
              <a:t>Zero-inflated NB distribution regression</a:t>
            </a:r>
            <a:endParaRPr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887EBC9-C685-AB27-4107-65CB418691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7042" y="2593097"/>
            <a:ext cx="4523706" cy="207865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18951EB-1FBA-DF9A-6CFB-9765242F65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631985"/>
            <a:ext cx="4589758" cy="2078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5970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6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18AA3-4357-A8FE-64EC-611F9FDFE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4F5F37A-EC46-0D82-1AB8-8A8023DCC3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45" y="2710829"/>
            <a:ext cx="4398778" cy="201669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8038AD3-7E99-0806-76B5-936FA08C10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2411" y="2651166"/>
            <a:ext cx="4401588" cy="205125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80366F2-9344-091D-15CF-78FA4867E5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204787"/>
            <a:ext cx="8441574" cy="451918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Example: Zero-Inflated NB Distribution Regression</a:t>
            </a:r>
            <a:endParaRPr sz="3200" b="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1B8E88-BEF2-48A3-EF3C-7FD0C7E82B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84466" y="768927"/>
            <a:ext cx="8441574" cy="1723407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000" dirty="0"/>
              <a:t>Example: </a:t>
            </a:r>
            <a:r>
              <a:rPr lang="en-US" sz="2000" dirty="0"/>
              <a:t>Zero-inflated negative binomial distribution regression for fish caught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Dispersion of residuals is a slightly less for NB distribution regression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Bulk of residual distribution more symmetric for NB regression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Notice the greater fraction in straight line (e.g. Normal) for NB distribution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AE03F3E-C55D-59A7-193C-DFBC56B7DFDB}"/>
              </a:ext>
            </a:extLst>
          </p:cNvPr>
          <p:cNvCxnSpPr>
            <a:cxnSpLocks/>
          </p:cNvCxnSpPr>
          <p:nvPr/>
        </p:nvCxnSpPr>
        <p:spPr>
          <a:xfrm flipH="1">
            <a:off x="3192087" y="2273531"/>
            <a:ext cx="1126375" cy="173320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3">
            <a:extLst>
              <a:ext uri="{FF2B5EF4-FFF2-40B4-BE49-F238E27FC236}">
                <a16:creationId xmlns:a16="http://schemas.microsoft.com/office/drawing/2014/main" id="{C41F93BC-04C6-2D51-60AE-F5C1D585BCA4}"/>
              </a:ext>
            </a:extLst>
          </p:cNvPr>
          <p:cNvSpPr txBox="1"/>
          <p:nvPr/>
        </p:nvSpPr>
        <p:spPr>
          <a:xfrm>
            <a:off x="315884" y="4739781"/>
            <a:ext cx="4039985" cy="339098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lang="en-US" dirty="0"/>
              <a:t>Zero-inflated Poisson regression</a:t>
            </a:r>
            <a:endParaRPr dirty="0"/>
          </a:p>
        </p:txBody>
      </p:sp>
      <p:sp>
        <p:nvSpPr>
          <p:cNvPr id="6" name="TextBox 3">
            <a:extLst>
              <a:ext uri="{FF2B5EF4-FFF2-40B4-BE49-F238E27FC236}">
                <a16:creationId xmlns:a16="http://schemas.microsoft.com/office/drawing/2014/main" id="{5A5FE0CD-F62F-C84A-5F18-FCD2CBD0255C}"/>
              </a:ext>
            </a:extLst>
          </p:cNvPr>
          <p:cNvSpPr txBox="1"/>
          <p:nvPr/>
        </p:nvSpPr>
        <p:spPr>
          <a:xfrm>
            <a:off x="4953000" y="4727521"/>
            <a:ext cx="4039985" cy="339098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lang="en-US" dirty="0"/>
              <a:t>Zero-inflated NB distribution regression</a:t>
            </a:r>
            <a:endParaRPr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29620545-03AE-8CE6-5ED3-AD3E3E3C99AD}"/>
              </a:ext>
            </a:extLst>
          </p:cNvPr>
          <p:cNvSpPr/>
          <p:nvPr/>
        </p:nvSpPr>
        <p:spPr>
          <a:xfrm rot="21174054">
            <a:off x="2796699" y="4024020"/>
            <a:ext cx="785547" cy="211596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8C2F465-0F7B-2F4C-2FDD-48CB2362000F}"/>
              </a:ext>
            </a:extLst>
          </p:cNvPr>
          <p:cNvSpPr/>
          <p:nvPr/>
        </p:nvSpPr>
        <p:spPr>
          <a:xfrm rot="20679620">
            <a:off x="7386377" y="4000275"/>
            <a:ext cx="1021439" cy="224535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3744B9AB-16D9-A21A-152E-852507D411C8}"/>
              </a:ext>
            </a:extLst>
          </p:cNvPr>
          <p:cNvCxnSpPr>
            <a:cxnSpLocks/>
          </p:cNvCxnSpPr>
          <p:nvPr/>
        </p:nvCxnSpPr>
        <p:spPr>
          <a:xfrm>
            <a:off x="5798127" y="2273531"/>
            <a:ext cx="1999211" cy="1690498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8851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6" grpId="0"/>
      <p:bldP spid="11" grpId="0" animBg="1"/>
      <p:bldP spid="12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9704A0-6F31-8C09-159F-C48B746BC6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39E026C-DE03-7E12-04AD-1D030B1EB9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784" y="2697999"/>
            <a:ext cx="7826432" cy="220040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5156F20-4CF8-B601-9597-154D7ECFD7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204787"/>
            <a:ext cx="8441574" cy="451918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Example: Zero-Inflated NB Distribution Regression</a:t>
            </a:r>
            <a:endParaRPr sz="3200" b="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7F7524-DBAA-5D7E-2EDB-C436AC6903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84466" y="768927"/>
            <a:ext cx="8441574" cy="1723407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000" dirty="0"/>
              <a:t>Example: </a:t>
            </a:r>
            <a:r>
              <a:rPr lang="en-US" sz="2000" dirty="0"/>
              <a:t>Zero-inflated negative binomial distribution regression for fish caught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Bootstrap resamples of the NB distribution regression   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General behavior is reasonable, but wide dispersion of outcomes    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Notice outliers that affect the model fit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9AA43AE-1662-40E0-C50F-BE558643B7DA}"/>
              </a:ext>
            </a:extLst>
          </p:cNvPr>
          <p:cNvCxnSpPr>
            <a:cxnSpLocks/>
          </p:cNvCxnSpPr>
          <p:nvPr/>
        </p:nvCxnSpPr>
        <p:spPr>
          <a:xfrm flipH="1">
            <a:off x="1620982" y="2223655"/>
            <a:ext cx="640080" cy="1101436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A878999-D9D1-0A50-FA1E-1B9841925E2B}"/>
              </a:ext>
            </a:extLst>
          </p:cNvPr>
          <p:cNvCxnSpPr>
            <a:cxnSpLocks/>
          </p:cNvCxnSpPr>
          <p:nvPr/>
        </p:nvCxnSpPr>
        <p:spPr>
          <a:xfrm flipH="1">
            <a:off x="1675015" y="2177935"/>
            <a:ext cx="835429" cy="178609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2C15D4C-A135-93CA-0A5B-56274A4458B3}"/>
              </a:ext>
            </a:extLst>
          </p:cNvPr>
          <p:cNvCxnSpPr>
            <a:cxnSpLocks/>
          </p:cNvCxnSpPr>
          <p:nvPr/>
        </p:nvCxnSpPr>
        <p:spPr>
          <a:xfrm>
            <a:off x="3038302" y="2177935"/>
            <a:ext cx="1338349" cy="144641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2D54397-AAA2-5BE1-1069-94C1497AB0B4}"/>
              </a:ext>
            </a:extLst>
          </p:cNvPr>
          <p:cNvCxnSpPr>
            <a:cxnSpLocks/>
          </p:cNvCxnSpPr>
          <p:nvPr/>
        </p:nvCxnSpPr>
        <p:spPr>
          <a:xfrm flipH="1">
            <a:off x="2630978" y="2177935"/>
            <a:ext cx="157942" cy="723207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16542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830AAC-22B8-9E0C-D9FD-39181F96F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05DB99-90DA-CAA0-594C-BFF050DF37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1081" y="1850264"/>
            <a:ext cx="7772400" cy="1021556"/>
          </a:xfrm>
        </p:spPr>
        <p:txBody>
          <a:bodyPr/>
          <a:lstStyle/>
          <a:p>
            <a:pPr algn="ctr"/>
            <a:r>
              <a:rPr lang="en-US" b="0" cap="none" dirty="0"/>
              <a:t>Dealing with Outliers</a:t>
            </a:r>
          </a:p>
        </p:txBody>
      </p:sp>
    </p:spTree>
    <p:extLst>
      <p:ext uri="{BB962C8B-B14F-4D97-AF65-F5344CB8AC3E}">
        <p14:creationId xmlns:p14="http://schemas.microsoft.com/office/powerpoint/2010/main" val="316992893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Dealing With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772902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dirty="0"/>
              <a:t>Outliers are a persistent problem with statistical and machine learning models</a:t>
            </a:r>
          </a:p>
          <a:p>
            <a:pPr lvl="0"/>
            <a:r>
              <a:rPr dirty="0"/>
              <a:t>What are outliers?</a:t>
            </a:r>
          </a:p>
          <a:p>
            <a:pPr lvl="1"/>
            <a:r>
              <a:rPr dirty="0"/>
              <a:t>Errors or noisy measurement</a:t>
            </a:r>
            <a:r>
              <a:rPr lang="en-US" dirty="0"/>
              <a:t> value</a:t>
            </a:r>
            <a:r>
              <a:rPr dirty="0"/>
              <a:t>s</a:t>
            </a:r>
            <a:endParaRPr lang="en-US" dirty="0"/>
          </a:p>
          <a:p>
            <a:pPr lvl="1"/>
            <a:r>
              <a:rPr lang="en-US" dirty="0"/>
              <a:t>Extreme events not accounted for in model</a:t>
            </a:r>
            <a:endParaRPr dirty="0"/>
          </a:p>
          <a:p>
            <a:pPr lvl="0"/>
            <a:r>
              <a:rPr dirty="0"/>
              <a:t>But, </a:t>
            </a:r>
            <a:r>
              <a:rPr lang="en-US" dirty="0"/>
              <a:t>outliers </a:t>
            </a:r>
            <a:r>
              <a:rPr dirty="0"/>
              <a:t>may be of </a:t>
            </a:r>
            <a:r>
              <a:rPr lang="en-US" dirty="0"/>
              <a:t>greatest </a:t>
            </a:r>
            <a:r>
              <a:rPr dirty="0"/>
              <a:t>interest</a:t>
            </a:r>
            <a:r>
              <a:rPr lang="en-US" dirty="0"/>
              <a:t>!</a:t>
            </a:r>
            <a:endParaRPr dirty="0"/>
          </a:p>
          <a:p>
            <a:pPr lvl="1"/>
            <a:r>
              <a:rPr dirty="0"/>
              <a:t>May need to explicitly model</a:t>
            </a:r>
          </a:p>
          <a:p>
            <a:pPr lvl="1"/>
            <a:r>
              <a:rPr dirty="0"/>
              <a:t>Example: Fraud detection</a:t>
            </a:r>
          </a:p>
          <a:p>
            <a:pPr lvl="1"/>
            <a:r>
              <a:rPr dirty="0"/>
              <a:t>Example: Scientific discovery</a:t>
            </a:r>
            <a:endParaRPr lang="en-US" dirty="0"/>
          </a:p>
          <a:p>
            <a:pPr lvl="1"/>
            <a:r>
              <a:rPr lang="en-US" dirty="0"/>
              <a:t>Perhaps using an </a:t>
            </a:r>
            <a:r>
              <a:rPr lang="en-US" b="1" dirty="0"/>
              <a:t>overdispersal response variable </a:t>
            </a:r>
            <a:r>
              <a:rPr lang="en-US" dirty="0"/>
              <a:t>is the best approach </a:t>
            </a:r>
            <a:endParaRPr dirty="0"/>
          </a:p>
          <a:p>
            <a:pPr lvl="0"/>
            <a:r>
              <a:rPr dirty="0"/>
              <a:t>Outliers can be hard to detect</a:t>
            </a:r>
          </a:p>
          <a:p>
            <a:pPr lvl="1"/>
            <a:r>
              <a:rPr dirty="0"/>
              <a:t>Difficult in high-dimensions</a:t>
            </a:r>
          </a:p>
          <a:p>
            <a:pPr lvl="1"/>
            <a:r>
              <a:rPr dirty="0"/>
              <a:t>Often find by influence on model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195055" cy="660845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lang="en-US" sz="3200" dirty="0"/>
              <a:t>Effects of </a:t>
            </a:r>
            <a:r>
              <a:rPr sz="3200" dirty="0"/>
              <a:t>Outliers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4561839" cy="3518297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1800" dirty="0"/>
              <a:t>Example: </a:t>
            </a:r>
            <a:r>
              <a:rPr lang="en-US" sz="1800" dirty="0"/>
              <a:t>OLS regression with and without a single outlier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Add a single </a:t>
            </a:r>
            <a:r>
              <a:rPr lang="en-US" sz="1800" b="1" dirty="0"/>
              <a:t>outlier with high leverage </a:t>
            </a:r>
            <a:r>
              <a:rPr lang="en-US" sz="1800" dirty="0"/>
              <a:t>to the regression data set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Regression without the outlier represents the bulk of the data well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The regression line with the outlier is skewed with respect to the bulk of the data </a:t>
            </a:r>
            <a:endParaRPr sz="18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3DA428D-7340-9746-59F2-EA53D56D45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9040" y="843534"/>
            <a:ext cx="4124960" cy="4153662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7963543-D811-2E02-1545-5EBE2C6C8E4B}"/>
              </a:ext>
            </a:extLst>
          </p:cNvPr>
          <p:cNvCxnSpPr>
            <a:cxnSpLocks/>
          </p:cNvCxnSpPr>
          <p:nvPr/>
        </p:nvCxnSpPr>
        <p:spPr>
          <a:xfrm flipV="1">
            <a:off x="4767072" y="2479040"/>
            <a:ext cx="3604768" cy="52185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6CCB139-2282-EE51-34F1-E6F9421077A3}"/>
              </a:ext>
            </a:extLst>
          </p:cNvPr>
          <p:cNvCxnSpPr>
            <a:cxnSpLocks/>
          </p:cNvCxnSpPr>
          <p:nvPr/>
        </p:nvCxnSpPr>
        <p:spPr>
          <a:xfrm flipV="1">
            <a:off x="4767072" y="1247648"/>
            <a:ext cx="764032" cy="643497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FE733AF-BE74-2BC0-E1E9-778B8B9572B4}"/>
              </a:ext>
            </a:extLst>
          </p:cNvPr>
          <p:cNvCxnSpPr>
            <a:cxnSpLocks/>
          </p:cNvCxnSpPr>
          <p:nvPr/>
        </p:nvCxnSpPr>
        <p:spPr>
          <a:xfrm>
            <a:off x="4912337" y="3441469"/>
            <a:ext cx="1301519" cy="374627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724EA5-5EBE-F6BF-BE4D-E2A13308A7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CC0F9D-2FF1-3271-A206-A8D5B37B47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204787"/>
            <a:ext cx="8195055" cy="660845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lang="en-US" sz="3200" dirty="0"/>
              <a:t>Effect of </a:t>
            </a:r>
            <a:r>
              <a:rPr sz="3200" dirty="0"/>
              <a:t>Outliers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D0803E-680F-65EF-66FF-55AA4DB7E7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1" y="991617"/>
            <a:ext cx="8507983" cy="1243583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sz="1800" dirty="0"/>
              <a:t>Example: </a:t>
            </a:r>
            <a:r>
              <a:rPr lang="en-US" sz="1800" dirty="0"/>
              <a:t>OLS regression with and without a single outlier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dirty="0"/>
              <a:t>Intercept has only small change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dirty="0"/>
              <a:t>Slope is noticeably changed  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dirty="0"/>
              <a:t>Changes are not statistically significant 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230F359-DBBE-5A94-C2DA-2A27AD7C9D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684" y="2286633"/>
            <a:ext cx="4043284" cy="277229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A2A5C75-CF83-CCBD-D70C-A343C92262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1231" y="2273309"/>
            <a:ext cx="4075887" cy="2785617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A73013D-05BF-DCDA-9AF5-35184CE9CA9D}"/>
              </a:ext>
            </a:extLst>
          </p:cNvPr>
          <p:cNvCxnSpPr>
            <a:cxnSpLocks/>
          </p:cNvCxnSpPr>
          <p:nvPr/>
        </p:nvCxnSpPr>
        <p:spPr>
          <a:xfrm>
            <a:off x="4360672" y="4145280"/>
            <a:ext cx="735584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C0FCB32-FBF1-37D6-22F1-0AE50AF36297}"/>
              </a:ext>
            </a:extLst>
          </p:cNvPr>
          <p:cNvCxnSpPr>
            <a:cxnSpLocks/>
          </p:cNvCxnSpPr>
          <p:nvPr/>
        </p:nvCxnSpPr>
        <p:spPr>
          <a:xfrm>
            <a:off x="4360672" y="4256675"/>
            <a:ext cx="735584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03558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00E964-EB53-35F3-BFC3-FBEEBE8C6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98C7F-847F-2A06-3230-699147C014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204787"/>
            <a:ext cx="8195055" cy="660845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lang="en-US" sz="3200" dirty="0"/>
              <a:t>Effect of </a:t>
            </a:r>
            <a:r>
              <a:rPr sz="3200" dirty="0"/>
              <a:t>Outliers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FFE6BF0F-C66E-8BAB-F761-0FE7A73EC4E3}"/>
                  </a:ext>
                </a:extLst>
              </p:cNvPr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1" y="991617"/>
                <a:ext cx="8507983" cy="1243583"/>
              </a:xfrm>
            </p:spPr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lang="en-US" sz="1800" dirty="0"/>
                  <a:t>Example: Effects of outlier</a:t>
                </a:r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ar-AE" sz="1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18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1800" dirty="0"/>
                  <a:t> and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𝑎𝑑𝑗</m:t>
                        </m:r>
                      </m:sub>
                      <m:sup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1800" dirty="0"/>
                  <a:t> reduced</a:t>
                </a:r>
                <a:endParaRPr lang="ar-AE" sz="1800" dirty="0"/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1800" dirty="0"/>
                  <a:t>F statistics reduced</a:t>
                </a:r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1800" dirty="0"/>
                  <a:t>Log-likelihood reduced</a:t>
                </a:r>
              </a:p>
            </p:txBody>
          </p:sp>
        </mc:Choice>
        <mc:Fallback xmlns="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FFE6BF0F-C66E-8BAB-F761-0FE7A73EC4E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1" y="991617"/>
                <a:ext cx="8507983" cy="1243583"/>
              </a:xfrm>
              <a:blipFill>
                <a:blip r:embed="rId2"/>
                <a:stretch>
                  <a:fillRect l="-430" t="-3922" b="-53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938C90D1-72D4-A04D-2E34-4BBBD23A47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684" y="2286633"/>
            <a:ext cx="4043284" cy="277229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FFD8E4D-A3FF-8FBE-589F-C98A952190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1231" y="2273309"/>
            <a:ext cx="4075887" cy="2785617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A92AF7F-1C09-E57A-F59C-47C182B894DD}"/>
              </a:ext>
            </a:extLst>
          </p:cNvPr>
          <p:cNvCxnSpPr>
            <a:cxnSpLocks/>
          </p:cNvCxnSpPr>
          <p:nvPr/>
        </p:nvCxnSpPr>
        <p:spPr>
          <a:xfrm>
            <a:off x="4360672" y="2759328"/>
            <a:ext cx="4332279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2731CF4-28B3-C670-60EE-40E6D3E12B8E}"/>
              </a:ext>
            </a:extLst>
          </p:cNvPr>
          <p:cNvCxnSpPr>
            <a:cxnSpLocks/>
          </p:cNvCxnSpPr>
          <p:nvPr/>
        </p:nvCxnSpPr>
        <p:spPr>
          <a:xfrm>
            <a:off x="4360672" y="2928130"/>
            <a:ext cx="4332279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831D4E0-EA82-C62D-6FFB-2CA6292217CE}"/>
              </a:ext>
            </a:extLst>
          </p:cNvPr>
          <p:cNvCxnSpPr>
            <a:cxnSpLocks/>
          </p:cNvCxnSpPr>
          <p:nvPr/>
        </p:nvCxnSpPr>
        <p:spPr>
          <a:xfrm>
            <a:off x="4389685" y="3167734"/>
            <a:ext cx="4262571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173246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CF1735-9903-BE8B-601F-5E7F191EC3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7B9E11-5EA0-97D5-B56A-60615F669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>
                <a:latin typeface="+mn-lt"/>
              </a:rPr>
              <a:t>Measuring Influence of </a:t>
            </a:r>
            <a:r>
              <a:rPr dirty="0">
                <a:latin typeface="+mn-lt"/>
              </a:rPr>
              <a:t>Outliers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1098F-EB4C-4DC9-6F93-02AA0DA4FF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0150"/>
            <a:ext cx="8229600" cy="3609675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There are several measures we can use to understand outliers</a:t>
            </a:r>
          </a:p>
          <a:p>
            <a:r>
              <a:rPr lang="en-US" b="1" dirty="0"/>
              <a:t>Residual distance</a:t>
            </a:r>
            <a:r>
              <a:rPr lang="en-US" dirty="0"/>
              <a:t>, the difference between observed and model response    </a:t>
            </a:r>
          </a:p>
          <a:p>
            <a:r>
              <a:rPr lang="en-US" b="1" dirty="0"/>
              <a:t>Leverage</a:t>
            </a:r>
            <a:r>
              <a:rPr lang="en-US" dirty="0"/>
              <a:t>, a measure of distance of an observation from the mean of the independent variables   </a:t>
            </a:r>
          </a:p>
          <a:p>
            <a:r>
              <a:rPr lang="en-US" b="1" dirty="0"/>
              <a:t>Influence and Cooke’s distance</a:t>
            </a:r>
            <a:r>
              <a:rPr lang="en-US" dirty="0"/>
              <a:t>, the change in the response from leaving out an observation when fitting the model  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72712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>
                <a:latin typeface="+mn-lt"/>
              </a:rPr>
              <a:t>Measuring Influence of </a:t>
            </a:r>
            <a:r>
              <a:rPr dirty="0">
                <a:latin typeface="+mn-lt"/>
              </a:rPr>
              <a:t>Outliers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8229600" cy="3609675"/>
              </a:xfrm>
            </p:spPr>
            <p:txBody>
              <a:bodyPr>
                <a:normAutofit fontScale="85000" lnSpcReduction="10000"/>
              </a:bodyPr>
              <a:lstStyle/>
              <a:p>
                <a:pPr marL="0" lvl="0" indent="0">
                  <a:buNone/>
                </a:pPr>
                <a:r>
                  <a:rPr b="1" dirty="0"/>
                  <a:t>Cook’s distance</a:t>
                </a:r>
                <a:r>
                  <a:rPr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dirty="0"/>
                  <a:t>, measures the </a:t>
                </a:r>
                <a:r>
                  <a:rPr b="1" dirty="0"/>
                  <a:t>influence of an outlier </a:t>
                </a:r>
                <a:r>
                  <a:rPr dirty="0"/>
                  <a:t>on model</a:t>
                </a:r>
                <a:r>
                  <a:rPr lang="en-US" dirty="0"/>
                  <a:t> response</a:t>
                </a:r>
                <a:endParaRPr dirty="0"/>
              </a:p>
              <a:p>
                <a:pPr lvl="0"/>
                <a:r>
                  <a:rPr dirty="0"/>
                  <a:t>Cook’s distance for the </a:t>
                </a:r>
                <a:r>
                  <a:rPr dirty="0" err="1"/>
                  <a:t>ith</a:t>
                </a:r>
                <a:r>
                  <a:rPr dirty="0"/>
                  <a:t> data point is the degree of freedom adjusted average squared error against a model without this value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𝛴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bSup>
                          <m:sSup>
                            <m:sSup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  <m:t>𝑌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  <m:t>𝑌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d>
                                        <m:dPr>
                                          <m:ctrlP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>
                              <a:latin typeface="Cambria Math" panose="02040503050406030204" pitchFamily="18" charset="0"/>
                            </a:rPr>
                            <m:t>𝑛</m:t>
                          </m:r>
                          <m:d>
                            <m:d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e>
                          </m:d>
                          <m:acc>
                            <m:accPr>
                              <m:chr m:val="̂"/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p>
                                <m:sSupPr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acc>
                        </m:den>
                      </m:f>
                    </m:oMath>
                  </m:oMathPara>
                </a14:m>
                <a:endParaRPr dirty="0"/>
              </a:p>
              <a:p>
                <a:pPr marL="685800" lvl="2" indent="0">
                  <a:buNone/>
                </a:pPr>
                <a:r>
                  <a:rPr dirty="0"/>
                  <a:t>where,</a:t>
                </a:r>
                <a:br>
                  <a:rPr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</m:acc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dirty="0"/>
                  <a:t> the </a:t>
                </a:r>
                <a:r>
                  <a:rPr dirty="0" err="1"/>
                  <a:t>jth</a:t>
                </a:r>
                <a:r>
                  <a:rPr dirty="0"/>
                  <a:t> prediction computed with all observations</a:t>
                </a:r>
                <a:br>
                  <a:rPr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</m:acc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𝑗</m:t>
                        </m:r>
                        <m:d>
                          <m:d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dirty="0"/>
                  <a:t> the </a:t>
                </a:r>
                <a:r>
                  <a:rPr dirty="0" err="1"/>
                  <a:t>jth</a:t>
                </a:r>
                <a:r>
                  <a:rPr dirty="0"/>
                  <a:t> prediction computed without the </a:t>
                </a:r>
                <a:r>
                  <a:rPr dirty="0" err="1"/>
                  <a:t>ith</a:t>
                </a:r>
                <a:r>
                  <a:rPr dirty="0"/>
                  <a:t> observation</a:t>
                </a:r>
                <a:br>
                  <a:rPr dirty="0"/>
                </a:b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𝑝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dirty="0"/>
                  <a:t> number of parameters</a:t>
                </a:r>
                <a:br>
                  <a:rPr dirty="0"/>
                </a:b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𝑛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dirty="0"/>
                  <a:t> number of data points</a:t>
                </a:r>
              </a:p>
              <a:p>
                <a:pPr lvl="0"/>
                <a:r>
                  <a:rPr dirty="0"/>
                  <a:t>Cook’s distance is computed using a </a:t>
                </a:r>
                <a:r>
                  <a:rPr b="1" dirty="0"/>
                  <a:t>leave-one-out resampling algorithm!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8229600" cy="3609675"/>
              </a:xfrm>
              <a:blipFill>
                <a:blip r:embed="rId2"/>
                <a:stretch>
                  <a:fillRect l="-741" t="-18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420270" cy="664508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lang="en-US" sz="3200" b="0" dirty="0">
                <a:latin typeface="+mn-lt"/>
              </a:rPr>
              <a:t>Measuring Influence of Outliers</a:t>
            </a:r>
            <a:endParaRPr sz="3200" b="0" dirty="0">
              <a:latin typeface="+mn-l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1" y="1076326"/>
                <a:ext cx="4311621" cy="3717098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sz="1800" b="1" dirty="0"/>
                  <a:t>Influence plot </a:t>
                </a:r>
                <a:r>
                  <a:rPr lang="en-US" sz="1800" dirty="0"/>
                  <a:t>enables evaluation of </a:t>
                </a:r>
                <a:r>
                  <a:rPr lang="en-US" sz="1800" b="1" dirty="0"/>
                  <a:t>outlier effects </a:t>
                </a:r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1800" b="1" dirty="0">
                    <a:hlinkClick r:id="rId2"/>
                  </a:rPr>
                  <a:t>Studentized residuals </a:t>
                </a:r>
                <a:r>
                  <a:rPr lang="en-US" sz="1800" dirty="0"/>
                  <a:t>on the vertical axis</a:t>
                </a:r>
              </a:p>
              <a:p>
                <a:pPr lvl="0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ar-AE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ar-AE" sz="1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ar-AE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ar-AE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ar-AE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ar-AE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𝜀</m:t>
                                  </m:r>
                                </m:e>
                              </m:acc>
                            </m:e>
                            <m:sub>
                              <m:r>
                                <a:rPr lang="ar-AE" sz="1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acc>
                            <m:accPr>
                              <m:chr m:val="̂"/>
                              <m:ctrlPr>
                                <a:rPr lang="ar-AE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ar-AE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</m:acc>
                          <m:rad>
                            <m:radPr>
                              <m:degHide m:val="on"/>
                              <m:ctrlPr>
                                <a:rPr lang="ar-AE" sz="180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ar-AE" sz="1800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ar-AE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sz="1800" b="0" i="1" smtClean="0">
                                      <a:latin typeface="Cambria Math" panose="02040503050406030204" pitchFamily="18" charset="0"/>
                                    </a:rPr>
                                    <m:t>ℎ</m:t>
                                  </m:r>
                                </m:e>
                                <m:sub>
                                  <m:r>
                                    <a:rPr lang="ar-AE" sz="1800" b="0" i="1" smtClean="0">
                                      <a:latin typeface="Cambria Math" panose="02040503050406030204" pitchFamily="18" charset="0"/>
                                    </a:rPr>
                                    <m:t>𝑖𝑖</m:t>
                                  </m:r>
                                </m:sub>
                              </m:sSub>
                            </m:e>
                          </m:rad>
                        </m:den>
                      </m:f>
                    </m:oMath>
                  </m:oMathPara>
                </a14:m>
                <a:endParaRPr lang="ar-AE" sz="1800" dirty="0"/>
              </a:p>
              <a:p>
                <a:pPr lvl="1"/>
                <a:r>
                  <a:rPr lang="en-US" sz="1650" dirty="0"/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600" b="0" i="1" smtClean="0">
                            <a:latin typeface="Cambria Math" panose="02040503050406030204" pitchFamily="18" charset="0"/>
                          </a:rPr>
                          <m:t>ℎ</m:t>
                        </m:r>
                      </m:e>
                      <m:sub>
                        <m:r>
                          <a:rPr lang="ar-AE" sz="1600" b="0" i="1" smtClean="0">
                            <a:latin typeface="Cambria Math" panose="02040503050406030204" pitchFamily="18" charset="0"/>
                          </a:rPr>
                          <m:t>𝑖𝑖</m:t>
                        </m:r>
                      </m:sub>
                    </m:sSub>
                    <m:r>
                      <a:rPr lang="ar-AE" sz="1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1600" b="0" i="1" smtClean="0">
                        <a:latin typeface="Cambria Math" panose="02040503050406030204" pitchFamily="18" charset="0"/>
                      </a:rPr>
                      <m:t>𝑙𝑒𝑣𝑒𝑟𝑎𝑔𝑒</m:t>
                    </m:r>
                  </m:oMath>
                </a14:m>
                <a:endParaRPr lang="en-US" sz="1800" dirty="0"/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1800" b="1" dirty="0"/>
                  <a:t>Leverage</a:t>
                </a:r>
                <a:r>
                  <a:rPr lang="en-US" sz="1800" dirty="0"/>
                  <a:t> on the horizontal axis</a:t>
                </a:r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1800" dirty="0"/>
                  <a:t>Size of the markers indicates overall </a:t>
                </a:r>
                <a:r>
                  <a:rPr lang="en-US" sz="1800" b="1" dirty="0"/>
                  <a:t>influence </a:t>
                </a:r>
              </a:p>
            </p:txBody>
          </p:sp>
        </mc:Choice>
        <mc:Fallback xmlns=""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1" y="1076326"/>
                <a:ext cx="4311621" cy="3717098"/>
              </a:xfrm>
              <a:blipFill>
                <a:blip r:embed="rId3"/>
                <a:stretch>
                  <a:fillRect l="-1132" t="-985" r="-5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5F94D8A0-8036-B7DB-DB79-38B98A049D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1333" y="810469"/>
            <a:ext cx="4235763" cy="42758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Robust Models and Influence Function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lang="en-US" dirty="0"/>
              <a:t>We can measure the sensitivity of a model by its </a:t>
            </a:r>
            <a:r>
              <a:rPr lang="en-US" b="1" dirty="0"/>
              <a:t>influence function </a:t>
            </a:r>
            <a:endParaRPr lang="en-US" dirty="0"/>
          </a:p>
          <a:p>
            <a:pPr lvl="0"/>
            <a:r>
              <a:rPr lang="en-US" dirty="0"/>
              <a:t>Example: </a:t>
            </a:r>
            <a:r>
              <a:rPr dirty="0"/>
              <a:t>Ordinary linear regression uses </a:t>
            </a:r>
            <a:r>
              <a:rPr b="1" dirty="0"/>
              <a:t>squared error loss</a:t>
            </a:r>
            <a:r>
              <a:rPr dirty="0"/>
              <a:t> function</a:t>
            </a:r>
          </a:p>
          <a:p>
            <a:pPr lvl="1"/>
            <a:r>
              <a:rPr dirty="0"/>
              <a:t>Optimal if the errors are </a:t>
            </a:r>
            <a:r>
              <a:rPr dirty="0" err="1"/>
              <a:t>iid</a:t>
            </a:r>
            <a:r>
              <a:rPr dirty="0"/>
              <a:t> Normal</a:t>
            </a:r>
          </a:p>
          <a:p>
            <a:pPr lvl="1"/>
            <a:r>
              <a:rPr dirty="0"/>
              <a:t>Is an </a:t>
            </a:r>
            <a:r>
              <a:rPr b="1" dirty="0"/>
              <a:t>unbiased estimator</a:t>
            </a:r>
            <a:endParaRPr lang="en-US" b="1" dirty="0"/>
          </a:p>
          <a:p>
            <a:pPr lvl="1"/>
            <a:r>
              <a:rPr lang="en-US" dirty="0"/>
              <a:t>But the influence function is </a:t>
            </a:r>
            <a:r>
              <a:rPr lang="en-US" b="1" dirty="0"/>
              <a:t>unbounded!</a:t>
            </a:r>
          </a:p>
          <a:p>
            <a:r>
              <a:rPr lang="en-US" dirty="0"/>
              <a:t>Robust models have </a:t>
            </a:r>
            <a:r>
              <a:rPr lang="en-US" b="1" dirty="0"/>
              <a:t>bounded influence function </a:t>
            </a:r>
          </a:p>
          <a:p>
            <a:pPr lvl="1"/>
            <a:r>
              <a:rPr lang="en-US" dirty="0"/>
              <a:t>May not be unbiased estimators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2505DB-4EA8-2B7C-5B94-91EF103FD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8C645B-865C-8C36-8DD9-F9B2BE9C6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Robust Models and Influence Function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534288-B992-2D42-1E65-BECDCA6AEC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lang="en-US" dirty="0"/>
              <a:t>Example: compare robust and non-robust model</a:t>
            </a:r>
            <a:endParaRPr dirty="0"/>
          </a:p>
          <a:p>
            <a:pPr lvl="0"/>
            <a:r>
              <a:rPr dirty="0"/>
              <a:t>Ordinary linear regression uses </a:t>
            </a:r>
            <a:r>
              <a:rPr b="1" dirty="0"/>
              <a:t>squared error loss</a:t>
            </a:r>
            <a:r>
              <a:rPr dirty="0"/>
              <a:t> function</a:t>
            </a:r>
          </a:p>
          <a:p>
            <a:pPr lvl="1"/>
            <a:r>
              <a:rPr dirty="0"/>
              <a:t>Optimal if the errors are </a:t>
            </a:r>
            <a:r>
              <a:rPr dirty="0" err="1"/>
              <a:t>iid</a:t>
            </a:r>
            <a:r>
              <a:rPr dirty="0"/>
              <a:t> Normal</a:t>
            </a:r>
          </a:p>
          <a:p>
            <a:pPr lvl="1"/>
            <a:r>
              <a:rPr lang="en-US" dirty="0"/>
              <a:t>Has unbounded influence function </a:t>
            </a:r>
            <a:endParaRPr b="1" dirty="0"/>
          </a:p>
          <a:p>
            <a:pPr lvl="0"/>
            <a:r>
              <a:rPr dirty="0"/>
              <a:t>In 1-dimension</a:t>
            </a:r>
            <a:r>
              <a:rPr lang="en-US" dirty="0"/>
              <a:t>,</a:t>
            </a:r>
            <a:r>
              <a:rPr dirty="0"/>
              <a:t> median is robust to outliers</a:t>
            </a:r>
          </a:p>
          <a:p>
            <a:pPr lvl="1"/>
            <a:r>
              <a:rPr lang="en-US" dirty="0"/>
              <a:t>A h</a:t>
            </a:r>
            <a:r>
              <a:rPr dirty="0"/>
              <a:t>igh bias</a:t>
            </a:r>
            <a:r>
              <a:rPr lang="en-US" dirty="0"/>
              <a:t> estimator</a:t>
            </a:r>
            <a:endParaRPr dirty="0"/>
          </a:p>
          <a:p>
            <a:pPr lvl="1"/>
            <a:r>
              <a:rPr lang="en-US" dirty="0"/>
              <a:t>Difficult</a:t>
            </a:r>
            <a:r>
              <a:rPr dirty="0"/>
              <a:t> to implement beyond 1-dimension</a:t>
            </a:r>
            <a:endParaRPr lang="en-US" dirty="0"/>
          </a:p>
          <a:p>
            <a:pPr lvl="1"/>
            <a:r>
              <a:rPr lang="en-US" dirty="0"/>
              <a:t>Bounded influence function </a:t>
            </a:r>
            <a:endParaRPr dirty="0"/>
          </a:p>
          <a:p>
            <a:pPr lvl="0"/>
            <a:r>
              <a:rPr dirty="0"/>
              <a:t>We can </a:t>
            </a:r>
            <a:r>
              <a:rPr lang="en-US" dirty="0"/>
              <a:t>compare</a:t>
            </a:r>
            <a:r>
              <a:rPr dirty="0"/>
              <a:t> the response of estimators to outliers </a:t>
            </a:r>
            <a:r>
              <a:rPr lang="en-US" dirty="0"/>
              <a:t>by comparing their </a:t>
            </a:r>
            <a:r>
              <a:rPr b="1" dirty="0"/>
              <a:t>influence function</a:t>
            </a:r>
            <a:r>
              <a:rPr lang="en-US" b="1" dirty="0"/>
              <a:t>s</a:t>
            </a:r>
            <a:endParaRPr b="1" dirty="0"/>
          </a:p>
        </p:txBody>
      </p:sp>
    </p:spTree>
    <p:extLst>
      <p:ext uri="{BB962C8B-B14F-4D97-AF65-F5344CB8AC3E}">
        <p14:creationId xmlns:p14="http://schemas.microsoft.com/office/powerpoint/2010/main" val="14052165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Robust Models and Influence Function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8079" y="981404"/>
            <a:ext cx="4913752" cy="4087210"/>
          </a:xfrm>
        </p:spPr>
        <p:txBody>
          <a:bodyPr>
            <a:normAutofit fontScale="77500" lnSpcReduction="20000"/>
          </a:bodyPr>
          <a:lstStyle/>
          <a:p>
            <a:pPr marL="0" lvl="0" indent="0">
              <a:buNone/>
            </a:pPr>
            <a:r>
              <a:rPr dirty="0"/>
              <a:t>Compare the influence functions of the mean and median estimators</a:t>
            </a:r>
          </a:p>
          <a:p>
            <a:pPr lvl="0"/>
            <a:r>
              <a:rPr dirty="0"/>
              <a:t>Mean estimator has linear influence function</a:t>
            </a:r>
          </a:p>
          <a:p>
            <a:pPr lvl="1"/>
            <a:r>
              <a:rPr dirty="0"/>
              <a:t>Influence of outliers is </a:t>
            </a:r>
            <a:r>
              <a:rPr b="1" dirty="0"/>
              <a:t>unbounded</a:t>
            </a:r>
            <a:endParaRPr dirty="0"/>
          </a:p>
          <a:p>
            <a:pPr lvl="1"/>
            <a:r>
              <a:rPr dirty="0"/>
              <a:t>Derivative of the influence function is constant</a:t>
            </a:r>
            <a:endParaRPr lang="en-US" dirty="0"/>
          </a:p>
          <a:p>
            <a:pPr lvl="1"/>
            <a:r>
              <a:rPr lang="en-US" dirty="0"/>
              <a:t>Is an </a:t>
            </a:r>
            <a:r>
              <a:rPr lang="en-US" dirty="0" err="1"/>
              <a:t>unbaised</a:t>
            </a:r>
            <a:r>
              <a:rPr lang="en-US" dirty="0"/>
              <a:t> minimum variance estimator</a:t>
            </a:r>
            <a:endParaRPr dirty="0"/>
          </a:p>
          <a:p>
            <a:pPr lvl="0"/>
            <a:r>
              <a:rPr dirty="0"/>
              <a:t>Influence function of median estimator is discontinuous</a:t>
            </a:r>
          </a:p>
          <a:p>
            <a:pPr lvl="1"/>
            <a:r>
              <a:rPr dirty="0"/>
              <a:t>Influence of any observation is </a:t>
            </a:r>
            <a:r>
              <a:rPr lang="en-US" b="1" dirty="0"/>
              <a:t>bounded and </a:t>
            </a:r>
            <a:r>
              <a:rPr b="1" dirty="0"/>
              <a:t>constant</a:t>
            </a:r>
          </a:p>
          <a:p>
            <a:pPr lvl="1"/>
            <a:r>
              <a:rPr dirty="0"/>
              <a:t>Derivative of influence function is not defined</a:t>
            </a:r>
            <a:r>
              <a:rPr lang="en-US" dirty="0"/>
              <a:t> at 0</a:t>
            </a:r>
          </a:p>
          <a:p>
            <a:pPr lvl="1"/>
            <a:r>
              <a:rPr lang="en-US" dirty="0"/>
              <a:t>Is not unbiased on minimum variance estimator</a:t>
            </a:r>
            <a:endParaRPr dirty="0"/>
          </a:p>
        </p:txBody>
      </p:sp>
      <p:pic>
        <p:nvPicPr>
          <p:cNvPr id="4" name="Picture 1" descr="../images/MeanMedianInfluence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11831" y="1128514"/>
            <a:ext cx="3771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5453148" y="4076700"/>
            <a:ext cx="3630583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Influence functions for mean and median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5726426" y="4735436"/>
            <a:ext cx="3357305" cy="272744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sz="1200" i="1" dirty="0"/>
              <a:t>Figure from Hampel, el.al., Robust Statistics, 1986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1707F7E-EE20-ADD7-6F37-122ACD61A228}"/>
              </a:ext>
            </a:extLst>
          </p:cNvPr>
          <p:cNvCxnSpPr>
            <a:cxnSpLocks/>
          </p:cNvCxnSpPr>
          <p:nvPr/>
        </p:nvCxnSpPr>
        <p:spPr>
          <a:xfrm>
            <a:off x="4508938" y="1641764"/>
            <a:ext cx="3471280" cy="0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10F11AD-2F4C-20C9-53CA-5DB2AF77BAE4}"/>
              </a:ext>
            </a:extLst>
          </p:cNvPr>
          <p:cNvCxnSpPr>
            <a:cxnSpLocks/>
          </p:cNvCxnSpPr>
          <p:nvPr/>
        </p:nvCxnSpPr>
        <p:spPr>
          <a:xfrm flipV="1">
            <a:off x="4938548" y="2920562"/>
            <a:ext cx="2175642" cy="50199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build="p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683483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Dealing With Outliers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63230"/>
                <a:ext cx="5291051" cy="3916094"/>
              </a:xfrm>
            </p:spPr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Can we simply edit out the outliers?</a:t>
                </a:r>
              </a:p>
              <a:p>
                <a:pPr lvl="0"/>
                <a:r>
                  <a:rPr lang="en-US" dirty="0"/>
                  <a:t>But, what fraction of the data are outliers?</a:t>
                </a:r>
              </a:p>
              <a:p>
                <a:pPr lvl="0"/>
                <a:r>
                  <a:rPr lang="en-US" dirty="0"/>
                  <a:t>Known as the </a:t>
                </a:r>
                <a:r>
                  <a:rPr lang="en-US" b="1" dirty="0"/>
                  <a:t>alpha trimmed mean</a:t>
                </a:r>
                <a:r>
                  <a:rPr lang="en-US" dirty="0"/>
                  <a:t> algorithm</a:t>
                </a:r>
              </a:p>
              <a:p>
                <a:pPr lvl="1"/>
                <a:r>
                  <a:rPr lang="en-US" dirty="0"/>
                  <a:t>Order the values and remove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>
                        <a:latin typeface="Cambria Math" panose="02040503050406030204" pitchFamily="18" charset="0"/>
                      </a:rPr>
                      <m:t>/2</m:t>
                    </m:r>
                  </m:oMath>
                </a14:m>
                <a:r>
                  <a:rPr lang="en-US" dirty="0"/>
                  <a:t> of highest and lowest</a:t>
                </a:r>
              </a:p>
              <a:p>
                <a:pPr lvl="1"/>
                <a:r>
                  <a:rPr lang="en-US" dirty="0"/>
                  <a:t>But, alpha trimming is a bit arbitrary</a:t>
                </a:r>
              </a:p>
              <a:p>
                <a:pPr lvl="1"/>
                <a:r>
                  <a:rPr lang="en-US" dirty="0"/>
                  <a:t>Is a biased estimator, with bias increasing with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1.0</m:t>
                    </m:r>
                  </m:oMath>
                </a14:m>
                <a:r>
                  <a:rPr lang="en-US" dirty="0"/>
                  <a:t> is the median</a:t>
                </a:r>
              </a:p>
              <a:p>
                <a:pPr lvl="0"/>
                <a:r>
                  <a:rPr lang="en-US" dirty="0"/>
                  <a:t>Alpha trimming hard to implement in higher dimensions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63230"/>
                <a:ext cx="5291051" cy="3916094"/>
              </a:xfrm>
              <a:blipFill>
                <a:blip r:embed="rId2"/>
                <a:stretch>
                  <a:fillRect l="-1498" t="-2488" r="-461" b="-1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1" descr="../images/AlphaTrimming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860473" y="933983"/>
            <a:ext cx="3087947" cy="327553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6105697" y="4209516"/>
            <a:ext cx="2925849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Influence functions for alpha trimmed mean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C3A6E9E0-6D9D-0857-6834-F72B52D4AE52}"/>
              </a:ext>
            </a:extLst>
          </p:cNvPr>
          <p:cNvSpPr txBox="1">
            <a:spLocks/>
          </p:cNvSpPr>
          <p:nvPr/>
        </p:nvSpPr>
        <p:spPr>
          <a:xfrm>
            <a:off x="5831377" y="4801148"/>
            <a:ext cx="3312623" cy="272744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sz="1200" i="1" dirty="0"/>
              <a:t>Figure from Hampel, el.al., Robust Statistics, 1986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386ED9C3-06CA-B81F-A0ED-4288104E91FB}"/>
              </a:ext>
            </a:extLst>
          </p:cNvPr>
          <p:cNvSpPr txBox="1">
            <a:spLocks/>
          </p:cNvSpPr>
          <p:nvPr/>
        </p:nvSpPr>
        <p:spPr>
          <a:xfrm>
            <a:off x="4991792" y="4711284"/>
            <a:ext cx="3312623" cy="272744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sz="1200" i="1" dirty="0"/>
              <a:t>Figure from Hampel, el.al., Robust Statistics, 1986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9" grpId="0"/>
      <p:bldP spid="10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Dealing With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dirty="0"/>
              <a:t>Are there better </a:t>
            </a:r>
            <a:r>
              <a:rPr lang="en-US" dirty="0"/>
              <a:t>robust </a:t>
            </a:r>
            <a:r>
              <a:rPr dirty="0"/>
              <a:t>estimators</a:t>
            </a:r>
            <a:r>
              <a:rPr lang="en-US" dirty="0"/>
              <a:t>?</a:t>
            </a:r>
            <a:endParaRPr dirty="0"/>
          </a:p>
          <a:p>
            <a:pPr lvl="0"/>
            <a:r>
              <a:rPr dirty="0"/>
              <a:t>Yes, but must accept some bias</a:t>
            </a:r>
          </a:p>
          <a:p>
            <a:pPr lvl="0"/>
            <a:r>
              <a:rPr dirty="0"/>
              <a:t>Idea; estimator can be unbiased near the expected value</a:t>
            </a:r>
            <a:endParaRPr lang="en-US" dirty="0"/>
          </a:p>
          <a:p>
            <a:pPr lvl="1"/>
            <a:r>
              <a:rPr lang="en-US" dirty="0"/>
              <a:t>L</a:t>
            </a:r>
            <a:r>
              <a:rPr dirty="0"/>
              <a:t>imit influence of outliers</a:t>
            </a:r>
          </a:p>
          <a:p>
            <a:pPr lvl="1"/>
            <a:r>
              <a:rPr dirty="0"/>
              <a:t>Trade-off between high robustness and low bias</a:t>
            </a:r>
          </a:p>
          <a:p>
            <a:pPr lvl="0"/>
            <a:r>
              <a:rPr dirty="0"/>
              <a:t>Many ideas have been tried</a:t>
            </a:r>
          </a:p>
          <a:p>
            <a:pPr lvl="1"/>
            <a:r>
              <a:rPr dirty="0"/>
              <a:t>A major research focus in the 1970s and 1980s</a:t>
            </a:r>
          </a:p>
          <a:p>
            <a:pPr lvl="1"/>
            <a:r>
              <a:rPr b="1" dirty="0"/>
              <a:t>Huber estimator</a:t>
            </a:r>
            <a:endParaRPr dirty="0"/>
          </a:p>
          <a:p>
            <a:pPr lvl="1"/>
            <a:r>
              <a:rPr dirty="0"/>
              <a:t>Family of </a:t>
            </a:r>
            <a:r>
              <a:rPr b="1" dirty="0"/>
              <a:t>M-estimators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Dealing With Outliers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4871258" cy="3737371"/>
              </a:xfrm>
            </p:spPr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What are the properties of the Huber estimator?</a:t>
                </a:r>
              </a:p>
              <a:p>
                <a:pPr lvl="0"/>
                <a:r>
                  <a:rPr lang="en-US" dirty="0"/>
                  <a:t>Influence function is linear near the mean but constant away from the mean</a:t>
                </a:r>
              </a:p>
              <a:p>
                <a:pPr lvl="1"/>
                <a:r>
                  <a:rPr lang="en-US" b="1" dirty="0"/>
                  <a:t>hinge point</a:t>
                </a:r>
                <a:r>
                  <a:rPr lang="en-US" dirty="0"/>
                  <a:t> is at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±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𝑀𝐴𝐷</m:t>
                    </m:r>
                  </m:oMath>
                </a14:m>
                <a:endParaRPr lang="en-US" dirty="0"/>
              </a:p>
              <a:p>
                <a:pPr marL="685800" lvl="2" indent="0">
                  <a:buNone/>
                </a:pPr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𝑀𝐴𝐷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dirty="0"/>
                  <a:t>median absolute deviation</a:t>
                </a:r>
                <a:endParaRPr lang="en-US" dirty="0"/>
              </a:p>
              <a:p>
                <a:pPr lvl="1"/>
                <a:r>
                  <a:rPr lang="en-US" dirty="0"/>
                  <a:t>Robustness and bias increases as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 decreases</a:t>
                </a:r>
              </a:p>
              <a:p>
                <a:pPr lvl="0"/>
                <a:r>
                  <a:rPr lang="en-US" dirty="0"/>
                  <a:t>Huber estimator is low bias</a:t>
                </a:r>
              </a:p>
              <a:p>
                <a:pPr lvl="1"/>
                <a:r>
                  <a:rPr lang="en-US" dirty="0"/>
                  <a:t>Unbiased for samples near the point estimate</a:t>
                </a:r>
              </a:p>
              <a:p>
                <a:pPr lvl="1"/>
                <a:r>
                  <a:rPr lang="en-US" dirty="0"/>
                  <a:t>Constant influence away from the point estimate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4871258" cy="3737371"/>
              </a:xfrm>
              <a:blipFill>
                <a:blip r:embed="rId2"/>
                <a:stretch>
                  <a:fillRect l="-1252" t="-2447" r="-18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1" descr="../images/Huber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70268" y="1556328"/>
            <a:ext cx="3812826" cy="208557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5586153" y="3699814"/>
            <a:ext cx="3557847" cy="660536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Influence function of the Huber estimator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7DDE02E-B6AA-FD37-F3A4-CEAB38E9CBC0}"/>
              </a:ext>
            </a:extLst>
          </p:cNvPr>
          <p:cNvSpPr txBox="1">
            <a:spLocks/>
          </p:cNvSpPr>
          <p:nvPr/>
        </p:nvSpPr>
        <p:spPr>
          <a:xfrm>
            <a:off x="5792291" y="4458251"/>
            <a:ext cx="3290803" cy="272744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sz="1200" i="1" dirty="0"/>
              <a:t>Figure from Hampel, el.al., Robust Statistics, 1986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B3082CB-1516-E15D-DF1D-6AC71FF21633}"/>
              </a:ext>
            </a:extLst>
          </p:cNvPr>
          <p:cNvCxnSpPr>
            <a:cxnSpLocks/>
          </p:cNvCxnSpPr>
          <p:nvPr/>
        </p:nvCxnSpPr>
        <p:spPr>
          <a:xfrm flipV="1">
            <a:off x="3819698" y="2078182"/>
            <a:ext cx="3757353" cy="332509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BD75EF2-A7E1-5990-C1C8-35953C44AEF4}"/>
              </a:ext>
            </a:extLst>
          </p:cNvPr>
          <p:cNvCxnSpPr>
            <a:cxnSpLocks/>
          </p:cNvCxnSpPr>
          <p:nvPr/>
        </p:nvCxnSpPr>
        <p:spPr>
          <a:xfrm flipV="1">
            <a:off x="5016731" y="3266902"/>
            <a:ext cx="993371" cy="951807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EAD05EF-E70B-3B51-76CB-B942235D9C7D}"/>
              </a:ext>
            </a:extLst>
          </p:cNvPr>
          <p:cNvCxnSpPr>
            <a:cxnSpLocks/>
          </p:cNvCxnSpPr>
          <p:nvPr/>
        </p:nvCxnSpPr>
        <p:spPr>
          <a:xfrm flipV="1">
            <a:off x="4659284" y="2732810"/>
            <a:ext cx="2244436" cy="96700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172F1DC-7F55-EEFE-4827-41163D67E681}"/>
              </a:ext>
            </a:extLst>
          </p:cNvPr>
          <p:cNvCxnSpPr>
            <a:cxnSpLocks/>
          </p:cNvCxnSpPr>
          <p:nvPr/>
        </p:nvCxnSpPr>
        <p:spPr>
          <a:xfrm>
            <a:off x="3819698" y="2410691"/>
            <a:ext cx="2738757" cy="710881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9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Dealing With Outliers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4782272" cy="3394472"/>
              </a:xfrm>
            </p:spPr>
            <p:txBody>
              <a:bodyPr>
                <a:normAutofit fontScale="85000" lnSpcReduction="10000"/>
              </a:bodyPr>
              <a:lstStyle/>
              <a:p>
                <a:pPr marL="0" lvl="0" indent="0">
                  <a:buNone/>
                </a:pPr>
                <a:r>
                  <a:rPr b="1" dirty="0"/>
                  <a:t>M-estimators</a:t>
                </a:r>
                <a:r>
                  <a:rPr dirty="0"/>
                  <a:t> tapper influence to zero</a:t>
                </a:r>
              </a:p>
              <a:p>
                <a:pPr lvl="0"/>
                <a:r>
                  <a:rPr dirty="0"/>
                  <a:t>Approximately linear influence near point estimate</a:t>
                </a:r>
              </a:p>
              <a:p>
                <a:pPr lvl="1"/>
                <a:r>
                  <a:rPr dirty="0"/>
                  <a:t>So nearly unbiased near the point estimate</a:t>
                </a:r>
              </a:p>
              <a:p>
                <a:pPr lvl="0"/>
                <a:r>
                  <a:rPr dirty="0"/>
                  <a:t>Influence tapers to 0 for extreme outliers</a:t>
                </a:r>
              </a:p>
              <a:p>
                <a:pPr lvl="0"/>
                <a:r>
                  <a:rPr lang="en-US" dirty="0"/>
                  <a:t>E</a:t>
                </a:r>
                <a:r>
                  <a:rPr dirty="0"/>
                  <a:t>xample</a:t>
                </a:r>
                <a:r>
                  <a:rPr lang="en-US" dirty="0"/>
                  <a:t>,</a:t>
                </a:r>
                <a:r>
                  <a:rPr dirty="0"/>
                  <a:t> </a:t>
                </a:r>
                <a:r>
                  <a:rPr b="1" dirty="0"/>
                  <a:t>Tukey’s </a:t>
                </a:r>
                <a:r>
                  <a:rPr b="1" dirty="0" err="1"/>
                  <a:t>biweight</a:t>
                </a:r>
                <a:endParaRPr b="1" dirty="0"/>
              </a:p>
              <a:p>
                <a:pPr lvl="1"/>
                <a:r>
                  <a:rPr dirty="0"/>
                  <a:t>Only a single parameter for </a:t>
                </a:r>
                <a:r>
                  <a:rPr dirty="0" err="1"/>
                  <a:t>biweight</a:t>
                </a:r>
                <a:r>
                  <a:rPr dirty="0"/>
                  <a:t> function,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dirty="0"/>
                  <a:t>, the cutoff point</a:t>
                </a:r>
                <a:endParaRPr dirty="0"/>
              </a:p>
              <a:p>
                <a:pPr lvl="1"/>
                <a:r>
                  <a:rPr dirty="0"/>
                  <a:t>Robustness and bias increase with decreasing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4782272" cy="3394472"/>
              </a:xfrm>
              <a:blipFill>
                <a:blip r:embed="rId2"/>
                <a:stretch>
                  <a:fillRect l="-1276" t="-1975" r="-10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1" descr="../images/TukeysBiweight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85439" y="1200151"/>
            <a:ext cx="3904528" cy="182372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5311832" y="3148091"/>
            <a:ext cx="3778135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Influence function of the Tukey’s </a:t>
            </a:r>
            <a:r>
              <a:rPr dirty="0" err="1"/>
              <a:t>Biweight</a:t>
            </a:r>
            <a:r>
              <a:rPr dirty="0"/>
              <a:t> M-estimator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460BE0B-C75A-3FA7-3CA7-B0CBBEC6CAFC}"/>
              </a:ext>
            </a:extLst>
          </p:cNvPr>
          <p:cNvSpPr txBox="1">
            <a:spLocks/>
          </p:cNvSpPr>
          <p:nvPr/>
        </p:nvSpPr>
        <p:spPr>
          <a:xfrm>
            <a:off x="5792291" y="4458251"/>
            <a:ext cx="3290803" cy="272744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sz="1200" i="1" dirty="0"/>
              <a:t>Figure from Hampel, el.al., Robust Statistics, 1986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3687FF5-2F4F-964A-7E48-2F37A940534E}"/>
              </a:ext>
            </a:extLst>
          </p:cNvPr>
          <p:cNvCxnSpPr>
            <a:cxnSpLocks/>
          </p:cNvCxnSpPr>
          <p:nvPr/>
        </p:nvCxnSpPr>
        <p:spPr>
          <a:xfrm>
            <a:off x="4659284" y="1733204"/>
            <a:ext cx="2439785" cy="344978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DF8C9FD-51CA-5C46-95D8-1FA442B9D74B}"/>
              </a:ext>
            </a:extLst>
          </p:cNvPr>
          <p:cNvCxnSpPr>
            <a:cxnSpLocks/>
          </p:cNvCxnSpPr>
          <p:nvPr/>
        </p:nvCxnSpPr>
        <p:spPr>
          <a:xfrm flipV="1">
            <a:off x="5185439" y="2115589"/>
            <a:ext cx="508779" cy="768927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9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329352" cy="564140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Example: </a:t>
            </a:r>
            <a:r>
              <a:rPr sz="3200" b="0" dirty="0"/>
              <a:t>Dealing With Outliers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7930341" cy="3518297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1800" dirty="0"/>
              <a:t>Example: regression with Huber loss function</a:t>
            </a:r>
          </a:p>
          <a:p>
            <a:pPr lvl="0" indent="0">
              <a:buNone/>
            </a:pPr>
            <a:r>
              <a:rPr sz="1800" i="1" dirty="0">
                <a:solidFill>
                  <a:srgbClr val="60A0B0"/>
                </a:solidFill>
                <a:latin typeface="Courier"/>
              </a:rPr>
              <a:t>## Define the robust regression model and fit it to the data</a:t>
            </a:r>
            <a:br>
              <a:rPr sz="1800" dirty="0"/>
            </a:br>
            <a:r>
              <a:rPr sz="1800" dirty="0" err="1">
                <a:latin typeface="Courier"/>
              </a:rPr>
              <a:t>ols_model_huber</a:t>
            </a:r>
            <a:r>
              <a:rPr sz="1800" dirty="0">
                <a:latin typeface="Courier"/>
              </a:rPr>
              <a:t> </a:t>
            </a:r>
            <a:r>
              <a:rPr sz="1800" dirty="0">
                <a:solidFill>
                  <a:srgbClr val="666666"/>
                </a:solidFill>
                <a:latin typeface="Courier"/>
              </a:rPr>
              <a:t>=</a:t>
            </a:r>
            <a:r>
              <a:rPr sz="1800" dirty="0">
                <a:latin typeface="Courier"/>
              </a:rPr>
              <a:t> </a:t>
            </a:r>
            <a:r>
              <a:rPr sz="1800" dirty="0" err="1">
                <a:latin typeface="Courier"/>
              </a:rPr>
              <a:t>smf.rlm</a:t>
            </a:r>
            <a:r>
              <a:rPr sz="1800" dirty="0">
                <a:latin typeface="Courier"/>
              </a:rPr>
              <a:t>(formula </a:t>
            </a:r>
            <a:r>
              <a:rPr sz="1800" dirty="0">
                <a:solidFill>
                  <a:srgbClr val="666666"/>
                </a:solidFill>
                <a:latin typeface="Courier"/>
              </a:rPr>
              <a:t>=</a:t>
            </a:r>
            <a:r>
              <a:rPr sz="1800" dirty="0">
                <a:solidFill>
                  <a:srgbClr val="4070A0"/>
                </a:solidFill>
                <a:latin typeface="Courier"/>
              </a:rPr>
              <a:t>'</a:t>
            </a:r>
            <a:r>
              <a:rPr sz="1800" dirty="0" err="1">
                <a:solidFill>
                  <a:srgbClr val="4070A0"/>
                </a:solidFill>
                <a:latin typeface="Courier"/>
              </a:rPr>
              <a:t>y~x</a:t>
            </a:r>
            <a:r>
              <a:rPr sz="1800" dirty="0">
                <a:solidFill>
                  <a:srgbClr val="4070A0"/>
                </a:solidFill>
                <a:latin typeface="Courier"/>
              </a:rPr>
              <a:t>'</a:t>
            </a:r>
            <a:r>
              <a:rPr sz="1800" dirty="0">
                <a:latin typeface="Courier"/>
              </a:rPr>
              <a:t>, data </a:t>
            </a:r>
            <a:r>
              <a:rPr sz="1800" dirty="0">
                <a:solidFill>
                  <a:srgbClr val="666666"/>
                </a:solidFill>
                <a:latin typeface="Courier"/>
              </a:rPr>
              <a:t>=</a:t>
            </a:r>
            <a:r>
              <a:rPr sz="1800" dirty="0">
                <a:latin typeface="Courier"/>
              </a:rPr>
              <a:t> </a:t>
            </a:r>
            <a:r>
              <a:rPr sz="1800" dirty="0" err="1">
                <a:latin typeface="Courier"/>
              </a:rPr>
              <a:t>sim_data_ol</a:t>
            </a:r>
            <a:r>
              <a:rPr sz="1800" dirty="0">
                <a:latin typeface="Courier"/>
              </a:rPr>
              <a:t>).fit()</a:t>
            </a:r>
            <a:br>
              <a:rPr sz="1800" dirty="0"/>
            </a:br>
            <a:r>
              <a:rPr sz="1800" i="1" dirty="0">
                <a:solidFill>
                  <a:srgbClr val="60A0B0"/>
                </a:solidFill>
                <a:latin typeface="Courier"/>
              </a:rPr>
              <a:t># Add predicted to pandas data frame</a:t>
            </a:r>
            <a:br>
              <a:rPr sz="1800" dirty="0"/>
            </a:br>
            <a:r>
              <a:rPr sz="1800" dirty="0" err="1">
                <a:latin typeface="Courier"/>
              </a:rPr>
              <a:t>sim_data_ol</a:t>
            </a:r>
            <a:r>
              <a:rPr sz="1800" dirty="0">
                <a:latin typeface="Courier"/>
              </a:rPr>
              <a:t>[</a:t>
            </a:r>
            <a:r>
              <a:rPr sz="1800" dirty="0">
                <a:solidFill>
                  <a:srgbClr val="4070A0"/>
                </a:solidFill>
                <a:latin typeface="Courier"/>
              </a:rPr>
              <a:t>'</a:t>
            </a:r>
            <a:r>
              <a:rPr sz="1800" dirty="0" err="1">
                <a:solidFill>
                  <a:srgbClr val="4070A0"/>
                </a:solidFill>
                <a:latin typeface="Courier"/>
              </a:rPr>
              <a:t>predicted_huber</a:t>
            </a:r>
            <a:r>
              <a:rPr sz="1800" dirty="0">
                <a:solidFill>
                  <a:srgbClr val="4070A0"/>
                </a:solidFill>
                <a:latin typeface="Courier"/>
              </a:rPr>
              <a:t>'</a:t>
            </a:r>
            <a:r>
              <a:rPr sz="1800" dirty="0">
                <a:latin typeface="Courier"/>
              </a:rPr>
              <a:t>] </a:t>
            </a:r>
            <a:r>
              <a:rPr sz="1800" dirty="0">
                <a:solidFill>
                  <a:srgbClr val="666666"/>
                </a:solidFill>
                <a:latin typeface="Courier"/>
              </a:rPr>
              <a:t>=</a:t>
            </a:r>
            <a:r>
              <a:rPr sz="1800" dirty="0">
                <a:latin typeface="Courier"/>
              </a:rPr>
              <a:t> </a:t>
            </a:r>
            <a:r>
              <a:rPr sz="1800" dirty="0" err="1">
                <a:latin typeface="Courier"/>
              </a:rPr>
              <a:t>ols_model_huber.predict</a:t>
            </a:r>
            <a:r>
              <a:rPr sz="1800" dirty="0">
                <a:latin typeface="Courier"/>
              </a:rPr>
              <a:t>(</a:t>
            </a:r>
            <a:r>
              <a:rPr sz="1800" dirty="0" err="1">
                <a:latin typeface="Courier"/>
              </a:rPr>
              <a:t>sim_data_ol.x</a:t>
            </a:r>
            <a:r>
              <a:rPr sz="1800" dirty="0">
                <a:latin typeface="Courier"/>
              </a:rPr>
              <a:t>)</a:t>
            </a:r>
            <a:br>
              <a:rPr sz="1800" dirty="0"/>
            </a:br>
            <a:r>
              <a:rPr sz="1800" i="1" dirty="0">
                <a:solidFill>
                  <a:srgbClr val="60A0B0"/>
                </a:solidFill>
                <a:latin typeface="Courier"/>
              </a:rPr>
              <a:t>## Display </a:t>
            </a:r>
            <a:r>
              <a:rPr sz="1800" i="1" dirty="0" err="1">
                <a:solidFill>
                  <a:srgbClr val="60A0B0"/>
                </a:solidFill>
                <a:latin typeface="Courier"/>
              </a:rPr>
              <a:t>sumamry</a:t>
            </a:r>
            <a:br>
              <a:rPr sz="1800" dirty="0"/>
            </a:br>
            <a:r>
              <a:rPr sz="1800" dirty="0" err="1">
                <a:latin typeface="Courier"/>
              </a:rPr>
              <a:t>ols_model_huber.summary</a:t>
            </a:r>
            <a:r>
              <a:rPr sz="1800" dirty="0">
                <a:latin typeface="Courier"/>
              </a:rPr>
              <a:t>()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441574" cy="451918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Example: </a:t>
            </a:r>
            <a:r>
              <a:rPr sz="3200" b="0" dirty="0"/>
              <a:t>Dealing With Outliers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4343399" cy="3518297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000" dirty="0"/>
              <a:t>Example: </a:t>
            </a:r>
            <a:r>
              <a:rPr lang="en-US" sz="2000" dirty="0"/>
              <a:t>Comparing </a:t>
            </a:r>
            <a:r>
              <a:rPr sz="2000" dirty="0"/>
              <a:t>regression </a:t>
            </a:r>
            <a:r>
              <a:rPr lang="en-US" sz="2000" dirty="0"/>
              <a:t>Results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Regression line with no outlier is benchmark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OLS fit shows influence of single outlier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Huber loss regression is nearly the same as OLS with no outlier</a:t>
            </a:r>
            <a:endParaRPr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C11778-6223-EAA5-1D78-7F1CF3D5E4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4633" y="768204"/>
            <a:ext cx="4190534" cy="4263074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FCBE661-ADA5-7BCF-91F6-B7AC219F974D}"/>
              </a:ext>
            </a:extLst>
          </p:cNvPr>
          <p:cNvCxnSpPr>
            <a:cxnSpLocks/>
          </p:cNvCxnSpPr>
          <p:nvPr/>
        </p:nvCxnSpPr>
        <p:spPr>
          <a:xfrm>
            <a:off x="4326775" y="1691640"/>
            <a:ext cx="4305992" cy="556953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FBC623E-A5CB-9D38-9437-6FFE6B3419D1}"/>
              </a:ext>
            </a:extLst>
          </p:cNvPr>
          <p:cNvCxnSpPr>
            <a:cxnSpLocks/>
          </p:cNvCxnSpPr>
          <p:nvPr/>
        </p:nvCxnSpPr>
        <p:spPr>
          <a:xfrm>
            <a:off x="4289368" y="2344189"/>
            <a:ext cx="2015836" cy="132172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640514E-FD89-A21F-8FA4-2A3870F74C06}"/>
              </a:ext>
            </a:extLst>
          </p:cNvPr>
          <p:cNvCxnSpPr>
            <a:cxnSpLocks/>
          </p:cNvCxnSpPr>
          <p:nvPr/>
        </p:nvCxnSpPr>
        <p:spPr>
          <a:xfrm>
            <a:off x="4441768" y="3088178"/>
            <a:ext cx="1314796" cy="1030778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73BC7C-4132-F9BF-73C9-6FF072E56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65DFE41B-4B1A-88E0-8623-0BFC0D995C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2882" y="2493819"/>
            <a:ext cx="4611579" cy="2321824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2277FCA9-F3A2-9438-BB04-EC1EABF861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854" y="2132376"/>
            <a:ext cx="4117542" cy="268238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1186D12-1D29-E74D-3770-528A7210F2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204787"/>
            <a:ext cx="8441574" cy="451918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Example: </a:t>
            </a:r>
            <a:r>
              <a:rPr sz="3200" b="0" dirty="0"/>
              <a:t>Dealing With Outliers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BABFE9-928B-07B0-9586-78B6BB6361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84466" y="812602"/>
            <a:ext cx="8381305" cy="1258356"/>
          </a:xfrm>
        </p:spPr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sz="2000" dirty="0"/>
              <a:t>Example: </a:t>
            </a:r>
            <a:r>
              <a:rPr lang="en-US" sz="2000" dirty="0"/>
              <a:t>Comparing </a:t>
            </a:r>
            <a:r>
              <a:rPr sz="2000" dirty="0"/>
              <a:t>regression </a:t>
            </a:r>
            <a:r>
              <a:rPr lang="en-US" sz="2000" dirty="0"/>
              <a:t>Results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The slope coefficients are noticeably different  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CIs of intercept and slope coefficient are reduced in robust model 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From the confidence intervals the differences are not statistically significant</a:t>
            </a:r>
            <a:endParaRPr lang="en-US" sz="1850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E546D69-0BFA-B326-23C5-05752DD2FEF7}"/>
              </a:ext>
            </a:extLst>
          </p:cNvPr>
          <p:cNvCxnSpPr>
            <a:cxnSpLocks/>
          </p:cNvCxnSpPr>
          <p:nvPr/>
        </p:nvCxnSpPr>
        <p:spPr>
          <a:xfrm flipH="1" flipV="1">
            <a:off x="1309255" y="4048408"/>
            <a:ext cx="4039985" cy="583983"/>
          </a:xfrm>
          <a:prstGeom prst="straightConnector1">
            <a:avLst/>
          </a:prstGeom>
          <a:ln w="38100">
            <a:solidFill>
              <a:srgbClr val="C0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3">
            <a:extLst>
              <a:ext uri="{FF2B5EF4-FFF2-40B4-BE49-F238E27FC236}">
                <a16:creationId xmlns:a16="http://schemas.microsoft.com/office/drawing/2014/main" id="{11B523AB-B324-7300-A087-98CC3802CD0D}"/>
              </a:ext>
            </a:extLst>
          </p:cNvPr>
          <p:cNvSpPr txBox="1"/>
          <p:nvPr/>
        </p:nvSpPr>
        <p:spPr>
          <a:xfrm>
            <a:off x="315884" y="4739781"/>
            <a:ext cx="4039985" cy="339098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lang="en-US" dirty="0"/>
              <a:t>Summary of OLS regression</a:t>
            </a:r>
            <a:endParaRPr dirty="0"/>
          </a:p>
        </p:txBody>
      </p:sp>
      <p:sp>
        <p:nvSpPr>
          <p:cNvPr id="12" name="TextBox 3">
            <a:extLst>
              <a:ext uri="{FF2B5EF4-FFF2-40B4-BE49-F238E27FC236}">
                <a16:creationId xmlns:a16="http://schemas.microsoft.com/office/drawing/2014/main" id="{15F8500F-2377-3261-55E2-94C4F1B60EB3}"/>
              </a:ext>
            </a:extLst>
          </p:cNvPr>
          <p:cNvSpPr txBox="1"/>
          <p:nvPr/>
        </p:nvSpPr>
        <p:spPr>
          <a:xfrm>
            <a:off x="4962700" y="4739781"/>
            <a:ext cx="4039985" cy="339098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lang="en-US" dirty="0"/>
              <a:t>Summary of Huber regression</a:t>
            </a:r>
            <a:endParaRPr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8EC46BB-C537-054C-7C27-6F534DE125C6}"/>
              </a:ext>
            </a:extLst>
          </p:cNvPr>
          <p:cNvCxnSpPr>
            <a:cxnSpLocks/>
          </p:cNvCxnSpPr>
          <p:nvPr/>
        </p:nvCxnSpPr>
        <p:spPr>
          <a:xfrm flipH="1" flipV="1">
            <a:off x="4152207" y="3908072"/>
            <a:ext cx="3840480" cy="583983"/>
          </a:xfrm>
          <a:prstGeom prst="straightConnector1">
            <a:avLst/>
          </a:prstGeom>
          <a:ln w="38100">
            <a:solidFill>
              <a:srgbClr val="C0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52330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EEAF9E-E131-F0C3-03A1-6AAB91ED78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5C2B34F-9E29-6C61-590B-E0F6C83E4F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957" y="2766612"/>
            <a:ext cx="4285178" cy="198979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944E973-488F-7053-DA64-3B1CEDD236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1721" y="2800951"/>
            <a:ext cx="4343399" cy="19834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803BA09-1D96-56F0-7A49-EF53E72719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204787"/>
            <a:ext cx="8441574" cy="451918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Example: </a:t>
            </a:r>
            <a:r>
              <a:rPr sz="3200" b="0" dirty="0"/>
              <a:t>Dealing With Outliers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4B25F9-4133-A498-4747-D43DC52DF2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84466" y="812601"/>
            <a:ext cx="8381305" cy="1700473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000" dirty="0"/>
              <a:t>Example: </a:t>
            </a:r>
            <a:r>
              <a:rPr lang="en-US" sz="2000" dirty="0"/>
              <a:t>Comparing </a:t>
            </a:r>
            <a:r>
              <a:rPr sz="2000" dirty="0"/>
              <a:t>regression </a:t>
            </a:r>
            <a:r>
              <a:rPr lang="en-US" sz="2000" dirty="0"/>
              <a:t>Results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The residuals are nearly identical for the two models 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The residuals are near normal except of an obvious outlier   </a:t>
            </a:r>
          </a:p>
          <a:p>
            <a:pPr marL="685800" lvl="1" indent="-342900">
              <a:buFont typeface="Arial" panose="020B0604020202020204" pitchFamily="34" charset="0"/>
              <a:buChar char="•"/>
            </a:pPr>
            <a:r>
              <a:rPr lang="en-US" sz="1850" dirty="0"/>
              <a:t>Note the near straight line of the quantiles in the Q-Q plots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C057CED-0346-FB0A-CCF9-806C190E1E3D}"/>
              </a:ext>
            </a:extLst>
          </p:cNvPr>
          <p:cNvCxnSpPr>
            <a:cxnSpLocks/>
          </p:cNvCxnSpPr>
          <p:nvPr/>
        </p:nvCxnSpPr>
        <p:spPr>
          <a:xfrm>
            <a:off x="5498869" y="2256905"/>
            <a:ext cx="2244436" cy="1034935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577A427-DC4E-77FF-300F-D12C69CE9D76}"/>
              </a:ext>
            </a:extLst>
          </p:cNvPr>
          <p:cNvCxnSpPr>
            <a:cxnSpLocks/>
          </p:cNvCxnSpPr>
          <p:nvPr/>
        </p:nvCxnSpPr>
        <p:spPr>
          <a:xfrm flipH="1">
            <a:off x="2975956" y="2256905"/>
            <a:ext cx="1765765" cy="106862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3">
            <a:extLst>
              <a:ext uri="{FF2B5EF4-FFF2-40B4-BE49-F238E27FC236}">
                <a16:creationId xmlns:a16="http://schemas.microsoft.com/office/drawing/2014/main" id="{19F19E4A-F907-2352-F4F0-0986610A093C}"/>
              </a:ext>
            </a:extLst>
          </p:cNvPr>
          <p:cNvSpPr txBox="1"/>
          <p:nvPr/>
        </p:nvSpPr>
        <p:spPr>
          <a:xfrm>
            <a:off x="315884" y="4739781"/>
            <a:ext cx="4039985" cy="339098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lang="en-US" dirty="0"/>
              <a:t>Residuals of OLS regression</a:t>
            </a:r>
            <a:endParaRPr dirty="0"/>
          </a:p>
        </p:txBody>
      </p:sp>
      <p:sp>
        <p:nvSpPr>
          <p:cNvPr id="12" name="TextBox 3">
            <a:extLst>
              <a:ext uri="{FF2B5EF4-FFF2-40B4-BE49-F238E27FC236}">
                <a16:creationId xmlns:a16="http://schemas.microsoft.com/office/drawing/2014/main" id="{1B6DAC9B-0782-94FD-2021-4FCB0D720768}"/>
              </a:ext>
            </a:extLst>
          </p:cNvPr>
          <p:cNvSpPr txBox="1"/>
          <p:nvPr/>
        </p:nvSpPr>
        <p:spPr>
          <a:xfrm>
            <a:off x="4962700" y="4739781"/>
            <a:ext cx="4039985" cy="339098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lang="en-US" dirty="0"/>
              <a:t>Residuals of Huber regression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420484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3EC160-83A9-5F30-E943-086D24A9DB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DAC60E-EE1A-7913-8401-689C5F2F58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204787"/>
            <a:ext cx="8329352" cy="564140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Limitations of Robust Estimators</a:t>
            </a:r>
            <a:endParaRPr sz="3200" b="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5514A14-8CB1-4BA9-ECA5-1EEB9A7ABB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7930341" cy="3518297"/>
          </a:xfrm>
        </p:spPr>
        <p:txBody>
          <a:bodyPr>
            <a:normAutofit fontScale="70000" lnSpcReduction="20000"/>
          </a:bodyPr>
          <a:lstStyle/>
          <a:p>
            <a:pPr marL="0" lvl="0" indent="0">
              <a:buNone/>
            </a:pPr>
            <a:r>
              <a:rPr lang="en-US" sz="2800" dirty="0"/>
              <a:t>Robust estimators have some important limitations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/>
              <a:t>The nonlinear treatment precludes parametric estimation of confidence intervals</a:t>
            </a:r>
          </a:p>
          <a:p>
            <a:pPr marL="800100" lvl="1" indent="-457200">
              <a:buFont typeface="Arial" panose="020B0604020202020204" pitchFamily="34" charset="0"/>
              <a:buChar char="•"/>
            </a:pPr>
            <a:r>
              <a:rPr lang="en-US" sz="2650" b="1" dirty="0"/>
              <a:t>Bootstrap instead!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Robust estimators do not work when the number of outliers is past the breakdown point</a:t>
            </a:r>
          </a:p>
          <a:p>
            <a:pPr marL="800100" lvl="1" indent="-457200">
              <a:buFont typeface="Arial" panose="020B0604020202020204" pitchFamily="34" charset="0"/>
              <a:buChar char="•"/>
            </a:pPr>
            <a:r>
              <a:rPr lang="en-US" sz="2650" dirty="0"/>
              <a:t>For example, at 50% outliers the univariate median estimator breaks down 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Robust estimators struggle with the detection and treatment of high-dimensional outliers 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Variance of point estimates is inherently worse than for linear estimators </a:t>
            </a:r>
            <a:endParaRPr sz="2800" dirty="0"/>
          </a:p>
        </p:txBody>
      </p:sp>
    </p:spTree>
    <p:extLst>
      <p:ext uri="{BB962C8B-B14F-4D97-AF65-F5344CB8AC3E}">
        <p14:creationId xmlns:p14="http://schemas.microsoft.com/office/powerpoint/2010/main" val="6732935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FFFCDC-868A-DE7B-A8E0-5E1178E41C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C6D959-F64C-A101-97C3-B6B122457F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204787"/>
            <a:ext cx="8329352" cy="564140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Example: </a:t>
            </a:r>
            <a:r>
              <a:rPr sz="3200" b="0" dirty="0"/>
              <a:t>Dealing With Outliers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C61C89-775D-8AB6-17F8-715917D6CB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7930341" cy="3518297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lang="en-US" sz="2800" dirty="0"/>
              <a:t>For further reading on robust statistical models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/>
              <a:t>For an up to date broad and deep treatment of theory and practical use of robust models see </a:t>
            </a:r>
            <a:r>
              <a:rPr lang="en-US" sz="2800" dirty="0">
                <a:hlinkClick r:id="rId2"/>
              </a:rPr>
              <a:t>Robust Statistics, Theory and Methods (with R), Second Edition, </a:t>
            </a:r>
            <a:r>
              <a:rPr lang="en-US" sz="2800" dirty="0" err="1">
                <a:hlinkClick r:id="rId2"/>
              </a:rPr>
              <a:t>Maronna</a:t>
            </a:r>
            <a:r>
              <a:rPr lang="en-US" sz="2800" dirty="0">
                <a:hlinkClick r:id="rId2"/>
              </a:rPr>
              <a:t>, Martin, Yohai, </a:t>
            </a:r>
            <a:r>
              <a:rPr lang="en-US" sz="2800" dirty="0" err="1">
                <a:hlinkClick r:id="rId2"/>
              </a:rPr>
              <a:t>Salibian</a:t>
            </a:r>
            <a:r>
              <a:rPr lang="en-US" sz="2800" dirty="0">
                <a:hlinkClick r:id="rId2"/>
              </a:rPr>
              <a:t>-Barrera, Wiley, 2019</a:t>
            </a:r>
            <a:r>
              <a:rPr lang="en-US" sz="2800" dirty="0"/>
              <a:t>      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/>
              <a:t>The classic treatment of this subject is Robust Statistics, </a:t>
            </a:r>
            <a:r>
              <a:rPr lang="en-US" sz="2800" dirty="0">
                <a:hlinkClick r:id="rId3"/>
              </a:rPr>
              <a:t>The Approach Based on Influence Functions, Hample, </a:t>
            </a:r>
            <a:r>
              <a:rPr lang="en-US" sz="2800" dirty="0" err="1">
                <a:hlinkClick r:id="rId3"/>
              </a:rPr>
              <a:t>Rousseeuw</a:t>
            </a:r>
            <a:r>
              <a:rPr lang="en-US" sz="2800" dirty="0">
                <a:hlinkClick r:id="rId3"/>
              </a:rPr>
              <a:t>, Ronchetti, Stahel, </a:t>
            </a:r>
            <a:r>
              <a:rPr lang="en-US" sz="2800" dirty="0" err="1">
                <a:hlinkClick r:id="rId3"/>
              </a:rPr>
              <a:t>Weily</a:t>
            </a:r>
            <a:r>
              <a:rPr lang="en-US" sz="2800" dirty="0">
                <a:hlinkClick r:id="rId3"/>
              </a:rPr>
              <a:t>, 1986</a:t>
            </a:r>
            <a:endParaRPr lang="en-US" sz="2800" dirty="0"/>
          </a:p>
          <a:p>
            <a:pPr marL="457200" lvl="0" indent="-45720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457200" lvl="0" indent="-457200">
              <a:buFont typeface="Arial" panose="020B0604020202020204" pitchFamily="34" charset="0"/>
              <a:buChar char="•"/>
            </a:pPr>
            <a:endParaRPr sz="2800" dirty="0"/>
          </a:p>
        </p:txBody>
      </p:sp>
    </p:spTree>
    <p:extLst>
      <p:ext uri="{BB962C8B-B14F-4D97-AF65-F5344CB8AC3E}">
        <p14:creationId xmlns:p14="http://schemas.microsoft.com/office/powerpoint/2010/main" val="108371527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000A26-C1B1-F422-3D2C-56EDC696E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77B626-6B02-07E3-0725-A669B117FE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1081" y="1850264"/>
            <a:ext cx="7772400" cy="1021556"/>
          </a:xfrm>
        </p:spPr>
        <p:txBody>
          <a:bodyPr/>
          <a:lstStyle/>
          <a:p>
            <a:pPr algn="ctr"/>
            <a:r>
              <a:rPr lang="en-US" b="0" cap="none" dirty="0"/>
              <a:t>Working with Missing Values</a:t>
            </a:r>
          </a:p>
        </p:txBody>
      </p:sp>
    </p:spTree>
    <p:extLst>
      <p:ext uri="{BB962C8B-B14F-4D97-AF65-F5344CB8AC3E}">
        <p14:creationId xmlns:p14="http://schemas.microsoft.com/office/powerpoint/2010/main" val="374382596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9AEC9-6DD0-258A-7651-E25950F10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2FACA-9327-9519-953B-5B5059F65F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Understanding Missing Values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D3D04B-A2AF-9A6D-E12F-8C60276F28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737370"/>
          </a:xfrm>
        </p:spPr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lang="en-US" dirty="0"/>
              <a:t>Missing values are nearly ubiquitous when working with real-world data    </a:t>
            </a:r>
            <a:endParaRPr dirty="0"/>
          </a:p>
          <a:p>
            <a:r>
              <a:rPr lang="en-US" dirty="0"/>
              <a:t>Incomplete data entry </a:t>
            </a:r>
          </a:p>
          <a:p>
            <a:r>
              <a:rPr lang="en-US" dirty="0"/>
              <a:t>Dataset results from merging tables with incomplete coverage of variables</a:t>
            </a:r>
          </a:p>
          <a:p>
            <a:r>
              <a:rPr lang="en-US" dirty="0"/>
              <a:t>Scientific, engineering, or medical measurement are sometimes not recorded </a:t>
            </a:r>
          </a:p>
          <a:p>
            <a:pPr lvl="1"/>
            <a:r>
              <a:rPr lang="en-US" dirty="0"/>
              <a:t>Measurement procedure was skipped</a:t>
            </a:r>
          </a:p>
          <a:p>
            <a:pPr lvl="1"/>
            <a:r>
              <a:rPr lang="en-US" dirty="0"/>
              <a:t>Instrument failure or lab error </a:t>
            </a:r>
          </a:p>
          <a:p>
            <a:r>
              <a:rPr lang="en-US" dirty="0"/>
              <a:t>People responding to surveys often skip questions   </a:t>
            </a:r>
          </a:p>
          <a:p>
            <a:r>
              <a:rPr lang="en-US" dirty="0" err="1"/>
              <a:t>Etc</a:t>
            </a:r>
            <a:r>
              <a:rPr lang="en-US" dirty="0"/>
              <a:t>….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69342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46770-BC8B-1B96-0D91-5FE95D882A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2CB0C6-AF9B-818E-18DC-07CEDC969F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Understanding Missing Values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83A709-CA0A-9F7C-F2BB-9106EACE10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737370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lang="en-US" dirty="0"/>
              <a:t>We can classify missing data patterns into three categories    </a:t>
            </a:r>
            <a:endParaRPr dirty="0"/>
          </a:p>
          <a:p>
            <a:pPr marL="457200" lvl="0" indent="-457200">
              <a:buFont typeface="+mj-lt"/>
              <a:buAutoNum type="arabicPeriod"/>
            </a:pPr>
            <a:r>
              <a:rPr lang="en-US" dirty="0"/>
              <a:t>Observations that are </a:t>
            </a:r>
            <a:r>
              <a:rPr lang="en-US" b="1" dirty="0"/>
              <a:t>missing completely at random (MCAR)</a:t>
            </a:r>
            <a:r>
              <a:rPr lang="en-US" dirty="0"/>
              <a:t> have missing observations that are a random subset of all observations of a random variable </a:t>
            </a:r>
          </a:p>
          <a:p>
            <a:pPr lvl="1"/>
            <a:r>
              <a:rPr lang="en-US" dirty="0"/>
              <a:t>The missing and observed values will have similar distributions in this case</a:t>
            </a:r>
          </a:p>
          <a:p>
            <a:pPr marL="457200" lvl="0" indent="-457200">
              <a:buFont typeface="+mj-lt"/>
              <a:buAutoNum type="arabicPeriod"/>
            </a:pPr>
            <a:r>
              <a:rPr lang="en-US" dirty="0"/>
              <a:t>Observations that are </a:t>
            </a:r>
            <a:r>
              <a:rPr lang="en-US" b="1" dirty="0"/>
              <a:t>missing at random (MAR)</a:t>
            </a:r>
            <a:r>
              <a:rPr lang="en-US" dirty="0"/>
              <a:t> have possible systematic differences between the missing and observed values of a random variable. </a:t>
            </a:r>
          </a:p>
          <a:p>
            <a:pPr lvl="1"/>
            <a:r>
              <a:rPr lang="en-US" dirty="0"/>
              <a:t>MAR values can be entirely explained by other observed variables</a:t>
            </a:r>
          </a:p>
        </p:txBody>
      </p:sp>
    </p:spTree>
    <p:extLst>
      <p:ext uri="{BB962C8B-B14F-4D97-AF65-F5344CB8AC3E}">
        <p14:creationId xmlns:p14="http://schemas.microsoft.com/office/powerpoint/2010/main" val="27170708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0FE4C-3E30-3FB7-FE8A-8E95A0ABC5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F84B56-2C39-3143-9603-4B197BE71D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Understanding Missing Values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34BB1C-A1F1-1BBF-C8D4-49F2746EEA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737370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We can classify missing data into three categories    </a:t>
            </a:r>
            <a:endParaRPr dirty="0"/>
          </a:p>
          <a:p>
            <a:pPr marL="457200" lvl="0" indent="-457200">
              <a:buFont typeface="+mj-lt"/>
              <a:buAutoNum type="arabicPeriod" startAt="3"/>
            </a:pPr>
            <a:r>
              <a:rPr lang="en-US" b="1" dirty="0"/>
              <a:t>Missing not at random (MNAR)</a:t>
            </a:r>
            <a:r>
              <a:rPr lang="en-US" dirty="0"/>
              <a:t> observations have a systematic pattern for missing values of a random variable. </a:t>
            </a:r>
          </a:p>
          <a:p>
            <a:pPr lvl="1"/>
            <a:r>
              <a:rPr lang="en-US" dirty="0"/>
              <a:t>Example; values are missing for cases when the value of the variable or another variable is greater or less than some threshold. </a:t>
            </a:r>
          </a:p>
          <a:p>
            <a:pPr lvl="1"/>
            <a:r>
              <a:rPr lang="en-US" dirty="0"/>
              <a:t>For Cases of missing not at random are best address by a filling algorithms and methods</a:t>
            </a:r>
          </a:p>
        </p:txBody>
      </p:sp>
    </p:spTree>
    <p:extLst>
      <p:ext uri="{BB962C8B-B14F-4D97-AF65-F5344CB8AC3E}">
        <p14:creationId xmlns:p14="http://schemas.microsoft.com/office/powerpoint/2010/main" val="383945684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2ECB3-6BBE-DCFD-B036-32887A538A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D8DEE9-EFE3-5E17-CBBA-D4D63BA5D1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Understanding Missing Values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512292-9EC6-85A5-8689-82BEEAD349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9610" y="924711"/>
            <a:ext cx="8229600" cy="510408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Exploring missing data patterns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B6F8BBD-102D-4477-D7E5-A856650979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5027" y="1730266"/>
            <a:ext cx="5578973" cy="2982102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D483E30-C1C6-1F1B-F030-57B9C64F5F97}"/>
              </a:ext>
            </a:extLst>
          </p:cNvPr>
          <p:cNvSpPr txBox="1">
            <a:spLocks/>
          </p:cNvSpPr>
          <p:nvPr/>
        </p:nvSpPr>
        <p:spPr>
          <a:xfrm>
            <a:off x="457200" y="1399674"/>
            <a:ext cx="3007895" cy="362150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Plot reveals missing value pattern in variables by row         </a:t>
            </a:r>
          </a:p>
          <a:p>
            <a:r>
              <a:rPr lang="en-US" dirty="0"/>
              <a:t>Some rows have only one missing value</a:t>
            </a:r>
          </a:p>
          <a:p>
            <a:r>
              <a:rPr lang="en-US" dirty="0"/>
              <a:t>Other rows have multiple missing values  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0B455D9A-07F3-3B46-D00E-629971CA3BEB}"/>
              </a:ext>
            </a:extLst>
          </p:cNvPr>
          <p:cNvCxnSpPr>
            <a:cxnSpLocks/>
          </p:cNvCxnSpPr>
          <p:nvPr/>
        </p:nvCxnSpPr>
        <p:spPr>
          <a:xfrm flipV="1">
            <a:off x="3046686" y="2353003"/>
            <a:ext cx="1115411" cy="737038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CF8B714-95E3-8727-745E-10A15BD91247}"/>
              </a:ext>
            </a:extLst>
          </p:cNvPr>
          <p:cNvCxnSpPr>
            <a:cxnSpLocks/>
          </p:cNvCxnSpPr>
          <p:nvPr/>
        </p:nvCxnSpPr>
        <p:spPr>
          <a:xfrm flipV="1">
            <a:off x="3046686" y="2959976"/>
            <a:ext cx="1056290" cy="130065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EA39998-F433-1891-D761-827A74434CD5}"/>
              </a:ext>
            </a:extLst>
          </p:cNvPr>
          <p:cNvCxnSpPr>
            <a:cxnSpLocks/>
          </p:cNvCxnSpPr>
          <p:nvPr/>
        </p:nvCxnSpPr>
        <p:spPr>
          <a:xfrm flipV="1">
            <a:off x="3046686" y="3444766"/>
            <a:ext cx="835573" cy="717331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BF6DBA6-0B04-95BF-E250-B1E8E743B5BC}"/>
              </a:ext>
            </a:extLst>
          </p:cNvPr>
          <p:cNvCxnSpPr>
            <a:cxnSpLocks/>
          </p:cNvCxnSpPr>
          <p:nvPr/>
        </p:nvCxnSpPr>
        <p:spPr>
          <a:xfrm>
            <a:off x="3046686" y="4162097"/>
            <a:ext cx="622738" cy="56692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83612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44FDFC-4F69-DFB8-A2BC-CF8EB3C075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A30F1C-4589-D04C-A165-DD3A86E76E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Understanding Missing Values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4599B7E-B879-000C-DCA7-404F6FA7D8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</p:spPr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We can use </a:t>
                </a:r>
                <a:r>
                  <a:rPr lang="en-US" b="1" dirty="0"/>
                  <a:t>Little’s MCAR test </a:t>
                </a:r>
                <a:r>
                  <a:rPr lang="en-US" dirty="0"/>
                  <a:t>to support a hypothesis of a missing pattern</a:t>
                </a:r>
              </a:p>
              <a:p>
                <a:r>
                  <a:rPr lang="en-US" b="1" dirty="0"/>
                  <a:t>Test Statistic: </a:t>
                </a:r>
                <a:r>
                  <a:rPr lang="en-US" dirty="0"/>
                  <a:t>Observed means across different missing data patterns with expected population means are chi-square (χ²) distributed </a:t>
                </a:r>
              </a:p>
              <a:p>
                <a:pPr lvl="0"/>
                <a:r>
                  <a:rPr lang="en-US" b="1" dirty="0"/>
                  <a:t>Null Hypothesis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𝑯</m:t>
                            </m:r>
                          </m:e>
                          <m:sub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b="1" dirty="0"/>
                  <a:t>:</a:t>
                </a:r>
                <a:r>
                  <a:rPr lang="en-US" dirty="0"/>
                  <a:t> The data are Missing Completely at Random</a:t>
                </a:r>
              </a:p>
              <a:p>
                <a:pPr lvl="1"/>
                <a:r>
                  <a:rPr lang="en-US" dirty="0"/>
                  <a:t>The missing values do not depend on the data values)</a:t>
                </a:r>
              </a:p>
              <a:p>
                <a:pPr lvl="1"/>
                <a:r>
                  <a:rPr lang="en-US" b="1" dirty="0"/>
                  <a:t>Alternative Hypothesis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𝑯</m:t>
                            </m:r>
                          </m:e>
                          <m:sub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</m:e>
                    </m:d>
                    <m:r>
                      <a:rPr lang="en-US" b="1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/>
                  <a:t>:</a:t>
                </a:r>
                <a:r>
                  <a:rPr lang="en-US" dirty="0"/>
                  <a:t> Data are </a:t>
                </a:r>
                <a:r>
                  <a:rPr lang="en-US" i="1" dirty="0"/>
                  <a:t>not</a:t>
                </a:r>
                <a:r>
                  <a:rPr lang="en-US" dirty="0"/>
                  <a:t> Missing Completely at Random</a:t>
                </a:r>
              </a:p>
              <a:p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4599B7E-B879-000C-DCA7-404F6FA7D8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  <a:blipFill>
                <a:blip r:embed="rId2"/>
                <a:stretch>
                  <a:fillRect l="-1111" t="-22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685803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E95FDB-1853-8343-20B0-D9B4743865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AE1C6E-376E-4A89-0385-7A4648742F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Understanding Missing Values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BDBA2D1-06AA-8062-6F0F-7C1864344E5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</p:spPr>
            <p:txBody>
              <a:bodyPr>
                <a:normAutofit fontScale="92500"/>
              </a:bodyPr>
              <a:lstStyle/>
              <a:p>
                <a:pPr marL="0" lvl="0" indent="0">
                  <a:buNone/>
                </a:pPr>
                <a:r>
                  <a:rPr lang="en-US" b="1" dirty="0"/>
                  <a:t>Little’s MCAR test </a:t>
                </a:r>
                <a:r>
                  <a:rPr lang="en-US" dirty="0"/>
                  <a:t>has some restrictive assumptions limiting its applicability</a:t>
                </a:r>
              </a:p>
              <a:p>
                <a:pPr lvl="0"/>
                <a:r>
                  <a:rPr lang="en-US" b="1" dirty="0"/>
                  <a:t>Normality Assumption:</a:t>
                </a:r>
                <a:r>
                  <a:rPr lang="en-US" dirty="0"/>
                  <a:t> Little’s MCAR test assumes data follow a multivariate normal distribution and works poorly with categorical variables or severe non-normality</a:t>
                </a:r>
              </a:p>
              <a:p>
                <a:pPr lvl="0"/>
                <a:r>
                  <a:rPr lang="en-US" b="1" dirty="0"/>
                  <a:t>No Specific Variable Identification:</a:t>
                </a:r>
                <a:r>
                  <a:rPr lang="en-US" dirty="0"/>
                  <a:t> Like all such tests you cannot tell which variables result in low p-value </a:t>
                </a:r>
              </a:p>
              <a:p>
                <a:pPr lvl="1"/>
                <a:r>
                  <a:rPr lang="en-US" dirty="0"/>
                  <a:t>Can apply pairwise</a:t>
                </a:r>
              </a:p>
              <a:p>
                <a:pPr lvl="0"/>
                <a:r>
                  <a:rPr lang="en-US" b="1" dirty="0"/>
                  <a:t>Failure at High Missing Rates:</a:t>
                </a:r>
                <a:r>
                  <a:rPr lang="en-US" dirty="0"/>
                  <a:t> Generally, the test is thought to be unreliable (low power) with high rates of missing data,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&gt;30% </m:t>
                    </m:r>
                  </m:oMath>
                </a14:m>
                <a:r>
                  <a:rPr lang="en-US" dirty="0"/>
                  <a:t> </a:t>
                </a:r>
              </a:p>
              <a:p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BDBA2D1-06AA-8062-6F0F-7C1864344E5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  <a:blipFill>
                <a:blip r:embed="rId2"/>
                <a:stretch>
                  <a:fillRect l="-963" t="-1142" b="-11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95271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69A6A7-2558-E14C-937F-76133ACABB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19FC23-6B25-1B58-E331-78BC2B529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Imputation of Missing Values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10ECD3-6581-1420-5CE3-136248DB3B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737370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Imputation methods must match the missing data pattern and intended use</a:t>
            </a:r>
          </a:p>
          <a:p>
            <a:r>
              <a:rPr lang="en-US" dirty="0"/>
              <a:t>Machine learning algorithms only need a good point estimate for the imputed value</a:t>
            </a:r>
          </a:p>
          <a:p>
            <a:pPr lvl="1"/>
            <a:r>
              <a:rPr lang="en-US" dirty="0"/>
              <a:t>For ML, we do not much care what the confidence intervals are</a:t>
            </a:r>
          </a:p>
          <a:p>
            <a:r>
              <a:rPr lang="en-US" dirty="0"/>
              <a:t>Inference requires drawing imputed values from the distribution of the variable  </a:t>
            </a:r>
          </a:p>
          <a:p>
            <a:pPr lvl="1"/>
            <a:r>
              <a:rPr lang="en-US" dirty="0"/>
              <a:t>We want unbiased estimates of the confidence intervals  </a:t>
            </a:r>
          </a:p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33434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1DAB7D-6678-A6DC-17E0-2F2C67358E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A1E7A9-8462-AFB6-69E8-D29C815D4D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Imputation of Missing Values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8C0F07-8E21-F467-CD9D-1ED0C942B5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737370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lang="en-US" dirty="0"/>
              <a:t>Algorithms used for MCAR and MAR data for machine learning do not need to preserve distributions</a:t>
            </a:r>
          </a:p>
          <a:p>
            <a:r>
              <a:rPr lang="en-US" dirty="0"/>
              <a:t>Commonly used algorithms for machine </a:t>
            </a:r>
            <a:r>
              <a:rPr lang="en-US" dirty="0" err="1"/>
              <a:t>learling</a:t>
            </a:r>
            <a:r>
              <a:rPr lang="en-US" dirty="0"/>
              <a:t> include</a:t>
            </a:r>
          </a:p>
          <a:p>
            <a:pPr lvl="1"/>
            <a:r>
              <a:rPr lang="en-US" dirty="0"/>
              <a:t>Filling, mean, median, …</a:t>
            </a:r>
          </a:p>
          <a:p>
            <a:pPr lvl="1"/>
            <a:r>
              <a:rPr lang="en-US" dirty="0"/>
              <a:t>Interpolation, linear, spline, etc.     </a:t>
            </a:r>
          </a:p>
          <a:p>
            <a:pPr lvl="1"/>
            <a:r>
              <a:rPr lang="en-US" dirty="0"/>
              <a:t>Forward and back filling</a:t>
            </a:r>
          </a:p>
          <a:p>
            <a:pPr lvl="1"/>
            <a:r>
              <a:rPr lang="en-US" dirty="0"/>
              <a:t>K-nearest neighbors </a:t>
            </a:r>
          </a:p>
          <a:p>
            <a:pPr lvl="1"/>
            <a:r>
              <a:rPr lang="en-US" dirty="0"/>
              <a:t>The </a:t>
            </a:r>
            <a:r>
              <a:rPr lang="en-US" dirty="0">
                <a:hlinkClick r:id="rId2"/>
              </a:rPr>
              <a:t>E-M algorithm</a:t>
            </a:r>
            <a:endParaRPr lang="en-US" dirty="0"/>
          </a:p>
          <a:p>
            <a:pPr lvl="1"/>
            <a:r>
              <a:rPr lang="en-US" dirty="0" err="1"/>
              <a:t>etc</a:t>
            </a:r>
            <a:r>
              <a:rPr lang="en-US" dirty="0"/>
              <a:t>… </a:t>
            </a:r>
          </a:p>
          <a:p>
            <a:r>
              <a:rPr lang="en-US" dirty="0"/>
              <a:t>These algorithms only provide point estimates and are not useful for inference   </a:t>
            </a:r>
          </a:p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173277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5AC65C-F5E9-BA93-5380-0CF56CA215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63E3C6-E47C-71D3-0D0A-C423D4ADBF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Imputation of Missing Values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343A50-E82E-BC72-EB51-078AFD741C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737370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There are several approaches to imputation for MNAR variables </a:t>
            </a:r>
          </a:p>
          <a:p>
            <a:r>
              <a:rPr lang="en-US" dirty="0"/>
              <a:t>Join with another table – don’t overlook the obvious!</a:t>
            </a:r>
          </a:p>
          <a:p>
            <a:r>
              <a:rPr lang="en-US" dirty="0"/>
              <a:t>Systematic filling    </a:t>
            </a:r>
          </a:p>
          <a:p>
            <a:pPr lvl="1"/>
            <a:r>
              <a:rPr lang="en-US" dirty="0"/>
              <a:t>Example: are all the missing values 0s     </a:t>
            </a:r>
          </a:p>
          <a:p>
            <a:pPr lvl="1"/>
            <a:r>
              <a:rPr lang="en-US" dirty="0"/>
              <a:t>Example are the missing values dependent on other specific values of another variable(s)</a:t>
            </a:r>
          </a:p>
          <a:p>
            <a:r>
              <a:rPr lang="en-US" dirty="0"/>
              <a:t>Use autoencoder to learn missing value pattern   </a:t>
            </a:r>
          </a:p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637426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C3421-F68D-9E08-4B79-AF9B86A06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AB17F1-C740-B30D-089D-9D06F64E3F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Imputation of Missing Values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B1251A-5AD7-B8EC-D878-35A0925B92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737370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b="1" dirty="0">
                <a:hlinkClick r:id="rId2"/>
              </a:rPr>
              <a:t>The Multiple Imputation by Chained Equations (MICE) </a:t>
            </a:r>
            <a:r>
              <a:rPr lang="en-US" dirty="0"/>
              <a:t>algorithm preserves distributions for MCAR and MAR variables by these 6 steps:    </a:t>
            </a:r>
          </a:p>
          <a:p>
            <a:pPr marL="457200" lvl="0" indent="-457200">
              <a:buFont typeface="+mj-lt"/>
              <a:buAutoNum type="arabicPeriod"/>
            </a:pPr>
            <a:r>
              <a:rPr lang="en-US" dirty="0"/>
              <a:t>A simple place-holder imputation, such as filling with mean values, or </a:t>
            </a:r>
            <a:r>
              <a:rPr lang="en-US" dirty="0">
                <a:hlinkClick r:id="rId3"/>
              </a:rPr>
              <a:t>predictive mean matching</a:t>
            </a:r>
            <a:r>
              <a:rPr lang="en-US" dirty="0"/>
              <a:t>, is performed for all missing values in the dataset</a:t>
            </a:r>
          </a:p>
          <a:p>
            <a:pPr marL="457200" lvl="0" indent="-457200">
              <a:buFont typeface="+mj-lt"/>
              <a:buAutoNum type="arabicPeriod"/>
            </a:pPr>
            <a:r>
              <a:rPr lang="en-US" dirty="0"/>
              <a:t>Place-holder imputations of one variable are set back to missing</a:t>
            </a:r>
          </a:p>
          <a:p>
            <a:pPr marL="457200" lvl="0" indent="-45720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36344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41B7C3-210B-370C-B6C3-38ABEBEE63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689AB8-9F65-B28B-2A5A-3E24473D33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Imputation of Missing Values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576CD8-C93A-8576-5679-AB49B05483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737370"/>
          </a:xfrm>
        </p:spPr>
        <p:txBody>
          <a:bodyPr>
            <a:normAutofit fontScale="92500"/>
          </a:bodyPr>
          <a:lstStyle/>
          <a:p>
            <a:pPr marL="0" lvl="0" indent="0">
              <a:buNone/>
            </a:pPr>
            <a:r>
              <a:rPr lang="en-US" b="1" dirty="0">
                <a:hlinkClick r:id="rId2"/>
              </a:rPr>
              <a:t>The Multiple Imputation by Chained Equations (MICE) </a:t>
            </a:r>
            <a:r>
              <a:rPr lang="en-US" dirty="0"/>
              <a:t>algorithm preserves distributions for MCAR and MAR variables by these 6 steps:    </a:t>
            </a:r>
          </a:p>
          <a:p>
            <a:pPr marL="457200" lvl="0" indent="-457200">
              <a:buFont typeface="+mj-lt"/>
              <a:buAutoNum type="arabicPeriod" startAt="3"/>
            </a:pPr>
            <a:r>
              <a:rPr lang="en-US" dirty="0"/>
              <a:t>The missing values from Step 2 are regressed on the other variables in the dataset. </a:t>
            </a:r>
          </a:p>
          <a:p>
            <a:pPr lvl="1"/>
            <a:r>
              <a:rPr lang="en-US" dirty="0"/>
              <a:t>The multivariate aspect of the algorithm </a:t>
            </a:r>
          </a:p>
          <a:p>
            <a:pPr lvl="1"/>
            <a:r>
              <a:rPr lang="en-US" dirty="0"/>
              <a:t>Not all of the other variables are significant predictors and do not need to be used </a:t>
            </a:r>
          </a:p>
          <a:p>
            <a:pPr lvl="1"/>
            <a:r>
              <a:rPr lang="en-US" dirty="0"/>
              <a:t>Regression models can include linear, logistic, Poison,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pPr lvl="1"/>
            <a:r>
              <a:rPr lang="en-US" dirty="0"/>
              <a:t>Random forest models and other nonlinear regression models can be used</a:t>
            </a:r>
          </a:p>
        </p:txBody>
      </p:sp>
    </p:spTree>
    <p:extLst>
      <p:ext uri="{BB962C8B-B14F-4D97-AF65-F5344CB8AC3E}">
        <p14:creationId xmlns:p14="http://schemas.microsoft.com/office/powerpoint/2010/main" val="306559265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ECCA10-8659-0568-7E6A-2430CC13F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EC6B91-5570-8280-7BB8-0DC26D21BB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Imputation of Missing Values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3EFFFB-3E9D-ACBC-E7BB-CA6D7DE2C4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73737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hlinkClick r:id="rId2"/>
              </a:rPr>
              <a:t>The Multiple Imputation by Chained Equations (MICE) </a:t>
            </a:r>
            <a:r>
              <a:rPr lang="en-US" dirty="0"/>
              <a:t>algorithm preserves distributions for MCAR and MAR variables by these 6 steps: </a:t>
            </a:r>
          </a:p>
          <a:p>
            <a:pPr marL="457200" indent="-457200">
              <a:buFont typeface="+mj-lt"/>
              <a:buAutoNum type="arabicPeriod" startAt="4"/>
            </a:pPr>
            <a:r>
              <a:rPr lang="en-US" dirty="0"/>
              <a:t>The missing values from step 2 are replaced with predictions or imputations computed with the multivariate regression model. </a:t>
            </a:r>
          </a:p>
          <a:p>
            <a:pPr lvl="1"/>
            <a:r>
              <a:rPr lang="en-US" dirty="0"/>
              <a:t>The imputed value can now be used as an observation for regression on other missing values.</a:t>
            </a:r>
          </a:p>
        </p:txBody>
      </p:sp>
    </p:spTree>
    <p:extLst>
      <p:ext uri="{BB962C8B-B14F-4D97-AF65-F5344CB8AC3E}">
        <p14:creationId xmlns:p14="http://schemas.microsoft.com/office/powerpoint/2010/main" val="218328506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7326DB-FF4A-1FEF-E137-2107F1491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BB8C3B-01BF-4170-86C2-BBC213AA3E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Imputation of Missing Values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73BA41-3815-C25D-8F1B-6DA25C110B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73737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>
                <a:hlinkClick r:id="rId2"/>
              </a:rPr>
              <a:t>The Multiple Imputation by Chained Equations (MICE) </a:t>
            </a:r>
            <a:r>
              <a:rPr lang="en-US" dirty="0"/>
              <a:t>algorithm preserves distributions for MCAR and MAR variables by these 6 steps: </a:t>
            </a:r>
          </a:p>
          <a:p>
            <a:pPr marL="457200" indent="-457200">
              <a:buFont typeface="+mj-lt"/>
              <a:buAutoNum type="arabicPeriod" startAt="5"/>
            </a:pPr>
            <a:r>
              <a:rPr lang="en-US" dirty="0"/>
              <a:t>Steps 2–4 are then repeated for each variable with missing values. </a:t>
            </a:r>
          </a:p>
          <a:p>
            <a:pPr lvl="1"/>
            <a:r>
              <a:rPr lang="en-US" dirty="0"/>
              <a:t>Cycling through each of the variables with missing values constitutes one iteration of the algorithm. </a:t>
            </a:r>
          </a:p>
          <a:p>
            <a:pPr lvl="1"/>
            <a:r>
              <a:rPr lang="en-US" dirty="0"/>
              <a:t>This process continues until a stopping condition is reached where the imputed values are not changing significantly. </a:t>
            </a:r>
          </a:p>
          <a:p>
            <a:pPr lvl="1"/>
            <a:r>
              <a:rPr lang="en-US" dirty="0"/>
              <a:t>The foregoing steps are the </a:t>
            </a:r>
            <a:r>
              <a:rPr lang="en-US" b="1" dirty="0"/>
              <a:t>chained equations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575154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1463BA-A01B-DDE4-A809-65DB245067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E01377-1844-FAA6-8F3E-0B3817129D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Imputation of Missing Values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B0FE-8635-5317-1761-A40FC3346F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73737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hlinkClick r:id="rId2"/>
              </a:rPr>
              <a:t>The Multiple Imputation by Chained Equations (MICE) </a:t>
            </a:r>
            <a:r>
              <a:rPr lang="en-US" dirty="0"/>
              <a:t>algorithm preserves distributions for MCAR and MAR variables by these 6 steps: </a:t>
            </a:r>
          </a:p>
          <a:p>
            <a:pPr marL="457200" lvl="0" indent="-457200">
              <a:buFont typeface="+mj-lt"/>
              <a:buAutoNum type="arabicPeriod" startAt="6"/>
            </a:pPr>
            <a:r>
              <a:rPr lang="en-US" dirty="0"/>
              <a:t>The process in steps 1-5 is repeated to compute random draws of the imputed values from a </a:t>
            </a:r>
            <a:r>
              <a:rPr lang="en-US" b="1" dirty="0"/>
              <a:t>posterior distribution</a:t>
            </a:r>
            <a:r>
              <a:rPr lang="en-US" dirty="0"/>
              <a:t>. </a:t>
            </a:r>
          </a:p>
          <a:p>
            <a:pPr lvl="1"/>
            <a:r>
              <a:rPr lang="en-US" b="1" dirty="0"/>
              <a:t>Multiple draws</a:t>
            </a:r>
            <a:r>
              <a:rPr lang="en-US" dirty="0"/>
              <a:t> give an estimate of the posterior distribution characterizing the uncertainty of imputed value estimates</a:t>
            </a:r>
          </a:p>
          <a:p>
            <a:pPr lvl="1"/>
            <a:r>
              <a:rPr lang="en-US" b="1" dirty="0">
                <a:hlinkClick r:id="rId3"/>
              </a:rPr>
              <a:t>Rubin's rules</a:t>
            </a:r>
            <a:r>
              <a:rPr lang="en-US" dirty="0"/>
              <a:t> are then used to compute the point estimate and error statistics for the imputed values.</a:t>
            </a:r>
          </a:p>
        </p:txBody>
      </p:sp>
    </p:spTree>
    <p:extLst>
      <p:ext uri="{BB962C8B-B14F-4D97-AF65-F5344CB8AC3E}">
        <p14:creationId xmlns:p14="http://schemas.microsoft.com/office/powerpoint/2010/main" val="199592955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2EFE69-FF52-779B-06EE-4206D23B2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500575-F732-ADC4-E2FF-1355EB049D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Imputation of Missing Values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27C40EC-2022-743F-8E8E-B56CE774830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hlinkClick r:id="rId2"/>
                  </a:rPr>
                  <a:t>Rubin's rules</a:t>
                </a:r>
                <a:r>
                  <a:rPr lang="en-US" dirty="0"/>
                  <a:t> applied to compute the point estimate and error statistics for the imputed values of multiple imputations</a:t>
                </a:r>
              </a:p>
              <a:p>
                <a:r>
                  <a:rPr lang="en-US" dirty="0"/>
                  <a:t>Computing the point estimate is straight forward, the mean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  <a:p>
                <a:pPr marL="342900" lvl="1" indent="0">
                  <a:buNone/>
                </a:pPr>
                <a:r>
                  <a:rPr lang="en-US" dirty="0"/>
                  <a:t>Where,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is the overall point estimate given the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imputation values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Computing the total variance requires integrating the </a:t>
                </a:r>
                <a:r>
                  <a:rPr lang="en-US" b="1" dirty="0"/>
                  <a:t>within imputation variance </a:t>
                </a:r>
                <a:r>
                  <a:rPr lang="en-US" dirty="0"/>
                  <a:t>and </a:t>
                </a:r>
                <a:r>
                  <a:rPr lang="en-US" b="1" dirty="0"/>
                  <a:t>between imputation variance     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27C40EC-2022-743F-8E8E-B56CE774830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  <a:blipFill>
                <a:blip r:embed="rId3"/>
                <a:stretch>
                  <a:fillRect l="-1111" t="-1305" b="-16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517740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9D5FFB-7E2C-1265-20AA-9F5F72AD5A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251F58-F0CC-85E4-CBDE-2E9DBB0B69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Imputation of Missing Values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9D4262-09CB-52BE-80D8-AEC77005B5F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US" b="1" dirty="0">
                    <a:hlinkClick r:id="rId2"/>
                  </a:rPr>
                  <a:t>Rubin's rules</a:t>
                </a:r>
                <a:r>
                  <a:rPr lang="en-US" dirty="0"/>
                  <a:t> applied to compute the point estimate and error statistics for the imputed values of multiple imputations</a:t>
                </a:r>
              </a:p>
              <a:p>
                <a:r>
                  <a:rPr lang="en-US" dirty="0"/>
                  <a:t>Computing the total variance,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/>
                  <a:t>, requires integrating the </a:t>
                </a:r>
                <a:r>
                  <a:rPr lang="en-US" b="1" dirty="0"/>
                  <a:t>within imputation variance,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𝑼</m:t>
                        </m:r>
                      </m:e>
                    </m:acc>
                    <m:r>
                      <a:rPr lang="en-US" b="1" i="1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and </a:t>
                </a:r>
                <a:r>
                  <a:rPr lang="en-US" b="1" dirty="0"/>
                  <a:t>between imputation variance,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𝑩</m:t>
                    </m:r>
                  </m:oMath>
                </a14:m>
                <a:r>
                  <a:rPr lang="en-US" b="1" dirty="0"/>
                  <a:t>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0" smtClean="0">
                          <a:latin typeface="Cambria Math" panose="02040503050406030204" pitchFamily="18" charset="0"/>
                        </a:rPr>
                        <m:t>𝐓</m:t>
                      </m:r>
                      <m:r>
                        <a:rPr lang="en-US" b="1" i="0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𝑼</m:t>
                          </m:r>
                        </m:e>
                      </m:acc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𝑩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𝒎</m:t>
                          </m:r>
                        </m:den>
                      </m:f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𝑩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en-US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𝑼</m:t>
                          </m:r>
                        </m:e>
                      </m:acc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num>
                            <m:den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</m:den>
                          </m:f>
                        </m:e>
                      </m:d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𝑩</m:t>
                      </m:r>
                    </m:oMath>
                  </m:oMathPara>
                </a14:m>
                <a:endParaRPr lang="en-US" b="1" dirty="0"/>
              </a:p>
              <a:p>
                <a:pPr lvl="1"/>
                <a:r>
                  <a:rPr lang="en-US" dirty="0"/>
                  <a:t>Within imputation variance, given the sampling variances,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: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𝑼</m:t>
                        </m:r>
                      </m:e>
                    </m:acc>
                    <m:r>
                      <a:rPr lang="en-US" b="1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</m:den>
                    </m:f>
                    <m:nary>
                      <m:naryPr>
                        <m:chr m:val="∑"/>
                        <m:subHide m:val="on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en-US" b="1" dirty="0"/>
              </a:p>
              <a:p>
                <a:pPr lvl="1"/>
                <a:r>
                  <a:rPr lang="en-US" dirty="0"/>
                  <a:t>Between imputation variance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b="1" dirty="0"/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𝑩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den>
                    </m:f>
                    <m:nary>
                      <m:naryPr>
                        <m:chr m:val="∑"/>
                        <m:subHide m:val="on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9D4262-09CB-52BE-80D8-AEC77005B5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  <a:blipFill>
                <a:blip r:embed="rId3"/>
                <a:stretch>
                  <a:fillRect l="-963" t="-1142" r="-5185" b="-4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6630033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DDD204-02A5-4C7D-94AC-03D691A94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F0256E-0122-8881-335F-1BFB8BE1BF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Imputing Missing Values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518033-C630-C463-BBC8-5492514F14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6006"/>
            <a:ext cx="8229600" cy="520365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We can visualize the quality of the imputed results </a:t>
            </a:r>
          </a:p>
          <a:p>
            <a:endParaRPr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C6A6F6A-4C4C-D14B-7204-E38796CFBE53}"/>
              </a:ext>
            </a:extLst>
          </p:cNvPr>
          <p:cNvSpPr txBox="1">
            <a:spLocks/>
          </p:cNvSpPr>
          <p:nvPr/>
        </p:nvSpPr>
        <p:spPr>
          <a:xfrm>
            <a:off x="5038984" y="1967341"/>
            <a:ext cx="4002505" cy="28915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The distributions of imputed and observed values should match even for complex distributions </a:t>
            </a:r>
          </a:p>
          <a:p>
            <a:r>
              <a:rPr lang="en-US" dirty="0"/>
              <a:t>Deviations in density show less than ideal behavior </a:t>
            </a:r>
          </a:p>
          <a:p>
            <a:endParaRPr lang="en-US" dirty="0"/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587DBF9-0D43-0A27-06D4-7C7F5BBAB6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219" y="1560782"/>
            <a:ext cx="4756520" cy="3552042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9E3B467-98DD-494C-9372-0888740E82AF}"/>
              </a:ext>
            </a:extLst>
          </p:cNvPr>
          <p:cNvCxnSpPr>
            <a:cxnSpLocks/>
          </p:cNvCxnSpPr>
          <p:nvPr/>
        </p:nvCxnSpPr>
        <p:spPr>
          <a:xfrm flipH="1" flipV="1">
            <a:off x="4231663" y="3413135"/>
            <a:ext cx="897998" cy="318273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ADF8342-C4B8-383D-BC03-523112A0B310}"/>
              </a:ext>
            </a:extLst>
          </p:cNvPr>
          <p:cNvCxnSpPr>
            <a:cxnSpLocks/>
          </p:cNvCxnSpPr>
          <p:nvPr/>
        </p:nvCxnSpPr>
        <p:spPr>
          <a:xfrm flipH="1">
            <a:off x="4572000" y="3731408"/>
            <a:ext cx="557661" cy="118913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740561B-4C18-337E-913A-BD94442E532B}"/>
              </a:ext>
            </a:extLst>
          </p:cNvPr>
          <p:cNvCxnSpPr>
            <a:cxnSpLocks/>
          </p:cNvCxnSpPr>
          <p:nvPr/>
        </p:nvCxnSpPr>
        <p:spPr>
          <a:xfrm flipH="1">
            <a:off x="4505926" y="2308552"/>
            <a:ext cx="623735" cy="437726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0185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70891B-F205-F94D-41EB-427DEE81C6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8B350F-CE79-8679-F991-FC7A70E444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Imputing Missing Values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F3A58E-C420-D9E3-3C9F-030B2AD021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6006"/>
            <a:ext cx="8229600" cy="520365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We can visualize the quality of the imputed results </a:t>
            </a:r>
          </a:p>
          <a:p>
            <a:endParaRPr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4F51AFB-2D5F-8DEA-6A00-F7CB6777C5B8}"/>
              </a:ext>
            </a:extLst>
          </p:cNvPr>
          <p:cNvSpPr txBox="1">
            <a:spLocks/>
          </p:cNvSpPr>
          <p:nvPr/>
        </p:nvSpPr>
        <p:spPr>
          <a:xfrm>
            <a:off x="4874754" y="1666371"/>
            <a:ext cx="4002505" cy="3368980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Biplots show the relationship of observed and imputed values between two variables </a:t>
            </a:r>
          </a:p>
          <a:p>
            <a:r>
              <a:rPr lang="en-US" dirty="0"/>
              <a:t>4 possible combinations of observed and missing</a:t>
            </a:r>
          </a:p>
          <a:p>
            <a:r>
              <a:rPr lang="en-US" dirty="0"/>
              <a:t>The imputed values of the variables should not deviate noticeably from the observed cases </a:t>
            </a:r>
          </a:p>
          <a:p>
            <a:r>
              <a:rPr lang="en-US" dirty="0"/>
              <a:t>Limited number of missing cases makes interpretation uncertain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5808BB2-1393-4E26-5116-8482A55BA6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80" y="1819816"/>
            <a:ext cx="4469043" cy="3026698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28B43E9-007F-1AB3-7BF8-EBF3B51EE15C}"/>
              </a:ext>
            </a:extLst>
          </p:cNvPr>
          <p:cNvCxnSpPr>
            <a:cxnSpLocks/>
            <a:endCxn id="7" idx="3"/>
          </p:cNvCxnSpPr>
          <p:nvPr/>
        </p:nvCxnSpPr>
        <p:spPr>
          <a:xfrm flipH="1">
            <a:off x="4524223" y="2960524"/>
            <a:ext cx="560333" cy="372641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8721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75778F-09DD-FFFC-15F5-F74D0C1FF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4A741E-04F8-FEF4-B8A1-314DA00DBC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Imputation of Missing Values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EEE77B-4365-0FA5-6DB3-6DCFF70501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73737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 MICE algorithm has several advantages</a:t>
            </a:r>
          </a:p>
          <a:p>
            <a:r>
              <a:rPr lang="en-US" dirty="0"/>
              <a:t>MICE is effective for MCAR and particularly MAR where there is a relationship between missing values and other variables. </a:t>
            </a:r>
          </a:p>
          <a:p>
            <a:r>
              <a:rPr lang="en-US" dirty="0"/>
              <a:t>MICE preserves the uncertainty of the posterior distribution by using multiple imputations </a:t>
            </a:r>
          </a:p>
          <a:p>
            <a:r>
              <a:rPr lang="en-US" dirty="0"/>
              <a:t>Since MICE uses a different regression model for each variable, supporting multiple variable types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42767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5F9CB3-63B1-EF8E-8257-1574A6FD3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1CF54F-5901-BFDA-8B3D-01941AF79C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Imputation of Missing Values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BDE533E-7382-51BD-441F-25D4B006345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Like all imputation algorithms, MICE algorithm has several disadvantages</a:t>
                </a:r>
              </a:p>
              <a:p>
                <a:r>
                  <a:rPr lang="en-US" dirty="0"/>
                  <a:t>MICE is not effective for missing percent of about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&gt;30%</m:t>
                    </m:r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MICE requires multiple imputation which is computationally intensive for large datasets or data with many variables   </a:t>
                </a:r>
              </a:p>
              <a:p>
                <a:r>
                  <a:rPr lang="en-US" dirty="0"/>
                  <a:t>MICE is not suitable for time series data </a:t>
                </a:r>
              </a:p>
              <a:p>
                <a:r>
                  <a:rPr lang="en-US" dirty="0"/>
                  <a:t>MICE is not ideal for MNAR variables </a:t>
                </a:r>
              </a:p>
              <a:p>
                <a:r>
                  <a:rPr lang="en-US" dirty="0"/>
                  <a:t>MICE is susceptible to misspecification of the regressions for the missing values   </a:t>
                </a:r>
              </a:p>
              <a:p>
                <a:r>
                  <a:rPr lang="en-US" dirty="0"/>
                  <a:t>There are no convergence guarantees and the uncertainty estimate can be overly optimistic 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BDE533E-7382-51BD-441F-25D4B006345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  <a:blipFill>
                <a:blip r:embed="rId2"/>
                <a:stretch>
                  <a:fillRect l="-963" t="-2773" r="-5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63879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83BA4C-835E-AEBE-C4AC-A63FF9EBAA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2FCFFF-4975-42B7-BA3E-88DED488FA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Imputation of Missing Values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131AFE-186B-4407-DAD1-C6FCE5424F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73737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For further reading: </a:t>
            </a:r>
          </a:p>
          <a:p>
            <a:r>
              <a:rPr lang="en-US" dirty="0"/>
              <a:t>For a detailed discussion of imputation with the MICE algorithm see </a:t>
            </a:r>
            <a:r>
              <a:rPr lang="en-US" dirty="0">
                <a:hlinkClick r:id="rId2"/>
              </a:rPr>
              <a:t>Flexible Imputation of Missing Data, Second Edition, Stef van Buuren, Chapman and Hall, 2018</a:t>
            </a:r>
            <a:endParaRPr lang="en-US" dirty="0"/>
          </a:p>
          <a:p>
            <a:r>
              <a:rPr lang="en-US" dirty="0"/>
              <a:t>For a broad and deep exploration of working with missing data see </a:t>
            </a:r>
            <a:r>
              <a:rPr lang="en-US" dirty="0">
                <a:hlinkClick r:id="rId3"/>
              </a:rPr>
              <a:t>Statistical Analysis with Missing Data, Little and Rudin, Wiley, 2020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3126358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D4F6EF-706E-6110-32E4-EBA25FEA32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B1537D-7CAD-449E-53D8-CC71551E7E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1081" y="1850264"/>
            <a:ext cx="7772400" cy="1021556"/>
          </a:xfrm>
        </p:spPr>
        <p:txBody>
          <a:bodyPr/>
          <a:lstStyle/>
          <a:p>
            <a:pPr algn="ctr"/>
            <a:r>
              <a:rPr lang="en-US" b="0" cap="none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2864424491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0654A4-438A-3598-2173-713F8FD13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364BA0-F13E-AC4D-C2C3-E5DD3FB75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Summary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700005-97A5-AC99-D88A-30B0414207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984108"/>
            <a:ext cx="8229600" cy="4010237"/>
          </a:xfrm>
        </p:spPr>
        <p:txBody>
          <a:bodyPr>
            <a:normAutofit fontScale="85000" lnSpcReduction="10000"/>
          </a:bodyPr>
          <a:lstStyle/>
          <a:p>
            <a:pPr marL="0" lvl="0" indent="0">
              <a:buNone/>
            </a:pPr>
            <a:r>
              <a:rPr lang="en-US" dirty="0"/>
              <a:t>Several commonly encountered data problems create problems for OLS and GLM models</a:t>
            </a:r>
            <a:endParaRPr dirty="0"/>
          </a:p>
          <a:p>
            <a:pPr lvl="0"/>
            <a:r>
              <a:rPr lang="en-US" b="1" dirty="0"/>
              <a:t>Zero inflated response variables </a:t>
            </a:r>
            <a:r>
              <a:rPr lang="en-US" dirty="0"/>
              <a:t>have an unusual number of zero values   </a:t>
            </a:r>
          </a:p>
          <a:p>
            <a:pPr lvl="1"/>
            <a:r>
              <a:rPr lang="en-US" dirty="0"/>
              <a:t>Use a </a:t>
            </a:r>
            <a:r>
              <a:rPr lang="en-US" b="1" dirty="0"/>
              <a:t>mixture model </a:t>
            </a:r>
            <a:r>
              <a:rPr lang="en-US" dirty="0"/>
              <a:t>to switch between a binomial and another distribution</a:t>
            </a:r>
          </a:p>
          <a:p>
            <a:pPr lvl="0"/>
            <a:r>
              <a:rPr lang="en-US" b="1" dirty="0"/>
              <a:t>Over-dispersed response variables </a:t>
            </a:r>
            <a:r>
              <a:rPr lang="en-US" dirty="0"/>
              <a:t>have a long (typically right) tail </a:t>
            </a:r>
          </a:p>
          <a:p>
            <a:pPr lvl="1"/>
            <a:r>
              <a:rPr lang="en-US" dirty="0"/>
              <a:t>Apply models with distributions and mixtures that account for large low probability responses </a:t>
            </a:r>
          </a:p>
          <a:p>
            <a:pPr lvl="0"/>
            <a:r>
              <a:rPr lang="en-US" b="1" dirty="0"/>
              <a:t>Outliers in independent variables </a:t>
            </a:r>
            <a:r>
              <a:rPr lang="en-US" dirty="0"/>
              <a:t>have an undue influence on OLS and GLM models </a:t>
            </a:r>
          </a:p>
          <a:p>
            <a:pPr lvl="1"/>
            <a:r>
              <a:rPr lang="en-US" dirty="0"/>
              <a:t>Robust regression models </a:t>
            </a:r>
            <a:r>
              <a:rPr lang="en-US" b="1" dirty="0"/>
              <a:t>limit the influence of outliers </a:t>
            </a:r>
            <a:r>
              <a:rPr lang="en-US" dirty="0"/>
              <a:t>on the response </a:t>
            </a:r>
          </a:p>
          <a:p>
            <a:r>
              <a:rPr lang="en-US" dirty="0"/>
              <a:t>Imputation of </a:t>
            </a:r>
            <a:r>
              <a:rPr lang="en-US" b="1" dirty="0"/>
              <a:t>missing values </a:t>
            </a:r>
            <a:r>
              <a:rPr lang="en-US" dirty="0"/>
              <a:t>must preserve distributions to be useful for inference   </a:t>
            </a:r>
          </a:p>
          <a:p>
            <a:pPr lvl="1"/>
            <a:r>
              <a:rPr lang="en-US" dirty="0"/>
              <a:t>The MICE algorithm is a flexible imputation model that preserves distributions </a:t>
            </a:r>
          </a:p>
        </p:txBody>
      </p:sp>
    </p:spTree>
    <p:extLst>
      <p:ext uri="{BB962C8B-B14F-4D97-AF65-F5344CB8AC3E}">
        <p14:creationId xmlns:p14="http://schemas.microsoft.com/office/powerpoint/2010/main" val="34679274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7627</TotalTime>
  <Words>4662</Words>
  <Application>Microsoft Office PowerPoint</Application>
  <PresentationFormat>On-screen Show (16:9)</PresentationFormat>
  <Paragraphs>520</Paragraphs>
  <Slides>78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78</vt:i4>
      </vt:variant>
    </vt:vector>
  </HeadingPairs>
  <TitlesOfParts>
    <vt:vector size="83" baseType="lpstr">
      <vt:lpstr>Arial</vt:lpstr>
      <vt:lpstr>Calibri</vt:lpstr>
      <vt:lpstr>Cambria Math</vt:lpstr>
      <vt:lpstr>Courier</vt:lpstr>
      <vt:lpstr>Office Theme</vt:lpstr>
      <vt:lpstr>Models for Messy Data</vt:lpstr>
      <vt:lpstr>Introduction</vt:lpstr>
      <vt:lpstr>Models for Zero-Inflated Response</vt:lpstr>
      <vt:lpstr>Zero-Inflated Responses</vt:lpstr>
      <vt:lpstr>Zero-Inflated Responses</vt:lpstr>
      <vt:lpstr>Modeling Zero-Inflated Distributions</vt:lpstr>
      <vt:lpstr>Modeling Zero-Inflated Distributions</vt:lpstr>
      <vt:lpstr>Zero-Inflated Poisson Distribution</vt:lpstr>
      <vt:lpstr>Zero-Inflated Poisson Distribution</vt:lpstr>
      <vt:lpstr>Zero-Inflated Response Regression</vt:lpstr>
      <vt:lpstr>Zero-Inflated Response Regression</vt:lpstr>
      <vt:lpstr>Example: Zero-Inflated Poisson Regression</vt:lpstr>
      <vt:lpstr>Example: Zero-Inflated Poisson Regression</vt:lpstr>
      <vt:lpstr>Example: Zero-Inflated Poisson Regression</vt:lpstr>
      <vt:lpstr>Example: Zero-Inflated Poisson Regression</vt:lpstr>
      <vt:lpstr>Example: Zero-Inflated Poisson Regression</vt:lpstr>
      <vt:lpstr>Models for Over-Dispersed Response</vt:lpstr>
      <vt:lpstr>Over-Dispersed Response Distributions</vt:lpstr>
      <vt:lpstr>Modeling Over-Dispersed Distributions</vt:lpstr>
      <vt:lpstr>Modeling Over-Dispersed Distributions</vt:lpstr>
      <vt:lpstr>Modeling Over-Dispersed Distributions</vt:lpstr>
      <vt:lpstr>Negative Binomial Distribution</vt:lpstr>
      <vt:lpstr>Negative Binomial Distribution</vt:lpstr>
      <vt:lpstr>Negative Binomial Distribution</vt:lpstr>
      <vt:lpstr>Zero-Inflated Over-Dispersed Distributions</vt:lpstr>
      <vt:lpstr>Zero-Inflated Negative Binomial Distribution</vt:lpstr>
      <vt:lpstr>Zero-Inflated Negative Binomial Distribution</vt:lpstr>
      <vt:lpstr>Example: Zero-Inflated Poisson Regression</vt:lpstr>
      <vt:lpstr>Example: Zero-Inflated NB Distribution Regression</vt:lpstr>
      <vt:lpstr>Example: Zero-Inflated NB Distribution Regression</vt:lpstr>
      <vt:lpstr>Example: Zero-Inflated NB Distribution Regression</vt:lpstr>
      <vt:lpstr>Example: Zero-Inflated NB Distribution Regression</vt:lpstr>
      <vt:lpstr>Example: Zero-Inflated NB Distribution Regression</vt:lpstr>
      <vt:lpstr>Dealing with Outliers</vt:lpstr>
      <vt:lpstr>Dealing With Outliers</vt:lpstr>
      <vt:lpstr>Effects of Outliers</vt:lpstr>
      <vt:lpstr>Effect of Outliers</vt:lpstr>
      <vt:lpstr>Effect of Outliers</vt:lpstr>
      <vt:lpstr>Measuring Influence of Outliers</vt:lpstr>
      <vt:lpstr>Measuring Influence of Outliers</vt:lpstr>
      <vt:lpstr>Measuring Influence of Outliers</vt:lpstr>
      <vt:lpstr>Robust Models and Influence Function</vt:lpstr>
      <vt:lpstr>Robust Models and Influence Function</vt:lpstr>
      <vt:lpstr>Robust Models and Influence Function</vt:lpstr>
      <vt:lpstr>Dealing With Outliers</vt:lpstr>
      <vt:lpstr>Dealing With Outliers</vt:lpstr>
      <vt:lpstr>Dealing With Outliers</vt:lpstr>
      <vt:lpstr>Dealing With Outliers</vt:lpstr>
      <vt:lpstr>Example: Dealing With Outliers</vt:lpstr>
      <vt:lpstr>Example: Dealing With Outliers</vt:lpstr>
      <vt:lpstr>Example: Dealing With Outliers</vt:lpstr>
      <vt:lpstr>Example: Dealing With Outliers</vt:lpstr>
      <vt:lpstr>Limitations of Robust Estimators</vt:lpstr>
      <vt:lpstr>Example: Dealing With Outliers</vt:lpstr>
      <vt:lpstr>Working with Missing Values</vt:lpstr>
      <vt:lpstr>Understanding Missing Values</vt:lpstr>
      <vt:lpstr>Understanding Missing Values</vt:lpstr>
      <vt:lpstr>Understanding Missing Values</vt:lpstr>
      <vt:lpstr>Understanding Missing Values</vt:lpstr>
      <vt:lpstr>Understanding Missing Values</vt:lpstr>
      <vt:lpstr>Understanding Missing Values</vt:lpstr>
      <vt:lpstr>Imputation of Missing Values</vt:lpstr>
      <vt:lpstr>Imputation of Missing Values</vt:lpstr>
      <vt:lpstr>Imputation of Missing Values</vt:lpstr>
      <vt:lpstr>Imputation of Missing Values</vt:lpstr>
      <vt:lpstr>Imputation of Missing Values</vt:lpstr>
      <vt:lpstr>Imputation of Missing Values</vt:lpstr>
      <vt:lpstr>Imputation of Missing Values</vt:lpstr>
      <vt:lpstr>Imputation of Missing Values</vt:lpstr>
      <vt:lpstr>Imputation of Missing Values</vt:lpstr>
      <vt:lpstr>Imputation of Missing Values</vt:lpstr>
      <vt:lpstr>Imputing Missing Values</vt:lpstr>
      <vt:lpstr>Imputing Missing Values</vt:lpstr>
      <vt:lpstr>Imputation of Missing Values</vt:lpstr>
      <vt:lpstr>Imputation of Missing Values</vt:lpstr>
      <vt:lpstr>Imputation of Missing Values</vt:lpstr>
      <vt:lpstr>Summary</vt:lpstr>
      <vt:lpstr>Summary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Linear Models</dc:title>
  <dc:creator>Steve Elston</dc:creator>
  <cp:keywords/>
  <cp:lastModifiedBy>Stephen Elston</cp:lastModifiedBy>
  <cp:revision>342</cp:revision>
  <dcterms:created xsi:type="dcterms:W3CDTF">2024-08-16T02:31:51Z</dcterms:created>
  <dcterms:modified xsi:type="dcterms:W3CDTF">2026-10-09T00:40:50Z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10/23/2023</vt:lpwstr>
  </property>
  <property fmtid="{D5CDD505-2E9C-101B-9397-08002B2CF9AE}" pid="3" name="output">
    <vt:lpwstr/>
  </property>
</Properties>
</file>