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0"/>
  </p:notesMasterIdLst>
  <p:sldIdLst>
    <p:sldId id="337" r:id="rId2"/>
    <p:sldId id="338" r:id="rId3"/>
    <p:sldId id="340" r:id="rId4"/>
    <p:sldId id="344" r:id="rId5"/>
    <p:sldId id="345" r:id="rId6"/>
    <p:sldId id="346" r:id="rId7"/>
    <p:sldId id="347" r:id="rId8"/>
    <p:sldId id="348" r:id="rId9"/>
    <p:sldId id="350" r:id="rId10"/>
    <p:sldId id="355" r:id="rId11"/>
    <p:sldId id="356" r:id="rId12"/>
    <p:sldId id="373" r:id="rId13"/>
    <p:sldId id="369" r:id="rId14"/>
    <p:sldId id="372" r:id="rId15"/>
    <p:sldId id="374" r:id="rId16"/>
    <p:sldId id="371" r:id="rId17"/>
    <p:sldId id="341" r:id="rId18"/>
    <p:sldId id="353" r:id="rId19"/>
    <p:sldId id="352" r:id="rId20"/>
    <p:sldId id="349" r:id="rId21"/>
    <p:sldId id="354" r:id="rId22"/>
    <p:sldId id="358" r:id="rId23"/>
    <p:sldId id="360" r:id="rId24"/>
    <p:sldId id="384" r:id="rId25"/>
    <p:sldId id="361" r:id="rId26"/>
    <p:sldId id="362" r:id="rId27"/>
    <p:sldId id="351" r:id="rId28"/>
    <p:sldId id="383" r:id="rId29"/>
    <p:sldId id="375" r:id="rId30"/>
    <p:sldId id="376" r:id="rId31"/>
    <p:sldId id="380" r:id="rId32"/>
    <p:sldId id="378" r:id="rId33"/>
    <p:sldId id="379" r:id="rId34"/>
    <p:sldId id="377" r:id="rId35"/>
    <p:sldId id="320" r:id="rId36"/>
    <p:sldId id="321" r:id="rId37"/>
    <p:sldId id="364" r:id="rId38"/>
    <p:sldId id="365" r:id="rId39"/>
    <p:sldId id="382" r:id="rId40"/>
    <p:sldId id="323" r:id="rId41"/>
    <p:sldId id="324" r:id="rId42"/>
    <p:sldId id="326" r:id="rId43"/>
    <p:sldId id="366" r:id="rId44"/>
    <p:sldId id="327" r:id="rId45"/>
    <p:sldId id="328" r:id="rId46"/>
    <p:sldId id="329" r:id="rId47"/>
    <p:sldId id="330" r:id="rId48"/>
    <p:sldId id="331" r:id="rId49"/>
    <p:sldId id="332" r:id="rId50"/>
    <p:sldId id="333" r:id="rId51"/>
    <p:sldId id="367" r:id="rId52"/>
    <p:sldId id="368" r:id="rId53"/>
    <p:sldId id="403" r:id="rId54"/>
    <p:sldId id="408" r:id="rId55"/>
    <p:sldId id="386" r:id="rId56"/>
    <p:sldId id="389" r:id="rId57"/>
    <p:sldId id="409" r:id="rId58"/>
    <p:sldId id="387" r:id="rId59"/>
    <p:sldId id="399" r:id="rId60"/>
    <p:sldId id="400" r:id="rId61"/>
    <p:sldId id="404" r:id="rId62"/>
    <p:sldId id="388" r:id="rId63"/>
    <p:sldId id="391" r:id="rId64"/>
    <p:sldId id="392" r:id="rId65"/>
    <p:sldId id="390" r:id="rId66"/>
    <p:sldId id="395" r:id="rId67"/>
    <p:sldId id="393" r:id="rId68"/>
    <p:sldId id="396" r:id="rId69"/>
    <p:sldId id="394" r:id="rId70"/>
    <p:sldId id="397" r:id="rId71"/>
    <p:sldId id="398" r:id="rId72"/>
    <p:sldId id="401" r:id="rId73"/>
    <p:sldId id="405" r:id="rId74"/>
    <p:sldId id="402" r:id="rId75"/>
    <p:sldId id="407" r:id="rId76"/>
    <p:sldId id="406" r:id="rId77"/>
    <p:sldId id="385" r:id="rId78"/>
    <p:sldId id="381" r:id="rId7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401" y="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5A0028-71D2-4800-AD8E-38BD1BCDF688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A90C29-277A-4C0B-9914-D82F5D04F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0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en.wikipedia.org/wiki/Zero-inflated_mode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hyperlink" Target="https://www.statology.org/pearson-residuals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wikipedia.org/wiki/Mixture_distribution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eavy-tailed_distribution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inomial_coefficient" TargetMode="External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ncss.com/wp-content/themes/ncss/pdf/Procedures/NCSS/Zero-Inflated_Negative_Binomial_Regression.pdf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en.wikipedia.org/wiki/Studentized_residual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346630632_Robust_Statistics_The_Approach_Based_on_Influence_Functions" TargetMode="External"/><Relationship Id="rId2" Type="http://schemas.openxmlformats.org/officeDocument/2006/relationships/hyperlink" Target="https://www.wiley.com/en-ie/shop/general-introductory-statistics/robust-statistics-theory-and-methods-(with-r)-2nd-edition-p-9781119214687" TargetMode="External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Expectation%E2%80%93maximization_algorithm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redictive_mean_matching" TargetMode="External"/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casrai.org/guides/rubins-rules-pooling-imputed-estimates" TargetMode="External"/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hyperlink" Target="https://casrai.org/guides/rubins-rules-pooling-imputed-estimates" TargetMode="Externa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casrai.org/guides/rubins-rules-pooling-imputed-estimates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ontent.e-bookshelf.de/media/reading/L-12468270-75fd0fbf69.pdf" TargetMode="External"/><Relationship Id="rId2" Type="http://schemas.openxmlformats.org/officeDocument/2006/relationships/hyperlink" Target="https://stefvanbuuren.name/fimd/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for Messy Data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C54D-A93E-7DF0-F2EC-603642194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5EEC6-D606-BDA0-212E-8D3ADDAC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Introduction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54A8C-8365-5A51-A4BD-48F8386E8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affect models used for inference   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tails </a:t>
            </a:r>
          </a:p>
          <a:p>
            <a:pPr lvl="1"/>
            <a:r>
              <a:rPr lang="en-US" dirty="0"/>
              <a:t>Can be symmetric or asymmetric with long tails</a:t>
            </a:r>
          </a:p>
          <a:p>
            <a:pPr lvl="1"/>
            <a:r>
              <a:rPr lang="en-US" dirty="0"/>
              <a:t>Use heavy tailed distribution models</a:t>
            </a:r>
          </a:p>
          <a:p>
            <a:pPr lvl="1"/>
            <a:r>
              <a:rPr lang="en-US" dirty="0"/>
              <a:t>Apply models with mixtures of distributions to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parameter estimates</a:t>
            </a:r>
          </a:p>
          <a:p>
            <a:r>
              <a:rPr lang="en-US" b="1" dirty="0"/>
              <a:t>Missing data </a:t>
            </a:r>
            <a:r>
              <a:rPr lang="en-US" dirty="0"/>
              <a:t>are common in many real-world dataset     </a:t>
            </a:r>
          </a:p>
          <a:p>
            <a:pPr lvl="1"/>
            <a:r>
              <a:rPr lang="en-US" dirty="0"/>
              <a:t>Imputation methods must preserve distributions to be valid for influence   </a:t>
            </a:r>
          </a:p>
          <a:p>
            <a:pPr lvl="0"/>
            <a:r>
              <a:rPr lang="en-US" dirty="0"/>
              <a:t>We can extend the OLS and GLM frameworks to deal with these situations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459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8C255-8488-A6BF-D8CF-6C0F8BDB0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Zero-Inflated Response</a:t>
            </a:r>
          </a:p>
        </p:txBody>
      </p:sp>
    </p:spTree>
    <p:extLst>
      <p:ext uri="{BB962C8B-B14F-4D97-AF65-F5344CB8AC3E}">
        <p14:creationId xmlns:p14="http://schemas.microsoft.com/office/powerpoint/2010/main" val="3761794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68F5F-5608-0C70-F2DD-623A1DC2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F49BB-AD56-E7CF-4823-D942D28B5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97D54-EC36-0EE6-7D66-58D0B07E5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Zero-inflated response variables arise in many situations </a:t>
            </a:r>
            <a:endParaRPr dirty="0"/>
          </a:p>
          <a:p>
            <a:pPr lvl="0"/>
            <a:r>
              <a:rPr lang="en-US" dirty="0"/>
              <a:t>Most people who view an ecommerce site buy 0 products</a:t>
            </a:r>
          </a:p>
          <a:p>
            <a:pPr lvl="0"/>
            <a:r>
              <a:rPr lang="en-US" dirty="0"/>
              <a:t>Most auto drivers have 0 crashes per year </a:t>
            </a:r>
          </a:p>
          <a:p>
            <a:pPr lvl="0"/>
            <a:r>
              <a:rPr lang="en-US" dirty="0"/>
              <a:t>Most dental patients examined require 0 root canals </a:t>
            </a:r>
          </a:p>
          <a:p>
            <a:pPr lvl="0"/>
            <a:r>
              <a:rPr lang="en-US" dirty="0"/>
              <a:t>In much of the world the average rainfall measured on a specific day is 0 </a:t>
            </a:r>
          </a:p>
          <a:p>
            <a:pPr lvl="0"/>
            <a:r>
              <a:rPr lang="en-US" dirty="0"/>
              <a:t>The number of severe weather events in a specific area per month is typically 0  </a:t>
            </a:r>
          </a:p>
          <a:p>
            <a:r>
              <a:rPr lang="en-US" dirty="0"/>
              <a:t>In epidemiology the probability distribution of the of people contracting a disease per day in a geographic area is often 0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7896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4D2F8-E9B0-B458-3221-728A7417F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26928FC-ABFC-E215-267D-029ABCD9E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246" y="1861604"/>
            <a:ext cx="4116664" cy="2865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C43B79-51BC-5AB4-B7E8-AEF722E3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 of a </a:t>
                </a:r>
                <a:r>
                  <a:rPr lang="en-US" b="1" dirty="0"/>
                  <a:t>zero-inflated Poisson distribution  </a:t>
                </a:r>
              </a:p>
              <a:p>
                <a:pPr lvl="0"/>
                <a:r>
                  <a:rPr lang="en-US" dirty="0"/>
                  <a:t>The number of zero values is inflated compared to a standard Poisson distribution   </a:t>
                </a:r>
              </a:p>
              <a:p>
                <a:pPr lvl="0"/>
                <a:r>
                  <a:rPr lang="en-US" dirty="0"/>
                  <a:t>The rest of the distribution is standard Poisson with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=5.0</m:t>
                    </m:r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  <a:blipFill>
                <a:blip r:embed="rId3"/>
                <a:stretch>
                  <a:fillRect l="-2038" t="-1436" r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F7A29A-7157-D61A-8920-AF8969DB3B73}"/>
              </a:ext>
            </a:extLst>
          </p:cNvPr>
          <p:cNvCxnSpPr>
            <a:cxnSpLocks/>
          </p:cNvCxnSpPr>
          <p:nvPr/>
        </p:nvCxnSpPr>
        <p:spPr>
          <a:xfrm>
            <a:off x="4498192" y="2271648"/>
            <a:ext cx="1215792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363DF7-0DA2-26E6-3AEA-FF10AC23BE52}"/>
              </a:ext>
            </a:extLst>
          </p:cNvPr>
          <p:cNvCxnSpPr>
            <a:cxnSpLocks/>
          </p:cNvCxnSpPr>
          <p:nvPr/>
        </p:nvCxnSpPr>
        <p:spPr>
          <a:xfrm>
            <a:off x="4498192" y="3432075"/>
            <a:ext cx="2050224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496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F59-9009-4191-4BD0-62EAFBE3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D5B7B-EC31-F645-671E-3F211640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AB32E-A8D9-3191-4BF8-4C76B8CCB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zero inflated distributions?  </a:t>
            </a:r>
            <a:endParaRPr dirty="0"/>
          </a:p>
          <a:p>
            <a:pPr lvl="0"/>
            <a:r>
              <a:rPr lang="en-US" dirty="0"/>
              <a:t>Standard ‘named’ distributions do not account for zero-inflation  </a:t>
            </a:r>
          </a:p>
          <a:p>
            <a:pPr lvl="0"/>
            <a:r>
              <a:rPr lang="en-US" dirty="0"/>
              <a:t>Can use a mixture of two distributions  </a:t>
            </a:r>
          </a:p>
          <a:p>
            <a:pPr lvl="1"/>
            <a:r>
              <a:rPr lang="en-US" dirty="0"/>
              <a:t>A binomial distribution, or switching distribution  </a:t>
            </a:r>
          </a:p>
          <a:p>
            <a:pPr lvl="1"/>
            <a:r>
              <a:rPr lang="en-US" dirty="0"/>
              <a:t>A standard distribution </a:t>
            </a:r>
          </a:p>
          <a:p>
            <a:r>
              <a:rPr lang="en-US" dirty="0"/>
              <a:t>The binomial distribution serves as a ‘switch’ between 0 response and response drawn from another distribution  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4511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B693C-681F-BD19-D494-D40455944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A9A6-0BBC-2038-40FF-92376FBF1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model zero inflated distributions?  </a:t>
                </a:r>
              </a:p>
              <a:p>
                <a:r>
                  <a:rPr lang="en-US" dirty="0"/>
                  <a:t>The binomial distribution serves as a ‘switch’ between 0 response and the other distribution  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be the probability density of the other distribution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may include 0 responses, but insufficient number  </a:t>
                </a:r>
              </a:p>
              <a:p>
                <a:r>
                  <a:rPr lang="en-US" dirty="0"/>
                  <a:t>Binomial distribution switches between 0 response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Switching probability adds an addition degree of freedom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  <a:blipFill>
                <a:blip r:embed="rId2"/>
                <a:stretch>
                  <a:fillRect l="-963" t="-2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1765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C65D1-0629-048B-E925-6A17F56D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AF045-2CA5-7833-C0AC-1E68DA4D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</a:t>
                </a:r>
                <a:r>
                  <a:rPr lang="en-US" b="1" dirty="0">
                    <a:hlinkClick r:id="rId2"/>
                  </a:rPr>
                  <a:t>zero-inflated Poisson distribution </a:t>
                </a:r>
                <a:endParaRPr lang="en-US" b="1" dirty="0"/>
              </a:p>
              <a:p>
                <a:r>
                  <a:rPr lang="en-US" dirty="0"/>
                  <a:t>Recall the PMF of the standard Poisson distribution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= count of events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= mean count</a:t>
                </a:r>
              </a:p>
              <a:p>
                <a:r>
                  <a:rPr lang="en-US" dirty="0"/>
                  <a:t>Mix Poisson distribution with a binomial distribution with parameter,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!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3"/>
                <a:stretch>
                  <a:fillRect l="-741" t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58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8B609-0209-30CC-95E8-278C2AE03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DAA27-D2A3-2195-57D9-6998CD566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Poisson distribution </a:t>
                </a:r>
              </a:p>
              <a:p>
                <a:r>
                  <a:rPr lang="en-US" dirty="0"/>
                  <a:t>Standard Poisson distributions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  <a:blipFill>
                <a:blip r:embed="rId2"/>
                <a:stretch>
                  <a:fillRect l="-2060" t="-1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510F70D-36A7-155F-2485-5367BDFEC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698" y="973343"/>
            <a:ext cx="4028802" cy="41045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9D24AF-BB61-12F9-B828-4888004FDC0A}"/>
              </a:ext>
            </a:extLst>
          </p:cNvPr>
          <p:cNvCxnSpPr>
            <a:cxnSpLocks/>
          </p:cNvCxnSpPr>
          <p:nvPr/>
        </p:nvCxnSpPr>
        <p:spPr>
          <a:xfrm flipV="1">
            <a:off x="4736018" y="1853403"/>
            <a:ext cx="385442" cy="2706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1EE4919-AC92-DFD5-ABB9-999E7D3BC294}"/>
              </a:ext>
            </a:extLst>
          </p:cNvPr>
          <p:cNvCxnSpPr>
            <a:cxnSpLocks/>
          </p:cNvCxnSpPr>
          <p:nvPr/>
        </p:nvCxnSpPr>
        <p:spPr>
          <a:xfrm>
            <a:off x="4108649" y="3004092"/>
            <a:ext cx="943103" cy="18605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9E9038-E8A3-1C1E-5E16-7AFDFF3C889D}"/>
              </a:ext>
            </a:extLst>
          </p:cNvPr>
          <p:cNvCxnSpPr>
            <a:cxnSpLocks/>
          </p:cNvCxnSpPr>
          <p:nvPr/>
        </p:nvCxnSpPr>
        <p:spPr>
          <a:xfrm>
            <a:off x="4108649" y="3797015"/>
            <a:ext cx="824190" cy="5371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9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BC6A4-857B-DC6B-9336-D253B4B3D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48C5-DECC-C14B-D6E1-6ADC55A2F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r>
                  <a:rPr lang="en-US" dirty="0"/>
                  <a:t>In some cases, a nearly analytic solution is possible    </a:t>
                </a:r>
              </a:p>
              <a:p>
                <a:r>
                  <a:rPr lang="en-US" dirty="0"/>
                  <a:t>How can we find a numerical solution? </a:t>
                </a:r>
              </a:p>
              <a:p>
                <a:pPr lvl="1"/>
                <a:r>
                  <a:rPr lang="en-US" dirty="0"/>
                  <a:t>Fit parameters of the switching distribution </a:t>
                </a:r>
              </a:p>
              <a:p>
                <a:pPr lvl="1"/>
                <a:r>
                  <a:rPr lang="en-US" dirty="0"/>
                  <a:t>Fit parameters of the other distribution </a:t>
                </a:r>
              </a:p>
              <a:p>
                <a:pPr lvl="1"/>
                <a:r>
                  <a:rPr lang="en-US" dirty="0"/>
                  <a:t>The model is nonlinear!</a:t>
                </a:r>
              </a:p>
              <a:p>
                <a:r>
                  <a:rPr lang="en-US" dirty="0"/>
                  <a:t>Use an iterative (alternating) solution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switching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other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error in fit to the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𝑒𝑟𝑟𝑜𝑟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𝑡ℎ𝑟𝑒𝑠ℎ𝑜𝑙𝑑</m:t>
                    </m:r>
                  </m:oMath>
                </a14:m>
                <a:r>
                  <a:rPr lang="en-US" dirty="0"/>
                  <a:t>  </a:t>
                </a:r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963" t="-28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463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FCDCC-A891-FAD2-7E8E-28DACE3C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9469-8BB5-D00E-F486-A613048D3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pPr marL="0" indent="0">
                  <a:buNone/>
                </a:pPr>
                <a:r>
                  <a:rPr lang="en-US" dirty="0"/>
                  <a:t>Example, zero-inflated Poisson distribution 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of binomial distribution as GLM</a:t>
                </a:r>
              </a:p>
              <a:p>
                <a:pPr lvl="2"/>
                <a:r>
                  <a:rPr lang="en-US" dirty="0"/>
                  <a:t>Poisson distribution parameter held constant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of Poisson distribution as GLM</a:t>
                </a:r>
              </a:p>
              <a:p>
                <a:pPr lvl="2"/>
                <a:r>
                  <a:rPr lang="en-US" dirty="0"/>
                  <a:t>Binomial distribution parameter held constant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Find error between estimate and observed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39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83D6F-D893-DA13-853F-A9881CC56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7A3F3-7181-C173-382B-2D2AA99BC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D9DE8-3CA0-350C-E556-EEFC89404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C0445D-ABCD-B101-00A3-EF9F7082F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BF2677-7F67-46D3-02CB-2BBB9F7E6387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35182" cy="33251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0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9EA63-83E3-1C55-7E5E-003914F59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BB3EF-8AFD-D43E-E1F9-1C70D0D87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354A87-DA9E-3737-627D-548F0DEF02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56483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Exogenous variables, persons in party, children in party, did the party camp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Facet plot of the response variable vs. the exogenous variables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26E4EE-106F-5AB2-1AA2-C4E81F014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68970"/>
            <a:ext cx="8244431" cy="245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99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94746-4749-4FB0-5CB4-48DBD2CA7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26857-4CA1-DF47-C163-671D55567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8B0C5-D708-13A5-020E-78E79C75A1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5370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Model is significant in explaining the data compared to the null model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coefficients are all significant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Coefficient for switching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Adding people to party or camping increases expected number of fish caught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Children in party reduce expected number of fish caught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3AE126-A2E1-4BB6-62EC-3A9E87603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712" y="893616"/>
            <a:ext cx="3645628" cy="407531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3AA0651-EF34-BE67-36D9-ED87C3AB1760}"/>
              </a:ext>
            </a:extLst>
          </p:cNvPr>
          <p:cNvCxnSpPr>
            <a:cxnSpLocks/>
          </p:cNvCxnSpPr>
          <p:nvPr/>
        </p:nvCxnSpPr>
        <p:spPr>
          <a:xfrm>
            <a:off x="4572000" y="2049087"/>
            <a:ext cx="3084023" cy="13050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22EFC8-1E22-00B6-1333-C5684091AA57}"/>
              </a:ext>
            </a:extLst>
          </p:cNvPr>
          <p:cNvCxnSpPr>
            <a:cxnSpLocks/>
          </p:cNvCxnSpPr>
          <p:nvPr/>
        </p:nvCxnSpPr>
        <p:spPr>
          <a:xfrm>
            <a:off x="3653444" y="2937555"/>
            <a:ext cx="2622665" cy="10300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54A3AF0-A54E-AA24-9428-9795BB249912}"/>
              </a:ext>
            </a:extLst>
          </p:cNvPr>
          <p:cNvCxnSpPr>
            <a:cxnSpLocks/>
          </p:cNvCxnSpPr>
          <p:nvPr/>
        </p:nvCxnSpPr>
        <p:spPr>
          <a:xfrm>
            <a:off x="4821382" y="3602527"/>
            <a:ext cx="749999" cy="6930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1F32A9-C574-B383-2D30-A94CF83FA8A9}"/>
              </a:ext>
            </a:extLst>
          </p:cNvPr>
          <p:cNvCxnSpPr>
            <a:cxnSpLocks/>
          </p:cNvCxnSpPr>
          <p:nvPr/>
        </p:nvCxnSpPr>
        <p:spPr>
          <a:xfrm>
            <a:off x="4756959" y="3948543"/>
            <a:ext cx="926869" cy="6317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CFA3CC1-AFAE-5D22-0215-84C2EABFAABF}"/>
              </a:ext>
            </a:extLst>
          </p:cNvPr>
          <p:cNvCxnSpPr>
            <a:cxnSpLocks/>
          </p:cNvCxnSpPr>
          <p:nvPr/>
        </p:nvCxnSpPr>
        <p:spPr>
          <a:xfrm>
            <a:off x="4268585" y="2662494"/>
            <a:ext cx="3429001" cy="110317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670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7D63-CE8B-7C84-26AC-FBBCF013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Residuals of GLM models are not expected to be Normally distributed  </a:t>
                </a:r>
              </a:p>
              <a:p>
                <a:r>
                  <a:rPr lang="en-US" dirty="0"/>
                  <a:t>Need a transformation of residuals to an easier to understand distribution  </a:t>
                </a:r>
              </a:p>
              <a:p>
                <a:r>
                  <a:rPr lang="en-US" dirty="0"/>
                  <a:t>The </a:t>
                </a:r>
                <a:r>
                  <a:rPr lang="en-US" dirty="0">
                    <a:hlinkClick r:id="rId2"/>
                  </a:rPr>
                  <a:t>Pearson adjustment </a:t>
                </a:r>
                <a:r>
                  <a:rPr lang="en-US" dirty="0"/>
                  <a:t>transforms the distributions of the residuals to approximately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  <a:blipFill>
                <a:blip r:embed="rId3"/>
                <a:stretch>
                  <a:fillRect l="-1111" t="-1294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DC14BED-D8BA-13A9-A5D6-1D3905775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</p:spTree>
    <p:extLst>
      <p:ext uri="{BB962C8B-B14F-4D97-AF65-F5344CB8AC3E}">
        <p14:creationId xmlns:p14="http://schemas.microsoft.com/office/powerpoint/2010/main" val="415574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DE16C-B8BA-7E63-0400-D9D4B825C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CF0C0-57E2-E59F-7F90-2C8E611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DC013-3F3F-9611-72C4-36CB32D35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376794"/>
            <a:ext cx="4274818" cy="336249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Pearson adjusted residuals show some heteroscedastic behavior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b="1" dirty="0"/>
              <a:t>Do not over interpret this plot!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 sample of only 250 cases is small and there can be </a:t>
            </a:r>
            <a:r>
              <a:rPr lang="en-US" sz="1850" b="1" dirty="0"/>
              <a:t>considerable variation from sampling alone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Histogram and Q-Q plot show considerable right skew and larger outliers in the Pearson adjusted residuals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921FE1-0E21-7AB3-9569-8F4385874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718" y="1026622"/>
            <a:ext cx="4450282" cy="406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2197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5C1C8-BE41-6056-2236-1780797FA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07884-1785-002A-C91F-EB861AA82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Over-Dispersed Response</a:t>
            </a:r>
          </a:p>
        </p:txBody>
      </p:sp>
    </p:spTree>
    <p:extLst>
      <p:ext uri="{BB962C8B-B14F-4D97-AF65-F5344CB8AC3E}">
        <p14:creationId xmlns:p14="http://schemas.microsoft.com/office/powerpoint/2010/main" val="1540297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D7613-D14E-EC43-A019-B4A9F531D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1483E-65DC-99C1-549C-85BA0EF48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Over-Dispersed </a:t>
            </a:r>
            <a:r>
              <a:rPr lang="en-US"/>
              <a:t>Response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17C2F-7BD8-0D47-C916-F716C0846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dirty="0"/>
              <a:t>Over-dispersed response variables are commonly encountered     </a:t>
            </a:r>
            <a:endParaRPr dirty="0"/>
          </a:p>
          <a:p>
            <a:pPr lvl="0"/>
            <a:r>
              <a:rPr lang="en-US" dirty="0"/>
              <a:t>Sales volume of a product can show have sudden surges</a:t>
            </a:r>
          </a:p>
          <a:p>
            <a:pPr lvl="0"/>
            <a:r>
              <a:rPr lang="en-US" dirty="0"/>
              <a:t>Demand on an electric grid can have extreme spikes beyond the mean load</a:t>
            </a:r>
          </a:p>
          <a:p>
            <a:pPr lvl="0"/>
            <a:r>
              <a:rPr lang="en-US" dirty="0"/>
              <a:t>Number of emergency patients seen at a hospital can surge well beyond the norm</a:t>
            </a:r>
          </a:p>
          <a:p>
            <a:pPr lvl="0"/>
            <a:r>
              <a:rPr lang="en-US" dirty="0"/>
              <a:t>Sightings of heard and flock animals seen at a location can have large numbers at some times</a:t>
            </a:r>
          </a:p>
          <a:p>
            <a:pPr lvl="0"/>
            <a:r>
              <a:rPr lang="en-US" dirty="0"/>
              <a:t>Frequency of tornados is subject to outbreaks</a:t>
            </a:r>
          </a:p>
          <a:p>
            <a:pPr lvl="0"/>
            <a:r>
              <a:rPr lang="en-US" dirty="0"/>
              <a:t>Number of publications by academic researchers, where a few people have very high numbers</a:t>
            </a:r>
          </a:p>
          <a:p>
            <a:pPr lvl="0"/>
            <a:r>
              <a:rPr lang="en-US" dirty="0"/>
              <a:t>The daily trading volume of a stock can spike occasionally  </a:t>
            </a:r>
          </a:p>
          <a:p>
            <a:r>
              <a:rPr lang="en-US" dirty="0"/>
              <a:t>In epidemiology, the number of people contracting a disease is generally low, but can spike to large numbers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042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3FC11-9C3C-118F-79AB-D990D84D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3682E-2FF7-FAAB-55B1-B9E5F9544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0A91-AE2B-4B56-0879-723A7F8B0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over-dispersed distributions?  </a:t>
            </a:r>
            <a:endParaRPr dirty="0"/>
          </a:p>
          <a:p>
            <a:pPr lvl="0"/>
            <a:r>
              <a:rPr lang="en-US" dirty="0"/>
              <a:t>Two widely used options  </a:t>
            </a:r>
          </a:p>
          <a:p>
            <a:pPr lvl="0"/>
            <a:r>
              <a:rPr lang="en-US" dirty="0"/>
              <a:t>Inherently heavy tailed distributions   </a:t>
            </a:r>
          </a:p>
          <a:p>
            <a:pPr lvl="0"/>
            <a:r>
              <a:rPr lang="en-US" dirty="0"/>
              <a:t>Mixtures of distributions   </a:t>
            </a:r>
          </a:p>
          <a:p>
            <a:pPr lvl="0"/>
            <a:r>
              <a:rPr lang="en-US" dirty="0"/>
              <a:t>Or both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15356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A82E9-2C31-4130-2849-50015905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3605-78EF-6927-618F-A0DDE1DD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06866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construct finite </a:t>
                </a:r>
                <a:r>
                  <a:rPr lang="en-US" b="1" dirty="0">
                    <a:hlinkClick r:id="rId2"/>
                  </a:rPr>
                  <a:t>mixtures of distributions</a:t>
                </a:r>
                <a:endParaRPr lang="en-US" b="1" dirty="0"/>
              </a:p>
              <a:p>
                <a:pPr lvl="0"/>
                <a:r>
                  <a:rPr lang="en-US" dirty="0"/>
                  <a:t>Model has two components   </a:t>
                </a:r>
              </a:p>
              <a:p>
                <a:pPr lvl="1"/>
                <a:r>
                  <a:rPr lang="en-US" dirty="0"/>
                  <a:t>A switching distribution, e.g. binomial or categorical   </a:t>
                </a:r>
              </a:p>
              <a:p>
                <a:pPr lvl="1"/>
                <a:r>
                  <a:rPr lang="en-US" dirty="0"/>
                  <a:t>Two or more other distributions</a:t>
                </a:r>
              </a:p>
              <a:p>
                <a:pPr lvl="0"/>
                <a:r>
                  <a:rPr lang="en-US" dirty="0"/>
                  <a:t>Example, </a:t>
                </a:r>
                <a:r>
                  <a:rPr lang="en-US" b="1" dirty="0"/>
                  <a:t>mixture of three Normal distributions </a:t>
                </a:r>
                <a:r>
                  <a:rPr lang="en-US" dirty="0"/>
                  <a:t>creates distribution with high dispersion   </a:t>
                </a:r>
              </a:p>
              <a:p>
                <a:pPr lvl="1"/>
                <a:r>
                  <a:rPr lang="en-US" dirty="0"/>
                  <a:t>Switching probabilities from categorical distribution,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Three Normal distributions with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 </a:t>
                </a:r>
              </a:p>
              <a:p>
                <a:pPr lvl="1"/>
                <a:r>
                  <a:rPr lang="en-US" dirty="0"/>
                  <a:t>First and third distributions have weight on left and right tails </a:t>
                </a:r>
              </a:p>
              <a:p>
                <a:pPr lvl="1"/>
                <a:r>
                  <a:rPr lang="en-US" dirty="0"/>
                  <a:t>Switching probabilities and normal distribution parameters are fit by iterative maximum likelihood algorithm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06866"/>
              </a:xfrm>
              <a:blipFill>
                <a:blip r:embed="rId3"/>
                <a:stretch>
                  <a:fillRect l="-963" t="-2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880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B9F2A-0799-0329-3BFF-4F3FD9AC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F8645-A612-547B-BE69-1774C4B4F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78F1-CBE5-7762-35DD-4AB3F3A43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Many choices of </a:t>
            </a:r>
            <a:r>
              <a:rPr lang="en-US" dirty="0">
                <a:hlinkClick r:id="rId2"/>
              </a:rPr>
              <a:t>heavy tailed distributions </a:t>
            </a:r>
            <a:r>
              <a:rPr lang="en-US" dirty="0"/>
              <a:t>to model over-dispersed variables </a:t>
            </a:r>
            <a:endParaRPr dirty="0"/>
          </a:p>
          <a:p>
            <a:pPr lvl="0"/>
            <a:r>
              <a:rPr lang="en-US" dirty="0"/>
              <a:t>Student-t with low degrees of freedom – cannot use GLM! </a:t>
            </a:r>
          </a:p>
          <a:p>
            <a:pPr lvl="0"/>
            <a:r>
              <a:rPr lang="en-US" dirty="0"/>
              <a:t>Negative binomial</a:t>
            </a:r>
          </a:p>
          <a:p>
            <a:pPr lvl="0"/>
            <a:r>
              <a:rPr lang="en-US" dirty="0"/>
              <a:t>Log-gamma</a:t>
            </a:r>
          </a:p>
          <a:p>
            <a:pPr lvl="0"/>
            <a:r>
              <a:rPr lang="en-US" dirty="0"/>
              <a:t>Pareto</a:t>
            </a:r>
          </a:p>
          <a:p>
            <a:pPr lvl="0"/>
            <a:r>
              <a:rPr lang="en-US" dirty="0"/>
              <a:t>Log-logistic</a:t>
            </a:r>
          </a:p>
          <a:p>
            <a:pPr lvl="0"/>
            <a:r>
              <a:rPr lang="en-US" dirty="0"/>
              <a:t>Log-normal </a:t>
            </a:r>
          </a:p>
          <a:p>
            <a:pPr lvl="0"/>
            <a:r>
              <a:rPr lang="en-US" dirty="0"/>
              <a:t>Etc.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77347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436B-EC23-FEE9-FC8D-FF8C5CEDB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91029-867C-D91C-69AA-494FD000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The general form of the negative binomial distribution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trials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failures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successes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of success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𝐜𝐨𝐞𝐟𝐟𝐢𝐜𝐢𝐞𝐧𝐭</m:t>
                    </m:r>
                  </m:oMath>
                </a14:m>
                <a:r>
                  <a:rPr lang="en-US" dirty="0"/>
                  <a:t>, pronounced ‘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choose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’, is the number of combinations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  <a:blipFill>
                <a:blip r:embed="rId4"/>
                <a:stretch>
                  <a:fillRect l="-741" t="-2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21248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3279-F436-FB2E-C060-C62748F09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D94E5-8555-ECFC-E468-D9EEF5587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form of the negative binomial distribution is then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29986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30D59-FC5A-4187-23EF-2D853B9B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26DC8-5E3C-C7C0-5F01-A17371AE8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Compare this parameterization to the Poisson distribution  </a:t>
                </a:r>
              </a:p>
              <a:p>
                <a:pPr lvl="1"/>
                <a:r>
                  <a:rPr lang="en-US" dirty="0"/>
                  <a:t>For the Poisson distribution, the variance equals the mean,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distribution has </a:t>
                </a:r>
                <a:r>
                  <a:rPr lang="en-US" b="1" dirty="0"/>
                  <a:t>excess dispersion </a:t>
                </a:r>
                <a:r>
                  <a:rPr lang="en-US" dirty="0"/>
                  <a:t>since r in</a:t>
                </a:r>
              </a:p>
              <a:p>
                <a:pPr lvl="1"/>
                <a:r>
                  <a:rPr lang="en-US" dirty="0"/>
                  <a:t>For the Poisson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 b="-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11689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BF2F3-8894-1B9E-15CE-B3FC1B79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1F966-FC29-1E41-EEEA-01BA21E09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D4FEF-C2B0-84F8-8459-C7B206F8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05408"/>
            <a:ext cx="8229600" cy="383211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How can we work with distributions that exhibit both zero-inflation and over-dispersion? </a:t>
            </a:r>
          </a:p>
          <a:p>
            <a:r>
              <a:rPr lang="en-US" dirty="0"/>
              <a:t>Create a mixture of two distributions </a:t>
            </a:r>
          </a:p>
          <a:p>
            <a:pPr lvl="1"/>
            <a:r>
              <a:rPr lang="en-US" dirty="0"/>
              <a:t>A binomial switching distribution for the zero-inflation</a:t>
            </a:r>
          </a:p>
          <a:p>
            <a:pPr lvl="1"/>
            <a:r>
              <a:rPr lang="en-US" dirty="0"/>
              <a:t>An over-dispersed distribution </a:t>
            </a:r>
          </a:p>
          <a:p>
            <a:r>
              <a:rPr lang="en-US" dirty="0"/>
              <a:t>Examples of zero-inflated and over-dispersed count data:</a:t>
            </a:r>
          </a:p>
          <a:p>
            <a:pPr lvl="1"/>
            <a:r>
              <a:rPr lang="en-US" dirty="0"/>
              <a:t>There are zero tornados on most days in most area, but can have large outbreaks with low probability</a:t>
            </a:r>
          </a:p>
          <a:p>
            <a:pPr lvl="1"/>
            <a:r>
              <a:rPr lang="en-US" dirty="0"/>
              <a:t>A wildlife biologist may spot none of a specific species on a given day, but could encounter large numbers occasionally   </a:t>
            </a:r>
          </a:p>
          <a:p>
            <a:pPr lvl="1"/>
            <a:r>
              <a:rPr lang="en-US" dirty="0"/>
              <a:t>Most days there are no auto accidents on a segment of road, but there are a few days with high numbers of accidents   </a:t>
            </a:r>
          </a:p>
          <a:p>
            <a:pPr lvl="1"/>
            <a:r>
              <a:rPr lang="en-US" dirty="0"/>
              <a:t>Demand for a rarely purchased product is zero on most days, but can have spikes in demand</a:t>
            </a:r>
          </a:p>
        </p:txBody>
      </p:sp>
    </p:spTree>
    <p:extLst>
      <p:ext uri="{BB962C8B-B14F-4D97-AF65-F5344CB8AC3E}">
        <p14:creationId xmlns:p14="http://schemas.microsoft.com/office/powerpoint/2010/main" val="315306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ED322-EC72-9B4B-B7DF-34CE131EA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88C3-4F96-E656-796F-780A92B39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zero-inflated n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zero-inflated Poisson distribution </a:t>
                </a:r>
              </a:p>
              <a:p>
                <a:r>
                  <a:rPr lang="en-US" dirty="0"/>
                  <a:t>We can create a mixture distribution with binomial switching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distribution is both </a:t>
                </a:r>
                <a:r>
                  <a:rPr lang="en-US" b="1" dirty="0"/>
                  <a:t>zero-inflated and over-dispersed!</a:t>
                </a:r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44116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731EE-7D67-38D5-F926-AC676739B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80B6A-949A-70C5-ADEE-1B777AA37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negative binomial distribution </a:t>
                </a:r>
              </a:p>
              <a:p>
                <a:r>
                  <a:rPr lang="en-US" dirty="0"/>
                  <a:t>Standard negative binomial distribution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=4.0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  <a:blipFill>
                <a:blip r:embed="rId2"/>
                <a:stretch>
                  <a:fillRect l="-2170" t="-1059" r="-3005" b="-1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B39DC39-B936-ABB8-14A5-08C488C28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352" y="1332025"/>
            <a:ext cx="4973802" cy="345847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9F19F43-F7EE-BF41-AF5E-4CCC505D1543}"/>
              </a:ext>
            </a:extLst>
          </p:cNvPr>
          <p:cNvCxnSpPr>
            <a:cxnSpLocks/>
          </p:cNvCxnSpPr>
          <p:nvPr/>
        </p:nvCxnSpPr>
        <p:spPr>
          <a:xfrm flipV="1">
            <a:off x="3987685" y="2146274"/>
            <a:ext cx="219374" cy="11481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F5ECBC-6B77-9FE1-CA50-680606ED289E}"/>
              </a:ext>
            </a:extLst>
          </p:cNvPr>
          <p:cNvCxnSpPr>
            <a:cxnSpLocks/>
          </p:cNvCxnSpPr>
          <p:nvPr/>
        </p:nvCxnSpPr>
        <p:spPr>
          <a:xfrm flipV="1">
            <a:off x="3378770" y="3190149"/>
            <a:ext cx="820089" cy="7625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FFF6A4-71EC-AE04-2191-240F91A54AC0}"/>
              </a:ext>
            </a:extLst>
          </p:cNvPr>
          <p:cNvCxnSpPr>
            <a:cxnSpLocks/>
          </p:cNvCxnSpPr>
          <p:nvPr/>
        </p:nvCxnSpPr>
        <p:spPr>
          <a:xfrm flipV="1">
            <a:off x="3378770" y="4334174"/>
            <a:ext cx="791386" cy="1271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3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AE21E-FA0D-ED24-47F8-1E46927A3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892C8-0A70-0F50-73AA-664033EB1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E7B798-D7EA-4958-6E54-8FA77CBF9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There is a strong right skew, some parties catch large numbers of fish – </a:t>
            </a:r>
            <a:r>
              <a:rPr lang="en-US" sz="2000" b="1" dirty="0"/>
              <a:t>over-dispersion!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E8469-02D9-A783-1EFB-74AB523C7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95693FF-EB30-0F9D-74A8-44D2DBEC16AD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10244" cy="3366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202D0DE-1B74-3843-2A04-E924FE113FDA}"/>
              </a:ext>
            </a:extLst>
          </p:cNvPr>
          <p:cNvCxnSpPr>
            <a:cxnSpLocks/>
          </p:cNvCxnSpPr>
          <p:nvPr/>
        </p:nvCxnSpPr>
        <p:spPr>
          <a:xfrm>
            <a:off x="3167149" y="4443153"/>
            <a:ext cx="3133898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7211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08D65-F0CE-46C8-50FA-290102D5D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835584-6F5A-BF20-32A6-4531D3254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514" y="1020984"/>
            <a:ext cx="4004425" cy="3415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18FB71-6756-E980-79DD-868281B23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43A19-21FE-4DBB-A146-D3AB3928B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87052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The zero-inflated Poisson regression model for fish caught showed significant over-dispersion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Try zero-inflated negative binomial distribution regression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Log-likelihood increased from -542 for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All coefficients are significant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inflation coefficient has a large  standard error and wide CI!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Significant over-dispersion coefficient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Adds 1 extra parameter to model compared to zero-inflated Poisson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29B1D4-FC2D-51F9-8621-C63FA036283B}"/>
              </a:ext>
            </a:extLst>
          </p:cNvPr>
          <p:cNvCxnSpPr>
            <a:cxnSpLocks/>
          </p:cNvCxnSpPr>
          <p:nvPr/>
        </p:nvCxnSpPr>
        <p:spPr>
          <a:xfrm flipV="1">
            <a:off x="3757353" y="3063240"/>
            <a:ext cx="3208712" cy="16625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16DB7B1-1D9B-F928-F82B-17A5ADE04979}"/>
              </a:ext>
            </a:extLst>
          </p:cNvPr>
          <p:cNvCxnSpPr>
            <a:cxnSpLocks/>
          </p:cNvCxnSpPr>
          <p:nvPr/>
        </p:nvCxnSpPr>
        <p:spPr>
          <a:xfrm>
            <a:off x="4605251" y="4122516"/>
            <a:ext cx="806334" cy="2084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C5723A-46E6-BCA6-18E3-AE6820E4BA68}"/>
              </a:ext>
            </a:extLst>
          </p:cNvPr>
          <p:cNvCxnSpPr>
            <a:cxnSpLocks/>
          </p:cNvCxnSpPr>
          <p:nvPr/>
        </p:nvCxnSpPr>
        <p:spPr>
          <a:xfrm flipV="1">
            <a:off x="4572000" y="2227811"/>
            <a:ext cx="3046615" cy="43641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ACC8F22-5695-5760-E022-0AEDE4D0DCE8}"/>
              </a:ext>
            </a:extLst>
          </p:cNvPr>
          <p:cNvCxnSpPr>
            <a:cxnSpLocks/>
          </p:cNvCxnSpPr>
          <p:nvPr/>
        </p:nvCxnSpPr>
        <p:spPr>
          <a:xfrm flipV="1">
            <a:off x="4276768" y="3366655"/>
            <a:ext cx="835559" cy="23275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455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E0BEB-C4D8-6D31-BDF0-B0D260502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29765-EFBE-27B5-F1F3-F4CFD020E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84235B-8D87-745E-4745-282CADA35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of the over-dispersion coefficient is far from Normal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Distribution is bimodal with asymmetric CI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Perhaps a Bayesian model would have been a better choice?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08BEBC3-B293-3D25-0FC6-29736DFDE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901" y="2373285"/>
            <a:ext cx="5735783" cy="2729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038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4012A-BE18-6CD3-D327-452A0A99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3DF84-1411-966E-9D2C-0D43DA3A1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BAA0D-11B3-4FE6-8B3F-57C5C55C6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Residual plots are similar, with noticeable outliers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Both models exhibit a bit of heteroskedasticity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Heteroskedasticity near zero could be result of poor fit of binomial parameter   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BF1277F-D87C-5759-C27E-1463704BF9BB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2C16CA9F-3456-8E6B-A082-8DE642E0C06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7EBC9-C685-AB27-4107-65CB41869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042" y="2593097"/>
            <a:ext cx="4523706" cy="20786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8951EB-1FBA-DF9A-6CFB-9765242F6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985"/>
            <a:ext cx="4589758" cy="207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970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8AA3-4357-A8FE-64EC-611F9FDFE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4F5F37A-EC46-0D82-1AB8-8A8023DCC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5" y="2710829"/>
            <a:ext cx="4398778" cy="20166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038AD3-7E99-0806-76B5-936FA08C1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411" y="2651166"/>
            <a:ext cx="4401588" cy="20512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0366F2-9344-091D-15CF-78FA4867E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1B8E88-BEF2-48A3-EF3C-7FD0C7E82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Dispersion of residuals is a slightly less for NB distribution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Bulk of residual distribution more symmetric for NB regression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the greater fraction in straight line (e.g. Normal) for NB distribution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03F3E-C55D-59A7-193C-DFBC56B7DFDB}"/>
              </a:ext>
            </a:extLst>
          </p:cNvPr>
          <p:cNvCxnSpPr>
            <a:cxnSpLocks/>
          </p:cNvCxnSpPr>
          <p:nvPr/>
        </p:nvCxnSpPr>
        <p:spPr>
          <a:xfrm flipH="1">
            <a:off x="3192087" y="2273531"/>
            <a:ext cx="1126375" cy="17332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3">
            <a:extLst>
              <a:ext uri="{FF2B5EF4-FFF2-40B4-BE49-F238E27FC236}">
                <a16:creationId xmlns:a16="http://schemas.microsoft.com/office/drawing/2014/main" id="{C41F93BC-04C6-2D51-60AE-F5C1D585BCA4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5A5FE0CD-F62F-C84A-5F18-FCD2CBD0255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9620545-03AE-8CE6-5ED3-AD3E3E3C99AD}"/>
              </a:ext>
            </a:extLst>
          </p:cNvPr>
          <p:cNvSpPr/>
          <p:nvPr/>
        </p:nvSpPr>
        <p:spPr>
          <a:xfrm rot="21174054">
            <a:off x="2796699" y="4024020"/>
            <a:ext cx="785547" cy="21159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C2F465-0F7B-2F4C-2FDD-48CB2362000F}"/>
              </a:ext>
            </a:extLst>
          </p:cNvPr>
          <p:cNvSpPr/>
          <p:nvPr/>
        </p:nvSpPr>
        <p:spPr>
          <a:xfrm rot="20679620">
            <a:off x="7386377" y="4000275"/>
            <a:ext cx="1021439" cy="22453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744B9AB-16D9-A21A-152E-852507D411C8}"/>
              </a:ext>
            </a:extLst>
          </p:cNvPr>
          <p:cNvCxnSpPr>
            <a:cxnSpLocks/>
          </p:cNvCxnSpPr>
          <p:nvPr/>
        </p:nvCxnSpPr>
        <p:spPr>
          <a:xfrm>
            <a:off x="5798127" y="2273531"/>
            <a:ext cx="1999211" cy="169049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885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11" grpId="0" animBg="1"/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704A0-6F31-8C09-159F-C48B746B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9E026C-DE03-7E12-04AD-1D030B1EB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84" y="2697999"/>
            <a:ext cx="7826432" cy="22004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156F20-4CF8-B601-9597-154D7ECFD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F7524-DBAA-5D7E-2EDB-C436AC690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Bootstrap resamples of the NB distribution regression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General behavior is reasonable, but wide dispersion of outcomes 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outliers that affect the model fit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9AA43AE-1662-40E0-C50F-BE558643B7DA}"/>
              </a:ext>
            </a:extLst>
          </p:cNvPr>
          <p:cNvCxnSpPr>
            <a:cxnSpLocks/>
          </p:cNvCxnSpPr>
          <p:nvPr/>
        </p:nvCxnSpPr>
        <p:spPr>
          <a:xfrm flipH="1">
            <a:off x="1620982" y="2223655"/>
            <a:ext cx="640080" cy="11014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878999-D9D1-0A50-FA1E-1B9841925E2B}"/>
              </a:ext>
            </a:extLst>
          </p:cNvPr>
          <p:cNvCxnSpPr>
            <a:cxnSpLocks/>
          </p:cNvCxnSpPr>
          <p:nvPr/>
        </p:nvCxnSpPr>
        <p:spPr>
          <a:xfrm flipH="1">
            <a:off x="1675015" y="2177935"/>
            <a:ext cx="835429" cy="178609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C15D4C-A135-93CA-0A5B-56274A4458B3}"/>
              </a:ext>
            </a:extLst>
          </p:cNvPr>
          <p:cNvCxnSpPr>
            <a:cxnSpLocks/>
          </p:cNvCxnSpPr>
          <p:nvPr/>
        </p:nvCxnSpPr>
        <p:spPr>
          <a:xfrm>
            <a:off x="3038302" y="2177935"/>
            <a:ext cx="1338349" cy="14464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D54397-AAA2-5BE1-1069-94C1497AB0B4}"/>
              </a:ext>
            </a:extLst>
          </p:cNvPr>
          <p:cNvCxnSpPr>
            <a:cxnSpLocks/>
          </p:cNvCxnSpPr>
          <p:nvPr/>
        </p:nvCxnSpPr>
        <p:spPr>
          <a:xfrm flipH="1">
            <a:off x="2630978" y="2177935"/>
            <a:ext cx="157942" cy="7232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654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30AAC-22B8-9E0C-D9FD-39181F96F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DB99-90DA-CAA0-594C-BFF050DF3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Dealing with Outliers</a:t>
            </a:r>
          </a:p>
        </p:txBody>
      </p:sp>
    </p:spTree>
    <p:extLst>
      <p:ext uri="{BB962C8B-B14F-4D97-AF65-F5344CB8AC3E}">
        <p14:creationId xmlns:p14="http://schemas.microsoft.com/office/powerpoint/2010/main" val="31699289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7290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Outliers are a persistent problem with statistical and machine learning models</a:t>
            </a:r>
          </a:p>
          <a:p>
            <a:pPr lvl="0"/>
            <a:r>
              <a:rPr dirty="0"/>
              <a:t>What are outliers?</a:t>
            </a:r>
          </a:p>
          <a:p>
            <a:pPr lvl="1"/>
            <a:r>
              <a:rPr dirty="0"/>
              <a:t>Errors or noisy measurement</a:t>
            </a:r>
            <a:r>
              <a:rPr lang="en-US" dirty="0"/>
              <a:t> value</a:t>
            </a:r>
            <a:r>
              <a:rPr dirty="0"/>
              <a:t>s</a:t>
            </a:r>
            <a:endParaRPr lang="en-US" dirty="0"/>
          </a:p>
          <a:p>
            <a:pPr lvl="1"/>
            <a:r>
              <a:rPr lang="en-US" dirty="0"/>
              <a:t>Extreme events not accounted for in model</a:t>
            </a:r>
            <a:endParaRPr dirty="0"/>
          </a:p>
          <a:p>
            <a:pPr lvl="0"/>
            <a:r>
              <a:rPr dirty="0"/>
              <a:t>But, </a:t>
            </a:r>
            <a:r>
              <a:rPr lang="en-US" dirty="0"/>
              <a:t>outliers </a:t>
            </a:r>
            <a:r>
              <a:rPr dirty="0"/>
              <a:t>may be of </a:t>
            </a:r>
            <a:r>
              <a:rPr lang="en-US" dirty="0"/>
              <a:t>greatest </a:t>
            </a:r>
            <a:r>
              <a:rPr dirty="0"/>
              <a:t>interest</a:t>
            </a:r>
            <a:r>
              <a:rPr lang="en-US" dirty="0"/>
              <a:t>!</a:t>
            </a:r>
            <a:endParaRPr dirty="0"/>
          </a:p>
          <a:p>
            <a:pPr lvl="1"/>
            <a:r>
              <a:rPr dirty="0"/>
              <a:t>May need to explicitly model</a:t>
            </a:r>
          </a:p>
          <a:p>
            <a:pPr lvl="1"/>
            <a:r>
              <a:rPr dirty="0"/>
              <a:t>Example: Fraud detection</a:t>
            </a:r>
          </a:p>
          <a:p>
            <a:pPr lvl="1"/>
            <a:r>
              <a:rPr dirty="0"/>
              <a:t>Example: Scientific discovery</a:t>
            </a:r>
            <a:endParaRPr lang="en-US" dirty="0"/>
          </a:p>
          <a:p>
            <a:pPr lvl="1"/>
            <a:r>
              <a:rPr lang="en-US" dirty="0"/>
              <a:t>Perhaps using an </a:t>
            </a:r>
            <a:r>
              <a:rPr lang="en-US" b="1" dirty="0"/>
              <a:t>overdispersal response variable </a:t>
            </a:r>
            <a:r>
              <a:rPr lang="en-US" dirty="0"/>
              <a:t>is the best approach </a:t>
            </a:r>
            <a:endParaRPr dirty="0"/>
          </a:p>
          <a:p>
            <a:pPr lvl="0"/>
            <a:r>
              <a:rPr dirty="0"/>
              <a:t>Outliers can be hard to detect</a:t>
            </a:r>
          </a:p>
          <a:p>
            <a:pPr lvl="1"/>
            <a:r>
              <a:rPr dirty="0"/>
              <a:t>Difficult in high-dimensions</a:t>
            </a:r>
          </a:p>
          <a:p>
            <a:pPr lvl="1"/>
            <a:r>
              <a:rPr dirty="0"/>
              <a:t>Often find by influence on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Effects of </a:t>
            </a:r>
            <a:r>
              <a:rPr sz="3200" dirty="0"/>
              <a:t>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56183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Add a single </a:t>
            </a:r>
            <a:r>
              <a:rPr lang="en-US" sz="1800" b="1" dirty="0"/>
              <a:t>outlier with high leverage </a:t>
            </a:r>
            <a:r>
              <a:rPr lang="en-US" sz="1800" dirty="0"/>
              <a:t>to the regression data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Regression without the outlier represents the bulk of the data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The regression line with the outlier is skewed with respect to the bulk of the data </a:t>
            </a:r>
            <a:endParaRPr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A428D-7340-9746-59F2-EA53D56D4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040" y="843534"/>
            <a:ext cx="4124960" cy="415366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963543-D811-2E02-1545-5EBE2C6C8E4B}"/>
              </a:ext>
            </a:extLst>
          </p:cNvPr>
          <p:cNvCxnSpPr>
            <a:cxnSpLocks/>
          </p:cNvCxnSpPr>
          <p:nvPr/>
        </p:nvCxnSpPr>
        <p:spPr>
          <a:xfrm flipV="1">
            <a:off x="4767072" y="2479040"/>
            <a:ext cx="3604768" cy="5218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CCB139-2282-EE51-34F1-E6F9421077A3}"/>
              </a:ext>
            </a:extLst>
          </p:cNvPr>
          <p:cNvCxnSpPr>
            <a:cxnSpLocks/>
          </p:cNvCxnSpPr>
          <p:nvPr/>
        </p:nvCxnSpPr>
        <p:spPr>
          <a:xfrm flipV="1">
            <a:off x="4767072" y="1247648"/>
            <a:ext cx="764032" cy="6434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E733AF-BE74-2BC0-E1E9-778B8B9572B4}"/>
              </a:ext>
            </a:extLst>
          </p:cNvPr>
          <p:cNvCxnSpPr>
            <a:cxnSpLocks/>
          </p:cNvCxnSpPr>
          <p:nvPr/>
        </p:nvCxnSpPr>
        <p:spPr>
          <a:xfrm>
            <a:off x="4912337" y="3441469"/>
            <a:ext cx="1301519" cy="3746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24EA5-5EBE-F6BF-BE4D-E2A13308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C0F9D-2FF1-3271-A206-A8D5B37B4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0803E-680F-65EF-66FF-55AA4DB7E7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991617"/>
            <a:ext cx="8507983" cy="1243583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Intercept has only small change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Slope is noticeably changed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Changes are not statistically significant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0F359-DBBE-5A94-C2DA-2A27AD7C9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2A5C75-CF83-CCBD-D70C-A343C9226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73013D-05BF-DCDA-9AF5-35184CE9CA9D}"/>
              </a:ext>
            </a:extLst>
          </p:cNvPr>
          <p:cNvCxnSpPr>
            <a:cxnSpLocks/>
          </p:cNvCxnSpPr>
          <p:nvPr/>
        </p:nvCxnSpPr>
        <p:spPr>
          <a:xfrm>
            <a:off x="4360672" y="4145280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0FCB32-FBF1-37D6-22F1-0AE50AF36297}"/>
              </a:ext>
            </a:extLst>
          </p:cNvPr>
          <p:cNvCxnSpPr>
            <a:cxnSpLocks/>
          </p:cNvCxnSpPr>
          <p:nvPr/>
        </p:nvCxnSpPr>
        <p:spPr>
          <a:xfrm>
            <a:off x="4360672" y="4256675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355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0E964-EB53-35F3-BFC3-FBEEBE8C6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98C7F-847F-2A06-3230-699147C01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Example: Effects of outlier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ar-AE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 reduced</a:t>
                </a:r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F statistics reduced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Log-likelihood reduced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  <a:blipFill>
                <a:blip r:embed="rId2"/>
                <a:stretch>
                  <a:fillRect l="-430" t="-3922" b="-5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38C90D1-72D4-A04D-2E34-4BBBD23A4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FD8E4D-A3FF-8FBE-589F-C98A95219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92AF7F-1C09-E57A-F59C-47C182B894DD}"/>
              </a:ext>
            </a:extLst>
          </p:cNvPr>
          <p:cNvCxnSpPr>
            <a:cxnSpLocks/>
          </p:cNvCxnSpPr>
          <p:nvPr/>
        </p:nvCxnSpPr>
        <p:spPr>
          <a:xfrm>
            <a:off x="4360672" y="2759328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2731CF4-28B3-C670-60EE-40E6D3E12B8E}"/>
              </a:ext>
            </a:extLst>
          </p:cNvPr>
          <p:cNvCxnSpPr>
            <a:cxnSpLocks/>
          </p:cNvCxnSpPr>
          <p:nvPr/>
        </p:nvCxnSpPr>
        <p:spPr>
          <a:xfrm>
            <a:off x="4360672" y="2928130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31D4E0-EA82-C62D-6FFB-2CA6292217CE}"/>
              </a:ext>
            </a:extLst>
          </p:cNvPr>
          <p:cNvCxnSpPr>
            <a:cxnSpLocks/>
          </p:cNvCxnSpPr>
          <p:nvPr/>
        </p:nvCxnSpPr>
        <p:spPr>
          <a:xfrm>
            <a:off x="4389685" y="3167734"/>
            <a:ext cx="426257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7324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F1735-9903-BE8B-601F-5E7F191EC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B9E11-5EA0-97D5-B56A-60615F669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1098F-EB4C-4DC9-6F93-02AA0DA4F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096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There are several measures we can use to understand outliers</a:t>
            </a:r>
          </a:p>
          <a:p>
            <a:r>
              <a:rPr lang="en-US" b="1" dirty="0"/>
              <a:t>Residual distance</a:t>
            </a:r>
            <a:r>
              <a:rPr lang="en-US" dirty="0"/>
              <a:t>, the difference between observed and model response    </a:t>
            </a:r>
          </a:p>
          <a:p>
            <a:r>
              <a:rPr lang="en-US" b="1" dirty="0"/>
              <a:t>Leverage</a:t>
            </a:r>
            <a:r>
              <a:rPr lang="en-US" dirty="0"/>
              <a:t>, a measure of distance of an observation from the mean of the independent variables   </a:t>
            </a:r>
          </a:p>
          <a:p>
            <a:r>
              <a:rPr lang="en-US" b="1" dirty="0"/>
              <a:t>Influence and Cooke’s distance</a:t>
            </a:r>
            <a:r>
              <a:rPr lang="en-US" dirty="0"/>
              <a:t>, the change in the response from leaving out an observation when fitting the model 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2712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Cook’s distance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measures the </a:t>
                </a:r>
                <a:r>
                  <a:rPr b="1" dirty="0"/>
                  <a:t>influence of an outlier </a:t>
                </a:r>
                <a:r>
                  <a:rPr dirty="0"/>
                  <a:t>on model</a:t>
                </a:r>
                <a:r>
                  <a:rPr lang="en-US" dirty="0"/>
                  <a:t> response</a:t>
                </a:r>
                <a:endParaRPr dirty="0"/>
              </a:p>
              <a:p>
                <a:pPr lvl="0"/>
                <a:r>
                  <a:rPr dirty="0"/>
                  <a:t>Cook’s distance for the </a:t>
                </a:r>
                <a:r>
                  <a:rPr dirty="0" err="1"/>
                  <a:t>ith</a:t>
                </a:r>
                <a:r>
                  <a:rPr dirty="0"/>
                  <a:t> data point is the degree of freedom adjusted average squared error against a model without this value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𝛴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d>
                                        <m:d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acc>
                            <m:accPr>
                              <m:chr m:val="̂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den>
                      </m:f>
                    </m:oMath>
                  </m:oMathPara>
                </a14:m>
                <a:endParaRPr dirty="0"/>
              </a:p>
              <a:p>
                <a:pPr marL="685800" lvl="2" indent="0">
                  <a:buNone/>
                </a:pPr>
                <a:r>
                  <a:rPr dirty="0"/>
                  <a:t>where,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 all observations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without the </a:t>
                </a:r>
                <a:r>
                  <a:rPr dirty="0" err="1"/>
                  <a:t>ith</a:t>
                </a:r>
                <a:r>
                  <a:rPr dirty="0"/>
                  <a:t> observation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parameters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data points</a:t>
                </a:r>
              </a:p>
              <a:p>
                <a:pPr lvl="0"/>
                <a:r>
                  <a:rPr dirty="0"/>
                  <a:t>Cook’s distance is computed using a </a:t>
                </a:r>
                <a:r>
                  <a:rPr b="1" dirty="0"/>
                  <a:t>leave-one-out resampling algorithm!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  <a:blipFill>
                <a:blip r:embed="rId2"/>
                <a:stretch>
                  <a:fillRect l="-7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20270" cy="66450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b="0" dirty="0">
                <a:latin typeface="+mn-lt"/>
              </a:rPr>
              <a:t>Measuring Influence of Outliers</a:t>
            </a:r>
            <a:endParaRPr sz="3200" b="0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b="1" dirty="0"/>
                  <a:t>Influence plot </a:t>
                </a:r>
                <a:r>
                  <a:rPr lang="en-US" sz="1800" dirty="0"/>
                  <a:t>enables evaluation of </a:t>
                </a:r>
                <a:r>
                  <a:rPr lang="en-US" sz="1800" b="1" dirty="0"/>
                  <a:t>outlier effects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hlinkClick r:id="rId2"/>
                  </a:rPr>
                  <a:t>Studentized residuals </a:t>
                </a:r>
                <a:r>
                  <a:rPr lang="en-US" sz="1800" dirty="0"/>
                  <a:t>on the vertical axis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acc>
                            </m:e>
                            <m:sub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  <m:rad>
                            <m:radPr>
                              <m:degHide m:val="on"/>
                              <m:ctrlPr>
                                <a:rPr lang="ar-AE" sz="18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𝑖𝑖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lvl="1"/>
                <a:r>
                  <a:rPr lang="en-US" sz="165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𝑙𝑒𝑣𝑒𝑟𝑎𝑔𝑒</m:t>
                    </m:r>
                  </m:oMath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Leverage</a:t>
                </a:r>
                <a:r>
                  <a:rPr lang="en-US" sz="1800" dirty="0"/>
                  <a:t> on the horizontal axis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Size of the markers indicates overall </a:t>
                </a:r>
                <a:r>
                  <a:rPr lang="en-US" sz="1800" b="1" dirty="0"/>
                  <a:t>influence 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  <a:blipFill>
                <a:blip r:embed="rId3"/>
                <a:stretch>
                  <a:fillRect l="-1132" t="-985" r="-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F94D8A0-8036-B7DB-DB79-38B98A049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333" y="810469"/>
            <a:ext cx="4235763" cy="42758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We can measure the sensitivity of a model by its </a:t>
            </a:r>
            <a:r>
              <a:rPr lang="en-US" b="1" dirty="0"/>
              <a:t>influence function </a:t>
            </a:r>
            <a:endParaRPr lang="en-US" dirty="0"/>
          </a:p>
          <a:p>
            <a:pPr lvl="0"/>
            <a:r>
              <a:rPr lang="en-US" dirty="0"/>
              <a:t>Example: </a:t>
            </a:r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dirty="0"/>
              <a:t>Is an </a:t>
            </a:r>
            <a:r>
              <a:rPr b="1" dirty="0"/>
              <a:t>unbiased estimator</a:t>
            </a:r>
            <a:endParaRPr lang="en-US" b="1" dirty="0"/>
          </a:p>
          <a:p>
            <a:pPr lvl="1"/>
            <a:r>
              <a:rPr lang="en-US" dirty="0"/>
              <a:t>But the influence function is </a:t>
            </a:r>
            <a:r>
              <a:rPr lang="en-US" b="1" dirty="0"/>
              <a:t>unbounded!</a:t>
            </a:r>
          </a:p>
          <a:p>
            <a:r>
              <a:rPr lang="en-US" dirty="0"/>
              <a:t>Robust models have </a:t>
            </a:r>
            <a:r>
              <a:rPr lang="en-US" b="1" dirty="0"/>
              <a:t>bounded influence function </a:t>
            </a:r>
          </a:p>
          <a:p>
            <a:pPr lvl="1"/>
            <a:r>
              <a:rPr lang="en-US" dirty="0"/>
              <a:t>May not be unbiased estimators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05DB-4EA8-2B7C-5B94-91EF103F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C645B-865C-8C36-8DD9-F9B2BE9C6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4288-B992-2D42-1E65-BECDCA6AE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Example: compare robust and non-robust model</a:t>
            </a:r>
            <a:endParaRPr dirty="0"/>
          </a:p>
          <a:p>
            <a:pPr lvl="0"/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lang="en-US" dirty="0"/>
              <a:t>Has unbounded influence function </a:t>
            </a:r>
            <a:endParaRPr b="1" dirty="0"/>
          </a:p>
          <a:p>
            <a:pPr lvl="0"/>
            <a:r>
              <a:rPr dirty="0"/>
              <a:t>In 1-dimension</a:t>
            </a:r>
            <a:r>
              <a:rPr lang="en-US" dirty="0"/>
              <a:t>,</a:t>
            </a:r>
            <a:r>
              <a:rPr dirty="0"/>
              <a:t> median is robust to outliers</a:t>
            </a:r>
          </a:p>
          <a:p>
            <a:pPr lvl="1"/>
            <a:r>
              <a:rPr lang="en-US" dirty="0"/>
              <a:t>A h</a:t>
            </a:r>
            <a:r>
              <a:rPr dirty="0"/>
              <a:t>igh bias</a:t>
            </a:r>
            <a:r>
              <a:rPr lang="en-US" dirty="0"/>
              <a:t> estimator</a:t>
            </a:r>
            <a:endParaRPr dirty="0"/>
          </a:p>
          <a:p>
            <a:pPr lvl="1"/>
            <a:r>
              <a:rPr lang="en-US" dirty="0"/>
              <a:t>Difficult</a:t>
            </a:r>
            <a:r>
              <a:rPr dirty="0"/>
              <a:t> to implement beyond 1-dimension</a:t>
            </a:r>
            <a:endParaRPr lang="en-US" dirty="0"/>
          </a:p>
          <a:p>
            <a:pPr lvl="1"/>
            <a:r>
              <a:rPr lang="en-US" dirty="0"/>
              <a:t>Bounded influence function </a:t>
            </a:r>
            <a:endParaRPr dirty="0"/>
          </a:p>
          <a:p>
            <a:pPr lvl="0"/>
            <a:r>
              <a:rPr dirty="0"/>
              <a:t>We can </a:t>
            </a:r>
            <a:r>
              <a:rPr lang="en-US" dirty="0"/>
              <a:t>compare</a:t>
            </a:r>
            <a:r>
              <a:rPr dirty="0"/>
              <a:t> the response of estimators to outliers </a:t>
            </a:r>
            <a:r>
              <a:rPr lang="en-US" dirty="0"/>
              <a:t>by comparing their </a:t>
            </a:r>
            <a:r>
              <a:rPr b="1" dirty="0"/>
              <a:t>influence function</a:t>
            </a:r>
            <a:r>
              <a:rPr lang="en-US" b="1" dirty="0"/>
              <a:t>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405216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8079" y="981404"/>
            <a:ext cx="4913752" cy="4087210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Compare the influence functions of the mean and median estimators</a:t>
            </a:r>
          </a:p>
          <a:p>
            <a:pPr lvl="0"/>
            <a:r>
              <a:rPr dirty="0"/>
              <a:t>Mean estimator has linear influence function</a:t>
            </a:r>
          </a:p>
          <a:p>
            <a:pPr lvl="1"/>
            <a:r>
              <a:rPr dirty="0"/>
              <a:t>Influence of outliers is </a:t>
            </a:r>
            <a:r>
              <a:rPr b="1" dirty="0"/>
              <a:t>unbounded</a:t>
            </a:r>
            <a:endParaRPr dirty="0"/>
          </a:p>
          <a:p>
            <a:pPr lvl="1"/>
            <a:r>
              <a:rPr dirty="0"/>
              <a:t>Derivative of the influence function is constant</a:t>
            </a:r>
            <a:endParaRPr lang="en-US" dirty="0"/>
          </a:p>
          <a:p>
            <a:pPr lvl="1"/>
            <a:r>
              <a:rPr lang="en-US" dirty="0"/>
              <a:t>Is an </a:t>
            </a:r>
            <a:r>
              <a:rPr lang="en-US" dirty="0" err="1"/>
              <a:t>unbaised</a:t>
            </a:r>
            <a:r>
              <a:rPr lang="en-US" dirty="0"/>
              <a:t> minimum variance estimator</a:t>
            </a:r>
            <a:endParaRPr dirty="0"/>
          </a:p>
          <a:p>
            <a:pPr lvl="0"/>
            <a:r>
              <a:rPr dirty="0"/>
              <a:t>Influence function of median estimator is discontinuous</a:t>
            </a:r>
          </a:p>
          <a:p>
            <a:pPr lvl="1"/>
            <a:r>
              <a:rPr dirty="0"/>
              <a:t>Influence of any observation is </a:t>
            </a:r>
            <a:r>
              <a:rPr lang="en-US" b="1" dirty="0"/>
              <a:t>bounded and </a:t>
            </a:r>
            <a:r>
              <a:rPr b="1" dirty="0"/>
              <a:t>constant</a:t>
            </a:r>
          </a:p>
          <a:p>
            <a:pPr lvl="1"/>
            <a:r>
              <a:rPr dirty="0"/>
              <a:t>Derivative of influence function is not defined</a:t>
            </a:r>
            <a:r>
              <a:rPr lang="en-US" dirty="0"/>
              <a:t> at 0</a:t>
            </a:r>
          </a:p>
          <a:p>
            <a:pPr lvl="1"/>
            <a:r>
              <a:rPr lang="en-US" dirty="0"/>
              <a:t>Is not unbiased on minimum variance estimator</a:t>
            </a:r>
            <a:endParaRPr dirty="0"/>
          </a:p>
        </p:txBody>
      </p:sp>
      <p:pic>
        <p:nvPicPr>
          <p:cNvPr id="4" name="Picture 1" descr="../images/MeanMedianInfluenc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11831" y="1128514"/>
            <a:ext cx="377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453148" y="4076700"/>
            <a:ext cx="363058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mean and median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5726426" y="4735436"/>
            <a:ext cx="3357305" cy="27274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1200" i="1" dirty="0"/>
              <a:t>Figure from Hampel, el.al., Robust Statistics, 1986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707F7E-EE20-ADD7-6F37-122ACD61A228}"/>
              </a:ext>
            </a:extLst>
          </p:cNvPr>
          <p:cNvCxnSpPr>
            <a:cxnSpLocks/>
          </p:cNvCxnSpPr>
          <p:nvPr/>
        </p:nvCxnSpPr>
        <p:spPr>
          <a:xfrm>
            <a:off x="4508938" y="1641764"/>
            <a:ext cx="3471280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0F11AD-2F4C-20C9-53CA-5DB2AF77BAE4}"/>
              </a:ext>
            </a:extLst>
          </p:cNvPr>
          <p:cNvCxnSpPr>
            <a:cxnSpLocks/>
          </p:cNvCxnSpPr>
          <p:nvPr/>
        </p:nvCxnSpPr>
        <p:spPr>
          <a:xfrm flipV="1">
            <a:off x="4938548" y="2920562"/>
            <a:ext cx="2175642" cy="5019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8348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Can we simply edit out the outliers?</a:t>
                </a:r>
              </a:p>
              <a:p>
                <a:pPr lvl="0"/>
                <a:r>
                  <a:rPr lang="en-US" dirty="0"/>
                  <a:t>But, what fraction of the data are outliers?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alpha trimmed mean</a:t>
                </a:r>
                <a:r>
                  <a:rPr lang="en-US" dirty="0"/>
                  <a:t> algorithm</a:t>
                </a:r>
              </a:p>
              <a:p>
                <a:pPr lvl="1"/>
                <a:r>
                  <a:rPr lang="en-US" dirty="0"/>
                  <a:t>Order the values and remove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of highest and lowest</a:t>
                </a:r>
              </a:p>
              <a:p>
                <a:pPr lvl="1"/>
                <a:r>
                  <a:rPr lang="en-US" dirty="0"/>
                  <a:t>But, alpha trimming is a bit arbitrary</a:t>
                </a:r>
              </a:p>
              <a:p>
                <a:pPr lvl="1"/>
                <a:r>
                  <a:rPr lang="en-US" dirty="0"/>
                  <a:t>Is a biased estimator, with bias increasing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lang="en-US" dirty="0"/>
                  <a:t> is the median</a:t>
                </a:r>
              </a:p>
              <a:p>
                <a:pPr lvl="0"/>
                <a:r>
                  <a:rPr lang="en-US" dirty="0"/>
                  <a:t>Alpha trimming hard to implement in higher dimensions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  <a:blipFill>
                <a:blip r:embed="rId2"/>
                <a:stretch>
                  <a:fillRect l="-1498" t="-2488" r="-461" b="-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AlphaTrimming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60473" y="933983"/>
            <a:ext cx="3087947" cy="327553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105697" y="4209516"/>
            <a:ext cx="292584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alpha trimmed mean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A6E9E0-6D9D-0857-6834-F72B52D4AE52}"/>
              </a:ext>
            </a:extLst>
          </p:cNvPr>
          <p:cNvSpPr txBox="1">
            <a:spLocks/>
          </p:cNvSpPr>
          <p:nvPr/>
        </p:nvSpPr>
        <p:spPr>
          <a:xfrm>
            <a:off x="5831377" y="4801148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86ED9C3-06CA-B81F-A0ED-4288104E91FB}"/>
              </a:ext>
            </a:extLst>
          </p:cNvPr>
          <p:cNvSpPr txBox="1">
            <a:spLocks/>
          </p:cNvSpPr>
          <p:nvPr/>
        </p:nvSpPr>
        <p:spPr>
          <a:xfrm>
            <a:off x="4991792" y="4711284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Are there better </a:t>
            </a:r>
            <a:r>
              <a:rPr lang="en-US" dirty="0"/>
              <a:t>robust </a:t>
            </a:r>
            <a:r>
              <a:rPr dirty="0"/>
              <a:t>estimators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Yes, but must accept some bias</a:t>
            </a:r>
          </a:p>
          <a:p>
            <a:pPr lvl="0"/>
            <a:r>
              <a:rPr dirty="0"/>
              <a:t>Idea; estimator can be unbiased near the expected value</a:t>
            </a:r>
            <a:endParaRPr lang="en-US" dirty="0"/>
          </a:p>
          <a:p>
            <a:pPr lvl="1"/>
            <a:r>
              <a:rPr lang="en-US" dirty="0"/>
              <a:t>L</a:t>
            </a:r>
            <a:r>
              <a:rPr dirty="0"/>
              <a:t>imit influence of outliers</a:t>
            </a:r>
          </a:p>
          <a:p>
            <a:pPr lvl="1"/>
            <a:r>
              <a:rPr dirty="0"/>
              <a:t>Trade-off between high robustness and low bias</a:t>
            </a:r>
          </a:p>
          <a:p>
            <a:pPr lvl="0"/>
            <a:r>
              <a:rPr dirty="0"/>
              <a:t>Many ideas have been tried</a:t>
            </a:r>
          </a:p>
          <a:p>
            <a:pPr lvl="1"/>
            <a:r>
              <a:rPr dirty="0"/>
              <a:t>A major research focus in the 1970s and 1980s</a:t>
            </a:r>
          </a:p>
          <a:p>
            <a:pPr lvl="1"/>
            <a:r>
              <a:rPr b="1" dirty="0"/>
              <a:t>Huber estimator</a:t>
            </a:r>
            <a:endParaRPr dirty="0"/>
          </a:p>
          <a:p>
            <a:pPr lvl="1"/>
            <a:r>
              <a:rPr dirty="0"/>
              <a:t>Family of </a:t>
            </a:r>
            <a:r>
              <a:rPr b="1" dirty="0"/>
              <a:t>M-estimators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the properties of the Huber estimator?</a:t>
                </a:r>
              </a:p>
              <a:p>
                <a:pPr lvl="0"/>
                <a:r>
                  <a:rPr lang="en-US" dirty="0"/>
                  <a:t>Influence function is linear near the mean but constant away from the mean</a:t>
                </a:r>
              </a:p>
              <a:p>
                <a:pPr lvl="1"/>
                <a:r>
                  <a:rPr lang="en-US" b="1" dirty="0"/>
                  <a:t>hinge point</a:t>
                </a:r>
                <a:r>
                  <a:rPr lang="en-US" dirty="0"/>
                  <a:t> is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</m:oMath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median absolute deviation</a:t>
                </a:r>
                <a:endParaRPr lang="en-US" dirty="0"/>
              </a:p>
              <a:p>
                <a:pPr lvl="1"/>
                <a:r>
                  <a:rPr lang="en-US" dirty="0"/>
                  <a:t>Robustness and bias increases as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decreases</a:t>
                </a:r>
              </a:p>
              <a:p>
                <a:pPr lvl="0"/>
                <a:r>
                  <a:rPr lang="en-US" dirty="0"/>
                  <a:t>Huber estimator is low bias</a:t>
                </a:r>
              </a:p>
              <a:p>
                <a:pPr lvl="1"/>
                <a:r>
                  <a:rPr lang="en-US" dirty="0"/>
                  <a:t>Unbiased for samples near the point estimate</a:t>
                </a:r>
              </a:p>
              <a:p>
                <a:pPr lvl="1"/>
                <a:r>
                  <a:rPr lang="en-US" dirty="0"/>
                  <a:t>Constant influence away from the point estimate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  <a:blipFill>
                <a:blip r:embed="rId2"/>
                <a:stretch>
                  <a:fillRect l="-1252" t="-2447" r="-1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Huber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70268" y="1556328"/>
            <a:ext cx="3812826" cy="20855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586153" y="3699814"/>
            <a:ext cx="3557847" cy="66053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Huber 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7DDE02E-B6AA-FD37-F3A4-CEAB38E9CBC0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082CB-1516-E15D-DF1D-6AC71FF21633}"/>
              </a:ext>
            </a:extLst>
          </p:cNvPr>
          <p:cNvCxnSpPr>
            <a:cxnSpLocks/>
          </p:cNvCxnSpPr>
          <p:nvPr/>
        </p:nvCxnSpPr>
        <p:spPr>
          <a:xfrm flipV="1">
            <a:off x="3819698" y="2078182"/>
            <a:ext cx="3757353" cy="33250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BD75EF2-A7E1-5990-C1C8-35953C44AEF4}"/>
              </a:ext>
            </a:extLst>
          </p:cNvPr>
          <p:cNvCxnSpPr>
            <a:cxnSpLocks/>
          </p:cNvCxnSpPr>
          <p:nvPr/>
        </p:nvCxnSpPr>
        <p:spPr>
          <a:xfrm flipV="1">
            <a:off x="5016731" y="3266902"/>
            <a:ext cx="993371" cy="9518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EAD05EF-E70B-3B51-76CB-B942235D9C7D}"/>
              </a:ext>
            </a:extLst>
          </p:cNvPr>
          <p:cNvCxnSpPr>
            <a:cxnSpLocks/>
          </p:cNvCxnSpPr>
          <p:nvPr/>
        </p:nvCxnSpPr>
        <p:spPr>
          <a:xfrm flipV="1">
            <a:off x="4659284" y="2732810"/>
            <a:ext cx="2244436" cy="9670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72F1DC-7F55-EEFE-4827-41163D67E681}"/>
              </a:ext>
            </a:extLst>
          </p:cNvPr>
          <p:cNvCxnSpPr>
            <a:cxnSpLocks/>
          </p:cNvCxnSpPr>
          <p:nvPr/>
        </p:nvCxnSpPr>
        <p:spPr>
          <a:xfrm>
            <a:off x="3819698" y="2410691"/>
            <a:ext cx="2738757" cy="71088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M-estimators</a:t>
                </a:r>
                <a:r>
                  <a:rPr dirty="0"/>
                  <a:t> tapper influence to zero</a:t>
                </a:r>
              </a:p>
              <a:p>
                <a:pPr lvl="0"/>
                <a:r>
                  <a:rPr dirty="0"/>
                  <a:t>Approximately linear influence near point estimate</a:t>
                </a:r>
              </a:p>
              <a:p>
                <a:pPr lvl="1"/>
                <a:r>
                  <a:rPr dirty="0"/>
                  <a:t>So nearly unbiased near the point estimate</a:t>
                </a:r>
              </a:p>
              <a:p>
                <a:pPr lvl="0"/>
                <a:r>
                  <a:rPr dirty="0"/>
                  <a:t>Influence tapers to 0 for extreme outliers</a:t>
                </a:r>
              </a:p>
              <a:p>
                <a:pPr lvl="0"/>
                <a:r>
                  <a:rPr lang="en-US" dirty="0"/>
                  <a:t>E</a:t>
                </a:r>
                <a:r>
                  <a:rPr dirty="0"/>
                  <a:t>xample</a:t>
                </a:r>
                <a:r>
                  <a:rPr lang="en-US" dirty="0"/>
                  <a:t>,</a:t>
                </a:r>
                <a:r>
                  <a:rPr dirty="0"/>
                  <a:t> </a:t>
                </a:r>
                <a:r>
                  <a:rPr b="1" dirty="0"/>
                  <a:t>Tukey’s </a:t>
                </a:r>
                <a:r>
                  <a:rPr b="1" dirty="0" err="1"/>
                  <a:t>biweight</a:t>
                </a:r>
                <a:endParaRPr b="1" dirty="0"/>
              </a:p>
              <a:p>
                <a:pPr lvl="1"/>
                <a:r>
                  <a:rPr dirty="0"/>
                  <a:t>Only a single parameter for </a:t>
                </a:r>
                <a:r>
                  <a:rPr dirty="0" err="1"/>
                  <a:t>biweight</a:t>
                </a:r>
                <a:r>
                  <a:rPr dirty="0"/>
                  <a:t> function,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, the cutoff point</a:t>
                </a:r>
                <a:endParaRPr dirty="0"/>
              </a:p>
              <a:p>
                <a:pPr lvl="1"/>
                <a:r>
                  <a:rPr dirty="0"/>
                  <a:t>Robustness and bias increase with decreasing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  <a:blipFill>
                <a:blip r:embed="rId2"/>
                <a:stretch>
                  <a:fillRect l="-1276" t="-1975" r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TukeysBiweigh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85439" y="1200151"/>
            <a:ext cx="3904528" cy="182372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11832" y="3148091"/>
            <a:ext cx="3778135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Tukey’s </a:t>
            </a:r>
            <a:r>
              <a:rPr dirty="0" err="1"/>
              <a:t>Biweight</a:t>
            </a:r>
            <a:r>
              <a:rPr dirty="0"/>
              <a:t> M-estimator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60BE0B-C75A-3FA7-3CA7-B0CBBEC6CAFC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687FF5-2F4F-964A-7E48-2F37A940534E}"/>
              </a:ext>
            </a:extLst>
          </p:cNvPr>
          <p:cNvCxnSpPr>
            <a:cxnSpLocks/>
          </p:cNvCxnSpPr>
          <p:nvPr/>
        </p:nvCxnSpPr>
        <p:spPr>
          <a:xfrm>
            <a:off x="4659284" y="1733204"/>
            <a:ext cx="2439785" cy="3449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F8C9FD-51CA-5C46-95D8-1FA442B9D74B}"/>
              </a:ext>
            </a:extLst>
          </p:cNvPr>
          <p:cNvCxnSpPr>
            <a:cxnSpLocks/>
          </p:cNvCxnSpPr>
          <p:nvPr/>
        </p:nvCxnSpPr>
        <p:spPr>
          <a:xfrm flipV="1">
            <a:off x="5185439" y="2115589"/>
            <a:ext cx="508779" cy="7689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regression with Huber loss function</a:t>
            </a:r>
          </a:p>
          <a:p>
            <a:pPr lvl="0" indent="0">
              <a:buNone/>
            </a:pPr>
            <a:r>
              <a:rPr sz="1800" i="1" dirty="0">
                <a:solidFill>
                  <a:srgbClr val="60A0B0"/>
                </a:solidFill>
                <a:latin typeface="Courier"/>
              </a:rPr>
              <a:t>## Define the robust regression model and fit it to the data</a:t>
            </a:r>
            <a:br>
              <a:rPr sz="1800" dirty="0"/>
            </a:br>
            <a:r>
              <a:rPr sz="1800" dirty="0" err="1">
                <a:latin typeface="Courier"/>
              </a:rPr>
              <a:t>ols_model_huber</a:t>
            </a:r>
            <a:r>
              <a:rPr sz="1800" dirty="0">
                <a:latin typeface="Courier"/>
              </a:rPr>
              <a:t>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smf.rlm</a:t>
            </a:r>
            <a:r>
              <a:rPr sz="1800" dirty="0">
                <a:latin typeface="Courier"/>
              </a:rPr>
              <a:t>(formula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y~x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, data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).fit()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 Add predicted to pandas data frame</a:t>
            </a:r>
            <a:br>
              <a:rPr sz="1800" dirty="0"/>
            </a:b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[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predicted_huber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]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ols_model_huber.predict</a:t>
            </a:r>
            <a:r>
              <a:rPr sz="1800" dirty="0">
                <a:latin typeface="Courier"/>
              </a:rPr>
              <a:t>(</a:t>
            </a:r>
            <a:r>
              <a:rPr sz="1800" dirty="0" err="1">
                <a:latin typeface="Courier"/>
              </a:rPr>
              <a:t>sim_data_ol.x</a:t>
            </a:r>
            <a:r>
              <a:rPr sz="1800" dirty="0">
                <a:latin typeface="Courier"/>
              </a:rPr>
              <a:t>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## Display </a:t>
            </a:r>
            <a:r>
              <a:rPr sz="1800" i="1" dirty="0" err="1">
                <a:solidFill>
                  <a:srgbClr val="60A0B0"/>
                </a:solidFill>
                <a:latin typeface="Courier"/>
              </a:rPr>
              <a:t>sumamry</a:t>
            </a:r>
            <a:br>
              <a:rPr sz="1800" dirty="0"/>
            </a:br>
            <a:r>
              <a:rPr sz="1800" dirty="0" err="1">
                <a:latin typeface="Courier"/>
              </a:rPr>
              <a:t>ols_model_huber.summary</a:t>
            </a:r>
            <a:r>
              <a:rPr sz="1800" dirty="0">
                <a:latin typeface="Courier"/>
              </a:rPr>
              <a:t>()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34339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Regression line with no outlier is benchmark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OLS fit shows influence of single outlier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Huber loss regression is nearly the same as OLS with no outlier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C11778-6223-EAA5-1D78-7F1CF3D5E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4633" y="768204"/>
            <a:ext cx="4190534" cy="426307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CBE661-ADA5-7BCF-91F6-B7AC219F974D}"/>
              </a:ext>
            </a:extLst>
          </p:cNvPr>
          <p:cNvCxnSpPr>
            <a:cxnSpLocks/>
          </p:cNvCxnSpPr>
          <p:nvPr/>
        </p:nvCxnSpPr>
        <p:spPr>
          <a:xfrm>
            <a:off x="4326775" y="1691640"/>
            <a:ext cx="4305992" cy="5569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C623E-A5CB-9D38-9437-6FFE6B3419D1}"/>
              </a:ext>
            </a:extLst>
          </p:cNvPr>
          <p:cNvCxnSpPr>
            <a:cxnSpLocks/>
          </p:cNvCxnSpPr>
          <p:nvPr/>
        </p:nvCxnSpPr>
        <p:spPr>
          <a:xfrm>
            <a:off x="4289368" y="2344189"/>
            <a:ext cx="2015836" cy="13217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40514E-FD89-A21F-8FA4-2A3870F74C06}"/>
              </a:ext>
            </a:extLst>
          </p:cNvPr>
          <p:cNvCxnSpPr>
            <a:cxnSpLocks/>
          </p:cNvCxnSpPr>
          <p:nvPr/>
        </p:nvCxnSpPr>
        <p:spPr>
          <a:xfrm>
            <a:off x="4441768" y="3088178"/>
            <a:ext cx="1314796" cy="10307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3BC7C-4132-F9BF-73C9-6FF072E56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5DFE41B-4B1A-88E0-8623-0BFC0D995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882" y="2493819"/>
            <a:ext cx="4611579" cy="232182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277FCA9-F3A2-9438-BB04-EC1EABF86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54" y="2132376"/>
            <a:ext cx="4117542" cy="26823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186D12-1D29-E74D-3770-528A7210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BABFE9-928B-07B0-9586-78B6BB6361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2"/>
            <a:ext cx="8381305" cy="125835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slope coefficients are noticeably different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CIs of intercept and slope coefficient are reduced in robust model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From the confidence intervals the differences are not statistically significant</a:t>
            </a:r>
            <a:endParaRPr lang="en-US" sz="185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546D69-0BFA-B326-23C5-05752DD2FEF7}"/>
              </a:ext>
            </a:extLst>
          </p:cNvPr>
          <p:cNvCxnSpPr>
            <a:cxnSpLocks/>
          </p:cNvCxnSpPr>
          <p:nvPr/>
        </p:nvCxnSpPr>
        <p:spPr>
          <a:xfrm flipH="1" flipV="1">
            <a:off x="1309255" y="4048408"/>
            <a:ext cx="4039985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1B523AB-B324-7300-A087-98CC3802CD0D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5F8500F-2377-3261-55E2-94C4F1B60EB3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Huber regression</a:t>
            </a:r>
            <a:endParaRPr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EC46BB-C537-054C-7C27-6F534DE125C6}"/>
              </a:ext>
            </a:extLst>
          </p:cNvPr>
          <p:cNvCxnSpPr>
            <a:cxnSpLocks/>
          </p:cNvCxnSpPr>
          <p:nvPr/>
        </p:nvCxnSpPr>
        <p:spPr>
          <a:xfrm flipH="1" flipV="1">
            <a:off x="4152207" y="3908072"/>
            <a:ext cx="3840480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233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EAF9E-E131-F0C3-03A1-6AAB91ED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C2B34F-9E29-6C61-590B-E0F6C83E4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57" y="2766612"/>
            <a:ext cx="4285178" cy="19897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44E973-488F-7053-DA64-3B1CEDD23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721" y="2800951"/>
            <a:ext cx="4343399" cy="1983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03BA09-1D96-56F0-7A49-EF53E7271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4B25F9-4133-A498-4747-D43DC52DF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70047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nearly identical for the two models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 normal except of an obvious outlier   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Note the near straight line of the quantiles in the Q-Q plots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057CED-0346-FB0A-CCF9-806C190E1E3D}"/>
              </a:ext>
            </a:extLst>
          </p:cNvPr>
          <p:cNvCxnSpPr>
            <a:cxnSpLocks/>
          </p:cNvCxnSpPr>
          <p:nvPr/>
        </p:nvCxnSpPr>
        <p:spPr>
          <a:xfrm>
            <a:off x="5498869" y="2256905"/>
            <a:ext cx="2244436" cy="103493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77A427-DC4E-77FF-300F-D12C69CE9D76}"/>
              </a:ext>
            </a:extLst>
          </p:cNvPr>
          <p:cNvCxnSpPr>
            <a:cxnSpLocks/>
          </p:cNvCxnSpPr>
          <p:nvPr/>
        </p:nvCxnSpPr>
        <p:spPr>
          <a:xfrm flipH="1">
            <a:off x="2975956" y="2256905"/>
            <a:ext cx="1765765" cy="10686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9F19E4A-F907-2352-F4F0-0986610A093C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B6DAC9B-0782-94FD-2021-4FCB0D720768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Huber regression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4204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EC160-83A9-5F30-E943-086D24A9D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AC60E-EE1A-7913-8401-689C5F2F5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Limitations of Robust Estimators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514A14-8CB1-4BA9-ECA5-1EEB9A7ABB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sz="2800" dirty="0"/>
              <a:t>Robust estimators have some important limitations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The nonlinear treatment precludes parametric estimation of confidence intervals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50" b="1" dirty="0"/>
              <a:t>Bootstrap instead!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Robust estimators do not work when the number of outliers is past the breakdown point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50" dirty="0"/>
              <a:t>For example, at 50% outliers the univariate median estimator breaks down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Robust estimators struggle with the detection and treatment of high-dimensional outliers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Variance of point estimates is inherently worse than for linear estimators </a:t>
            </a: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673293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FFCDC-868A-DE7B-A8E0-5E1178E41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6D959-F64C-A101-97C3-B6B122457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61C89-775D-8AB6-17F8-715917D6C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800" dirty="0"/>
              <a:t>For further reading on robust statistical models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For an up to date broad and deep treatment of theory and practical use of robust models see </a:t>
            </a:r>
            <a:r>
              <a:rPr lang="en-US" sz="2800" dirty="0">
                <a:hlinkClick r:id="rId2"/>
              </a:rPr>
              <a:t>Robust Statistics, Theory and Methods (with R), Second Edition, </a:t>
            </a:r>
            <a:r>
              <a:rPr lang="en-US" sz="2800" dirty="0" err="1">
                <a:hlinkClick r:id="rId2"/>
              </a:rPr>
              <a:t>Maronna</a:t>
            </a:r>
            <a:r>
              <a:rPr lang="en-US" sz="2800" dirty="0">
                <a:hlinkClick r:id="rId2"/>
              </a:rPr>
              <a:t>, Martin, Yohai, </a:t>
            </a:r>
            <a:r>
              <a:rPr lang="en-US" sz="2800" dirty="0" err="1">
                <a:hlinkClick r:id="rId2"/>
              </a:rPr>
              <a:t>Salibian</a:t>
            </a:r>
            <a:r>
              <a:rPr lang="en-US" sz="2800" dirty="0">
                <a:hlinkClick r:id="rId2"/>
              </a:rPr>
              <a:t>-Barrera, Wiley, 2019</a:t>
            </a:r>
            <a:r>
              <a:rPr lang="en-US" sz="2800" dirty="0"/>
              <a:t>     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The classic treatment of this subject is Robust Statistics, </a:t>
            </a:r>
            <a:r>
              <a:rPr lang="en-US" sz="2800" dirty="0">
                <a:hlinkClick r:id="rId3"/>
              </a:rPr>
              <a:t>The Approach Based on Influence Functions, Hample, </a:t>
            </a:r>
            <a:r>
              <a:rPr lang="en-US" sz="2800" dirty="0" err="1">
                <a:hlinkClick r:id="rId3"/>
              </a:rPr>
              <a:t>Rousseeuw</a:t>
            </a:r>
            <a:r>
              <a:rPr lang="en-US" sz="2800" dirty="0">
                <a:hlinkClick r:id="rId3"/>
              </a:rPr>
              <a:t>, Ronchetti, Stahel, </a:t>
            </a:r>
            <a:r>
              <a:rPr lang="en-US" sz="2800" dirty="0" err="1">
                <a:hlinkClick r:id="rId3"/>
              </a:rPr>
              <a:t>Weily</a:t>
            </a:r>
            <a:r>
              <a:rPr lang="en-US" sz="2800" dirty="0">
                <a:hlinkClick r:id="rId3"/>
              </a:rPr>
              <a:t>, 1986</a:t>
            </a:r>
            <a:endParaRPr lang="en-US" sz="2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10837152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00A26-C1B1-F422-3D2C-56EDC696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7B626-6B02-07E3-0725-A669B117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Working with Missing Values</a:t>
            </a:r>
          </a:p>
        </p:txBody>
      </p:sp>
    </p:spTree>
    <p:extLst>
      <p:ext uri="{BB962C8B-B14F-4D97-AF65-F5344CB8AC3E}">
        <p14:creationId xmlns:p14="http://schemas.microsoft.com/office/powerpoint/2010/main" val="37438259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9AEC9-6DD0-258A-7651-E25950F1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2FACA-9327-9519-953B-5B5059F65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3D04B-A2AF-9A6D-E12F-8C60276F2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Missing values are nearly ubiquitous when working with real-world data    </a:t>
            </a:r>
            <a:endParaRPr dirty="0"/>
          </a:p>
          <a:p>
            <a:r>
              <a:rPr lang="en-US" dirty="0"/>
              <a:t>Incomplete data entry </a:t>
            </a:r>
          </a:p>
          <a:p>
            <a:r>
              <a:rPr lang="en-US" dirty="0"/>
              <a:t>Dataset results from merging tables with incomplete coverage of variables</a:t>
            </a:r>
          </a:p>
          <a:p>
            <a:r>
              <a:rPr lang="en-US" dirty="0"/>
              <a:t>Scientific, engineering, or medical measurement are sometimes not recorded </a:t>
            </a:r>
          </a:p>
          <a:p>
            <a:pPr lvl="1"/>
            <a:r>
              <a:rPr lang="en-US" dirty="0"/>
              <a:t>Measurement procedure was skipped</a:t>
            </a:r>
          </a:p>
          <a:p>
            <a:pPr lvl="1"/>
            <a:r>
              <a:rPr lang="en-US" dirty="0"/>
              <a:t>Instrument failure or lab error </a:t>
            </a:r>
          </a:p>
          <a:p>
            <a:r>
              <a:rPr lang="en-US" dirty="0"/>
              <a:t>People responding to surveys often skip questions   </a:t>
            </a:r>
          </a:p>
          <a:p>
            <a:r>
              <a:rPr lang="en-US" dirty="0" err="1"/>
              <a:t>Etc</a:t>
            </a:r>
            <a:r>
              <a:rPr lang="en-US" dirty="0"/>
              <a:t>….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934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46770-BC8B-1B96-0D91-5FE95D88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CB0C6-AF9B-818E-18DC-07CEDC969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3A709-CA0A-9F7C-F2BB-9106EACE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We can classify missing data patterns into three categories    </a:t>
            </a:r>
            <a:endParaRPr dirty="0"/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completely at random (MCAR)</a:t>
            </a:r>
            <a:r>
              <a:rPr lang="en-US" dirty="0"/>
              <a:t> have missing observations that are a random subset of all observations of a random variable </a:t>
            </a:r>
          </a:p>
          <a:p>
            <a:pPr lvl="1"/>
            <a:r>
              <a:rPr lang="en-US" dirty="0"/>
              <a:t>The missing and observed values will have similar distributions in this case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at random (MAR)</a:t>
            </a:r>
            <a:r>
              <a:rPr lang="en-US" dirty="0"/>
              <a:t> have possible systematic differences between the missing and observed values of a random variable. </a:t>
            </a:r>
          </a:p>
          <a:p>
            <a:pPr lvl="1"/>
            <a:r>
              <a:rPr lang="en-US" dirty="0"/>
              <a:t>MAR values can be entirely explained by other observed variables</a:t>
            </a:r>
          </a:p>
        </p:txBody>
      </p:sp>
    </p:spTree>
    <p:extLst>
      <p:ext uri="{BB962C8B-B14F-4D97-AF65-F5344CB8AC3E}">
        <p14:creationId xmlns:p14="http://schemas.microsoft.com/office/powerpoint/2010/main" val="271707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0FE4C-3E30-3FB7-FE8A-8E95A0ABC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84B56-2C39-3143-9603-4B197BE71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4BB1C-A1F1-1BBF-C8D4-49F2746EE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classify missing data into three categories    </a:t>
            </a:r>
            <a:endParaRPr dirty="0"/>
          </a:p>
          <a:p>
            <a:pPr marL="457200" lvl="0" indent="-457200">
              <a:buFont typeface="+mj-lt"/>
              <a:buAutoNum type="arabicPeriod" startAt="3"/>
            </a:pPr>
            <a:r>
              <a:rPr lang="en-US" b="1" dirty="0"/>
              <a:t>Missing not at random (MNAR)</a:t>
            </a:r>
            <a:r>
              <a:rPr lang="en-US" dirty="0"/>
              <a:t> observations have a systematic pattern for missing values of a random variable. </a:t>
            </a:r>
          </a:p>
          <a:p>
            <a:pPr lvl="1"/>
            <a:r>
              <a:rPr lang="en-US" dirty="0"/>
              <a:t>Example; values are missing for cases when the value of the variable or another variable is greater or less than some threshold. </a:t>
            </a:r>
          </a:p>
          <a:p>
            <a:pPr lvl="1"/>
            <a:r>
              <a:rPr lang="en-US" dirty="0"/>
              <a:t>For Cases of missing not at random are best address by a filling algorithms and methods</a:t>
            </a:r>
          </a:p>
        </p:txBody>
      </p:sp>
    </p:spTree>
    <p:extLst>
      <p:ext uri="{BB962C8B-B14F-4D97-AF65-F5344CB8AC3E}">
        <p14:creationId xmlns:p14="http://schemas.microsoft.com/office/powerpoint/2010/main" val="38394568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ECB3-6BBE-DCFD-B036-32887A538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DEE9-EFE3-5E17-CBBA-D4D63BA5D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12292-9EC6-85A5-8689-82BEEAD34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610" y="924711"/>
            <a:ext cx="8229600" cy="51040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Exploring missing data patterns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6F8BBD-102D-4477-D7E5-A85665097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027" y="1730266"/>
            <a:ext cx="5578973" cy="298210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D483E30-C1C6-1F1B-F030-57B9C64F5F97}"/>
              </a:ext>
            </a:extLst>
          </p:cNvPr>
          <p:cNvSpPr txBox="1">
            <a:spLocks/>
          </p:cNvSpPr>
          <p:nvPr/>
        </p:nvSpPr>
        <p:spPr>
          <a:xfrm>
            <a:off x="457200" y="1399674"/>
            <a:ext cx="3007895" cy="36215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Plot reveals missing value pattern in variables by row         </a:t>
            </a:r>
          </a:p>
          <a:p>
            <a:r>
              <a:rPr lang="en-US" dirty="0"/>
              <a:t>Some rows have only one missing value</a:t>
            </a:r>
          </a:p>
          <a:p>
            <a:r>
              <a:rPr lang="en-US" dirty="0"/>
              <a:t>Other rows have multiple missing values 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B455D9A-07F3-3B46-D00E-629971CA3BEB}"/>
              </a:ext>
            </a:extLst>
          </p:cNvPr>
          <p:cNvCxnSpPr>
            <a:cxnSpLocks/>
          </p:cNvCxnSpPr>
          <p:nvPr/>
        </p:nvCxnSpPr>
        <p:spPr>
          <a:xfrm flipV="1">
            <a:off x="3046686" y="2353003"/>
            <a:ext cx="1115411" cy="7370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F8B714-95E3-8727-745E-10A15BD91247}"/>
              </a:ext>
            </a:extLst>
          </p:cNvPr>
          <p:cNvCxnSpPr>
            <a:cxnSpLocks/>
          </p:cNvCxnSpPr>
          <p:nvPr/>
        </p:nvCxnSpPr>
        <p:spPr>
          <a:xfrm flipV="1">
            <a:off x="3046686" y="2959976"/>
            <a:ext cx="1056290" cy="13006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EA39998-F433-1891-D761-827A74434CD5}"/>
              </a:ext>
            </a:extLst>
          </p:cNvPr>
          <p:cNvCxnSpPr>
            <a:cxnSpLocks/>
          </p:cNvCxnSpPr>
          <p:nvPr/>
        </p:nvCxnSpPr>
        <p:spPr>
          <a:xfrm flipV="1">
            <a:off x="3046686" y="3444766"/>
            <a:ext cx="835573" cy="71733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BF6DBA6-0B04-95BF-E250-B1E8E743B5BC}"/>
              </a:ext>
            </a:extLst>
          </p:cNvPr>
          <p:cNvCxnSpPr>
            <a:cxnSpLocks/>
          </p:cNvCxnSpPr>
          <p:nvPr/>
        </p:nvCxnSpPr>
        <p:spPr>
          <a:xfrm>
            <a:off x="3046686" y="4162097"/>
            <a:ext cx="622738" cy="5669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361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4FDFC-4F69-DFB8-A2BC-CF8EB3C0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30F1C-4589-D04C-A165-DD3A86E76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599B7E-B879-000C-DCA7-404F6FA7D8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use </a:t>
                </a:r>
                <a:r>
                  <a:rPr lang="en-US" b="1" dirty="0"/>
                  <a:t>Little’s MCAR test </a:t>
                </a:r>
                <a:r>
                  <a:rPr lang="en-US" dirty="0"/>
                  <a:t>to support a hypothesis of a missing pattern</a:t>
                </a:r>
              </a:p>
              <a:p>
                <a:r>
                  <a:rPr lang="en-US" b="1" dirty="0"/>
                  <a:t>Test Statistic: </a:t>
                </a:r>
                <a:r>
                  <a:rPr lang="en-US" dirty="0"/>
                  <a:t>Observed means across different missing data patterns with expected population means are chi-square (χ²) distributed </a:t>
                </a:r>
              </a:p>
              <a:p>
                <a:pPr lvl="0"/>
                <a:r>
                  <a:rPr lang="en-US" b="1" dirty="0"/>
                  <a:t>Null Hypothesis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:</a:t>
                </a:r>
                <a:r>
                  <a:rPr lang="en-US" dirty="0"/>
                  <a:t> The data are Missing Completely at Random</a:t>
                </a:r>
              </a:p>
              <a:p>
                <a:pPr lvl="1"/>
                <a:r>
                  <a:rPr lang="en-US" dirty="0"/>
                  <a:t>The missing values do not depend on the data values)</a:t>
                </a:r>
              </a:p>
              <a:p>
                <a:pPr lvl="1"/>
                <a:r>
                  <a:rPr lang="en-US" b="1" dirty="0"/>
                  <a:t>Alternative Hypothesis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:</a:t>
                </a:r>
                <a:r>
                  <a:rPr lang="en-US" dirty="0"/>
                  <a:t> Data are </a:t>
                </a:r>
                <a:r>
                  <a:rPr lang="en-US" i="1" dirty="0"/>
                  <a:t>not</a:t>
                </a:r>
                <a:r>
                  <a:rPr lang="en-US" dirty="0"/>
                  <a:t> Missing Completely at Random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599B7E-B879-000C-DCA7-404F6FA7D8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2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58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95FDB-1853-8343-20B0-D9B474386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E1C6E-376E-4A89-0385-7A4648742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DBA2D1-06AA-8062-6F0F-7C1864344E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Little’s MCAR test </a:t>
                </a:r>
                <a:r>
                  <a:rPr lang="en-US" dirty="0"/>
                  <a:t>has some restrictive assumptions limiting its applicability</a:t>
                </a:r>
              </a:p>
              <a:p>
                <a:pPr lvl="0"/>
                <a:r>
                  <a:rPr lang="en-US" b="1" dirty="0"/>
                  <a:t>Normality Assumption:</a:t>
                </a:r>
                <a:r>
                  <a:rPr lang="en-US" dirty="0"/>
                  <a:t> Little’s MCAR test assumes data follow a multivariate normal distribution and works poorly with categorical variables or severe non-normality</a:t>
                </a:r>
              </a:p>
              <a:p>
                <a:pPr lvl="0"/>
                <a:r>
                  <a:rPr lang="en-US" b="1" dirty="0"/>
                  <a:t>No Specific Variable Identification:</a:t>
                </a:r>
                <a:r>
                  <a:rPr lang="en-US" dirty="0"/>
                  <a:t> Like all such tests you cannot tell which variables result in low p-value </a:t>
                </a:r>
              </a:p>
              <a:p>
                <a:pPr lvl="1"/>
                <a:r>
                  <a:rPr lang="en-US" dirty="0"/>
                  <a:t>Can apply pairwise</a:t>
                </a:r>
              </a:p>
              <a:p>
                <a:pPr lvl="0"/>
                <a:r>
                  <a:rPr lang="en-US" b="1" dirty="0"/>
                  <a:t>Failure at High Missing Rates:</a:t>
                </a:r>
                <a:r>
                  <a:rPr lang="en-US" dirty="0"/>
                  <a:t> Generally, the test is thought to be unreliable (low power) with high rates of missing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&gt;30% 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DBA2D1-06AA-8062-6F0F-7C1864344E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1142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527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9A6A7-2558-E14C-937F-76133ACAB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FC23-6B25-1B58-E331-78BC2B52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0ECD3-6581-1420-5CE3-136248DB3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Imputation methods must match the missing data pattern and intended use</a:t>
            </a:r>
          </a:p>
          <a:p>
            <a:r>
              <a:rPr lang="en-US" dirty="0"/>
              <a:t>Machine learning algorithms only need a good point estimate for the imputed value</a:t>
            </a:r>
          </a:p>
          <a:p>
            <a:pPr lvl="1"/>
            <a:r>
              <a:rPr lang="en-US" dirty="0"/>
              <a:t>For ML, we do not much care what the confidence intervals are</a:t>
            </a:r>
          </a:p>
          <a:p>
            <a:r>
              <a:rPr lang="en-US" dirty="0"/>
              <a:t>Inference requires drawing imputed values from the distribution of the variable  </a:t>
            </a:r>
          </a:p>
          <a:p>
            <a:pPr lvl="1"/>
            <a:r>
              <a:rPr lang="en-US" dirty="0"/>
              <a:t>We want unbiased estimates of the confidence intervals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434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AB7D-6678-A6DC-17E0-2F2C67358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1E7A9-8462-AFB6-69E8-D29C815D4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C0F07-8E21-F467-CD9D-1ED0C942B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Algorithms used for MCAR and MAR data for machine learning do not need to preserve distributions</a:t>
            </a:r>
          </a:p>
          <a:p>
            <a:r>
              <a:rPr lang="en-US" dirty="0"/>
              <a:t>Commonly used algorithms for machine </a:t>
            </a:r>
            <a:r>
              <a:rPr lang="en-US" dirty="0" err="1"/>
              <a:t>learling</a:t>
            </a:r>
            <a:r>
              <a:rPr lang="en-US" dirty="0"/>
              <a:t> include</a:t>
            </a:r>
          </a:p>
          <a:p>
            <a:pPr lvl="1"/>
            <a:r>
              <a:rPr lang="en-US" dirty="0"/>
              <a:t>Filling, mean, median, …</a:t>
            </a:r>
          </a:p>
          <a:p>
            <a:pPr lvl="1"/>
            <a:r>
              <a:rPr lang="en-US" dirty="0"/>
              <a:t>Interpolation, linear, spline, etc.     </a:t>
            </a:r>
          </a:p>
          <a:p>
            <a:pPr lvl="1"/>
            <a:r>
              <a:rPr lang="en-US" dirty="0"/>
              <a:t>Forward and back filling</a:t>
            </a:r>
          </a:p>
          <a:p>
            <a:pPr lvl="1"/>
            <a:r>
              <a:rPr lang="en-US" dirty="0"/>
              <a:t>K-nearest neighbors </a:t>
            </a:r>
          </a:p>
          <a:p>
            <a:pPr lvl="1"/>
            <a:r>
              <a:rPr lang="en-US" dirty="0"/>
              <a:t>The </a:t>
            </a:r>
            <a:r>
              <a:rPr lang="en-US" dirty="0">
                <a:hlinkClick r:id="rId2"/>
              </a:rPr>
              <a:t>E-M algorithm</a:t>
            </a:r>
            <a:endParaRPr lang="en-US" dirty="0"/>
          </a:p>
          <a:p>
            <a:pPr lvl="1"/>
            <a:r>
              <a:rPr lang="en-US" dirty="0" err="1"/>
              <a:t>etc</a:t>
            </a:r>
            <a:r>
              <a:rPr lang="en-US" dirty="0"/>
              <a:t>… </a:t>
            </a:r>
          </a:p>
          <a:p>
            <a:r>
              <a:rPr lang="en-US" dirty="0"/>
              <a:t>These algorithms only provide point estimates and are not useful for inference 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7327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AC65C-F5E9-BA93-5380-0CF56CA21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3E3C6-E47C-71D3-0D0A-C423D4ADB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43A50-E82E-BC72-EB51-078AFD741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There are several approaches to imputation for MNAR variables </a:t>
            </a:r>
          </a:p>
          <a:p>
            <a:r>
              <a:rPr lang="en-US" dirty="0"/>
              <a:t>Join with another table – don’t overlook the obvious!</a:t>
            </a:r>
          </a:p>
          <a:p>
            <a:r>
              <a:rPr lang="en-US" dirty="0"/>
              <a:t>Systematic filling    </a:t>
            </a:r>
          </a:p>
          <a:p>
            <a:pPr lvl="1"/>
            <a:r>
              <a:rPr lang="en-US" dirty="0"/>
              <a:t>Example: are all the missing values 0s     </a:t>
            </a:r>
          </a:p>
          <a:p>
            <a:pPr lvl="1"/>
            <a:r>
              <a:rPr lang="en-US" dirty="0"/>
              <a:t>Example are the missing values dependent on other specific values of another variable(s)</a:t>
            </a:r>
          </a:p>
          <a:p>
            <a:r>
              <a:rPr lang="en-US" dirty="0"/>
              <a:t>Use autoencoder to learn missing value pattern 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742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421-F68D-9E08-4B79-AF9B86A06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17F1-C740-B30D-089D-9D06F64E3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1251A-5AD7-B8EC-D878-35A0925B9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  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A simple place-holder imputation, such as filling with mean values, or </a:t>
            </a:r>
            <a:r>
              <a:rPr lang="en-US" dirty="0">
                <a:hlinkClick r:id="rId3"/>
              </a:rPr>
              <a:t>predictive mean matching</a:t>
            </a:r>
            <a:r>
              <a:rPr lang="en-US" dirty="0"/>
              <a:t>, is performed for all missing values in the dataset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Place-holder imputations of one variable are set back to missing</a:t>
            </a:r>
          </a:p>
          <a:p>
            <a:pPr marL="457200" lvl="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363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1B7C3-210B-370C-B6C3-38ABEBEE6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89AB8-9F65-B28B-2A5A-3E24473D3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76CD8-C93A-8576-5679-AB49B0548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   </a:t>
            </a:r>
          </a:p>
          <a:p>
            <a:pPr marL="457200" lvl="0" indent="-457200">
              <a:buFont typeface="+mj-lt"/>
              <a:buAutoNum type="arabicPeriod" startAt="3"/>
            </a:pPr>
            <a:r>
              <a:rPr lang="en-US" dirty="0"/>
              <a:t>The missing values from Step 2 are regressed on the other variables in the dataset. </a:t>
            </a:r>
          </a:p>
          <a:p>
            <a:pPr lvl="1"/>
            <a:r>
              <a:rPr lang="en-US" dirty="0"/>
              <a:t>The multivariate aspect of the algorithm </a:t>
            </a:r>
          </a:p>
          <a:p>
            <a:pPr lvl="1"/>
            <a:r>
              <a:rPr lang="en-US" dirty="0"/>
              <a:t>Not all of the other variables are significant predictors and do not need to be used </a:t>
            </a:r>
          </a:p>
          <a:p>
            <a:pPr lvl="1"/>
            <a:r>
              <a:rPr lang="en-US" dirty="0"/>
              <a:t>Regression models can include linear, logistic, Poison,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Random forest models and other nonlinear regression models can be used</a:t>
            </a:r>
          </a:p>
        </p:txBody>
      </p:sp>
    </p:spTree>
    <p:extLst>
      <p:ext uri="{BB962C8B-B14F-4D97-AF65-F5344CB8AC3E}">
        <p14:creationId xmlns:p14="http://schemas.microsoft.com/office/powerpoint/2010/main" val="306559265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CCA10-8659-0568-7E6A-2430CC13F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C6B91-5570-8280-7BB8-0DC26D21B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EFFFB-3E9D-ACBC-E7BB-CA6D7DE2C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indent="-457200">
              <a:buFont typeface="+mj-lt"/>
              <a:buAutoNum type="arabicPeriod" startAt="4"/>
            </a:pPr>
            <a:r>
              <a:rPr lang="en-US" dirty="0"/>
              <a:t>The missing values from step 2 are replaced with predictions or imputations computed with the multivariate regression model. </a:t>
            </a:r>
          </a:p>
          <a:p>
            <a:pPr lvl="1"/>
            <a:r>
              <a:rPr lang="en-US" dirty="0"/>
              <a:t>The imputed value can now be used as an observation for regression on other missing values.</a:t>
            </a:r>
          </a:p>
        </p:txBody>
      </p:sp>
    </p:spTree>
    <p:extLst>
      <p:ext uri="{BB962C8B-B14F-4D97-AF65-F5344CB8AC3E}">
        <p14:creationId xmlns:p14="http://schemas.microsoft.com/office/powerpoint/2010/main" val="21832850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326DB-FF4A-1FEF-E137-2107F1491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B8C3B-01BF-4170-86C2-BBC213AA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3BA41-3815-C25D-8F1B-6DA25C110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indent="-457200">
              <a:buFont typeface="+mj-lt"/>
              <a:buAutoNum type="arabicPeriod" startAt="5"/>
            </a:pPr>
            <a:r>
              <a:rPr lang="en-US" dirty="0"/>
              <a:t>Steps 2–4 are then repeated for each variable with missing values. </a:t>
            </a:r>
          </a:p>
          <a:p>
            <a:pPr lvl="1"/>
            <a:r>
              <a:rPr lang="en-US" dirty="0"/>
              <a:t>Cycling through each of the variables with missing values constitutes one iteration of the algorithm. </a:t>
            </a:r>
          </a:p>
          <a:p>
            <a:pPr lvl="1"/>
            <a:r>
              <a:rPr lang="en-US" dirty="0"/>
              <a:t>This process continues until a stopping condition is reached where the imputed values are not changing significantly. </a:t>
            </a:r>
          </a:p>
          <a:p>
            <a:pPr lvl="1"/>
            <a:r>
              <a:rPr lang="en-US" dirty="0"/>
              <a:t>The foregoing steps are the </a:t>
            </a:r>
            <a:r>
              <a:rPr lang="en-US" b="1" dirty="0"/>
              <a:t>chained equations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7515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463BA-A01B-DDE4-A809-65DB24506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01377-1844-FAA6-8F3E-0B3817129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B0FE-8635-5317-1761-A40FC3346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lvl="0" indent="-457200">
              <a:buFont typeface="+mj-lt"/>
              <a:buAutoNum type="arabicPeriod" startAt="6"/>
            </a:pPr>
            <a:r>
              <a:rPr lang="en-US" dirty="0"/>
              <a:t>The process in steps 1-5 is repeated to compute random draws of the imputed values from a </a:t>
            </a:r>
            <a:r>
              <a:rPr lang="en-US" b="1" dirty="0"/>
              <a:t>posterior distribution</a:t>
            </a:r>
            <a:r>
              <a:rPr lang="en-US" dirty="0"/>
              <a:t>. </a:t>
            </a:r>
          </a:p>
          <a:p>
            <a:pPr lvl="1"/>
            <a:r>
              <a:rPr lang="en-US" b="1" dirty="0"/>
              <a:t>Multiple draws</a:t>
            </a:r>
            <a:r>
              <a:rPr lang="en-US" dirty="0"/>
              <a:t> give an estimate of the posterior distribution characterizing the uncertainty of imputed value estimates</a:t>
            </a:r>
          </a:p>
          <a:p>
            <a:pPr lvl="1"/>
            <a:r>
              <a:rPr lang="en-US" b="1" dirty="0">
                <a:hlinkClick r:id="rId3"/>
              </a:rPr>
              <a:t>Rubin's rules</a:t>
            </a:r>
            <a:r>
              <a:rPr lang="en-US" dirty="0"/>
              <a:t> are then used to compute the point estimate and error statistics for the imputed values.</a:t>
            </a:r>
          </a:p>
        </p:txBody>
      </p:sp>
    </p:spTree>
    <p:extLst>
      <p:ext uri="{BB962C8B-B14F-4D97-AF65-F5344CB8AC3E}">
        <p14:creationId xmlns:p14="http://schemas.microsoft.com/office/powerpoint/2010/main" val="199592955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EFE69-FF52-779B-06EE-4206D23B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00575-F732-ADC4-E2FF-1355EB049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7C40EC-2022-743F-8E8E-B56CE77483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hlinkClick r:id="rId2"/>
                  </a:rPr>
                  <a:t>Rubin's rules</a:t>
                </a:r>
                <a:r>
                  <a:rPr lang="en-US" dirty="0"/>
                  <a:t> applied to compute the point estimate and error statistics for the imputed values of multiple imputations</a:t>
                </a:r>
              </a:p>
              <a:p>
                <a:r>
                  <a:rPr lang="en-US" dirty="0"/>
                  <a:t>Computing the point estimate is straight forward, the mean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the overall point estimate given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imputation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Computing the total variance requires integrating the </a:t>
                </a:r>
                <a:r>
                  <a:rPr lang="en-US" b="1" dirty="0"/>
                  <a:t>within imputation variance </a:t>
                </a:r>
                <a:r>
                  <a:rPr lang="en-US" dirty="0"/>
                  <a:t>and </a:t>
                </a:r>
                <a:r>
                  <a:rPr lang="en-US" b="1" dirty="0"/>
                  <a:t>between imputation variance   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7C40EC-2022-743F-8E8E-B56CE77483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3"/>
                <a:stretch>
                  <a:fillRect l="-1111" t="-1305" b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1774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D5FFB-7E2C-1265-20AA-9F5F72AD5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51F58-F0CC-85E4-CBDE-2E9DBB0B6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D4262-09CB-52BE-80D8-AEC77005B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>
                    <a:hlinkClick r:id="rId2"/>
                  </a:rPr>
                  <a:t>Rubin's rules</a:t>
                </a:r>
                <a:r>
                  <a:rPr lang="en-US" dirty="0"/>
                  <a:t> applied to compute the point estimate and error statistics for the imputed values of multiple imputations</a:t>
                </a:r>
              </a:p>
              <a:p>
                <a:r>
                  <a:rPr lang="en-US" dirty="0"/>
                  <a:t>Computing the total variance,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requires integrating the </a:t>
                </a:r>
                <a:r>
                  <a:rPr lang="en-US" b="1" dirty="0"/>
                  <a:t>within imputation variance,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:r>
                  <a:rPr lang="en-US" b="1" dirty="0"/>
                  <a:t>between imputation variance,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/>
                  <a:t>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𝐓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den>
                          </m:f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Within imputation variance, given the sampling variances,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Between imputation variance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D4262-09CB-52BE-80D8-AEC77005B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3"/>
                <a:stretch>
                  <a:fillRect l="-963" t="-1142" r="-5185" b="-4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630033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D204-02A5-4C7D-94AC-03D691A9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256E-0122-8881-335F-1BFB8BE1B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18033-C630-C463-BBC8-5492514F1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6006"/>
            <a:ext cx="8229600" cy="5203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visualize the quality of the imputed results </a:t>
            </a:r>
          </a:p>
          <a:p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C6A6F6A-4C4C-D14B-7204-E38796CFBE53}"/>
              </a:ext>
            </a:extLst>
          </p:cNvPr>
          <p:cNvSpPr txBox="1">
            <a:spLocks/>
          </p:cNvSpPr>
          <p:nvPr/>
        </p:nvSpPr>
        <p:spPr>
          <a:xfrm>
            <a:off x="5038984" y="1967341"/>
            <a:ext cx="4002505" cy="2891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distributions of imputed and observed values should match even for complex distributions </a:t>
            </a:r>
          </a:p>
          <a:p>
            <a:r>
              <a:rPr lang="en-US" dirty="0"/>
              <a:t>Deviations in density show less than ideal behavior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87DBF9-0D43-0A27-06D4-7C7F5BBAB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219" y="1560782"/>
            <a:ext cx="4756520" cy="3552042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9E3B467-98DD-494C-9372-0888740E82AF}"/>
              </a:ext>
            </a:extLst>
          </p:cNvPr>
          <p:cNvCxnSpPr>
            <a:cxnSpLocks/>
          </p:cNvCxnSpPr>
          <p:nvPr/>
        </p:nvCxnSpPr>
        <p:spPr>
          <a:xfrm flipH="1" flipV="1">
            <a:off x="4231663" y="3413135"/>
            <a:ext cx="897998" cy="3182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ADF8342-C4B8-383D-BC03-523112A0B310}"/>
              </a:ext>
            </a:extLst>
          </p:cNvPr>
          <p:cNvCxnSpPr>
            <a:cxnSpLocks/>
          </p:cNvCxnSpPr>
          <p:nvPr/>
        </p:nvCxnSpPr>
        <p:spPr>
          <a:xfrm flipH="1">
            <a:off x="4572000" y="3731408"/>
            <a:ext cx="557661" cy="11891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740561B-4C18-337E-913A-BD94442E532B}"/>
              </a:ext>
            </a:extLst>
          </p:cNvPr>
          <p:cNvCxnSpPr>
            <a:cxnSpLocks/>
          </p:cNvCxnSpPr>
          <p:nvPr/>
        </p:nvCxnSpPr>
        <p:spPr>
          <a:xfrm flipH="1">
            <a:off x="4505926" y="2308552"/>
            <a:ext cx="623735" cy="43772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0185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0891B-F205-F94D-41EB-427DEE81C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B350F-CE79-8679-F991-FC7A70E44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A58E-C420-D9E3-3C9F-030B2AD0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6006"/>
            <a:ext cx="8229600" cy="5203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visualize the quality of the imputed results </a:t>
            </a:r>
          </a:p>
          <a:p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F51AFB-2D5F-8DEA-6A00-F7CB6777C5B8}"/>
              </a:ext>
            </a:extLst>
          </p:cNvPr>
          <p:cNvSpPr txBox="1">
            <a:spLocks/>
          </p:cNvSpPr>
          <p:nvPr/>
        </p:nvSpPr>
        <p:spPr>
          <a:xfrm>
            <a:off x="4874754" y="1666371"/>
            <a:ext cx="4002505" cy="336898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Biplots show the relationship of observed and imputed values between two variables </a:t>
            </a:r>
          </a:p>
          <a:p>
            <a:r>
              <a:rPr lang="en-US" dirty="0"/>
              <a:t>4 possible combinations of observed and missing</a:t>
            </a:r>
          </a:p>
          <a:p>
            <a:r>
              <a:rPr lang="en-US" dirty="0"/>
              <a:t>The imputed values of the variables should not deviate noticeably from the observed cases </a:t>
            </a:r>
          </a:p>
          <a:p>
            <a:r>
              <a:rPr lang="en-US" dirty="0"/>
              <a:t>Limited number of missing cases makes interpretation uncertain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808BB2-1393-4E26-5116-8482A55B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0" y="1819816"/>
            <a:ext cx="4469043" cy="302669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28B43E9-007F-1AB3-7BF8-EBF3B51EE15C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4524223" y="2960524"/>
            <a:ext cx="560333" cy="37264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8721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5778F-09DD-FFFC-15F5-F74D0C1FF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741E-04F8-FEF4-B8A1-314DA00DB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EE77B-4365-0FA5-6DB3-6DCFF7050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MICE algorithm has several advantages</a:t>
            </a:r>
          </a:p>
          <a:p>
            <a:r>
              <a:rPr lang="en-US" dirty="0"/>
              <a:t>MICE is effective for MCAR and particularly MAR where there is a relationship between missing values and other variables. </a:t>
            </a:r>
          </a:p>
          <a:p>
            <a:r>
              <a:rPr lang="en-US" dirty="0"/>
              <a:t>MICE preserves the uncertainty of the posterior distribution by using multiple imputations </a:t>
            </a:r>
          </a:p>
          <a:p>
            <a:r>
              <a:rPr lang="en-US" dirty="0"/>
              <a:t>Since MICE uses a different regression model for each variable, supporting multiple variable types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276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F9CB3-63B1-EF8E-8257-1574A6FD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F54F-5901-BFDA-8B3D-01941AF79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DE533E-7382-51BD-441F-25D4B00634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Like all imputation algorithms, MICE algorithm has several disadvantages</a:t>
                </a:r>
              </a:p>
              <a:p>
                <a:r>
                  <a:rPr lang="en-US" dirty="0"/>
                  <a:t>MICE is not effective for </a:t>
                </a:r>
                <a:r>
                  <a:rPr lang="en-US"/>
                  <a:t>missing percent of about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&gt;30%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MICE requires multiple imputation which is computationally intensive for large datasets or data with many variables   </a:t>
                </a:r>
              </a:p>
              <a:p>
                <a:r>
                  <a:rPr lang="en-US" dirty="0"/>
                  <a:t>MICE is not suitable for time series data </a:t>
                </a:r>
              </a:p>
              <a:p>
                <a:r>
                  <a:rPr lang="en-US" dirty="0"/>
                  <a:t>MICE is not ideal for MNAR variables </a:t>
                </a:r>
              </a:p>
              <a:p>
                <a:r>
                  <a:rPr lang="en-US" dirty="0"/>
                  <a:t>MICE is susceptible to misspecification of the regressions for the missing values   </a:t>
                </a:r>
              </a:p>
              <a:p>
                <a:r>
                  <a:rPr lang="en-US" dirty="0"/>
                  <a:t>There are no convergence guarantees and the uncertainty estimate can be overly optimistic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DE533E-7382-51BD-441F-25D4B00634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2773" r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387922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3BA4C-835E-AEBE-C4AC-A63FF9EBA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FCFFF-4975-42B7-BA3E-88DED488F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31AFE-186B-4407-DAD1-C6FCE5424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further reading: </a:t>
            </a:r>
          </a:p>
          <a:p>
            <a:r>
              <a:rPr lang="en-US" dirty="0"/>
              <a:t>For a detailed discussion of imputation with the MICE algorithm see </a:t>
            </a:r>
            <a:r>
              <a:rPr lang="en-US" dirty="0">
                <a:hlinkClick r:id="rId2"/>
              </a:rPr>
              <a:t>Flexible Imputation of Missing Data, Second Edition, Stef van Buuren, Chapman and Hall, 2018</a:t>
            </a:r>
            <a:endParaRPr lang="en-US" dirty="0"/>
          </a:p>
          <a:p>
            <a:r>
              <a:rPr lang="en-US" dirty="0"/>
              <a:t>For a broad and deep exploration of working with missing data see </a:t>
            </a:r>
            <a:r>
              <a:rPr lang="en-US" dirty="0">
                <a:hlinkClick r:id="rId3"/>
              </a:rPr>
              <a:t>Statistical Analysis with Missing Data, Little and Rudin, Wiley, 2020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2635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4F6EF-706E-6110-32E4-EBA25FEA3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1537D-7CAD-449E-53D8-CC71551E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644244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54A4-438A-3598-2173-713F8FD1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4BA0-F13E-AC4D-C2C3-E5DD3FB75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Summary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0005-97A5-AC99-D88A-30B041420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84108"/>
            <a:ext cx="8229600" cy="4010237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create problems for OLS and GLM models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(typically right) tail </a:t>
            </a:r>
          </a:p>
          <a:p>
            <a:pPr lvl="1"/>
            <a:r>
              <a:rPr lang="en-US" dirty="0"/>
              <a:t>Apply models with distributions and mixtures that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the response </a:t>
            </a:r>
          </a:p>
          <a:p>
            <a:r>
              <a:rPr lang="en-US" dirty="0"/>
              <a:t>Imputation of </a:t>
            </a:r>
            <a:r>
              <a:rPr lang="en-US" b="1" dirty="0"/>
              <a:t>missing values </a:t>
            </a:r>
            <a:r>
              <a:rPr lang="en-US" dirty="0"/>
              <a:t>must preserve distributions to be useful for inference   </a:t>
            </a:r>
          </a:p>
          <a:p>
            <a:pPr lvl="1"/>
            <a:r>
              <a:rPr lang="en-US" dirty="0"/>
              <a:t>The MICE algorithm is a flexible imputation model that preserves distributions </a:t>
            </a:r>
          </a:p>
        </p:txBody>
      </p:sp>
    </p:spTree>
    <p:extLst>
      <p:ext uri="{BB962C8B-B14F-4D97-AF65-F5344CB8AC3E}">
        <p14:creationId xmlns:p14="http://schemas.microsoft.com/office/powerpoint/2010/main" val="3467927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7270</TotalTime>
  <Words>4662</Words>
  <Application>Microsoft Office PowerPoint</Application>
  <PresentationFormat>On-screen Show (16:9)</PresentationFormat>
  <Paragraphs>520</Paragraphs>
  <Slides>78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3" baseType="lpstr">
      <vt:lpstr>Arial</vt:lpstr>
      <vt:lpstr>Calibri</vt:lpstr>
      <vt:lpstr>Cambria Math</vt:lpstr>
      <vt:lpstr>Courier</vt:lpstr>
      <vt:lpstr>Office Theme</vt:lpstr>
      <vt:lpstr>Models for Messy Data</vt:lpstr>
      <vt:lpstr>Introduction</vt:lpstr>
      <vt:lpstr>Models for Zero-Inflated Response</vt:lpstr>
      <vt:lpstr>Zero-Inflated Responses</vt:lpstr>
      <vt:lpstr>Zero-Inflated Responses</vt:lpstr>
      <vt:lpstr>Modeling Zero-Inflated Distributions</vt:lpstr>
      <vt:lpstr>Modeling Zero-Inflated Distributions</vt:lpstr>
      <vt:lpstr>Zero-Inflated Poisson Distribution</vt:lpstr>
      <vt:lpstr>Zero-Inflated Poisson Distribution</vt:lpstr>
      <vt:lpstr>Zero-Inflated Response Regression</vt:lpstr>
      <vt:lpstr>Zero-Inflated Response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Models for Over-Dispersed Response</vt:lpstr>
      <vt:lpstr>Over-Dispersed Response Distributions</vt:lpstr>
      <vt:lpstr>Modeling Over-Dispersed Distributions</vt:lpstr>
      <vt:lpstr>Modeling Over-Dispersed Distributions</vt:lpstr>
      <vt:lpstr>Modeling Over-Dispersed Distributions</vt:lpstr>
      <vt:lpstr>Negative Binomial Distribution</vt:lpstr>
      <vt:lpstr>Negative Binomial Distribution</vt:lpstr>
      <vt:lpstr>Negative Binomial Distribution</vt:lpstr>
      <vt:lpstr>Zero-Inflated Over-Dispersed Distributions</vt:lpstr>
      <vt:lpstr>Zero-Inflated Negative Binomial Distribution</vt:lpstr>
      <vt:lpstr>Zero-Inflated Negative Binomial Distribution</vt:lpstr>
      <vt:lpstr>Example: Zero-Inflated Poisson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Dealing with Outliers</vt:lpstr>
      <vt:lpstr>Dealing With Outliers</vt:lpstr>
      <vt:lpstr>Effects of Outliers</vt:lpstr>
      <vt:lpstr>Effect of Outliers</vt:lpstr>
      <vt:lpstr>Effect of Outliers</vt:lpstr>
      <vt:lpstr>Measuring Influence of Outliers</vt:lpstr>
      <vt:lpstr>Measuring Influence of Outliers</vt:lpstr>
      <vt:lpstr>Measuring Influence of Outliers</vt:lpstr>
      <vt:lpstr>Robust Models and Influence Function</vt:lpstr>
      <vt:lpstr>Robust Models and Influence Function</vt:lpstr>
      <vt:lpstr>Robust Models and Influence Function</vt:lpstr>
      <vt:lpstr>Dealing With Outliers</vt:lpstr>
      <vt:lpstr>Dealing With Outliers</vt:lpstr>
      <vt:lpstr>Dealing With Outliers</vt:lpstr>
      <vt:lpstr>Dealing With Outliers</vt:lpstr>
      <vt:lpstr>Example: Dealing With Outliers</vt:lpstr>
      <vt:lpstr>Example: Dealing With Outliers</vt:lpstr>
      <vt:lpstr>Example: Dealing With Outliers</vt:lpstr>
      <vt:lpstr>Example: Dealing With Outliers</vt:lpstr>
      <vt:lpstr>Limitations of Robust Estimators</vt:lpstr>
      <vt:lpstr>Example: Dealing With Outliers</vt:lpstr>
      <vt:lpstr>Working with Missing Values</vt:lpstr>
      <vt:lpstr>Understanding Missing Values</vt:lpstr>
      <vt:lpstr>Understanding Missing Values</vt:lpstr>
      <vt:lpstr>Understanding Missing Values</vt:lpstr>
      <vt:lpstr>Understanding Missing Values</vt:lpstr>
      <vt:lpstr>Understanding Missing Values</vt:lpstr>
      <vt:lpstr>Understanding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Imputing Missing Values</vt:lpstr>
      <vt:lpstr>Imputing Missing Values</vt:lpstr>
      <vt:lpstr>Imputation of Missing Values</vt:lpstr>
      <vt:lpstr>Imputation of Missing Values</vt:lpstr>
      <vt:lpstr>Imputation of Missing Values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Linear Models</dc:title>
  <dc:creator>Steve Elston</dc:creator>
  <cp:keywords/>
  <cp:lastModifiedBy>Stephen Elston</cp:lastModifiedBy>
  <cp:revision>341</cp:revision>
  <dcterms:created xsi:type="dcterms:W3CDTF">2024-08-16T02:31:51Z</dcterms:created>
  <dcterms:modified xsi:type="dcterms:W3CDTF">2026-10-08T18:44:14Z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10/23/2023</vt:lpwstr>
  </property>
  <property fmtid="{D5CDD505-2E9C-101B-9397-08002B2CF9AE}" pid="3" name="output">
    <vt:lpwstr/>
  </property>
</Properties>
</file>