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99" r:id="rId2"/>
    <p:sldId id="257" r:id="rId3"/>
    <p:sldId id="301" r:id="rId4"/>
    <p:sldId id="258" r:id="rId5"/>
    <p:sldId id="259" r:id="rId6"/>
    <p:sldId id="260" r:id="rId7"/>
    <p:sldId id="302" r:id="rId8"/>
    <p:sldId id="261" r:id="rId9"/>
    <p:sldId id="283" r:id="rId10"/>
    <p:sldId id="303" r:id="rId11"/>
    <p:sldId id="262" r:id="rId12"/>
    <p:sldId id="263" r:id="rId13"/>
    <p:sldId id="264" r:id="rId14"/>
    <p:sldId id="304" r:id="rId15"/>
    <p:sldId id="276" r:id="rId16"/>
    <p:sldId id="277" r:id="rId17"/>
    <p:sldId id="278" r:id="rId18"/>
    <p:sldId id="286" r:id="rId19"/>
    <p:sldId id="279" r:id="rId20"/>
    <p:sldId id="300" r:id="rId21"/>
    <p:sldId id="305" r:id="rId22"/>
    <p:sldId id="265" r:id="rId23"/>
    <p:sldId id="266" r:id="rId24"/>
    <p:sldId id="267" r:id="rId25"/>
    <p:sldId id="268" r:id="rId26"/>
    <p:sldId id="306" r:id="rId27"/>
    <p:sldId id="269" r:id="rId28"/>
    <p:sldId id="270" r:id="rId29"/>
    <p:sldId id="271" r:id="rId30"/>
    <p:sldId id="284" r:id="rId31"/>
    <p:sldId id="307" r:id="rId32"/>
    <p:sldId id="272" r:id="rId33"/>
    <p:sldId id="285" r:id="rId34"/>
    <p:sldId id="273" r:id="rId35"/>
    <p:sldId id="274" r:id="rId36"/>
    <p:sldId id="275" r:id="rId37"/>
    <p:sldId id="308" r:id="rId38"/>
    <p:sldId id="281" r:id="rId39"/>
    <p:sldId id="282" r:id="rId4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97" d="100"/>
          <a:sy n="97" d="100"/>
        </p:scale>
        <p:origin x="566" y="3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4A0935-8C25-438A-84D4-96B1DB83347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B5FD2-BF1D-4323-8242-C1E03AB0C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8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B5FD2-BF1D-4323-8242-C1E03AB0C2D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095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en.wikipedia.org/wiki/De_Morgan%27s_law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003"/>
            <a:ext cx="7772400" cy="1515861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When One Thing Depends on Another; Conditional Probability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78957"/>
            <a:ext cx="6400800" cy="563301"/>
          </a:xfrm>
        </p:spPr>
        <p:txBody>
          <a:bodyPr>
            <a:normAutofit fontScale="32500" lnSpcReduction="20000"/>
          </a:bodyPr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sz="5900" b="1" dirty="0"/>
              <a:t>Steve Elston</a:t>
            </a:r>
          </a:p>
        </p:txBody>
      </p:sp>
      <p:pic>
        <p:nvPicPr>
          <p:cNvPr id="5" name="Picture 2" descr="Image result for harvard extension school logo">
            <a:extLst>
              <a:ext uri="{FF2B5EF4-FFF2-40B4-BE49-F238E27FC236}">
                <a16:creationId xmlns:a16="http://schemas.microsoft.com/office/drawing/2014/main" id="{4589CD93-89FF-3DF6-420D-DE6D671B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067" y="3659436"/>
            <a:ext cx="2345803" cy="96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4191BF-5D24-EFDF-F46A-91EA7CBF856B}"/>
              </a:ext>
            </a:extLst>
          </p:cNvPr>
          <p:cNvSpPr txBox="1"/>
          <p:nvPr/>
        </p:nvSpPr>
        <p:spPr>
          <a:xfrm>
            <a:off x="1805276" y="4705706"/>
            <a:ext cx="5744633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2018, 2019, 2020, 2021, 2022, 2023 2024, 2025, 2026, Stephen F Elston. All rights reserved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27084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68101"/>
                <a:ext cx="8229600" cy="4069420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Many real-world random variables depend on other random variables</a:t>
                </a:r>
              </a:p>
              <a:p>
                <a:pPr lvl="0"/>
                <a:r>
                  <a:rPr dirty="0"/>
                  <a:t>Statistical models of complex processes invariably require the use of </a:t>
                </a:r>
                <a:r>
                  <a:rPr b="1" dirty="0"/>
                  <a:t>conditional probability distributions</a:t>
                </a:r>
              </a:p>
              <a:p>
                <a:pPr lvl="0"/>
                <a:r>
                  <a:rPr b="1" dirty="0"/>
                  <a:t>Conditional probability</a:t>
                </a:r>
                <a:r>
                  <a:rPr dirty="0"/>
                  <a:t> is the probability that event A occurs given that event B has occurred</a:t>
                </a:r>
              </a:p>
              <a:p>
                <a:pPr lvl="0"/>
                <a:r>
                  <a:rPr dirty="0"/>
                  <a:t>Write the conditional probability of A given B as: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b="1" dirty="0"/>
                  <a:t>Example:</a:t>
                </a:r>
                <a:r>
                  <a:rPr dirty="0"/>
                  <a:t> Model of the probability of contracting the infectious disease, depends on other variables</a:t>
                </a:r>
              </a:p>
              <a:p>
                <a:pPr lvl="1"/>
                <a:r>
                  <a:rPr dirty="0"/>
                  <a:t>In more technical terms, the probability of contracting the disease is </a:t>
                </a:r>
                <a:r>
                  <a:rPr b="1" dirty="0"/>
                  <a:t>conditional</a:t>
                </a:r>
                <a:r>
                  <a:rPr dirty="0"/>
                  <a:t> on other random variables.</a:t>
                </a:r>
              </a:p>
              <a:p>
                <a:pPr lvl="1"/>
                <a:r>
                  <a:rPr lang="en-US" dirty="0"/>
                  <a:t>Example: a</a:t>
                </a:r>
                <a:r>
                  <a:rPr dirty="0"/>
                  <a:t>ge, contact with people carrying the disease, immunity, etc.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68101"/>
                <a:ext cx="8229600" cy="4069420"/>
              </a:xfrm>
              <a:blipFill>
                <a:blip r:embed="rId2"/>
                <a:stretch>
                  <a:fillRect l="-963" t="-1796" r="-1704" b="-1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7E132-6342-FF41-2B72-66575A43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351020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Introduction to Conditional Probability</a:t>
            </a:r>
          </a:p>
        </p:txBody>
      </p:sp>
    </p:spTree>
    <p:extLst>
      <p:ext uri="{BB962C8B-B14F-4D97-AF65-F5344CB8AC3E}">
        <p14:creationId xmlns:p14="http://schemas.microsoft.com/office/powerpoint/2010/main" val="19481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50476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Properties of Conditional Probability</a:t>
            </a:r>
          </a:p>
        </p:txBody>
      </p:sp>
      <p:pic>
        <p:nvPicPr>
          <p:cNvPr id="4" name="Picture 1" descr="../images/Prob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92700" y="971952"/>
            <a:ext cx="4051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5305062" y="4076700"/>
            <a:ext cx="37039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sz="2000" dirty="0"/>
              <a:t>Example of conditional probability of discrete events</a:t>
            </a:r>
            <a:r>
              <a:rPr sz="1200" dirty="0"/>
              <a:t> </a:t>
            </a:r>
            <a:endParaRPr lang="en-US" sz="1200" dirty="0"/>
          </a:p>
          <a:p>
            <a:pPr marL="0" lvl="0" indent="0" algn="ctr">
              <a:buNone/>
            </a:pPr>
            <a:r>
              <a:rPr sz="1200" dirty="0"/>
              <a:t>credit, Wikipedia commons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0273" y="1099595"/>
                <a:ext cx="4824714" cy="3938724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Example: </a:t>
                </a:r>
              </a:p>
              <a:p>
                <a:pPr lvl="0"/>
                <a:r>
                  <a:rPr lang="en-US" b="1" dirty="0"/>
                  <a:t>Sample space</a:t>
                </a:r>
                <a:r>
                  <a:rPr lang="en-US" dirty="0"/>
                  <a:t> is the space of all possible events in the set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Sample space is divided into several </a:t>
                </a:r>
                <a:r>
                  <a:rPr lang="en-US" b="1" dirty="0"/>
                  <a:t>subspaces</a:t>
                </a:r>
                <a:r>
                  <a:rPr lang="en-US" dirty="0"/>
                  <a:t> or </a:t>
                </a:r>
                <a:r>
                  <a:rPr lang="en-US" b="1" dirty="0"/>
                  <a:t>subsets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  <a:p>
                <a:pPr lvl="0"/>
                <a:r>
                  <a:rPr lang="en-US" b="1" dirty="0"/>
                  <a:t>Intersection</a:t>
                </a:r>
                <a:r>
                  <a:rPr lang="en-US" dirty="0"/>
                  <a:t> is where the two sets overlap occur in both 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dirty="0"/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dirty="0"/>
              </a:p>
              <a:p>
                <a:pPr marL="342900" lvl="1" indent="0">
                  <a:buNone/>
                </a:pPr>
                <a:r>
                  <a:rPr lang="en-US" dirty="0"/>
                  <a:t>A and B and C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273" y="1099595"/>
                <a:ext cx="4824714" cy="3938724"/>
              </a:xfrm>
              <a:blipFill>
                <a:blip r:embed="rId3"/>
                <a:stretch>
                  <a:fillRect l="-1641" t="-18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92674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Properties of Conditional Probability</a:t>
            </a:r>
          </a:p>
        </p:txBody>
      </p:sp>
      <p:pic>
        <p:nvPicPr>
          <p:cNvPr id="4" name="Picture 1" descr="../images/Prob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54118" y="1063229"/>
            <a:ext cx="4051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5231756" y="4076700"/>
            <a:ext cx="3792639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sz="2000" dirty="0"/>
              <a:t>Example of conditional probability of discrete events</a:t>
            </a:r>
            <a:endParaRPr lang="en-US" sz="2000" dirty="0"/>
          </a:p>
          <a:p>
            <a:pPr marL="0" lvl="0" indent="0" algn="ctr">
              <a:buNone/>
            </a:pPr>
            <a:r>
              <a:rPr sz="1200" dirty="0"/>
              <a:t>credit, Wikipedia commons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932543"/>
                <a:ext cx="4596919" cy="3975124"/>
              </a:xfrm>
            </p:spPr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Example:</a:t>
                </a:r>
              </a:p>
              <a:p>
                <a:pPr marL="0" lvl="0" indent="0">
                  <a:buNone/>
                </a:pPr>
                <a:r>
                  <a:rPr lang="en-US" b="1" dirty="0"/>
                  <a:t>Intersection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, is where the two sets overlap</a:t>
                </a:r>
              </a:p>
              <a:p>
                <a:r>
                  <a:rPr lang="en-US" dirty="0"/>
                  <a:t>The probability of the intersection is the product of two probabilities:</a:t>
                </a:r>
              </a:p>
              <a:p>
                <a:pPr marL="685800" lvl="1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since B must be true to be in this intersection.</a:t>
                </a:r>
              </a:p>
              <a:p>
                <a:pPr lvl="1">
                  <a:buAutoNum type="arabicPeriod"/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is probability of A when B occurs</a:t>
                </a:r>
              </a:p>
              <a:p>
                <a:r>
                  <a:rPr lang="en-US" dirty="0"/>
                  <a:t>The result 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932543"/>
                <a:ext cx="4596919" cy="3975124"/>
              </a:xfrm>
              <a:blipFill>
                <a:blip r:embed="rId3"/>
                <a:stretch>
                  <a:fillRect l="-1724" t="-1074" r="-663" b="-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00391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Properties of Conditional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We have found a representation for the union of two distributions</a:t>
                </a:r>
                <a:r>
                  <a:rPr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ar-AE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r>
                  <a:rPr dirty="0"/>
                  <a:t>We could have, just as well, written the last equation as</a:t>
                </a:r>
                <a:r>
                  <a:rPr lang="en-US" dirty="0"/>
                  <a:t> this factorization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r>
                  <a:rPr dirty="0"/>
                  <a:t>Now, the probability intersection</a:t>
                </a:r>
                <a:r>
                  <a:rPr lang="en-US" dirty="0"/>
                  <a:t> of events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r>
                  <a:rPr b="1" dirty="0"/>
                  <a:t>Factorization</a:t>
                </a:r>
                <a:r>
                  <a:rPr dirty="0"/>
                  <a:t> of a probability function is a key tool: notice that the factorization of a conditional probability distribution in not unique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257" b="-1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42185-EE60-DFE1-4C58-B9F8EAD14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11FE8-2E13-618B-85E4-B7C00ED42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351020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Set Operations with Conditional Probability</a:t>
            </a:r>
          </a:p>
        </p:txBody>
      </p:sp>
    </p:spTree>
    <p:extLst>
      <p:ext uri="{BB962C8B-B14F-4D97-AF65-F5344CB8AC3E}">
        <p14:creationId xmlns:p14="http://schemas.microsoft.com/office/powerpoint/2010/main" val="2056550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Set Operations and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Set operations are applied to probability problems</a:t>
                </a:r>
              </a:p>
              <a:p>
                <a:pPr marL="342900" lvl="0" indent="-342900">
                  <a:buAutoNum type="arabicPeriod"/>
                </a:pPr>
                <a:r>
                  <a:rPr b="1" dirty="0"/>
                  <a:t>Intersection: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b="1" dirty="0"/>
              </a:p>
              <a:p>
                <a:pPr marL="342900" lvl="0" indent="-342900">
                  <a:buAutoNum type="arabicPeriod" startAt="2"/>
                </a:pPr>
                <a:r>
                  <a:rPr b="1" dirty="0"/>
                  <a:t>Union:</a:t>
                </a:r>
                <a:r>
                  <a:rPr dirty="0"/>
                  <a:t> is the sum of the probabilities of the sets minus the intersection between the sets: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marL="342900" lvl="0" indent="-342900">
                  <a:buAutoNum type="arabicPeriod" startAt="3"/>
                </a:pPr>
                <a:r>
                  <a:rPr b="1" dirty="0"/>
                  <a:t>Negation:</a:t>
                </a:r>
                <a:r>
                  <a:rPr dirty="0"/>
                  <a:t> Example, compute the probability of an event being in subset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dirty="0"/>
                  <a:t> but not in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 ¬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5" t="-2513" r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Set Operations and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Set operations are applied to probability problems</a:t>
                </a:r>
              </a:p>
              <a:p>
                <a:pPr marL="342900" lvl="0" indent="-342900">
                  <a:buAutoNum type="arabicPeriod"/>
                </a:pPr>
                <a:r>
                  <a:rPr lang="en-US" b="1" dirty="0"/>
                  <a:t>Intersection: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ar-AE" b="1" dirty="0"/>
              </a:p>
              <a:p>
                <a:pPr marL="342900" lvl="0" indent="-342900">
                  <a:buAutoNum type="arabicPeriod" startAt="2"/>
                </a:pPr>
                <a:r>
                  <a:rPr lang="en-US" b="1" dirty="0"/>
                  <a:t>Union: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ar-AE" dirty="0"/>
              </a:p>
              <a:p>
                <a:pPr marL="342900" lvl="0" indent="-342900">
                  <a:buAutoNum type="arabicPeriod" startAt="3"/>
                </a:pPr>
                <a:r>
                  <a:rPr lang="en-US" b="1" dirty="0"/>
                  <a:t>Negation: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𝑎𝑛𝑑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 ¬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dirty="0"/>
              </a:p>
              <a:p>
                <a:pPr marL="342900" lvl="0" indent="-342900">
                  <a:buAutoNum type="arabicPeriod" startAt="3"/>
                </a:pPr>
                <a:r>
                  <a:rPr lang="en-US" dirty="0"/>
                  <a:t>We can apply </a:t>
                </a:r>
                <a:r>
                  <a:rPr lang="en-US" b="1" dirty="0">
                    <a:hlinkClick r:id="rId2"/>
                  </a:rPr>
                  <a:t>De Morgan’s Laws</a:t>
                </a:r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¬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∪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∩¬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¬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85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621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C2016-2D60-2B30-55F4-9DC41A882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9853-F53A-DA3E-D761-CBE6D9186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351020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Independence and Mutual Exclusivity</a:t>
            </a:r>
          </a:p>
        </p:txBody>
      </p:sp>
    </p:spTree>
    <p:extLst>
      <p:ext uri="{BB962C8B-B14F-4D97-AF65-F5344CB8AC3E}">
        <p14:creationId xmlns:p14="http://schemas.microsoft.com/office/powerpoint/2010/main" val="2313698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Independence and Mutual Exclusivity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factorization of probability distributions can be simplified if events are either </a:t>
                </a:r>
                <a:r>
                  <a:rPr lang="en-US" b="1" dirty="0"/>
                  <a:t>independent</a:t>
                </a:r>
                <a:r>
                  <a:rPr lang="en-US" dirty="0"/>
                  <a:t> or </a:t>
                </a:r>
                <a:r>
                  <a:rPr lang="en-US" b="1" dirty="0"/>
                  <a:t>mutually exclusive</a:t>
                </a:r>
              </a:p>
              <a:p>
                <a:pPr lvl="0"/>
                <a:r>
                  <a:rPr lang="en-US" dirty="0"/>
                  <a:t>At first glance, these concepts may seem similar</a:t>
                </a:r>
              </a:p>
              <a:p>
                <a:pPr lvl="1"/>
                <a:r>
                  <a:rPr lang="en-US" dirty="0"/>
                  <a:t>Are </a:t>
                </a:r>
                <a:r>
                  <a:rPr lang="en-US" b="1" dirty="0"/>
                  <a:t>quite different!</a:t>
                </a:r>
              </a:p>
              <a:p>
                <a:pPr lvl="1"/>
                <a:r>
                  <a:rPr lang="en-US" dirty="0"/>
                  <a:t>Very different implications</a:t>
                </a:r>
              </a:p>
              <a:p>
                <a:r>
                  <a:rPr lang="en-US" b="1" dirty="0"/>
                  <a:t>Independence</a:t>
                </a:r>
                <a:r>
                  <a:rPr lang="en-US" dirty="0"/>
                  <a:t> of sets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means the occurrence of an event in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does not have any dependency on events in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 lvl="0"/>
                <a:r>
                  <a:rPr lang="en-US" b="1" dirty="0"/>
                  <a:t>Mutual exclusivity</a:t>
                </a:r>
                <a:r>
                  <a:rPr lang="en-US" dirty="0"/>
                  <a:t> means an event cannot occur in both set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set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257" r="-815" b="-1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Independence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91878"/>
                <a:ext cx="8229600" cy="3777206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Conditional independence implies that the independence between two sets (variables) is dependent on one of the variables or another variable </a:t>
                </a:r>
              </a:p>
              <a:p>
                <a:r>
                  <a:rPr lang="en-US" dirty="0"/>
                  <a:t>Express </a:t>
                </a:r>
                <a:r>
                  <a:rPr lang="en-US" b="1" dirty="0"/>
                  <a:t>Conditional independence</a:t>
                </a:r>
                <a:r>
                  <a:rPr lang="en-US" dirty="0"/>
                  <a:t> of random variable A given B: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|¬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ar-AE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ar-AE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But conditional independence of A given B does not imply independence of B given 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⇎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In other words, there is no relationship between A being independent of B vs. </a:t>
                </a:r>
                <a:r>
                  <a:rPr lang="en-US" dirty="0" err="1"/>
                  <a:t>B</a:t>
                </a:r>
                <a:r>
                  <a:rPr lang="en-US" dirty="0"/>
                  <a:t> being independent of A</a:t>
                </a:r>
              </a:p>
              <a:p>
                <a:pPr lvl="1"/>
                <a:r>
                  <a:rPr lang="en-US" dirty="0"/>
                  <a:t>One or the other but not both could be true</a:t>
                </a:r>
              </a:p>
              <a:p>
                <a:pPr lvl="1"/>
                <a:r>
                  <a:rPr lang="en-US" dirty="0"/>
                  <a:t>Or, both could be true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91878"/>
                <a:ext cx="8229600" cy="3777206"/>
              </a:xfrm>
              <a:blipFill>
                <a:blip r:embed="rId2"/>
                <a:stretch>
                  <a:fillRect l="-444" t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Mutual Exclusivity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Intersection between </a:t>
                </a:r>
                <a:r>
                  <a:rPr lang="en-US" b="1" dirty="0"/>
                  <a:t>mutually exclusive </a:t>
                </a:r>
                <a:r>
                  <a:rPr lang="en-US" dirty="0"/>
                  <a:t>events is an empty set: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=∅</m:t>
                      </m:r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If events in A are </a:t>
                </a:r>
                <a:r>
                  <a:rPr lang="en-US" b="1" dirty="0"/>
                  <a:t>mutually exclusive</a:t>
                </a:r>
                <a:r>
                  <a:rPr lang="en-US" dirty="0"/>
                  <a:t> of events in B, since: 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ar-AE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ar-AE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en-US" dirty="0"/>
                  <a:t>And,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9E381-799B-44DB-4CE2-BC9D44089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5207C-621A-6EC2-1E2D-CD9D36DE7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351020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Example of Conditional Probability</a:t>
            </a:r>
          </a:p>
        </p:txBody>
      </p:sp>
    </p:spTree>
    <p:extLst>
      <p:ext uri="{BB962C8B-B14F-4D97-AF65-F5344CB8AC3E}">
        <p14:creationId xmlns:p14="http://schemas.microsoft.com/office/powerpoint/2010/main" val="437816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Conditional Probability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595626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A simple and widely used example of using conditional probabilities to work out the chance of having a rare disease.</a:t>
                </a:r>
              </a:p>
              <a:p>
                <a:pPr lvl="0"/>
                <a:r>
                  <a:rPr lang="en-US" dirty="0"/>
                  <a:t>Sickle Cell Anemia is a serious, but rare, disease</a:t>
                </a:r>
              </a:p>
              <a:p>
                <a:pPr lvl="0"/>
                <a:r>
                  <a:rPr lang="en-US" dirty="0"/>
                  <a:t>The probability that a given patient, drawn at random from the population of people in the United States, has the disease is 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3200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=0.0003125</m:t>
                      </m:r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We can describe the possible events in diagnosing this condition as: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a patient has the disease.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′⇒</m:t>
                    </m:r>
                  </m:oMath>
                </a14:m>
                <a:r>
                  <a:rPr lang="en-US" dirty="0"/>
                  <a:t> a patient does not have the disease,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⊕⇒</m:t>
                    </m:r>
                  </m:oMath>
                </a14:m>
                <a:r>
                  <a:rPr lang="en-US" dirty="0"/>
                  <a:t> patient tests positive.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−⇒</m:t>
                    </m:r>
                  </m:oMath>
                </a14:m>
                <a:r>
                  <a:rPr lang="en-US" dirty="0"/>
                  <a:t> a patient tests negative.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595626"/>
              </a:xfrm>
              <a:blipFill>
                <a:blip r:embed="rId2"/>
                <a:stretch>
                  <a:fillRect l="-741" t="-2542" r="-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642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Conditional Probability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What if a medical company claims that it has developed a test that is 99% accurate?</a:t>
                </a:r>
              </a:p>
              <a:p>
                <a:pPr lvl="0"/>
                <a:r>
                  <a:rPr dirty="0"/>
                  <a:t>We can write: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|⊕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=0.99</m:t>
                    </m:r>
                  </m:oMath>
                </a14:m>
                <a:endParaRPr dirty="0"/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′|−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=0.99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On the surface, it seems that a 99% reliable test is rather good</a:t>
                </a:r>
              </a:p>
              <a:p>
                <a:pPr lvl="1"/>
                <a:r>
                  <a:rPr dirty="0"/>
                  <a:t>On average, 99 people out of 100 who have the disease will be identified and treated</a:t>
                </a:r>
              </a:p>
              <a:p>
                <a:pPr lvl="1"/>
                <a:r>
                  <a:rPr dirty="0"/>
                  <a:t>But, dig into the conditional probabilities and make sure!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2513" r="-741" b="-1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228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Conditional Probability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Goal: Evaluate the medical test as a </a:t>
                </a:r>
                <a:r>
                  <a:rPr b="1" dirty="0"/>
                  <a:t>decision rule</a:t>
                </a:r>
                <a:r>
                  <a:rPr dirty="0"/>
                  <a:t> for treatment</a:t>
                </a:r>
              </a:p>
              <a:p>
                <a:pPr lvl="0"/>
                <a:r>
                  <a:rPr dirty="0"/>
                  <a:t>Summarize the conditional probabilities for these outcomes: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⊕|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dirty="0"/>
                  <a:t>: Conditional probability the test correctly identifies patient with disease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−|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dirty="0"/>
                  <a:t>: Conditional probability of a negative test for a patient with the disease; </a:t>
                </a:r>
                <a:r>
                  <a:rPr b="1" dirty="0"/>
                  <a:t>Type II Error</a:t>
                </a:r>
                <a:r>
                  <a:rPr dirty="0"/>
                  <a:t> or </a:t>
                </a:r>
                <a:r>
                  <a:rPr b="1" dirty="0"/>
                  <a:t>False Negative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⊕|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dirty="0"/>
                  <a:t>: Conditional probability that a patient with no disease tests positive; </a:t>
                </a:r>
                <a:r>
                  <a:rPr b="1" dirty="0"/>
                  <a:t>Type I Error</a:t>
                </a:r>
                <a:r>
                  <a:rPr dirty="0"/>
                  <a:t> or </a:t>
                </a:r>
                <a:r>
                  <a:rPr b="1" dirty="0"/>
                  <a:t>False Positive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−|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dirty="0"/>
                  <a:t>: Conditional probability of a negative test for a patient with no disease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2513" r="-1481" b="-3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5727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Conditional Probability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902" y="1759352"/>
            <a:ext cx="4411884" cy="2384385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dirty="0"/>
              <a:t>The </a:t>
            </a:r>
            <a:r>
              <a:rPr b="1" dirty="0"/>
              <a:t>directed acyclic graphical model (DAG)</a:t>
            </a:r>
            <a:r>
              <a:rPr dirty="0"/>
              <a:t> defines a conditional dependency structure</a:t>
            </a:r>
            <a:endParaRPr lang="en-US" dirty="0"/>
          </a:p>
          <a:p>
            <a:r>
              <a:rPr lang="en-US" dirty="0"/>
              <a:t>Multiply probabilities from root to leaves to get probabilities of outcomes</a:t>
            </a:r>
          </a:p>
          <a:p>
            <a:r>
              <a:rPr lang="en-US" dirty="0"/>
              <a:t>Sum probabilities of outcomes to ensure they add to 1.0</a:t>
            </a:r>
          </a:p>
          <a:p>
            <a:endParaRPr dirty="0"/>
          </a:p>
        </p:txBody>
      </p:sp>
      <p:pic>
        <p:nvPicPr>
          <p:cNvPr id="4" name="Picture 1" descr="../images/CondTree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2488" y="829075"/>
            <a:ext cx="4092615" cy="367203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5224041" y="4515091"/>
            <a:ext cx="3850511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Graph showing dependency of conditional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1446276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293260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800" b="0" dirty="0"/>
              <a:t>Conditional Probability Example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8351133" cy="351829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400" dirty="0"/>
              <a:t>Four possible outcomes shown using a </a:t>
            </a:r>
            <a:r>
              <a:rPr sz="2400" b="1" dirty="0"/>
              <a:t>confusion matrix</a:t>
            </a:r>
            <a:r>
              <a:rPr sz="2400" dirty="0"/>
              <a:t> or </a:t>
            </a:r>
            <a:r>
              <a:rPr sz="2400" b="1" dirty="0"/>
              <a:t>truth table</a:t>
            </a:r>
          </a:p>
          <a:p>
            <a:pPr lvl="0"/>
            <a:endParaRPr lang="en-US" sz="2400" dirty="0"/>
          </a:p>
          <a:p>
            <a:pPr lvl="0"/>
            <a:endParaRPr lang="en-US" sz="2400" dirty="0"/>
          </a:p>
          <a:p>
            <a:pPr lvl="0"/>
            <a:endParaRPr lang="en-US" sz="2400" dirty="0"/>
          </a:p>
          <a:p>
            <a:pPr lvl="0"/>
            <a:endParaRPr lang="en-US" sz="2400" dirty="0"/>
          </a:p>
          <a:p>
            <a:pPr lvl="0"/>
            <a:r>
              <a:rPr sz="2400" dirty="0"/>
              <a:t>Table shows conditional probabilities of each outcome</a:t>
            </a:r>
            <a:endParaRPr lang="en-US" sz="2400" dirty="0"/>
          </a:p>
          <a:p>
            <a:r>
              <a:rPr lang="en-US" sz="2400" b="1" dirty="0"/>
              <a:t>Tip:</a:t>
            </a:r>
            <a:r>
              <a:rPr lang="en-US" sz="2400" dirty="0"/>
              <a:t> Make sure the numbers in your confusion matrix sum to 1.0</a:t>
            </a:r>
          </a:p>
          <a:p>
            <a:pPr lvl="0"/>
            <a:endParaRPr sz="24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83373" y="2062865"/>
          <a:ext cx="7029852" cy="1370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3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6986">
                <a:tc>
                  <a:txBody>
                    <a:bodyPr/>
                    <a:lstStyle/>
                    <a:p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/>
                        <a:t>Positive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/>
                        <a:t>Negative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986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 b="1" dirty="0"/>
                        <a:t>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/>
                        <a:t>True Positive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/>
                        <a:t>False Negative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986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 b="1" dirty="0"/>
                        <a:t>No 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/>
                        <a:t>False Positive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sz="2000" dirty="0"/>
                        <a:t>True Negative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942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F3DC-3C46-F0C9-9F1A-D94932E7D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6F583-ED2D-A10E-BEB0-E12D49585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Conditional Probability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3E4E21-3AE1-38F3-44DA-678D6C8649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7076" y="1200151"/>
                <a:ext cx="8503920" cy="3394472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Evaluate the medical test given the conditional probabilities</a:t>
                </a:r>
              </a:p>
              <a:p>
                <a:pPr lvl="0"/>
                <a:r>
                  <a:rPr lang="en-US" dirty="0"/>
                  <a:t>Summarize the conditional probabilities for these outcomes:</a:t>
                </a: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⨁</m:t>
                        </m:r>
                        <m:r>
                          <a:rPr lang="ar-AE" sz="180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⨁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=0.99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×0.0003125=0.0003</m:t>
                    </m:r>
                  </m:oMath>
                </a14:m>
                <a:r>
                  <a:rPr lang="en-US" sz="1800" dirty="0"/>
                  <a:t>1</a:t>
                </a: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0.99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×0.0003125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=3.1×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−7</m:t>
                          </m:r>
                        </m:sup>
                      </m:sSup>
                    </m:oMath>
                  </m:oMathPara>
                </a14:m>
                <a:endParaRPr lang="en-US" sz="1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⨁</m:t>
                          </m:r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∩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⨁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1−0.99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0.0003125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𝟎𝟎𝟗𝟗</m:t>
                      </m:r>
                      <m:r>
                        <a:rPr lang="en-US" sz="1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∩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=0.99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0.0003125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=0.99</m:t>
                      </m:r>
                    </m:oMath>
                  </m:oMathPara>
                </a14:m>
                <a:endParaRPr lang="en-US" sz="1800" dirty="0"/>
              </a:p>
              <a:p>
                <a:r>
                  <a:rPr lang="en-US" sz="2100" dirty="0"/>
                  <a:t>In summary, about 1% of the population would have a false positive test!</a:t>
                </a:r>
                <a:endParaRPr sz="21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3E4E21-3AE1-38F3-44DA-678D6C8649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7076" y="1200151"/>
                <a:ext cx="8503920" cy="3394472"/>
              </a:xfrm>
              <a:blipFill>
                <a:blip r:embed="rId2"/>
                <a:stretch>
                  <a:fillRect l="-1075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396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A1797-7DA9-507A-C0B3-EC2DC3D0A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848EB-10FB-A5D7-AA1C-6450F910C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351020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Bayes Theorem</a:t>
            </a:r>
          </a:p>
        </p:txBody>
      </p:sp>
    </p:spTree>
    <p:extLst>
      <p:ext uri="{BB962C8B-B14F-4D97-AF65-F5344CB8AC3E}">
        <p14:creationId xmlns:p14="http://schemas.microsoft.com/office/powerpoint/2010/main" val="695098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Conditional Distributions and Bayes’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18886"/>
                <a:ext cx="8229600" cy="3684607"/>
              </a:xfrm>
            </p:spPr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Bayes’ theorem</a:t>
                </a:r>
                <a:r>
                  <a:rPr lang="en-US" dirty="0"/>
                  <a:t>, also known as </a:t>
                </a:r>
                <a:r>
                  <a:rPr lang="en-US" b="1" dirty="0"/>
                  <a:t>Bayes’ rule</a:t>
                </a:r>
                <a:r>
                  <a:rPr lang="en-US" dirty="0"/>
                  <a:t>, is a powerful tool to think about and analyze conditional probabilities</a:t>
                </a:r>
              </a:p>
              <a:p>
                <a:pPr lvl="0"/>
                <a:r>
                  <a:rPr lang="en-US" dirty="0"/>
                  <a:t>We can derive Bayes Theorem starting with the following relationships: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Leading to: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ar-AE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b="1" dirty="0"/>
                  <a:t>Which is Bayes’ theorem!</a:t>
                </a:r>
                <a:endParaRPr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18886"/>
                <a:ext cx="8229600" cy="3684607"/>
              </a:xfrm>
              <a:blipFill>
                <a:blip r:embed="rId2"/>
                <a:stretch>
                  <a:fillRect l="-741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Interpreting 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How can we interpret Bayes’ theorem in a useful way?</a:t>
                </a:r>
              </a:p>
              <a:p>
                <a:pPr lvl="0"/>
                <a:r>
                  <a:rPr dirty="0"/>
                  <a:t>Consider an example using Bayes Theorem for an </a:t>
                </a:r>
                <a:r>
                  <a:rPr b="1" dirty="0"/>
                  <a:t>hypothesis test</a:t>
                </a:r>
                <a:r>
                  <a:rPr dirty="0"/>
                  <a:t> given some data or </a:t>
                </a:r>
                <a:r>
                  <a:rPr b="1" dirty="0"/>
                  <a:t>evidence</a:t>
                </a:r>
              </a:p>
              <a:p>
                <a:pPr lvl="0"/>
                <a:r>
                  <a:rPr dirty="0"/>
                  <a:t>We must make an assertion of our </a:t>
                </a:r>
                <a:r>
                  <a:rPr b="1" dirty="0"/>
                  <a:t>prior probability</a:t>
                </a:r>
                <a:r>
                  <a:rPr lang="en-US" b="1" dirty="0"/>
                  <a:t> </a:t>
                </a:r>
                <a:r>
                  <a:rPr dirty="0"/>
                  <a:t>that the hypothesis is true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𝑝𝑟𝑖𝑜𝑟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ℎ𝑦𝑝𝑜𝑡ℎ𝑒𝑠𝑖𝑠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We also must choose a </a:t>
                </a:r>
                <a:r>
                  <a:rPr b="1" dirty="0"/>
                  <a:t>likelihood function </a:t>
                </a:r>
                <a:r>
                  <a:rPr lang="en-US" dirty="0"/>
                  <a:t>for</a:t>
                </a:r>
                <a:r>
                  <a:rPr dirty="0"/>
                  <a:t> the evidence given the hypothesis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𝐿𝑖𝑘𝑒𝑙𝑖ℎ𝑜𝑜𝑑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𝑒𝑣𝑖𝑑𝑒𝑛𝑐𝑒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 | 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ℎ𝑦𝑝𝑜𝑡ℎ𝑒𝑠𝑖𝑠</m:t>
                          </m: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2513" b="-1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Interpreting 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Now, we can think of Bayes’ theorem in the following terms: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𝑃𝑜𝑠𝑡𝑒𝑟𝑖𝑜𝑟</m:t>
                      </m:r>
                      <m:d>
                        <m:dPr>
                          <m:endChr m:val="|"/>
                          <m:ctrlPr>
                            <a:rPr lang="en-US" sz="1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ℎ𝑦𝑝𝑡ℎ𝑒𝑠𝑖𝑠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𝑒𝑣𝑖𝑑𝑒𝑛𝑐𝑒</m:t>
                      </m:r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7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𝐿𝑖𝑘𝑙𝑖ℎ𝑜𝑜𝑑</m:t>
                          </m:r>
                          <m:d>
                            <m:dPr>
                              <m:endChr m:val="|"/>
                              <m:ctrlP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𝑒𝑣𝑖𝑑𝑒𝑛𝑐𝑒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ℎ𝑦𝑝𝑜𝑡ℎ𝑒𝑠𝑖𝑠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𝑃𝑟𝑖𝑜𝑟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ℎ𝑦𝑝𝑜𝑡ℎ𝑒𝑠𝑖𝑠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𝑒𝑣𝑖𝑑𝑒𝑛𝑐𝑒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1700" dirty="0"/>
              </a:p>
              <a:p>
                <a:pPr lvl="0"/>
                <a:r>
                  <a:rPr lang="en-US" dirty="0"/>
                  <a:t>The denominator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𝑒𝑣𝑖𝑑𝑒𝑛𝑐𝑒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or </a:t>
                </a:r>
                <a:r>
                  <a:rPr lang="en-US" b="1" dirty="0"/>
                  <a:t>partition function</a:t>
                </a:r>
                <a:r>
                  <a:rPr lang="en-US" dirty="0"/>
                  <a:t> is problematic</a:t>
                </a:r>
              </a:p>
              <a:p>
                <a:pPr lvl="1"/>
                <a:r>
                  <a:rPr lang="en-US" dirty="0"/>
                  <a:t>Required to normalize the posterior distribution to range:</a:t>
                </a: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𝑃𝑜𝑠𝑡𝑒𝑟𝑖𝑜𝑟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ℎ𝑦𝑝𝑜𝑡ℎ𝑒𝑠𝑖𝑠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 | 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𝑒𝑣𝑖𝑑𝑒𝑛𝑐𝑒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Interpreting 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Denominator must account for all possible outcomes, or alternative hypotheses,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m:rPr>
                              <m:brk m:alnAt="7"/>
                            </m:r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𝑝𝑜𝑠𝑠𝑖𝑏𝑙𝑒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𝑎𝑙𝑡𝑒𝑟𝑛𝑎𝑡𝑖𝑣𝑒𝑠</m:t>
                          </m:r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𝐿𝑖𝑘𝑒𝑙𝑖ℎ𝑜𝑜𝑑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𝑒𝑣𝑖𝑑𝑒𝑛𝑐𝑒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𝑝𝑟𝑖𝑜𝑟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400" dirty="0"/>
              </a:p>
              <a:p>
                <a:pPr marL="0" lvl="0" indent="0">
                  <a:buNone/>
                </a:pPr>
                <a:r>
                  <a:rPr lang="en-US" dirty="0"/>
                  <a:t>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𝑃𝑜𝑠𝑡𝑒𝑟𝑖𝑜𝑟</m:t>
                      </m:r>
                      <m:d>
                        <m:dPr>
                          <m:endChr m:val="|"/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ℎ𝑦𝑝𝑡ℎ𝑒𝑠𝑖𝑠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𝑒𝑣𝑖𝑑𝑒𝑛𝑐𝑒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𝐿𝑖𝑘𝑙𝑖ℎ𝑜𝑜𝑑</m:t>
                          </m:r>
                          <m:d>
                            <m:dPr>
                              <m:endChr m:val="|"/>
                              <m:ctrlP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𝑒𝑣𝑖𝑑𝑒𝑛𝑐𝑒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ℎ𝑦𝑝𝑜𝑡ℎ𝑒𝑠𝑖𝑠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𝑃𝑟𝑖𝑜𝑟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ℎ𝑦𝑝𝑜𝑡ℎ𝑒𝑠𝑖𝑠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15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p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en-US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𝑝𝑜𝑠𝑠𝑖𝑏𝑙𝑒</m:t>
                              </m:r>
                              <m:r>
                                <a:rPr lang="en-US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𝑎𝑙𝑡𝑒𝑟𝑛𝑎𝑡𝑖𝑣𝑒𝑠</m:t>
                              </m:r>
                            </m:sub>
                            <m:sup/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𝐿𝑖𝑘𝑒𝑙𝑖ℎ𝑜𝑜𝑑</m:t>
                              </m:r>
                              <m:d>
                                <m:dPr>
                                  <m:ctrlP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𝑒𝑣𝑖𝑑𝑒𝑛𝑐𝑒</m:t>
                                  </m:r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𝑝𝑟𝑖𝑜𝑟</m:t>
                              </m:r>
                              <m:d>
                                <m:dPr>
                                  <m:ctrlP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sz="1500" dirty="0"/>
              </a:p>
              <a:p>
                <a:pPr marL="0" lvl="0" indent="0">
                  <a:buNone/>
                </a:pPr>
                <a:r>
                  <a:rPr lang="en-US" dirty="0"/>
                  <a:t>This is a formidable problem!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B9E73-E32C-EED7-5DA5-25324A7E2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45DBB-A350-571C-96C9-E59842868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351020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Bayes Theorem Example</a:t>
            </a:r>
          </a:p>
        </p:txBody>
      </p:sp>
    </p:spTree>
    <p:extLst>
      <p:ext uri="{BB962C8B-B14F-4D97-AF65-F5344CB8AC3E}">
        <p14:creationId xmlns:p14="http://schemas.microsoft.com/office/powerpoint/2010/main" val="4078460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Bayes Theorem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0032" y="1018525"/>
                <a:ext cx="8229600" cy="4041155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Hemophilia is a serious genetic condition expressed on any X chromosome</a:t>
                </a:r>
              </a:p>
              <a:p>
                <a:pPr lvl="0"/>
                <a:r>
                  <a:rPr lang="en-US" dirty="0"/>
                  <a:t>Women have two X chromosomes and are unlikely to exhibit hemophilia</a:t>
                </a:r>
              </a:p>
              <a:p>
                <a:pPr lvl="1"/>
                <a:r>
                  <a:rPr lang="en-US" sz="2300" dirty="0"/>
                  <a:t>One X chromosome inherited from each parent, </a:t>
                </a:r>
                <a:r>
                  <a:rPr lang="en-US" sz="2300" b="1" dirty="0"/>
                  <a:t>independent events </a:t>
                </a:r>
              </a:p>
              <a:p>
                <a:pPr lvl="1"/>
                <a:r>
                  <a:rPr lang="en-US" sz="2300" dirty="0"/>
                  <a:t>Must inherit hemophilia from both parents – very low probability</a:t>
                </a:r>
              </a:p>
              <a:p>
                <a:pPr lvl="0"/>
                <a:r>
                  <a:rPr lang="en-US" dirty="0"/>
                  <a:t>Men have one X chromosome and one Y chromosome</a:t>
                </a:r>
              </a:p>
              <a:p>
                <a:pPr lvl="1"/>
                <a:r>
                  <a:rPr lang="en-US" sz="2300" dirty="0"/>
                  <a:t>Inherit Y chromosome from the father</a:t>
                </a:r>
              </a:p>
              <a:p>
                <a:pPr lvl="1"/>
                <a:r>
                  <a:rPr lang="en-US" sz="2300" dirty="0"/>
                  <a:t>Inherit X chromosome, and possibly hemophilia, from their mother</a:t>
                </a:r>
              </a:p>
              <a:p>
                <a:pPr lvl="0"/>
                <a:r>
                  <a:rPr lang="en-US" dirty="0"/>
                  <a:t>Say a woman has a brother who exhibits hemophilia</a:t>
                </a:r>
              </a:p>
              <a:p>
                <a:pPr lvl="1"/>
                <a:r>
                  <a:rPr lang="en-US" sz="2300" dirty="0"/>
                  <a:t>X chromosome expression for woman’s mother is </a:t>
                </a:r>
                <a14:m>
                  <m:oMath xmlns:m="http://schemas.openxmlformats.org/officeDocument/2006/math">
                    <m:r>
                      <a:rPr lang="en-US" sz="230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300">
                        <a:latin typeface="Cambria Math" panose="02040503050406030204" pitchFamily="18" charset="0"/>
                      </a:rPr>
                      <m:t>=1.0→</m:t>
                    </m:r>
                  </m:oMath>
                </a14:m>
                <a:r>
                  <a:rPr lang="en-US" sz="2300" dirty="0"/>
                  <a:t> brother has hemophilia with </a:t>
                </a:r>
                <a14:m>
                  <m:oMath xmlns:m="http://schemas.openxmlformats.org/officeDocument/2006/math">
                    <m:r>
                      <a:rPr lang="en-US" sz="230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300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endParaRPr lang="en-US" sz="2300" dirty="0"/>
              </a:p>
              <a:p>
                <a:pPr lvl="1"/>
                <a:r>
                  <a:rPr lang="en-US" sz="2300" dirty="0"/>
                  <a:t>Woman’s father does not exhibit hemophilia, </a:t>
                </a:r>
                <a14:m>
                  <m:oMath xmlns:m="http://schemas.openxmlformats.org/officeDocument/2006/math">
                    <m:r>
                      <a:rPr lang="en-US" sz="230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300">
                        <a:latin typeface="Cambria Math" panose="02040503050406030204" pitchFamily="18" charset="0"/>
                      </a:rPr>
                      <m:t>=0→</m:t>
                    </m:r>
                  </m:oMath>
                </a14:m>
                <a:r>
                  <a:rPr lang="en-US" sz="2300" dirty="0"/>
                  <a:t> father has hemophilia with </a:t>
                </a:r>
                <a14:m>
                  <m:oMath xmlns:m="http://schemas.openxmlformats.org/officeDocument/2006/math">
                    <m:r>
                      <a:rPr lang="en-US" sz="230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300">
                        <a:latin typeface="Cambria Math" panose="02040503050406030204" pitchFamily="18" charset="0"/>
                      </a:rPr>
                      <m:t>=0.0</m:t>
                    </m:r>
                  </m:oMath>
                </a14:m>
                <a:endParaRPr lang="en-US" sz="2300" dirty="0"/>
              </a:p>
              <a:p>
                <a:r>
                  <a:rPr lang="en-US" sz="2600" dirty="0"/>
                  <a:t>Our </a:t>
                </a:r>
                <a:r>
                  <a:rPr lang="en-US" sz="2600" b="1" dirty="0"/>
                  <a:t>prior belief </a:t>
                </a:r>
                <a:r>
                  <a:rPr lang="en-US" sz="2600" dirty="0"/>
                  <a:t>that woman carries the genetic marker for hemophilia given independent inheritance from parents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0032" y="1018525"/>
                <a:ext cx="8229600" cy="4041155"/>
              </a:xfrm>
              <a:blipFill>
                <a:blip r:embed="rId2"/>
                <a:stretch>
                  <a:fillRect l="-741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Bayes Theorem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As evidence the woman has two sons (not identical twins) with no expression of hemophilia</a:t>
                </a:r>
              </a:p>
              <a:p>
                <a:pPr lvl="0"/>
                <a:r>
                  <a:rPr lang="en-US" dirty="0"/>
                  <a:t>What is the likelihood for the two sons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not having hemophilia?</a:t>
                </a:r>
              </a:p>
              <a:p>
                <a:pPr lvl="1"/>
                <a:r>
                  <a:rPr lang="en-US" dirty="0"/>
                  <a:t>Probability of woman carrying gene with expression of hemophilia: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17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70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ar-AE" sz="170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17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70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sz="170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Passing one or the other X chromosome to two sons are </a:t>
                </a:r>
                <a:r>
                  <a:rPr lang="en-US" b="1" dirty="0"/>
                  <a:t>independent events</a:t>
                </a:r>
                <a:endParaRPr lang="en-US" dirty="0"/>
              </a:p>
              <a:p>
                <a:pPr lvl="0"/>
                <a:r>
                  <a:rPr lang="en-US" b="1" dirty="0"/>
                  <a:t>Likelihoods</a:t>
                </a:r>
                <a:r>
                  <a:rPr lang="en-US" dirty="0"/>
                  <a:t> for two possible hypotheses:</a:t>
                </a:r>
                <a:endParaRPr lang="en-US" b="1" dirty="0"/>
              </a:p>
              <a:p>
                <a:pPr lvl="1"/>
                <a:r>
                  <a:rPr lang="en-US" b="1" dirty="0"/>
                  <a:t>Case 1: </a:t>
                </a:r>
                <a:r>
                  <a:rPr lang="en-US" dirty="0"/>
                  <a:t>woman caries one X chromosome with hemophilia expression,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=0|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=1.0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=(1.0−0.5) ×(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1.0−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=0.5 ×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0.5=0.25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b="1" dirty="0"/>
                  <a:t>Case 2:</a:t>
                </a:r>
                <a:r>
                  <a:rPr lang="en-US" dirty="0"/>
                  <a:t> woman does not carry an X chromosome with hemophilia expression,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=0,</m:t>
                          </m:r>
                          <m:sSub>
                            <m:sSubPr>
                              <m:ctrlP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=0| 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=0.0</m:t>
                          </m:r>
                        </m:e>
                      </m:d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(1.0−0.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) ×(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1.0−0.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1.0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1.0</m:t>
                      </m:r>
                      <m:r>
                        <a:rPr lang="en-US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1.0</m:t>
                      </m:r>
                    </m:oMath>
                  </m:oMathPara>
                </a14:m>
                <a:endParaRPr lang="en-US" sz="2100" dirty="0"/>
              </a:p>
              <a:p>
                <a:pPr marL="0" lvl="0" indent="0">
                  <a:buNone/>
                </a:pPr>
                <a:r>
                  <a:rPr lang="en-US" dirty="0"/>
                  <a:t>Note: we are neglecting the very low probability of a mutations in one of the sons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2"/>
                <a:stretch>
                  <a:fillRect l="-667" t="-2121" r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Bayes Theorem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Use Bayes theorem to compute probability woman carries an X chromosome with hemophilia expression,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can now define all the quantities we need:   </a:t>
                </a:r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Prior probability of hypothesis, no marker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=1−0.5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sz="2000" b="0" dirty="0"/>
              </a:p>
              <a:p>
                <a:r>
                  <a:rPr lang="en-US" sz="2000" dirty="0"/>
                  <a:t>Likelihood of hypothesis, no marker </a:t>
                </a: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=0|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=0.0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sz="2000" b="0" dirty="0"/>
              </a:p>
              <a:p>
                <a:r>
                  <a:rPr lang="en-US" sz="2000" dirty="0"/>
                  <a:t>Prior probability of hypothesis, marker, 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sz="2000" b="0" dirty="0"/>
              </a:p>
              <a:p>
                <a:r>
                  <a:rPr lang="en-US" sz="2000" dirty="0"/>
                  <a:t>Likelihood of hypothesis, marker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=0,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=0|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=1.0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=0.25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3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Bayes Theorem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29"/>
                <a:ext cx="8229600" cy="3879849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Use Bayes theorem to compute probability woman carries an X chromosome with hemophilia expression,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 |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endParaRPr lang="en-US" sz="12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 |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0.25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×0.5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0.25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×0.5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+1.0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×0.5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=0.20</m:t>
                      </m:r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Given the </a:t>
                </a:r>
                <a:r>
                  <a:rPr lang="en-US" b="1" dirty="0"/>
                  <a:t>evidence</a:t>
                </a:r>
                <a:r>
                  <a:rPr lang="en-US" dirty="0"/>
                  <a:t> of two sons without hemophilia we </a:t>
                </a:r>
                <a:r>
                  <a:rPr lang="en-US" b="1" dirty="0"/>
                  <a:t>update our belief </a:t>
                </a:r>
                <a:r>
                  <a:rPr lang="en-US" dirty="0"/>
                  <a:t>for the woman carrying the disease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 |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𝑝𝑟𝑖𝑜𝑟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𝑏𝑒𝑙𝑖𝑒𝑓</m:t>
                          </m:r>
                        </m:lim>
                      </m:limLow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⟹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𝑛𝑒𝑤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𝑒𝑣𝑖𝑑𝑒𝑛𝑐𝑒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limLow>
                        <m:limLow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 | 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ar-AE" i="0" dirty="0"/>
                            <m:t> </m:t>
                          </m:r>
                        </m:e>
                        <m:li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𝑛𝑒𝑤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𝑏𝑒𝑙𝑖𝑒𝑓</m:t>
                          </m:r>
                        </m:lim>
                      </m:limLow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29"/>
                <a:ext cx="8229600" cy="3879849"/>
              </a:xfrm>
              <a:blipFill>
                <a:blip r:embed="rId2"/>
                <a:stretch>
                  <a:fillRect l="-1111" t="-2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075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BD552-C6F9-5E6A-3225-5A321E31A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52B31-2210-B7A5-0D73-2FF5C7111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351020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Marginal Distributions</a:t>
            </a:r>
          </a:p>
        </p:txBody>
      </p:sp>
    </p:spTree>
    <p:extLst>
      <p:ext uri="{BB962C8B-B14F-4D97-AF65-F5344CB8AC3E}">
        <p14:creationId xmlns:p14="http://schemas.microsoft.com/office/powerpoint/2010/main" val="25204400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Marginal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29"/>
                <a:ext cx="8229600" cy="3844436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sz="2000" dirty="0"/>
                  <a:t>In many cases we are interested in the </a:t>
                </a:r>
                <a:r>
                  <a:rPr sz="2000" b="1" dirty="0"/>
                  <a:t>marginal distribution</a:t>
                </a:r>
              </a:p>
              <a:p>
                <a:pPr lvl="0"/>
                <a:r>
                  <a:rPr sz="2000" dirty="0"/>
                  <a:t>Example, it is often the case that only one or a few parameters of a joint distribution will be of interest</a:t>
                </a:r>
              </a:p>
              <a:p>
                <a:pPr lvl="1"/>
                <a:r>
                  <a:rPr sz="2000" dirty="0"/>
                  <a:t>In other words, we are interested in the marginal distribution of these parameters</a:t>
                </a:r>
              </a:p>
              <a:p>
                <a:pPr lvl="1"/>
                <a:r>
                  <a:rPr sz="2000" dirty="0"/>
                  <a:t>The denominator of Bayes theorem,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sz="20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000">
                            <a:latin typeface="Cambria Math" panose="02040503050406030204" pitchFamily="18" charset="0"/>
                          </a:rPr>
                          <m:t>𝑑𝑎𝑡𝑎</m:t>
                        </m:r>
                      </m:e>
                    </m:d>
                  </m:oMath>
                </a14:m>
                <a:r>
                  <a:rPr sz="2000" dirty="0"/>
                  <a:t>, can be computed as a marginal distribution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29"/>
                <a:ext cx="8229600" cy="3844436"/>
              </a:xfrm>
              <a:blipFill>
                <a:blip r:embed="rId2"/>
                <a:stretch>
                  <a:fillRect l="-741" t="-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Marginal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22860"/>
                <a:ext cx="8229600" cy="3641118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sz="2000" dirty="0"/>
                  <a:t>In many cases we are interested in the </a:t>
                </a:r>
                <a:r>
                  <a:rPr sz="2000" b="1" dirty="0"/>
                  <a:t>marginal distribution</a:t>
                </a:r>
              </a:p>
              <a:p>
                <a:pPr lvl="0"/>
                <a:r>
                  <a:rPr sz="2000" dirty="0"/>
                  <a:t>Consider a multivariate probability density function with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000" dirty="0"/>
                  <a:t> variables,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20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20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20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sz="200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sz="20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sz="2000" dirty="0"/>
              </a:p>
              <a:p>
                <a:pPr lvl="1"/>
                <a:r>
                  <a:rPr sz="2000" b="1" dirty="0"/>
                  <a:t>Marginal distribution</a:t>
                </a:r>
                <a:r>
                  <a:rPr sz="2000" dirty="0"/>
                  <a:t> is the distribution of one variable with the others integrated out.</a:t>
                </a:r>
              </a:p>
              <a:p>
                <a:pPr lvl="1"/>
                <a:r>
                  <a:rPr sz="2000" dirty="0"/>
                  <a:t>Integrate over all other variables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sz="2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0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200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sz="2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0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sz="20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200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000" dirty="0"/>
                  <a:t> the result is the marginal distribution,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20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sz="2000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0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sz="20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>
                          <m:r>
                            <a:rPr sz="20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sz="2000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sz="200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sz="2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200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sz="200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sz="200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sz="2000" dirty="0"/>
              </a:p>
              <a:p>
                <a:pPr lvl="0"/>
                <a:r>
                  <a:rPr sz="2000" dirty="0"/>
                  <a:t>For discrete distribution the above is a summation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sz="200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sz="20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>
                          <m:r>
                            <a:rPr sz="20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 sz="200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22860"/>
                <a:ext cx="8229600" cy="3641118"/>
              </a:xfrm>
              <a:blipFill>
                <a:blip r:embed="rId2"/>
                <a:stretch>
                  <a:fillRect l="-741" t="-836" r="-1259" b="-14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76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837007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Example: Marginal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0" y="1076326"/>
                <a:ext cx="3806141" cy="3777325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sz="1600" b="1" dirty="0"/>
                  <a:t>Marginal distributions</a:t>
                </a:r>
                <a:r>
                  <a:rPr sz="1600" dirty="0"/>
                  <a:t> of multivariate Normal with </a:t>
                </a:r>
                <a14:m>
                  <m:oMath xmlns:m="http://schemas.openxmlformats.org/officeDocument/2006/math">
                    <m:r>
                      <a:rPr sz="1600">
                        <a:latin typeface="Cambria Math" panose="02040503050406030204" pitchFamily="18" charset="0"/>
                      </a:rPr>
                      <m:t>𝜇</m:t>
                    </m:r>
                    <m:r>
                      <a:rPr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sz="16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1600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sz="1600" dirty="0"/>
                  <a:t> and </a:t>
                </a:r>
                <a14:m>
                  <m:oMath xmlns:m="http://schemas.openxmlformats.org/officeDocument/2006/math">
                    <m:r>
                      <a:rPr sz="1600">
                        <a:latin typeface="Cambria Math" panose="02040503050406030204" pitchFamily="18" charset="0"/>
                      </a:rPr>
                      <m:t>𝜎</m:t>
                    </m:r>
                    <m:r>
                      <a:rPr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1.0</m:t>
                              </m:r>
                            </m:e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0.0</m:t>
                              </m:r>
                            </m:e>
                          </m:mr>
                          <m:mr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0.0</m:t>
                              </m:r>
                            </m:e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1.0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1600" dirty="0"/>
              </a:p>
              <a:p>
                <a:pPr marL="0" lvl="0" indent="0">
                  <a:buNone/>
                </a:pPr>
                <a:r>
                  <a:rPr sz="1600" dirty="0"/>
                  <a:t>Marginal distributions </a:t>
                </a:r>
                <a:r>
                  <a:rPr sz="1600" b="1" dirty="0"/>
                  <a:t>displayed on margins</a:t>
                </a:r>
                <a:r>
                  <a:rPr sz="1600" dirty="0"/>
                  <a:t> of scatter plot</a:t>
                </a:r>
              </a:p>
              <a:p>
                <a:pPr lvl="0" indent="0">
                  <a:buNone/>
                </a:pPr>
                <a:r>
                  <a:rPr sz="1600" dirty="0">
                    <a:latin typeface="Courier"/>
                  </a:rPr>
                  <a:t>## For x mean = -0.01325  variance = 0.9566
## For y mean = -0.02551 variance = 1.0102</a:t>
                </a:r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0" y="1076326"/>
                <a:ext cx="3806141" cy="3777325"/>
              </a:xfrm>
              <a:blipFill>
                <a:blip r:embed="rId2"/>
                <a:stretch>
                  <a:fillRect l="-801" t="-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03b_WhenOneThingDependsOnAother_files/figure-pptx/unnamed-chunk-2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174603" y="149184"/>
            <a:ext cx="4948499" cy="494849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736693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Example: Marginal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076326"/>
                <a:ext cx="3736693" cy="3518297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sz="1600" b="1" dirty="0"/>
                  <a:t>Marginal distributions</a:t>
                </a:r>
                <a:r>
                  <a:rPr sz="1600" dirty="0"/>
                  <a:t> of multivariate Normal with </a:t>
                </a:r>
                <a14:m>
                  <m:oMath xmlns:m="http://schemas.openxmlformats.org/officeDocument/2006/math">
                    <m:r>
                      <a:rPr sz="1600">
                        <a:latin typeface="Cambria Math" panose="02040503050406030204" pitchFamily="18" charset="0"/>
                      </a:rPr>
                      <m:t>𝜇</m:t>
                    </m:r>
                    <m:r>
                      <a:rPr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sz="16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1600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sz="1600" dirty="0"/>
                  <a:t> and </a:t>
                </a:r>
                <a14:m>
                  <m:oMath xmlns:m="http://schemas.openxmlformats.org/officeDocument/2006/math">
                    <m:r>
                      <a:rPr sz="1600">
                        <a:latin typeface="Cambria Math" panose="02040503050406030204" pitchFamily="18" charset="0"/>
                      </a:rPr>
                      <m:t>𝜎</m:t>
                    </m:r>
                    <m:r>
                      <a:rPr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1.0</m:t>
                              </m:r>
                            </m:e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mr>
                          <m:mr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1.0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1600" dirty="0"/>
              </a:p>
              <a:p>
                <a:pPr marL="0" lvl="0" indent="0">
                  <a:buNone/>
                </a:pPr>
                <a:r>
                  <a:rPr sz="1600" dirty="0"/>
                  <a:t>Marginal distributions </a:t>
                </a:r>
                <a:r>
                  <a:rPr sz="1600" b="1" dirty="0"/>
                  <a:t>displayed on margins</a:t>
                </a:r>
                <a:r>
                  <a:rPr sz="1600" dirty="0"/>
                  <a:t> of scatter plot</a:t>
                </a:r>
              </a:p>
              <a:p>
                <a:pPr lvl="0" indent="0">
                  <a:buNone/>
                </a:pPr>
                <a:r>
                  <a:rPr sz="1600" dirty="0">
                    <a:latin typeface="Courier"/>
                  </a:rPr>
                  <a:t>## For x mean = -0.002385 variance = 1.0666
## For y mean = -0.001179  variance = 1.0008308</a:t>
                </a:r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076326"/>
                <a:ext cx="3736693" cy="3518297"/>
              </a:xfrm>
              <a:blipFill>
                <a:blip r:embed="rId2"/>
                <a:stretch>
                  <a:fillRect l="-816" t="-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03b_WhenOneThingDependsOnAother_files/figure-pptx/unnamed-chunk-3-3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164635" y="141870"/>
            <a:ext cx="4859759" cy="485975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860156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000" dirty="0"/>
              <a:t>Example: Marginal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16689" y="1076326"/>
                <a:ext cx="3742481" cy="3518297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sz="1600" b="1" dirty="0"/>
                  <a:t>Marginal distributions</a:t>
                </a:r>
                <a:r>
                  <a:rPr sz="1600" dirty="0"/>
                  <a:t> of multivariate Normal with </a:t>
                </a:r>
                <a14:m>
                  <m:oMath xmlns:m="http://schemas.openxmlformats.org/officeDocument/2006/math">
                    <m:r>
                      <a:rPr sz="1600">
                        <a:latin typeface="Cambria Math" panose="02040503050406030204" pitchFamily="18" charset="0"/>
                      </a:rPr>
                      <m:t>𝜇</m:t>
                    </m:r>
                    <m:r>
                      <a:rPr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sz="16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1600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sz="1600" dirty="0"/>
                  <a:t> and </a:t>
                </a:r>
                <a14:m>
                  <m:oMath xmlns:m="http://schemas.openxmlformats.org/officeDocument/2006/math">
                    <m:r>
                      <a:rPr sz="1600">
                        <a:latin typeface="Cambria Math" panose="02040503050406030204" pitchFamily="18" charset="0"/>
                      </a:rPr>
                      <m:t>𝜎</m:t>
                    </m:r>
                    <m:r>
                      <a:rPr sz="16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1.0</m:t>
                              </m:r>
                            </m:e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0.9</m:t>
                              </m:r>
                            </m:e>
                          </m:mr>
                          <m:mr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0.9</m:t>
                              </m:r>
                            </m:e>
                            <m:e>
                              <m:r>
                                <a:rPr sz="1600">
                                  <a:latin typeface="Cambria Math" panose="02040503050406030204" pitchFamily="18" charset="0"/>
                                </a:rPr>
                                <m:t>1.0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1600" dirty="0"/>
              </a:p>
              <a:p>
                <a:pPr marL="0" lvl="0" indent="0">
                  <a:buNone/>
                </a:pPr>
                <a:r>
                  <a:rPr sz="1600" dirty="0"/>
                  <a:t>Marginal distributions </a:t>
                </a:r>
                <a:r>
                  <a:rPr sz="1600" b="1" dirty="0"/>
                  <a:t>displayed on margins</a:t>
                </a:r>
                <a:r>
                  <a:rPr sz="1600" dirty="0"/>
                  <a:t> of scatter plot</a:t>
                </a:r>
              </a:p>
              <a:p>
                <a:pPr lvl="0" indent="0">
                  <a:buNone/>
                </a:pPr>
                <a:r>
                  <a:rPr sz="1600" dirty="0">
                    <a:latin typeface="Courier"/>
                  </a:rPr>
                  <a:t>## For x mean = -0.01932  variance = 1.0163
## For y mean = -0.02933 variance = 0.9952</a:t>
                </a:r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16689" y="1076326"/>
                <a:ext cx="3742481" cy="3518297"/>
              </a:xfrm>
              <a:blipFill>
                <a:blip r:embed="rId2"/>
                <a:stretch>
                  <a:fillRect l="-814" t="-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03b_WhenOneThingDependsOnAother_files/figure-pptx/unnamed-chunk-4-5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193893" y="131180"/>
            <a:ext cx="4884516" cy="488451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2F21C-DFB5-AFF6-7158-97811A2F1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2011E-2F31-A9F3-D925-390F80E47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351020"/>
            <a:ext cx="7772400" cy="1021556"/>
          </a:xfrm>
        </p:spPr>
        <p:txBody>
          <a:bodyPr/>
          <a:lstStyle/>
          <a:p>
            <a:pPr algn="ctr"/>
            <a:r>
              <a:rPr lang="en-US" cap="none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8681193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29"/>
                <a:ext cx="8229600" cy="3720974"/>
              </a:xfrm>
            </p:spPr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Conditional probability</a:t>
                </a:r>
              </a:p>
              <a:p>
                <a:r>
                  <a:rPr dirty="0"/>
                  <a:t>One random variable depends on another</a:t>
                </a:r>
              </a:p>
              <a:p>
                <a:r>
                  <a:rPr dirty="0"/>
                  <a:t>But not commutable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⇎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Mutually exclusivity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/>
                  <a:t>Independence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0"/>
                <a:r>
                  <a:rPr lang="en-US" dirty="0"/>
                  <a:t>Bayes’ theorem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29"/>
                <a:ext cx="8229600" cy="3720974"/>
              </a:xfrm>
              <a:blipFill>
                <a:blip r:embed="rId2"/>
                <a:stretch>
                  <a:fillRect l="-741" t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 algn="l">
              <a:buNone/>
            </a:pPr>
            <a:r>
              <a:rPr sz="2800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dirty="0"/>
                  <a:t>Marginal distribution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 sz="240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ar-AE" sz="2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ar-AE" sz="2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 sz="2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ar-AE" sz="2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 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ar-AE" sz="24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40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ar-AE" sz="24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lvl="0" indent="0">
                  <a:buNone/>
                </a:pPr>
                <a:r>
                  <a:rPr lang="en-US" dirty="0"/>
                  <a:t>Or,</a:t>
                </a:r>
                <a:endParaRPr lang="ar-AE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2257</TotalTime>
  <Words>2300</Words>
  <Application>Microsoft Office PowerPoint</Application>
  <PresentationFormat>On-screen Show (16:9)</PresentationFormat>
  <Paragraphs>260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Cambria Math</vt:lpstr>
      <vt:lpstr>Courier</vt:lpstr>
      <vt:lpstr>Office Theme</vt:lpstr>
      <vt:lpstr>When One Thing Depends on Another; Conditional Probability</vt:lpstr>
      <vt:lpstr>Introduction</vt:lpstr>
      <vt:lpstr>Introduction to Conditional Probability</vt:lpstr>
      <vt:lpstr>Properties of Conditional Probability</vt:lpstr>
      <vt:lpstr>Properties of Conditional Probability</vt:lpstr>
      <vt:lpstr>Properties of Conditional Probability</vt:lpstr>
      <vt:lpstr>Set Operations with Conditional Probability</vt:lpstr>
      <vt:lpstr>Set Operations and Probability</vt:lpstr>
      <vt:lpstr>Set Operations and Probability</vt:lpstr>
      <vt:lpstr>Independence and Mutual Exclusivity</vt:lpstr>
      <vt:lpstr>Independence and Mutual Exclusivity</vt:lpstr>
      <vt:lpstr>Independence</vt:lpstr>
      <vt:lpstr>Mutual Exclusivity</vt:lpstr>
      <vt:lpstr>Example of Conditional Probability</vt:lpstr>
      <vt:lpstr>Conditional Probability Example</vt:lpstr>
      <vt:lpstr>Conditional Probability Example</vt:lpstr>
      <vt:lpstr>Conditional Probability Example</vt:lpstr>
      <vt:lpstr>Conditional Probability Example</vt:lpstr>
      <vt:lpstr>Conditional Probability Example</vt:lpstr>
      <vt:lpstr>Conditional Probability Example</vt:lpstr>
      <vt:lpstr>Bayes Theorem</vt:lpstr>
      <vt:lpstr>Conditional Distributions and Bayes’ Theorem</vt:lpstr>
      <vt:lpstr>Interpreting Bayes Theorem</vt:lpstr>
      <vt:lpstr>Interpreting Bayes Theorem</vt:lpstr>
      <vt:lpstr>Interpreting Bayes Theorem</vt:lpstr>
      <vt:lpstr>Bayes Theorem Example</vt:lpstr>
      <vt:lpstr>Bayes Theorem Example</vt:lpstr>
      <vt:lpstr>Bayes Theorem Example</vt:lpstr>
      <vt:lpstr>Bayes Theorem Example</vt:lpstr>
      <vt:lpstr>Bayes Theorem Example</vt:lpstr>
      <vt:lpstr>Marginal Distributions</vt:lpstr>
      <vt:lpstr>Marginal Distributions</vt:lpstr>
      <vt:lpstr>Marginal Distributions</vt:lpstr>
      <vt:lpstr>Example: Marginal Distribution</vt:lpstr>
      <vt:lpstr>Example: Marginal Distribution</vt:lpstr>
      <vt:lpstr>Example: Marginal Distribution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One Thing Depends on Another; Conditional Probability</dc:title>
  <dc:creator>Steve Elston</dc:creator>
  <cp:keywords/>
  <cp:lastModifiedBy>Stephen Elston</cp:lastModifiedBy>
  <cp:revision>109</cp:revision>
  <dcterms:created xsi:type="dcterms:W3CDTF">2024-08-06T02:41:33Z</dcterms:created>
  <dcterms:modified xsi:type="dcterms:W3CDTF">2026-10-14T00:06:00Z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09/18/2023</vt:lpwstr>
  </property>
  <property fmtid="{D5CDD505-2E9C-101B-9397-08002B2CF9AE}" pid="3" name="output">
    <vt:lpwstr/>
  </property>
</Properties>
</file>