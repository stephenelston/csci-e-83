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7" r:id="rId2"/>
    <p:sldId id="351" r:id="rId3"/>
    <p:sldId id="348" r:id="rId4"/>
    <p:sldId id="350" r:id="rId5"/>
    <p:sldId id="454" r:id="rId6"/>
    <p:sldId id="451" r:id="rId7"/>
    <p:sldId id="442" r:id="rId8"/>
    <p:sldId id="443" r:id="rId9"/>
    <p:sldId id="44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262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2FC7A-E973-42CE-8B3B-95254435565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8D45C-5DB3-4080-9B6D-B88F3CE3E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91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292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854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4AAE-290C-4A33-AF54-C8EFA8FA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D47D1-BFC7-A5CC-B070-E0558BFB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985B8-E44E-0ED9-1B79-987FC5393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81760-6B7C-97AC-0A44-7CF68C5FA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00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90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867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680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45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8037-BC01-5433-3D4E-249057717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76437-5EFD-2355-5528-2508D15DA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0BA4E-4883-1745-5FD6-5CBBD4CC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95B6D-18DC-B767-A0BB-8DD036B5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D0A7C-8F72-AEFC-9D1C-E0590E07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80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6927-F588-8397-3E5C-DB021F57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FDFF-9B8E-A1D6-70C7-A0B1EA575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E40A8-6C30-C03E-E3F5-7F7B96DD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A1E73-17E0-67B3-B693-BA1EEB70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BA624-FC6E-5EF1-BC04-4E741F971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49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8F93-41DA-AF94-59D4-1E49EA5A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41203-C6E0-63BC-07FC-A56314466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F685-DDD8-CD51-11E0-56759C67D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F8E58-3FCF-CC0B-E323-E2BB3F16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33A25-9CCB-8FDF-CD56-1E8E447D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1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E4EA3-79C7-9B0C-2723-A9B5B81B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0B07-A7E4-42CF-BBC1-87BDDB6FA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0E3C1-8083-27BB-2B55-43EAF5102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1A437-E5A2-0C8E-70BE-7304C6EDE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7CF12-43E8-9D5D-A5A0-1EB2A8C5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4BDDE-F21E-75FF-E750-02B13378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2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667D1-DE01-BB7B-7998-0218E236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6666D-FE77-4025-4C11-3C4EF9EE2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F51DD-F143-C1A4-5AAE-AE52956C1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F053A-CA45-0343-E0AD-CA40BAA02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63D822-5B0A-5A18-6122-B4D2B9389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F87F3-A444-3364-A028-531E4241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0DFB4-C793-BB95-96C1-BFA66B1B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E2B06-9081-B3FD-E78F-191C6532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4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EDFE-E493-910A-F67B-C1A8FCA69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8867-B34A-69A7-E9C5-F7539D8A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BD90B-38EF-2C1B-6C6D-B9A8BA00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CB8EB-2F8D-C396-D227-DBEC671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3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1BFFE-8430-8B51-0F72-963440B3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1675C-6502-30AB-A1C9-804285EB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22F85-FAA0-3D67-A0A5-4C6D6BE8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81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1C88-7097-6231-1294-42771D76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B46D-E20D-75B0-945C-DCCE57FA7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56764-8215-F326-5567-0946EDB41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78192-5238-FA46-C0D1-29207929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91259-5DF6-2CFC-9C71-FD9655B6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1D9DF-D15E-2670-8600-566920DC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3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D4B6-070A-1A61-DB33-04443847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47241-DD2D-CA57-3935-40E2FC572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A299B-01D8-9520-B42B-7B245DB6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216AA-CE73-4D1F-350C-EB0A34B9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65A88-6B49-0FEF-5D5D-26A75DFC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622BA-788C-49CE-2B6C-F7472583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9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8731-7337-E74D-6B7F-188C3D8D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1AE9B-22DE-E71F-0271-FC50EF78F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F888E-1CF7-03DD-6C20-732D6FE1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052A-F842-27B3-4A70-92D65EFA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64BF9-AA6E-54A6-66F7-4A6D2B07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2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6F83E0-D9EA-529C-CF39-EC59209C2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99919-B96D-7F71-19D0-2EFACC9CA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AF25-37A8-A433-255D-FA21E6B0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3E4D9-A2A8-0729-007A-142142F1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6A26F-F44A-56EC-93BC-B12B4CC7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15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375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A49B6-60DA-2B98-B8A2-447AC451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E2DD3-B2C2-F873-8068-D77008EEF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25A02-00FE-B9EB-0D76-CDB23A0A6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4B50B-C03D-4197-9B27-39682D440B9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ECD5B-C0AD-ACE7-7C2A-67D6AB75D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64A2-4838-1F76-6C3C-A711FE77E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30EC5-F0A3-4213-B016-BE34F03A2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0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urier_transfor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urier_transfor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urier_transfor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hyperlink" Target="https://en.wikipedia.org/wiki/Fourier_transfor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spillustrations.com/pages/posts/misc/the-convolution-theorem-and-application-examples.html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89338"/>
            <a:ext cx="10363200" cy="2021148"/>
          </a:xfrm>
        </p:spPr>
        <p:txBody>
          <a:bodyPr/>
          <a:lstStyle/>
          <a:p>
            <a:r>
              <a:rPr lang="en-US" b="1" dirty="0"/>
              <a:t>Spectral Properties of Time Series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505277"/>
            <a:ext cx="8534400" cy="751068"/>
          </a:xfrm>
        </p:spPr>
        <p:txBody>
          <a:bodyPr>
            <a:normAutofit fontScale="47500" lnSpcReduction="20000"/>
          </a:bodyPr>
          <a:lstStyle/>
          <a:p>
            <a:br>
              <a:rPr dirty="0"/>
            </a:br>
            <a:br>
              <a:rPr dirty="0"/>
            </a:br>
            <a:r>
              <a:rPr sz="7866" b="1" dirty="0"/>
              <a:t>Steve Elston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090" y="4879249"/>
            <a:ext cx="3127737" cy="128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2407035" y="6274275"/>
            <a:ext cx="7659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7" dirty="0"/>
              <a:t>Copyright 2025 Stephen F Elston. All rights reserved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Time Series</a:t>
            </a:r>
          </a:p>
        </p:txBody>
      </p:sp>
      <p:sp>
        <p:nvSpPr>
          <p:cNvPr id="145" name="Content Placeholder 6">
            <a:extLst>
              <a:ext uri="{FF2B5EF4-FFF2-40B4-BE49-F238E27FC236}">
                <a16:creationId xmlns:a16="http://schemas.microsoft.com/office/drawing/2014/main" id="{ABB524EF-63A0-4CDC-BEC9-C95141F0F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194318"/>
            <a:ext cx="11133947" cy="5416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GB" b="1" dirty="0">
                <a:ea typeface="Segoe UI" panose="020B0502040204020203" pitchFamily="34" charset="0"/>
                <a:cs typeface="Segoe UI" panose="020B0502040204020203" pitchFamily="34" charset="0"/>
              </a:rPr>
              <a:t>power spectrum </a:t>
            </a: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of an image reveals fundamental properties</a:t>
            </a:r>
            <a:endParaRPr lang="en-GB" b="1" dirty="0"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Power spectrum reveals frequency components of a time series</a:t>
            </a:r>
          </a:p>
          <a:p>
            <a:r>
              <a:rPr lang="en-US" b="1" dirty="0">
                <a:ea typeface="Segoe UI" panose="020B0502040204020203" pitchFamily="34" charset="0"/>
                <a:cs typeface="Segoe UI" panose="020B0502040204020203" pitchFamily="34" charset="0"/>
              </a:rPr>
              <a:t>Low frequency </a:t>
            </a: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components represent regions with slowly changing properties  </a:t>
            </a:r>
          </a:p>
          <a:p>
            <a:r>
              <a:rPr lang="en-US" b="1" dirty="0">
                <a:ea typeface="Segoe UI" panose="020B0502040204020203" pitchFamily="34" charset="0"/>
                <a:cs typeface="Segoe UI" panose="020B0502040204020203" pitchFamily="34" charset="0"/>
              </a:rPr>
              <a:t>High frequency </a:t>
            </a: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components arise from </a:t>
            </a:r>
            <a:r>
              <a:rPr lang="en-US" b="1" dirty="0">
                <a:ea typeface="Segoe UI" panose="020B0502040204020203" pitchFamily="34" charset="0"/>
                <a:cs typeface="Segoe UI" panose="020B0502040204020203" pitchFamily="34" charset="0"/>
              </a:rPr>
              <a:t>local features</a:t>
            </a: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 with rapid changes </a:t>
            </a:r>
          </a:p>
          <a:p>
            <a:r>
              <a:rPr lang="en-US" b="1" dirty="0">
                <a:ea typeface="Segoe UI" panose="020B0502040204020203" pitchFamily="34" charset="0"/>
                <a:cs typeface="Segoe UI" panose="020B0502040204020203" pitchFamily="34" charset="0"/>
              </a:rPr>
              <a:t>Filtering</a:t>
            </a: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 changes the power spectrum of a time series</a:t>
            </a:r>
            <a:endParaRPr lang="en-GB" b="1" dirty="0"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7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ABB524EF-63A0-4CDC-BEC9-C95141F0FBC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194318"/>
                <a:ext cx="11133947" cy="54164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We can decompose an image into frequency components using a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Fourier transform</a:t>
                </a:r>
                <a:endParaRPr lang="en-GB" b="1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The Fourier transform decomposes a signal into frequency components</a:t>
                </a:r>
              </a:p>
              <a:p>
                <a:pPr lvl="1"/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Is a linear transform from time domain to frequency domain </a:t>
                </a: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The 1-dimensional Fourier transform of a function,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, can be expressed: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is the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complex spectrum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lvl="1"/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Imaginary component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is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at frequency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𝝎</m:t>
                    </m:r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lvl="1"/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of the complex number is amplitude at frequency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𝝎</m:t>
                    </m:r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ABB524EF-63A0-4CDC-BEC9-C95141F0F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194318"/>
                <a:ext cx="11133947" cy="5416421"/>
              </a:xfrm>
              <a:blipFill>
                <a:blip r:embed="rId4"/>
                <a:stretch>
                  <a:fillRect l="-1150" t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2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ABB524EF-63A0-4CDC-BEC9-C95141F0FBC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194318"/>
                <a:ext cx="7187938" cy="54164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We can decompose an image into frequency components using a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Fourier transform</a:t>
                </a:r>
                <a:endParaRPr lang="en-GB" b="1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The Fourier transform decomposes a signal into frequency components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" panose="020B0502040204020203" pitchFamily="34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is the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complex spectrum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lvl="1"/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Imaginary component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is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at frequency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lvl="1"/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of the complex number is the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signal amplitude </a:t>
                </a: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at frequency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</m:oMath>
                </a14:m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ABB524EF-63A0-4CDC-BEC9-C95141F0F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194318"/>
                <a:ext cx="7187938" cy="5416421"/>
              </a:xfrm>
              <a:blipFill>
                <a:blip r:embed="rId4"/>
                <a:stretch>
                  <a:fillRect l="-1781" t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0ADD14-91B9-4386-97E1-8449DF272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313" y="1044631"/>
            <a:ext cx="3733767" cy="38115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30EF95-5DB6-4B40-A048-FEC1BE62BC97}"/>
              </a:ext>
            </a:extLst>
          </p:cNvPr>
          <p:cNvCxnSpPr/>
          <p:nvPr/>
        </p:nvCxnSpPr>
        <p:spPr>
          <a:xfrm>
            <a:off x="8850702" y="2092303"/>
            <a:ext cx="301845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4AE902-8E07-4EEB-A893-578164BF9A73}"/>
              </a:ext>
            </a:extLst>
          </p:cNvPr>
          <p:cNvCxnSpPr>
            <a:cxnSpLocks/>
          </p:cNvCxnSpPr>
          <p:nvPr/>
        </p:nvCxnSpPr>
        <p:spPr>
          <a:xfrm>
            <a:off x="9961418" y="3613858"/>
            <a:ext cx="190773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F4D1F5-FDB5-41A1-B1E0-653DF59DE9E0}"/>
              </a:ext>
            </a:extLst>
          </p:cNvPr>
          <p:cNvSpPr txBox="1"/>
          <p:nvPr/>
        </p:nvSpPr>
        <p:spPr>
          <a:xfrm rot="5400000">
            <a:off x="10710260" y="2634021"/>
            <a:ext cx="1794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Amplitude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F9D45-8C29-4896-B438-6BF0FF3DA4AF}"/>
              </a:ext>
            </a:extLst>
          </p:cNvPr>
          <p:cNvSpPr txBox="1"/>
          <p:nvPr/>
        </p:nvSpPr>
        <p:spPr>
          <a:xfrm>
            <a:off x="7780549" y="6241407"/>
            <a:ext cx="339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Credit, Wikipedia commons</a:t>
            </a:r>
            <a:endParaRPr lang="en-US" dirty="0">
              <a:latin typeface="Symbol" panose="05050102010706020507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9AFCA-0317-4DBC-A71C-9D4FF15EF192}"/>
              </a:ext>
            </a:extLst>
          </p:cNvPr>
          <p:cNvSpPr txBox="1"/>
          <p:nvPr/>
        </p:nvSpPr>
        <p:spPr>
          <a:xfrm>
            <a:off x="7737356" y="4936014"/>
            <a:ext cx="4454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sinusoidal signals with identical frequency and amplitude, phase shifted by </a:t>
            </a:r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37716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61A3-D767-BA37-929C-74989D20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4600-1536-536C-964B-4307A214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EBE72125-A4DD-873E-8E53-FA3F717B2CE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194318"/>
                <a:ext cx="7073435" cy="541642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We can decompose an image into frequency components using a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  <a:hlinkClick r:id="rId3"/>
                  </a:rPr>
                  <a:t>Fourier transform</a:t>
                </a:r>
                <a:endParaRPr lang="en-GB" b="1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The Fourier transform decomposes a signal into frequency components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Apply Euler’s formula,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𝑥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sin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457200" lvl="1" indent="0">
                  <a:buNone/>
                </a:pPr>
                <a:r>
                  <a:rPr lang="en-GB" sz="2000" dirty="0">
                    <a:ea typeface="Segoe UI" panose="020B0502040204020203" pitchFamily="34" charset="0"/>
                    <a:cs typeface="Segoe UI" panose="020B0502040204020203" pitchFamily="34" charset="0"/>
                  </a:rPr>
                  <a:t>And,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cs typeface="Segoe UI" panose="020B0502040204020203" pitchFamily="34" charset="0"/>
                </a:endParaRPr>
              </a:p>
              <a:p>
                <a:r>
                  <a:rPr lang="en-US" dirty="0">
                    <a:ea typeface="Segoe UI" panose="020B0502040204020203" pitchFamily="34" charset="0"/>
                    <a:cs typeface="Segoe UI" panose="020B0502040204020203" pitchFamily="34" charset="0"/>
                  </a:rPr>
                  <a:t>Real cosine and imaginary (phase) sine components</a:t>
                </a:r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EBE72125-A4DD-873E-8E53-FA3F717B2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194318"/>
                <a:ext cx="7073435" cy="5416421"/>
              </a:xfrm>
              <a:blipFill>
                <a:blip r:embed="rId4"/>
                <a:stretch>
                  <a:fillRect l="-1810" t="-2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7B64C13-C386-6B92-86A9-42FF74E76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810" y="1079400"/>
            <a:ext cx="3733767" cy="381155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4E6300-1EC2-6D04-2BC6-61A8F4B0EAD6}"/>
              </a:ext>
            </a:extLst>
          </p:cNvPr>
          <p:cNvCxnSpPr/>
          <p:nvPr/>
        </p:nvCxnSpPr>
        <p:spPr>
          <a:xfrm>
            <a:off x="8736199" y="2127072"/>
            <a:ext cx="301845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B6A38D-590E-9020-D033-42E30A5DBE97}"/>
              </a:ext>
            </a:extLst>
          </p:cNvPr>
          <p:cNvCxnSpPr>
            <a:cxnSpLocks/>
          </p:cNvCxnSpPr>
          <p:nvPr/>
        </p:nvCxnSpPr>
        <p:spPr>
          <a:xfrm>
            <a:off x="9846915" y="3648627"/>
            <a:ext cx="190773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38821F-8B63-E0D9-AC63-ECC98210C4C1}"/>
              </a:ext>
            </a:extLst>
          </p:cNvPr>
          <p:cNvSpPr txBox="1"/>
          <p:nvPr/>
        </p:nvSpPr>
        <p:spPr>
          <a:xfrm rot="5400000">
            <a:off x="10595757" y="2668790"/>
            <a:ext cx="1794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Amplitude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359628-7ED1-4C33-03DB-0303B557481C}"/>
              </a:ext>
            </a:extLst>
          </p:cNvPr>
          <p:cNvSpPr txBox="1"/>
          <p:nvPr/>
        </p:nvSpPr>
        <p:spPr>
          <a:xfrm>
            <a:off x="7666046" y="6276176"/>
            <a:ext cx="339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Credit, Wikipedia commons</a:t>
            </a:r>
            <a:endParaRPr lang="en-US" dirty="0">
              <a:latin typeface="Symbol" panose="05050102010706020507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2271E-D69C-DD9C-DC77-76D0DB522C8A}"/>
              </a:ext>
            </a:extLst>
          </p:cNvPr>
          <p:cNvSpPr txBox="1"/>
          <p:nvPr/>
        </p:nvSpPr>
        <p:spPr>
          <a:xfrm>
            <a:off x="7622853" y="4970783"/>
            <a:ext cx="4454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sinusoidal signals with identical frequency and amplitude, phase shifted by </a:t>
            </a:r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62354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FFCF72-7BFF-9DDC-CBED-6CE70BB84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810" y="1079400"/>
            <a:ext cx="3733767" cy="38115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ABB524EF-63A0-4CDC-BEC9-C95141F0FBC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333375" y="1194318"/>
                <a:ext cx="7073435" cy="54164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We can decompose an image into frequency components using a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  <a:hlinkClick r:id="rId4"/>
                  </a:rPr>
                  <a:t>Fourier transform</a:t>
                </a:r>
                <a:endParaRPr lang="en-GB" b="1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The Fourier transform decomposes a signal into frequency components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−2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GB" dirty="0">
                    <a:ea typeface="Segoe UI" panose="020B0502040204020203" pitchFamily="34" charset="0"/>
                    <a:cs typeface="Segoe UI" panose="020B0502040204020203" pitchFamily="34" charset="0"/>
                  </a:rPr>
                  <a:t>For our purposes, we mostly care about the </a:t>
                </a:r>
                <a:r>
                  <a:rPr lang="en-GB" b="1" dirty="0">
                    <a:ea typeface="Segoe UI" panose="020B0502040204020203" pitchFamily="34" charset="0"/>
                    <a:cs typeface="Segoe UI" panose="020B0502040204020203" pitchFamily="34" charset="0"/>
                  </a:rPr>
                  <a:t>power spectrum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≜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ea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5" name="Content Placeholder 6">
                <a:extLst>
                  <a:ext uri="{FF2B5EF4-FFF2-40B4-BE49-F238E27FC236}">
                    <a16:creationId xmlns:a16="http://schemas.microsoft.com/office/drawing/2014/main" id="{ABB524EF-63A0-4CDC-BEC9-C95141F0F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333375" y="1194318"/>
                <a:ext cx="7073435" cy="5416421"/>
              </a:xfrm>
              <a:blipFill>
                <a:blip r:embed="rId5"/>
                <a:stretch>
                  <a:fillRect l="-1810" t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30EF95-5DB6-4B40-A048-FEC1BE62BC97}"/>
              </a:ext>
            </a:extLst>
          </p:cNvPr>
          <p:cNvCxnSpPr/>
          <p:nvPr/>
        </p:nvCxnSpPr>
        <p:spPr>
          <a:xfrm>
            <a:off x="8736199" y="2127072"/>
            <a:ext cx="3018453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4AE902-8E07-4EEB-A893-578164BF9A73}"/>
              </a:ext>
            </a:extLst>
          </p:cNvPr>
          <p:cNvCxnSpPr>
            <a:cxnSpLocks/>
          </p:cNvCxnSpPr>
          <p:nvPr/>
        </p:nvCxnSpPr>
        <p:spPr>
          <a:xfrm>
            <a:off x="9846915" y="3648627"/>
            <a:ext cx="1907737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F4D1F5-FDB5-41A1-B1E0-653DF59DE9E0}"/>
              </a:ext>
            </a:extLst>
          </p:cNvPr>
          <p:cNvSpPr txBox="1"/>
          <p:nvPr/>
        </p:nvSpPr>
        <p:spPr>
          <a:xfrm rot="5400000">
            <a:off x="10595757" y="2668790"/>
            <a:ext cx="1794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Amplitude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BF9D45-8C29-4896-B438-6BF0FF3DA4AF}"/>
              </a:ext>
            </a:extLst>
          </p:cNvPr>
          <p:cNvSpPr txBox="1"/>
          <p:nvPr/>
        </p:nvSpPr>
        <p:spPr>
          <a:xfrm>
            <a:off x="7666046" y="6276176"/>
            <a:ext cx="339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Credit, Wikipedia commons</a:t>
            </a:r>
            <a:endParaRPr lang="en-US" dirty="0">
              <a:latin typeface="Symbol" panose="05050102010706020507" pitchFamily="18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9AFCA-0317-4DBC-A71C-9D4FF15EF192}"/>
              </a:ext>
            </a:extLst>
          </p:cNvPr>
          <p:cNvSpPr txBox="1"/>
          <p:nvPr/>
        </p:nvSpPr>
        <p:spPr>
          <a:xfrm>
            <a:off x="7622853" y="4970783"/>
            <a:ext cx="4454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sinusoidal signals with identical frequency and amplitude, phase shifted by </a:t>
            </a:r>
            <a:r>
              <a:rPr lang="en-US" sz="2400" dirty="0">
                <a:latin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99786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p:sp>
        <p:nvSpPr>
          <p:cNvPr id="145" name="Content Placeholder 6">
            <a:extLst>
              <a:ext uri="{FF2B5EF4-FFF2-40B4-BE49-F238E27FC236}">
                <a16:creationId xmlns:a16="http://schemas.microsoft.com/office/drawing/2014/main" id="{ABB524EF-63A0-4CDC-BEC9-C95141F0F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031757"/>
            <a:ext cx="11495147" cy="546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Example of single frequency time series and their </a:t>
            </a:r>
            <a:r>
              <a:rPr lang="en-US" b="1" dirty="0">
                <a:ea typeface="Segoe UI" panose="020B0502040204020203" pitchFamily="34" charset="0"/>
                <a:cs typeface="Segoe UI" panose="020B0502040204020203" pitchFamily="34" charset="0"/>
              </a:rPr>
              <a:t>power spectrum</a:t>
            </a: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GB" dirty="0"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2C74D-928D-4EC4-8F38-60D8C83DF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82" y="1488142"/>
            <a:ext cx="3366247" cy="2638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9C23A8-E200-4447-A876-6D16633C7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40" y="4189683"/>
            <a:ext cx="3285566" cy="2607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12171-62FB-4474-BEB6-0CFFC9668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953" y="1488142"/>
            <a:ext cx="3316499" cy="2595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FC81A7-72B0-4046-8887-7DE286EA8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94" y="4141106"/>
            <a:ext cx="3316499" cy="26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4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p:sp>
        <p:nvSpPr>
          <p:cNvPr id="145" name="Content Placeholder 6">
            <a:extLst>
              <a:ext uri="{FF2B5EF4-FFF2-40B4-BE49-F238E27FC236}">
                <a16:creationId xmlns:a16="http://schemas.microsoft.com/office/drawing/2014/main" id="{ABB524EF-63A0-4CDC-BEC9-C95141F0F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034" y="1063133"/>
            <a:ext cx="11495147" cy="546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Example of time series with two frequencies and the </a:t>
            </a:r>
            <a:r>
              <a:rPr lang="en-US" b="1" dirty="0">
                <a:ea typeface="Segoe UI" panose="020B0502040204020203" pitchFamily="34" charset="0"/>
                <a:cs typeface="Segoe UI" panose="020B0502040204020203" pitchFamily="34" charset="0"/>
              </a:rPr>
              <a:t>power spectrum</a:t>
            </a:r>
            <a:r>
              <a:rPr lang="en-US" dirty="0"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GB" dirty="0"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ACE98-D4C6-4A88-B916-52E223B56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9" y="1888568"/>
            <a:ext cx="5284928" cy="42104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BE7E42-4932-435A-A7A9-03E57611E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865" y="1888567"/>
            <a:ext cx="5284928" cy="42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43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6" y="212492"/>
            <a:ext cx="11647823" cy="6743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Spectral Properties of Images</a:t>
            </a:r>
          </a:p>
        </p:txBody>
      </p:sp>
      <p:sp>
        <p:nvSpPr>
          <p:cNvPr id="145" name="Content Placeholder 6">
            <a:extLst>
              <a:ext uri="{FF2B5EF4-FFF2-40B4-BE49-F238E27FC236}">
                <a16:creationId xmlns:a16="http://schemas.microsoft.com/office/drawing/2014/main" id="{ABB524EF-63A0-4CDC-BEC9-C95141F0F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1683" y="886862"/>
            <a:ext cx="10134599" cy="8149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ea typeface="Segoe UI" panose="020B0502040204020203" pitchFamily="34" charset="0"/>
                <a:cs typeface="Segoe UI" panose="020B0502040204020203" pitchFamily="34" charset="0"/>
              </a:rPr>
              <a:t>Impulse response</a:t>
            </a: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 of convolutional a filter is the Fourier transform in the </a:t>
            </a:r>
            <a:r>
              <a:rPr lang="en-GB" b="1" dirty="0">
                <a:ea typeface="Segoe UI" panose="020B0502040204020203" pitchFamily="34" charset="0"/>
                <a:cs typeface="Segoe UI" panose="020B0502040204020203" pitchFamily="34" charset="0"/>
              </a:rPr>
              <a:t>frequency domain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A688F-CF46-48C7-9CBA-DA3F72EA0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23" y="1701783"/>
            <a:ext cx="4296367" cy="3503496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1F19253-C976-41F3-AB22-01A86E505933}"/>
              </a:ext>
            </a:extLst>
          </p:cNvPr>
          <p:cNvSpPr/>
          <p:nvPr/>
        </p:nvSpPr>
        <p:spPr>
          <a:xfrm>
            <a:off x="5199002" y="2047622"/>
            <a:ext cx="2079812" cy="2254624"/>
          </a:xfrm>
          <a:prstGeom prst="rightArrow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Fourier Transform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6E2A3-4E11-4235-8184-895216429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563" y="1701783"/>
            <a:ext cx="4255080" cy="3227992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F0D651AF-41A1-4753-B865-24C4D5394769}"/>
              </a:ext>
            </a:extLst>
          </p:cNvPr>
          <p:cNvSpPr txBox="1">
            <a:spLocks/>
          </p:cNvSpPr>
          <p:nvPr/>
        </p:nvSpPr>
        <p:spPr>
          <a:xfrm>
            <a:off x="551330" y="4989992"/>
            <a:ext cx="4231342" cy="50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Filter in time domain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98A073B0-42F5-40E7-BC19-F01F3FBA8575}"/>
              </a:ext>
            </a:extLst>
          </p:cNvPr>
          <p:cNvSpPr txBox="1">
            <a:spLocks/>
          </p:cNvSpPr>
          <p:nvPr/>
        </p:nvSpPr>
        <p:spPr>
          <a:xfrm>
            <a:off x="7506301" y="4989992"/>
            <a:ext cx="4231342" cy="509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Filter in frequency domain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600080FE-E7D7-4A4A-8BFA-33B3FB364342}"/>
              </a:ext>
            </a:extLst>
          </p:cNvPr>
          <p:cNvSpPr txBox="1">
            <a:spLocks/>
          </p:cNvSpPr>
          <p:nvPr/>
        </p:nvSpPr>
        <p:spPr>
          <a:xfrm>
            <a:off x="663989" y="5707095"/>
            <a:ext cx="10864022" cy="943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Relationship is </a:t>
            </a:r>
            <a:r>
              <a:rPr lang="en-GB" dirty="0" err="1">
                <a:ea typeface="Segoe UI" panose="020B0502040204020203" pitchFamily="34" charset="0"/>
                <a:cs typeface="Segoe UI" panose="020B0502040204020203" pitchFamily="34" charset="0"/>
              </a:rPr>
              <a:t>invertable</a:t>
            </a:r>
            <a:r>
              <a:rPr lang="en-GB" dirty="0">
                <a:ea typeface="Segoe UI" panose="020B0502040204020203" pitchFamily="34" charset="0"/>
                <a:cs typeface="Segoe UI" panose="020B0502040204020203" pitchFamily="34" charset="0"/>
              </a:rPr>
              <a:t> (inverse Fourier transform) and commutable – exchange time and frequency domain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76C6C9-EFE4-41B1-8420-4EC07AE30592}"/>
              </a:ext>
            </a:extLst>
          </p:cNvPr>
          <p:cNvSpPr txBox="1"/>
          <p:nvPr/>
        </p:nvSpPr>
        <p:spPr>
          <a:xfrm>
            <a:off x="4505579" y="5314368"/>
            <a:ext cx="3398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Credit, </a:t>
            </a:r>
            <a:r>
              <a:rPr lang="en-US" dirty="0">
                <a:hlinkClick r:id="rId5"/>
              </a:rPr>
              <a:t>DSP Illustrations</a:t>
            </a:r>
            <a:endParaRPr lang="en-US" dirty="0">
              <a:latin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0797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448</Words>
  <Application>Microsoft Office PowerPoint</Application>
  <PresentationFormat>Widescreen</PresentationFormat>
  <Paragraphs>68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Segoe</vt:lpstr>
      <vt:lpstr>Segoe UI</vt:lpstr>
      <vt:lpstr>Symbol</vt:lpstr>
      <vt:lpstr>Office Theme</vt:lpstr>
      <vt:lpstr>Spectral Properties of Time Series</vt:lpstr>
      <vt:lpstr>Spectral Properties of Time Series</vt:lpstr>
      <vt:lpstr>Spectral Properties of Images</vt:lpstr>
      <vt:lpstr>Spectral Properties of Images</vt:lpstr>
      <vt:lpstr>Spectral Properties of Images</vt:lpstr>
      <vt:lpstr>Spectral Properties of Images</vt:lpstr>
      <vt:lpstr>Spectral Properties of Images</vt:lpstr>
      <vt:lpstr>Spectral Properties of Images</vt:lpstr>
      <vt:lpstr>Spectral Properties of Images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Elston</dc:creator>
  <cp:lastModifiedBy>Stephen Elston</cp:lastModifiedBy>
  <cp:revision>4</cp:revision>
  <dcterms:created xsi:type="dcterms:W3CDTF">2025-12-01T00:37:06Z</dcterms:created>
  <dcterms:modified xsi:type="dcterms:W3CDTF">2025-12-04T22:26:47Z</dcterms:modified>
</cp:coreProperties>
</file>