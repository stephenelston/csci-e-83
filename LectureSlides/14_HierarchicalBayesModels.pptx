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37" r:id="rId2"/>
    <p:sldId id="257" r:id="rId3"/>
    <p:sldId id="258" r:id="rId4"/>
    <p:sldId id="259" r:id="rId5"/>
    <p:sldId id="260" r:id="rId6"/>
    <p:sldId id="261" r:id="rId7"/>
    <p:sldId id="373" r:id="rId8"/>
    <p:sldId id="262" r:id="rId9"/>
    <p:sldId id="263" r:id="rId10"/>
    <p:sldId id="264" r:id="rId11"/>
    <p:sldId id="265" r:id="rId12"/>
    <p:sldId id="266" r:id="rId13"/>
    <p:sldId id="267" r:id="rId14"/>
    <p:sldId id="374" r:id="rId15"/>
    <p:sldId id="268" r:id="rId16"/>
    <p:sldId id="269" r:id="rId17"/>
    <p:sldId id="338" r:id="rId18"/>
    <p:sldId id="270" r:id="rId19"/>
    <p:sldId id="271" r:id="rId20"/>
    <p:sldId id="272" r:id="rId21"/>
    <p:sldId id="274" r:id="rId22"/>
    <p:sldId id="339" r:id="rId23"/>
    <p:sldId id="375" r:id="rId24"/>
    <p:sldId id="341" r:id="rId25"/>
    <p:sldId id="340" r:id="rId26"/>
    <p:sldId id="346" r:id="rId27"/>
    <p:sldId id="342" r:id="rId28"/>
    <p:sldId id="343" r:id="rId29"/>
    <p:sldId id="345" r:id="rId30"/>
    <p:sldId id="344" r:id="rId31"/>
    <p:sldId id="347" r:id="rId32"/>
    <p:sldId id="376" r:id="rId33"/>
    <p:sldId id="348" r:id="rId34"/>
    <p:sldId id="349" r:id="rId35"/>
    <p:sldId id="350" r:id="rId36"/>
    <p:sldId id="351" r:id="rId37"/>
    <p:sldId id="352" r:id="rId38"/>
    <p:sldId id="355" r:id="rId39"/>
    <p:sldId id="356" r:id="rId40"/>
    <p:sldId id="357" r:id="rId41"/>
    <p:sldId id="353" r:id="rId42"/>
    <p:sldId id="354" r:id="rId43"/>
    <p:sldId id="358" r:id="rId44"/>
    <p:sldId id="359" r:id="rId45"/>
    <p:sldId id="377" r:id="rId46"/>
    <p:sldId id="361" r:id="rId47"/>
    <p:sldId id="362" r:id="rId48"/>
    <p:sldId id="363" r:id="rId49"/>
    <p:sldId id="364" r:id="rId50"/>
    <p:sldId id="365" r:id="rId51"/>
    <p:sldId id="372" r:id="rId52"/>
    <p:sldId id="378" r:id="rId53"/>
    <p:sldId id="367" r:id="rId54"/>
    <p:sldId id="368" r:id="rId55"/>
    <p:sldId id="369" r:id="rId56"/>
    <p:sldId id="379" r:id="rId57"/>
    <p:sldId id="370" r:id="rId58"/>
    <p:sldId id="371" r:id="rId5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43" autoAdjust="0"/>
    <p:restoredTop sz="94448" autoAdjust="0"/>
  </p:normalViewPr>
  <p:slideViewPr>
    <p:cSldViewPr snapToGrid="0" snapToObjects="1">
      <p:cViewPr varScale="1">
        <p:scale>
          <a:sx n="95" d="100"/>
          <a:sy n="95" d="100"/>
        </p:scale>
        <p:origin x="41" y="15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don-222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pa.gov/radon/health-risk-radon" TargetMode="External"/><Relationship Id="rId2" Type="http://schemas.openxmlformats.org/officeDocument/2006/relationships/hyperlink" Target="https://www.nrc.gov/docs/ML0931/ML093160829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ss.gov/info-details/radon-in-the-home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Exchangeable_random_variables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Exchangeable_random_variables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9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Exchangeable_random_variables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mc-stan.org/loo/articles/loo2-non-factorized.html#lagged-sar-models" TargetMode="Externa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bayesiancomputationbook.com/welcome.html" TargetMode="External"/><Relationship Id="rId2" Type="http://schemas.openxmlformats.org/officeDocument/2006/relationships/hyperlink" Target="https://www.routledge.com/Bayesian-Data-Analysis/Gelman-Carlin-Stern-Dunson-Vehtari-Rubin/p/book/9781439840955?gad_source=1&amp;gclid=Cj0KCQiAr7C6BhDRARIsAOUKificOtxlVnpZEG3-42U5_-IZ8SwlkXYIjaYBWgwbup2su8Ewnsd3Uv4aAsnSEALw_wcB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Hierarchical Bayesian Models 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Copyright, 2023 2024, 2025, 2026, 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Many real-world datasets have discrete categories or strata</a:t>
            </a:r>
          </a:p>
          <a:p>
            <a:pPr lvl="0"/>
            <a:r>
              <a:rPr dirty="0"/>
              <a:t>Example, a chemist might measure a reaction rate at several discrete levels of pH and temperature</a:t>
            </a:r>
          </a:p>
          <a:p>
            <a:pPr lvl="0"/>
            <a:r>
              <a:rPr dirty="0"/>
              <a:t>Example, demographic categories </a:t>
            </a:r>
            <a:r>
              <a:rPr lang="en-US" dirty="0"/>
              <a:t>from</a:t>
            </a:r>
            <a:r>
              <a:rPr dirty="0"/>
              <a:t> different </a:t>
            </a:r>
            <a:r>
              <a:rPr lang="en-US" dirty="0"/>
              <a:t>geographic </a:t>
            </a:r>
            <a:r>
              <a:rPr dirty="0"/>
              <a:t>regions</a:t>
            </a:r>
            <a:endParaRPr lang="en-US" dirty="0"/>
          </a:p>
          <a:p>
            <a:pPr lvl="0"/>
            <a:r>
              <a:rPr lang="en-US" dirty="0"/>
              <a:t>Example, model differences between schools, teachers, and students from different socioeconomic status </a:t>
            </a:r>
            <a:endParaRPr dirty="0"/>
          </a:p>
          <a:p>
            <a:pPr lvl="0"/>
            <a:r>
              <a:rPr dirty="0"/>
              <a:t>Apply a hierarchical Bayes model for these situations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Key points in this lesson:</a:t>
            </a:r>
          </a:p>
          <a:p>
            <a:pPr marL="342900" lvl="0" indent="-342900">
              <a:buAutoNum type="arabicPeriod"/>
            </a:pPr>
            <a:r>
              <a:rPr dirty="0"/>
              <a:t>Pooled vs. </a:t>
            </a:r>
            <a:r>
              <a:rPr dirty="0" err="1"/>
              <a:t>unpooled</a:t>
            </a:r>
            <a:r>
              <a:rPr dirty="0"/>
              <a:t> models</a:t>
            </a:r>
          </a:p>
          <a:p>
            <a:pPr marL="342900" lvl="0" indent="-342900">
              <a:buAutoNum type="arabicPeriod"/>
            </a:pPr>
            <a:r>
              <a:rPr dirty="0"/>
              <a:t>Defining hierarchical models through hyperpriors and priors</a:t>
            </a:r>
          </a:p>
          <a:p>
            <a:pPr marL="342900" lvl="0" indent="-342900">
              <a:buAutoNum type="arabicPeriod"/>
            </a:pPr>
            <a:r>
              <a:rPr dirty="0"/>
              <a:t>Evaluation and comparison of Bayesian models</a:t>
            </a:r>
            <a:endParaRPr lang="en-US" dirty="0"/>
          </a:p>
          <a:p>
            <a:pPr marL="342900" lvl="0" indent="-342900">
              <a:buAutoNum type="arabicPeriod"/>
            </a:pPr>
            <a:r>
              <a:rPr lang="en-US" dirty="0"/>
              <a:t>Bayesian shrinkage prevents overfitting model 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Pooled vs. Unpooled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b="1" dirty="0"/>
              <a:t>Pooled model </a:t>
            </a:r>
            <a:r>
              <a:rPr dirty="0"/>
              <a:t>computes </a:t>
            </a:r>
            <a:r>
              <a:rPr lang="en-US" dirty="0"/>
              <a:t>posterior distributions using all observations</a:t>
            </a:r>
            <a:endParaRPr dirty="0"/>
          </a:p>
          <a:p>
            <a:pPr lvl="0"/>
            <a:r>
              <a:rPr dirty="0"/>
              <a:t>Pooled model has a </a:t>
            </a:r>
            <a:r>
              <a:rPr b="1" dirty="0"/>
              <a:t>flat structure</a:t>
            </a:r>
          </a:p>
          <a:p>
            <a:pPr lvl="1"/>
            <a:r>
              <a:rPr dirty="0"/>
              <a:t>Model coefficients are at the same level</a:t>
            </a:r>
            <a:endParaRPr lang="en-US" dirty="0"/>
          </a:p>
          <a:p>
            <a:pPr lvl="1"/>
            <a:r>
              <a:rPr lang="en-US" dirty="0"/>
              <a:t>The OLS and GLM models we have worked with are frequentist flat models</a:t>
            </a:r>
            <a:endParaRPr dirty="0"/>
          </a:p>
          <a:p>
            <a:pPr lvl="0"/>
            <a:r>
              <a:rPr dirty="0"/>
              <a:t>Pooling maximizes statistical power using all available data to fit a model</a:t>
            </a:r>
            <a:endParaRPr lang="en-US" dirty="0"/>
          </a:p>
          <a:p>
            <a:r>
              <a:rPr lang="en-US" dirty="0"/>
              <a:t>Assumes </a:t>
            </a:r>
            <a:r>
              <a:rPr lang="en-US" b="1" dirty="0"/>
              <a:t>exchangeability</a:t>
            </a:r>
            <a:r>
              <a:rPr lang="en-US" dirty="0"/>
              <a:t> of observations between cases</a:t>
            </a:r>
          </a:p>
          <a:p>
            <a:pPr lvl="1"/>
            <a:r>
              <a:rPr lang="en-US" dirty="0"/>
              <a:t>Exchangeability assumes </a:t>
            </a:r>
            <a:r>
              <a:rPr lang="en-US" b="1" dirty="0"/>
              <a:t>variables are all </a:t>
            </a:r>
            <a:r>
              <a:rPr lang="en-US" b="1" dirty="0" err="1"/>
              <a:t>iid</a:t>
            </a:r>
            <a:endParaRPr b="1" dirty="0"/>
          </a:p>
          <a:p>
            <a:pPr lvl="0"/>
            <a:r>
              <a:rPr dirty="0"/>
              <a:t>Pooling limits flexibility if strata have different behavior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Pooled vs. Unpooled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b="1" dirty="0" err="1"/>
              <a:t>Unpooled</a:t>
            </a:r>
            <a:r>
              <a:rPr b="1" dirty="0"/>
              <a:t> models </a:t>
            </a:r>
            <a:r>
              <a:rPr dirty="0"/>
              <a:t>are the opposite of pooled models</a:t>
            </a:r>
          </a:p>
          <a:p>
            <a:pPr lvl="0"/>
            <a:r>
              <a:rPr lang="en-US" dirty="0"/>
              <a:t>Posterior distributions of parameters are</a:t>
            </a:r>
            <a:r>
              <a:rPr dirty="0"/>
              <a:t> fit</a:t>
            </a:r>
            <a:r>
              <a:rPr lang="en-US" dirty="0"/>
              <a:t> using independent prior for each category or strata</a:t>
            </a:r>
          </a:p>
          <a:p>
            <a:pPr lvl="1"/>
            <a:r>
              <a:rPr lang="en-US" dirty="0"/>
              <a:t>Assumes </a:t>
            </a:r>
            <a:r>
              <a:rPr lang="en-US" b="1" dirty="0"/>
              <a:t>exchangeability</a:t>
            </a:r>
            <a:r>
              <a:rPr lang="en-US" dirty="0"/>
              <a:t> of observations within each strata</a:t>
            </a:r>
          </a:p>
          <a:p>
            <a:pPr lvl="1"/>
            <a:r>
              <a:rPr lang="en-US" dirty="0"/>
              <a:t>No exchangeability between strata </a:t>
            </a:r>
            <a:endParaRPr dirty="0"/>
          </a:p>
          <a:p>
            <a:pPr lvl="0"/>
            <a:r>
              <a:rPr dirty="0"/>
              <a:t>Approach maximizes flexibility</a:t>
            </a:r>
          </a:p>
          <a:p>
            <a:pPr lvl="0"/>
            <a:r>
              <a:rPr lang="en-US" dirty="0"/>
              <a:t>Leads to posterior distributions with wide dispersion </a:t>
            </a:r>
          </a:p>
          <a:p>
            <a:pPr lvl="1"/>
            <a:r>
              <a:rPr lang="en-US" dirty="0"/>
              <a:t>Large number of parameters</a:t>
            </a:r>
          </a:p>
          <a:p>
            <a:pPr lvl="1"/>
            <a:r>
              <a:rPr lang="en-US" dirty="0"/>
              <a:t>Data per parameter is limited</a:t>
            </a:r>
            <a:endParaRPr dirty="0"/>
          </a:p>
          <a:p>
            <a:pPr lvl="0"/>
            <a:r>
              <a:rPr dirty="0" err="1"/>
              <a:t>Unpooled</a:t>
            </a:r>
            <a:r>
              <a:rPr dirty="0"/>
              <a:t> mode</a:t>
            </a:r>
            <a:r>
              <a:rPr lang="en-US" dirty="0"/>
              <a:t> are comprised of a </a:t>
            </a:r>
            <a:r>
              <a:rPr dirty="0"/>
              <a:t>flat structure</a:t>
            </a:r>
            <a:r>
              <a:rPr lang="en-US" dirty="0"/>
              <a:t> model for each strata</a:t>
            </a:r>
          </a:p>
          <a:p>
            <a:pPr lvl="1"/>
            <a:r>
              <a:rPr lang="en-US" dirty="0"/>
              <a:t>Common prior for all strata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Overview of Hierarchical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b="1" dirty="0"/>
              <a:t>Hierarchical </a:t>
            </a:r>
            <a:r>
              <a:rPr lang="en-US" b="1" dirty="0"/>
              <a:t>models </a:t>
            </a:r>
            <a:r>
              <a:rPr lang="en-US" dirty="0"/>
              <a:t>are </a:t>
            </a:r>
            <a:r>
              <a:rPr dirty="0"/>
              <a:t>between the extremes of pooled and </a:t>
            </a:r>
            <a:r>
              <a:rPr dirty="0" err="1"/>
              <a:t>unpooled</a:t>
            </a:r>
            <a:r>
              <a:rPr dirty="0"/>
              <a:t> models</a:t>
            </a:r>
          </a:p>
          <a:p>
            <a:pPr lvl="0"/>
            <a:r>
              <a:rPr dirty="0"/>
              <a:t>Hierarchical models constructed as a hierarchy of hyperpriors</a:t>
            </a:r>
            <a:r>
              <a:rPr lang="en-US" dirty="0"/>
              <a:t> and priors</a:t>
            </a:r>
            <a:endParaRPr dirty="0"/>
          </a:p>
          <a:p>
            <a:pPr lvl="0"/>
            <a:r>
              <a:rPr dirty="0"/>
              <a:t>The Hyperpriors represent the prior information on the pooled data</a:t>
            </a:r>
          </a:p>
          <a:p>
            <a:pPr lvl="0"/>
            <a:r>
              <a:rPr lang="en-US" dirty="0"/>
              <a:t>P</a:t>
            </a:r>
            <a:r>
              <a:rPr dirty="0"/>
              <a:t>riors for each specific case</a:t>
            </a:r>
            <a:r>
              <a:rPr lang="en-US" dirty="0"/>
              <a:t> are fit from the hyperpriors   </a:t>
            </a:r>
          </a:p>
          <a:p>
            <a:pPr lvl="0"/>
            <a:r>
              <a:rPr lang="en-US" dirty="0"/>
              <a:t>Posterior distributions for each strata are fit at the bottom of the hierarchy   </a:t>
            </a:r>
          </a:p>
          <a:p>
            <a:r>
              <a:rPr lang="en-US" dirty="0"/>
              <a:t>Assumes </a:t>
            </a:r>
            <a:r>
              <a:rPr lang="en-US" b="1" dirty="0"/>
              <a:t>exchangeability </a:t>
            </a:r>
            <a:r>
              <a:rPr lang="en-US" dirty="0"/>
              <a:t>of observations within each strata for priors and posterior</a:t>
            </a:r>
          </a:p>
          <a:p>
            <a:pPr lvl="1"/>
            <a:r>
              <a:rPr lang="en-US" dirty="0"/>
              <a:t>No exchangeability between strata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0F6EA-6F2A-03EE-452E-6508EC0A5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344080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Modeling Radon Risk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58521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4569950" cy="857250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Example: Dangers of Radon in Homes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798319"/>
                <a:ext cx="4774972" cy="195769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ar-AE" smtClean="0">
                        <a:latin typeface="Cambria Math" panose="02040503050406030204" pitchFamily="18" charset="0"/>
                      </a:rPr>
                      <m:t>𝑅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222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is the product of a nuclear decay chain of Uranium 238</a:t>
                </a:r>
              </a:p>
              <a:p>
                <a:pPr marL="0" lvl="0" indent="0">
                  <a:buNone/>
                </a:pPr>
                <a:r>
                  <a:rPr dirty="0"/>
                  <a:t>The unstable isotope Radon-222 is an invisible and orderless gas</a:t>
                </a:r>
              </a:p>
              <a:p>
                <a:pPr marL="0" lv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798319"/>
                <a:ext cx="4774972" cy="1957692"/>
              </a:xfrm>
              <a:blipFill>
                <a:blip r:embed="rId2"/>
                <a:stretch>
                  <a:fillRect l="-1916" t="-2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90C5D012-E0CC-848D-6410-CA646ABF0807}"/>
              </a:ext>
            </a:extLst>
          </p:cNvPr>
          <p:cNvSpPr txBox="1"/>
          <p:nvPr/>
        </p:nvSpPr>
        <p:spPr>
          <a:xfrm>
            <a:off x="1350683" y="4450520"/>
            <a:ext cx="4279232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ctr">
              <a:buNone/>
            </a:pPr>
            <a:r>
              <a:rPr lang="en-US" dirty="0"/>
              <a:t>Decay chain of Uranium-238 to Radon-222</a:t>
            </a:r>
          </a:p>
          <a:p>
            <a:pPr marL="0" lvl="0" indent="0" algn="ctr">
              <a:buNone/>
            </a:pPr>
            <a:r>
              <a:rPr lang="en-US" sz="1600" dirty="0">
                <a:hlinkClick r:id="rId3"/>
              </a:rPr>
              <a:t>Credit: </a:t>
            </a:r>
            <a:r>
              <a:rPr lang="en-US" sz="1600" dirty="0" err="1">
                <a:hlinkClick r:id="rId3"/>
              </a:rPr>
              <a:t>Wilipedia</a:t>
            </a:r>
            <a:r>
              <a:rPr lang="en-US" sz="1600" dirty="0">
                <a:hlinkClick r:id="rId3"/>
              </a:rPr>
              <a:t> Radon-222 article</a:t>
            </a:r>
            <a:endParaRPr lang="en-US" sz="16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CB009C1-ECDB-0CDD-ACC1-822E13A365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2512" y="141403"/>
            <a:ext cx="3492696" cy="49201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CE43F05F-7F8E-C1C6-0475-33D5742F8081}"/>
              </a:ext>
            </a:extLst>
          </p:cNvPr>
          <p:cNvSpPr/>
          <p:nvPr/>
        </p:nvSpPr>
        <p:spPr>
          <a:xfrm>
            <a:off x="5629915" y="250127"/>
            <a:ext cx="516657" cy="504356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C7CB4A1-5BA2-ACBC-ECDC-3953918CC739}"/>
              </a:ext>
            </a:extLst>
          </p:cNvPr>
          <p:cNvSpPr/>
          <p:nvPr/>
        </p:nvSpPr>
        <p:spPr>
          <a:xfrm>
            <a:off x="6564818" y="2394662"/>
            <a:ext cx="498569" cy="497977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2737C87-E7FD-8A77-4612-A9D10C002AFF}"/>
              </a:ext>
            </a:extLst>
          </p:cNvPr>
          <p:cNvCxnSpPr>
            <a:cxnSpLocks/>
            <a:endCxn id="5" idx="3"/>
          </p:cNvCxnSpPr>
          <p:nvPr/>
        </p:nvCxnSpPr>
        <p:spPr>
          <a:xfrm flipV="1">
            <a:off x="4551569" y="680622"/>
            <a:ext cx="1154009" cy="16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BB2E5A3-785D-063F-0B32-4CED79FFA761}"/>
              </a:ext>
            </a:extLst>
          </p:cNvPr>
          <p:cNvCxnSpPr>
            <a:cxnSpLocks/>
          </p:cNvCxnSpPr>
          <p:nvPr/>
        </p:nvCxnSpPr>
        <p:spPr>
          <a:xfrm flipV="1">
            <a:off x="4839721" y="2678854"/>
            <a:ext cx="1755036" cy="21378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Example: Dangers of Radon in Homes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dirty="0"/>
                  <a:t>Depending on rock and soil type, trace amounts of Uranium-238 are present</a:t>
                </a:r>
              </a:p>
              <a:p>
                <a:pPr lvl="0"/>
                <a:r>
                  <a:rPr dirty="0"/>
                  <a:t>Uranium is </a:t>
                </a:r>
                <a:r>
                  <a:rPr dirty="0">
                    <a:hlinkClick r:id="rId2"/>
                  </a:rPr>
                  <a:t>effectively transported by ground water</a:t>
                </a:r>
              </a:p>
              <a:p>
                <a:pPr lvl="0"/>
                <a:r>
                  <a:rPr dirty="0"/>
                  <a:t>Decay products, including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𝑅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222</m:t>
                        </m:r>
                      </m:sub>
                    </m:sSub>
                  </m:oMath>
                </a14:m>
                <a:r>
                  <a:rPr dirty="0"/>
                  <a:t>, are dispersed in the environment</a:t>
                </a:r>
              </a:p>
              <a:p>
                <a:pPr lvl="0"/>
                <a:r>
                  <a:rPr dirty="0"/>
                  <a:t>Health risk of Radon infiltration into homes is </a:t>
                </a:r>
                <a:r>
                  <a:rPr dirty="0">
                    <a:hlinkClick r:id="rId3"/>
                  </a:rPr>
                  <a:t>well-documented</a:t>
                </a:r>
              </a:p>
              <a:p>
                <a:pPr lvl="0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𝑅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222</m:t>
                        </m:r>
                      </m:sub>
                    </m:sSub>
                  </m:oMath>
                </a14:m>
                <a:r>
                  <a:rPr dirty="0"/>
                  <a:t> is the most prevalent cause of lung cancer</a:t>
                </a:r>
                <a:r>
                  <a:rPr lang="en-US" dirty="0"/>
                  <a:t> in US</a:t>
                </a:r>
                <a:r>
                  <a:rPr dirty="0"/>
                  <a:t> among nonsmokers</a:t>
                </a:r>
              </a:p>
              <a:p>
                <a:pPr lvl="0"/>
                <a:r>
                  <a:rPr dirty="0"/>
                  <a:t>Outdoors,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𝑅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222</m:t>
                        </m:r>
                      </m:sub>
                    </m:sSub>
                  </m:oMath>
                </a14:m>
                <a:r>
                  <a:rPr dirty="0"/>
                  <a:t> does not accumulate in dangerous quantity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963" t="-12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Example: Dangers of Radon in Homes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3774463" cy="3642479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Depending on rock and soil type, trace amounts of Uranium-238 are present</a:t>
                </a:r>
              </a:p>
              <a:p>
                <a:pPr lvl="0"/>
                <a:r>
                  <a:rPr dirty="0"/>
                  <a:t>In poorly ventilated buildings, Radon gas accumulates to dangerous levels</a:t>
                </a:r>
              </a:p>
              <a:p>
                <a:pPr lvl="0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𝑅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222</m:t>
                        </m:r>
                      </m:sub>
                    </m:sSub>
                  </m:oMath>
                </a14:m>
                <a:r>
                  <a:rPr dirty="0"/>
                  <a:t> molecule is heavy, and accumulates in low areas, such as basements</a:t>
                </a:r>
              </a:p>
              <a:p>
                <a:pPr lvl="0"/>
                <a:r>
                  <a:rPr dirty="0"/>
                  <a:t>Connections to wells or contact with ground water accumulate more dangerous levels of Radon</a:t>
                </a:r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3774463" cy="3642479"/>
              </a:xfrm>
              <a:blipFill>
                <a:blip r:embed="rId2"/>
                <a:stretch>
                  <a:fillRect l="-1616" t="-2513" r="-29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D5B6A1F-FDE2-5F44-379B-672403C45C47}"/>
              </a:ext>
            </a:extLst>
          </p:cNvPr>
          <p:cNvSpPr txBox="1"/>
          <p:nvPr/>
        </p:nvSpPr>
        <p:spPr>
          <a:xfrm>
            <a:off x="4850830" y="4477691"/>
            <a:ext cx="4235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ctr">
              <a:buNone/>
            </a:pPr>
            <a:r>
              <a:rPr lang="en-US" dirty="0"/>
              <a:t>Common ways Radon-222 enters homes</a:t>
            </a:r>
          </a:p>
          <a:p>
            <a:pPr marL="0" lvl="0" indent="0" algn="ctr">
              <a:buNone/>
            </a:pPr>
            <a:r>
              <a:rPr lang="en-US" sz="1400" dirty="0">
                <a:hlinkClick r:id="rId3"/>
              </a:rPr>
              <a:t>Credit: Massachusetts Department of Public Health</a:t>
            </a:r>
            <a:endParaRPr lang="en-US" sz="1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B0CD11-8F05-E366-B31F-B78C77054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2981" y="996410"/>
            <a:ext cx="4791019" cy="35093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4643758" cy="857250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Example: Dangers of Radon in Homes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987290" cy="2773679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dirty="0"/>
                  <a:t>Randon concentration changes with soil and rock composition and ground water chemistry</a:t>
                </a:r>
                <a:r>
                  <a:rPr lang="en-US" dirty="0"/>
                  <a:t> and circulation</a:t>
                </a:r>
                <a:endParaRPr dirty="0"/>
              </a:p>
              <a:p>
                <a:pPr lvl="0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𝑅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222</m:t>
                        </m:r>
                      </m:sub>
                    </m:sSub>
                  </m:oMath>
                </a14:m>
                <a:r>
                  <a:rPr dirty="0"/>
                  <a:t> risk changes significantly with geographic location</a:t>
                </a:r>
              </a:p>
              <a:p>
                <a:pPr lvl="0"/>
                <a:r>
                  <a:rPr dirty="0"/>
                  <a:t>Risk varies considerably spa</a:t>
                </a:r>
                <a:r>
                  <a:rPr lang="en-US" dirty="0"/>
                  <a:t>tially 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987290" cy="2773679"/>
              </a:xfrm>
              <a:blipFill>
                <a:blip r:embed="rId2"/>
                <a:stretch>
                  <a:fillRect l="-1834" t="-17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770BF19-DA06-54DF-EEDE-DC81ABBCF2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7340" y="76626"/>
            <a:ext cx="3869883" cy="499024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FBB7B6-9D1E-EC0A-4743-338C2FEE8384}"/>
              </a:ext>
            </a:extLst>
          </p:cNvPr>
          <p:cNvSpPr txBox="1"/>
          <p:nvPr/>
        </p:nvSpPr>
        <p:spPr>
          <a:xfrm>
            <a:off x="754483" y="4267654"/>
            <a:ext cx="49287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ctr">
              <a:buNone/>
            </a:pPr>
            <a:r>
              <a:rPr lang="en-US" dirty="0"/>
              <a:t>Map of Radon in homes for counties in IA and MN</a:t>
            </a:r>
          </a:p>
          <a:p>
            <a:pPr marL="0" lvl="0" indent="0" algn="ctr">
              <a:buNone/>
            </a:pPr>
            <a:r>
              <a:rPr lang="en-US" sz="1400" dirty="0"/>
              <a:t>Credit: Minnesota Radon Project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Bayesian Modeling of Radon Concentration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For this </a:t>
            </a:r>
            <a:r>
              <a:rPr lang="en-US" dirty="0"/>
              <a:t>example,</a:t>
            </a:r>
            <a:r>
              <a:rPr dirty="0"/>
              <a:t> we construct and compare three models:</a:t>
            </a:r>
          </a:p>
          <a:p>
            <a:pPr marL="342900" lvl="0" indent="-342900">
              <a:buAutoNum type="arabicPeriod"/>
            </a:pPr>
            <a:r>
              <a:rPr lang="en-US" b="1" dirty="0"/>
              <a:t>P</a:t>
            </a:r>
            <a:r>
              <a:rPr b="1" dirty="0"/>
              <a:t>ooled model </a:t>
            </a:r>
            <a:r>
              <a:rPr lang="en-US" dirty="0"/>
              <a:t>has </a:t>
            </a:r>
            <a:r>
              <a:rPr dirty="0"/>
              <a:t>single intercept and slope for all counties</a:t>
            </a:r>
          </a:p>
          <a:p>
            <a:pPr marL="342900" lvl="0" indent="-342900">
              <a:buAutoNum type="arabicPeriod"/>
            </a:pPr>
            <a:r>
              <a:rPr lang="en-US" b="1" dirty="0" err="1"/>
              <a:t>U</a:t>
            </a:r>
            <a:r>
              <a:rPr b="1" dirty="0" err="1"/>
              <a:t>npooled</a:t>
            </a:r>
            <a:r>
              <a:rPr b="1" dirty="0"/>
              <a:t> model </a:t>
            </a:r>
            <a:r>
              <a:rPr lang="en-US" dirty="0"/>
              <a:t>has</a:t>
            </a:r>
            <a:r>
              <a:rPr dirty="0"/>
              <a:t> separate intercepts and slopes for each county</a:t>
            </a:r>
          </a:p>
          <a:p>
            <a:pPr marL="342900" lvl="0" indent="-342900">
              <a:buAutoNum type="arabicPeriod"/>
            </a:pPr>
            <a:r>
              <a:rPr lang="en-US" b="1" dirty="0"/>
              <a:t>H</a:t>
            </a:r>
            <a:r>
              <a:rPr b="1" dirty="0"/>
              <a:t>ierarchical model </a:t>
            </a:r>
            <a:endParaRPr lang="en-US" b="1" dirty="0"/>
          </a:p>
          <a:p>
            <a:pPr lvl="1"/>
            <a:r>
              <a:rPr lang="en-US" dirty="0"/>
              <a:t>Pooled </a:t>
            </a:r>
            <a:r>
              <a:rPr dirty="0"/>
              <a:t>hyperpriors for all counties</a:t>
            </a:r>
            <a:r>
              <a:rPr lang="en-US" dirty="0"/>
              <a:t> at top level</a:t>
            </a:r>
            <a:endParaRPr dirty="0"/>
          </a:p>
          <a:p>
            <a:pPr lvl="1"/>
            <a:r>
              <a:rPr dirty="0"/>
              <a:t>Next level are</a:t>
            </a:r>
            <a:r>
              <a:rPr lang="en-US" dirty="0"/>
              <a:t> priors for each county</a:t>
            </a:r>
          </a:p>
          <a:p>
            <a:pPr lvl="1"/>
            <a:r>
              <a:rPr lang="en-US" dirty="0"/>
              <a:t>S</a:t>
            </a:r>
            <a:r>
              <a:rPr dirty="0"/>
              <a:t>lopes and intercepts for each county </a:t>
            </a:r>
            <a:r>
              <a:rPr lang="en-US" dirty="0"/>
              <a:t>at the bottom level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Radon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23A30B-840D-5B3D-3F3A-0236E8EAE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90" y="1268423"/>
            <a:ext cx="8785860" cy="1589402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FB45A9A-C5B5-97A1-BA13-F8C0650AFE45}"/>
              </a:ext>
            </a:extLst>
          </p:cNvPr>
          <p:cNvSpPr txBox="1">
            <a:spLocks/>
          </p:cNvSpPr>
          <p:nvPr/>
        </p:nvSpPr>
        <p:spPr>
          <a:xfrm>
            <a:off x="474344" y="3063019"/>
            <a:ext cx="8286751" cy="15894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/>
              <a:t>Columns of interest   </a:t>
            </a:r>
          </a:p>
          <a:p>
            <a:r>
              <a:rPr lang="en-US" sz="2000" b="1" i="1" dirty="0" err="1"/>
              <a:t>log_radon</a:t>
            </a:r>
            <a:r>
              <a:rPr lang="en-US" sz="2000" b="1" i="1" dirty="0"/>
              <a:t> </a:t>
            </a:r>
            <a:r>
              <a:rPr lang="en-US" sz="2000" dirty="0"/>
              <a:t>is the numeric response variable</a:t>
            </a:r>
          </a:p>
          <a:p>
            <a:r>
              <a:rPr lang="en-US" sz="2000" b="1" i="1" dirty="0"/>
              <a:t>county</a:t>
            </a:r>
            <a:r>
              <a:rPr lang="en-US" sz="2000" dirty="0"/>
              <a:t> is an independent categorical variable</a:t>
            </a:r>
          </a:p>
          <a:p>
            <a:r>
              <a:rPr lang="en-US" sz="2000" b="1" i="1" dirty="0"/>
              <a:t>floor</a:t>
            </a:r>
            <a:r>
              <a:rPr lang="en-US" sz="2000" dirty="0"/>
              <a:t> is an independent binary variable </a:t>
            </a:r>
          </a:p>
          <a:p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BEB67-C482-0F81-1250-B15A159DF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B2420-60D1-A9B0-93F4-2012EF794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344080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Pooled Model</a:t>
            </a:r>
            <a:br>
              <a:rPr lang="en-US" cap="none" dirty="0"/>
            </a:br>
            <a:endParaRPr lang="en-US" cap="none" dirty="0"/>
          </a:p>
        </p:txBody>
      </p:sp>
    </p:spTree>
    <p:extLst>
      <p:ext uri="{BB962C8B-B14F-4D97-AF65-F5344CB8AC3E}">
        <p14:creationId xmlns:p14="http://schemas.microsoft.com/office/powerpoint/2010/main" val="2001525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Pooled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8"/>
            <a:ext cx="8229600" cy="3726095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First try a </a:t>
            </a:r>
            <a:r>
              <a:rPr b="1" dirty="0"/>
              <a:t>pooled model</a:t>
            </a:r>
          </a:p>
          <a:p>
            <a:pPr lvl="0"/>
            <a:r>
              <a:rPr dirty="0"/>
              <a:t>Pooled model is a </a:t>
            </a:r>
            <a:r>
              <a:rPr lang="en-US" dirty="0"/>
              <a:t>Bayesian </a:t>
            </a:r>
            <a:r>
              <a:rPr dirty="0"/>
              <a:t>linear regression model </a:t>
            </a:r>
            <a:r>
              <a:rPr lang="en-US" dirty="0"/>
              <a:t>for</a:t>
            </a:r>
            <a:r>
              <a:rPr dirty="0"/>
              <a:t> the log of Radon concentration</a:t>
            </a:r>
          </a:p>
          <a:p>
            <a:pPr lvl="0"/>
            <a:r>
              <a:rPr lang="en-US" dirty="0"/>
              <a:t>Posterior distribution </a:t>
            </a:r>
            <a:r>
              <a:rPr dirty="0"/>
              <a:t>computed from the data pooled over all</a:t>
            </a:r>
            <a:r>
              <a:rPr lang="en-US" dirty="0"/>
              <a:t> </a:t>
            </a:r>
            <a:r>
              <a:rPr dirty="0"/>
              <a:t>counties</a:t>
            </a:r>
            <a:endParaRPr lang="en-US" dirty="0"/>
          </a:p>
          <a:p>
            <a:pPr lvl="1"/>
            <a:r>
              <a:rPr lang="en-US" dirty="0"/>
              <a:t>Single slope and intercept coefficients for all counties   </a:t>
            </a:r>
            <a:endParaRPr dirty="0"/>
          </a:p>
          <a:p>
            <a:pPr lvl="1"/>
            <a:r>
              <a:rPr lang="en-US" b="1" dirty="0"/>
              <a:t>M</a:t>
            </a:r>
            <a:r>
              <a:rPr b="1" dirty="0"/>
              <a:t>odel </a:t>
            </a:r>
            <a:r>
              <a:rPr lang="en-US" b="1" dirty="0"/>
              <a:t>has</a:t>
            </a:r>
            <a:r>
              <a:rPr b="1" dirty="0"/>
              <a:t> flat</a:t>
            </a:r>
            <a:r>
              <a:rPr lang="en-US" b="1" dirty="0"/>
              <a:t> structure</a:t>
            </a:r>
            <a:r>
              <a:rPr dirty="0"/>
              <a:t>, with respect to county</a:t>
            </a:r>
          </a:p>
          <a:p>
            <a:pPr lvl="0"/>
            <a:r>
              <a:rPr lang="en-US" dirty="0"/>
              <a:t>A</a:t>
            </a:r>
            <a:r>
              <a:rPr dirty="0"/>
              <a:t>ssume</a:t>
            </a:r>
            <a:r>
              <a:rPr lang="en-US" dirty="0"/>
              <a:t>s</a:t>
            </a:r>
            <a:r>
              <a:rPr dirty="0"/>
              <a:t> </a:t>
            </a:r>
            <a:r>
              <a:rPr lang="en-US" dirty="0"/>
              <a:t>all</a:t>
            </a:r>
            <a:r>
              <a:rPr dirty="0"/>
              <a:t> observations are </a:t>
            </a:r>
            <a:r>
              <a:rPr b="1" dirty="0">
                <a:hlinkClick r:id="rId2"/>
              </a:rPr>
              <a:t>exchangeable</a:t>
            </a:r>
            <a:r>
              <a:rPr dirty="0"/>
              <a:t> with each other</a:t>
            </a:r>
          </a:p>
          <a:p>
            <a:pPr lvl="0"/>
            <a:r>
              <a:rPr b="1" dirty="0"/>
              <a:t>Exchangeable values are assumed to be </a:t>
            </a:r>
            <a:r>
              <a:rPr b="1" dirty="0" err="1"/>
              <a:t>iid</a:t>
            </a:r>
            <a:r>
              <a:rPr dirty="0"/>
              <a:t>, and therefore have the </a:t>
            </a:r>
            <a:r>
              <a:rPr b="1" dirty="0"/>
              <a:t>same </a:t>
            </a:r>
            <a:r>
              <a:rPr lang="en-US" b="1" dirty="0"/>
              <a:t>distribution</a:t>
            </a:r>
            <a:endParaRPr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Pooled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First try a </a:t>
                </a:r>
                <a:r>
                  <a:rPr lang="en-US" b="1" dirty="0"/>
                  <a:t>pooled model</a:t>
                </a:r>
              </a:p>
              <a:p>
                <a:pPr lvl="0"/>
                <a:r>
                  <a:rPr lang="en-US" dirty="0"/>
                  <a:t>Typically for a regression model the pooled model uses a Normal likelihood: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𝑟𝑎𝑑𝑜𝑛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value of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is computed </a:t>
                </a:r>
                <a:r>
                  <a:rPr lang="en-US" b="1" dirty="0"/>
                  <a:t>deterministically</a:t>
                </a:r>
                <a:r>
                  <a:rPr lang="en-US" dirty="0"/>
                  <a:t> from samples (realizations) of the model coefficient posteriors,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𝑟𝑎𝑑</m:t>
                              </m:r>
                            </m:e>
                          </m:ac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/>
                  <a:t>Binary independent variable,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, the presence of a basement in the house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1BD88-FDE9-2370-695E-FC0F7D1B6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D4683-14C9-83F7-D95C-7FA089F79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2" y="204787"/>
            <a:ext cx="4340324" cy="537394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sz="3200" b="0" dirty="0"/>
              <a:t>Pooled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E1A6D0E3-052E-98B3-C887-9D95F983CDAB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2" y="869296"/>
                <a:ext cx="4520742" cy="4170156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First try a </a:t>
                </a:r>
                <a:r>
                  <a:rPr lang="en-US" sz="2000" b="1" dirty="0"/>
                  <a:t>pooled model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Structure of the model is flat with parameters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 sz="20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sz="200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d>
                  </m:oMath>
                </a14:m>
                <a:endParaRPr lang="ar-AE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Prior distribution of the parameters: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lvl="0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~|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𝐶𝑎𝑢𝑐ℎ𝑦</m:t>
                      </m:r>
                      <m:d>
                        <m:dPr>
                          <m:ctrlPr>
                            <a:rPr lang="en-US" sz="20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lvl="1"/>
                <a:r>
                  <a:rPr lang="en-US" sz="1850" dirty="0"/>
                  <a:t>Where </a:t>
                </a:r>
                <a14:m>
                  <m:oMath xmlns:m="http://schemas.openxmlformats.org/officeDocument/2006/math">
                    <m:r>
                      <a:rPr lang="en-US" sz="185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850">
                        <a:latin typeface="Cambria Math" panose="02040503050406030204" pitchFamily="18" charset="0"/>
                      </a:rPr>
                      <m:t>𝙲𝚊𝚞𝚌𝚑𝚢</m:t>
                    </m:r>
                  </m:oMath>
                </a14:m>
                <a:r>
                  <a:rPr lang="en-US" sz="1850" dirty="0"/>
                  <a:t> is the half Cauchy distribution with one parameter, </a:t>
                </a:r>
                <a14:m>
                  <m:oMath xmlns:m="http://schemas.openxmlformats.org/officeDocument/2006/math">
                    <m:r>
                      <a:rPr lang="en-US" sz="1850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endParaRPr lang="en-US" sz="185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Distribution is often used for variance priors since it has heavy tails and no values </a:t>
                </a:r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E1A6D0E3-052E-98B3-C887-9D95F983CD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2" y="869296"/>
                <a:ext cx="4520742" cy="4170156"/>
              </a:xfrm>
              <a:blipFill>
                <a:blip r:embed="rId2"/>
                <a:stretch>
                  <a:fillRect l="-1348" t="-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14_HierarchicalBayesModels_files/figure-pptx/echo-FALSE-1.png">
            <a:extLst>
              <a:ext uri="{FF2B5EF4-FFF2-40B4-BE49-F238E27FC236}">
                <a16:creationId xmlns:a16="http://schemas.microsoft.com/office/drawing/2014/main" id="{39EB84D5-EB46-322C-72A8-2EF03BB8F894}"/>
              </a:ext>
            </a:extLst>
          </p:cNvPr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43552" y="1602593"/>
            <a:ext cx="4055344" cy="270356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482965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2" y="204787"/>
            <a:ext cx="4340324" cy="537394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sz="3200" b="0" dirty="0"/>
              <a:t>Pooled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11482" y="789061"/>
                <a:ext cx="3545730" cy="4149652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First try a </a:t>
                </a:r>
                <a:r>
                  <a:rPr lang="en-US" sz="2000" b="1" dirty="0"/>
                  <a:t>pooled model</a:t>
                </a:r>
                <a:endParaRPr lang="en-US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Represent model structure as a DAG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Structure of the model is flat with parameters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 sz="20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</m:d>
                  </m:oMath>
                </a14:m>
                <a:endParaRPr lang="ar-AE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Prior distribution of the parameters: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lvl="0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~|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𝐶𝑎𝑢𝑐ℎ𝑦</m:t>
                      </m:r>
                      <m:d>
                        <m:dPr>
                          <m:ctrlPr>
                            <a:rPr lang="en-US" sz="20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Normal likelihood model: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r>
                        <a:rPr lang="en-US" sz="2000" i="1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𝑟𝑎𝑑𝑜𝑛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000" dirty="0"/>
              </a:p>
              <a:p>
                <a:pPr lvl="0"/>
                <a:endParaRPr lang="en-US" sz="20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11482" y="789061"/>
                <a:ext cx="3545730" cy="4149652"/>
              </a:xfrm>
              <a:blipFill>
                <a:blip r:embed="rId2"/>
                <a:stretch>
                  <a:fillRect l="-1893" t="-734" r="-18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9F67905-6E13-7F6E-1143-B6C7A0A73F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8862" y="1822652"/>
            <a:ext cx="5135138" cy="195686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Defining and Sampling the Pooled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46169"/>
          </a:xfrm>
        </p:spPr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sz="2900" dirty="0"/>
              <a:t>Sampling model defined by this code:</a:t>
            </a:r>
          </a:p>
          <a:p>
            <a:pPr lvl="0" indent="0">
              <a:buNone/>
            </a:pPr>
            <a:r>
              <a:rPr sz="2600" b="1" dirty="0">
                <a:solidFill>
                  <a:srgbClr val="007020"/>
                </a:solidFill>
                <a:latin typeface="Courier"/>
              </a:rPr>
              <a:t>with</a:t>
            </a:r>
            <a:r>
              <a:rPr sz="2600" dirty="0">
                <a:latin typeface="Courier"/>
              </a:rPr>
              <a:t> </a:t>
            </a:r>
            <a:r>
              <a:rPr sz="2600" dirty="0" err="1">
                <a:latin typeface="Courier"/>
              </a:rPr>
              <a:t>pm.Model</a:t>
            </a:r>
            <a:r>
              <a:rPr sz="2600" dirty="0">
                <a:latin typeface="Courier"/>
              </a:rPr>
              <a:t>() </a:t>
            </a:r>
            <a:r>
              <a:rPr sz="2600" b="1" dirty="0">
                <a:solidFill>
                  <a:srgbClr val="008000"/>
                </a:solidFill>
                <a:latin typeface="Courier"/>
              </a:rPr>
              <a:t>as</a:t>
            </a:r>
            <a:r>
              <a:rPr sz="2600" dirty="0">
                <a:latin typeface="Courier"/>
              </a:rPr>
              <a:t> </a:t>
            </a:r>
            <a:r>
              <a:rPr sz="2600" dirty="0" err="1">
                <a:latin typeface="Courier"/>
              </a:rPr>
              <a:t>pooled_model</a:t>
            </a:r>
            <a:r>
              <a:rPr sz="2600" dirty="0">
                <a:latin typeface="Courier"/>
              </a:rPr>
              <a:t>:</a:t>
            </a:r>
            <a:br>
              <a:rPr sz="2600" dirty="0"/>
            </a:br>
            <a:r>
              <a:rPr sz="2600" dirty="0">
                <a:latin typeface="Courier"/>
              </a:rPr>
              <a:t>    </a:t>
            </a:r>
            <a:r>
              <a:rPr sz="2600" i="1" dirty="0">
                <a:solidFill>
                  <a:srgbClr val="60A0B0"/>
                </a:solidFill>
                <a:latin typeface="Courier"/>
              </a:rPr>
              <a:t># Independent variable is just </a:t>
            </a:r>
            <a:r>
              <a:rPr lang="en-US" sz="2600" i="1" dirty="0">
                <a:solidFill>
                  <a:srgbClr val="60A0B0"/>
                </a:solidFill>
                <a:latin typeface="Courier"/>
              </a:rPr>
              <a:t>n</a:t>
            </a:r>
            <a:r>
              <a:rPr sz="2600" i="1" dirty="0">
                <a:solidFill>
                  <a:srgbClr val="60A0B0"/>
                </a:solidFill>
                <a:latin typeface="Courier"/>
              </a:rPr>
              <a:t>umber of floors   </a:t>
            </a:r>
            <a:br>
              <a:rPr sz="2600" dirty="0"/>
            </a:br>
            <a:r>
              <a:rPr sz="2600" dirty="0">
                <a:latin typeface="Courier"/>
              </a:rPr>
              <a:t>    floor </a:t>
            </a:r>
            <a:r>
              <a:rPr sz="2600" dirty="0">
                <a:solidFill>
                  <a:srgbClr val="666666"/>
                </a:solidFill>
                <a:latin typeface="Courier"/>
              </a:rPr>
              <a:t>=</a:t>
            </a:r>
            <a:r>
              <a:rPr sz="2600" dirty="0">
                <a:latin typeface="Courier"/>
              </a:rPr>
              <a:t> </a:t>
            </a:r>
            <a:r>
              <a:rPr sz="2600" dirty="0" err="1">
                <a:latin typeface="Courier"/>
              </a:rPr>
              <a:t>pm.Data</a:t>
            </a:r>
            <a:r>
              <a:rPr sz="2600" dirty="0">
                <a:latin typeface="Courier"/>
              </a:rPr>
              <a:t>(</a:t>
            </a:r>
            <a:r>
              <a:rPr sz="2600" dirty="0">
                <a:solidFill>
                  <a:srgbClr val="4070A0"/>
                </a:solidFill>
                <a:latin typeface="Courier"/>
              </a:rPr>
              <a:t>"floor"</a:t>
            </a:r>
            <a:r>
              <a:rPr sz="2600" dirty="0">
                <a:latin typeface="Courier"/>
              </a:rPr>
              <a:t>, </a:t>
            </a:r>
            <a:r>
              <a:rPr sz="2600" dirty="0" err="1">
                <a:latin typeface="Courier"/>
              </a:rPr>
              <a:t>radon_data.floor.values</a:t>
            </a:r>
            <a:r>
              <a:rPr sz="2600" dirty="0">
                <a:latin typeface="Courier"/>
              </a:rPr>
              <a:t>)   </a:t>
            </a:r>
            <a:br>
              <a:rPr sz="2600" dirty="0"/>
            </a:br>
            <a:r>
              <a:rPr sz="2600" dirty="0">
                <a:latin typeface="Courier"/>
              </a:rPr>
              <a:t>    </a:t>
            </a:r>
            <a:r>
              <a:rPr sz="2600" i="1" dirty="0">
                <a:solidFill>
                  <a:srgbClr val="60A0B0"/>
                </a:solidFill>
                <a:latin typeface="Courier"/>
              </a:rPr>
              <a:t># Priors for unknown model parameters</a:t>
            </a:r>
            <a:br>
              <a:rPr sz="2600" dirty="0"/>
            </a:br>
            <a:r>
              <a:rPr sz="2600" dirty="0">
                <a:latin typeface="Courier"/>
              </a:rPr>
              <a:t>    betas </a:t>
            </a:r>
            <a:r>
              <a:rPr sz="2600" dirty="0">
                <a:solidFill>
                  <a:srgbClr val="666666"/>
                </a:solidFill>
                <a:latin typeface="Courier"/>
              </a:rPr>
              <a:t>=</a:t>
            </a:r>
            <a:r>
              <a:rPr sz="2600" dirty="0">
                <a:latin typeface="Courier"/>
              </a:rPr>
              <a:t> </a:t>
            </a:r>
            <a:r>
              <a:rPr sz="2600" dirty="0" err="1">
                <a:latin typeface="Courier"/>
              </a:rPr>
              <a:t>pm.Normal</a:t>
            </a:r>
            <a:r>
              <a:rPr sz="2600" dirty="0">
                <a:latin typeface="Courier"/>
              </a:rPr>
              <a:t>(</a:t>
            </a:r>
            <a:r>
              <a:rPr sz="2600" dirty="0">
                <a:solidFill>
                  <a:srgbClr val="4070A0"/>
                </a:solidFill>
                <a:latin typeface="Courier"/>
              </a:rPr>
              <a:t>"betas"</a:t>
            </a:r>
            <a:r>
              <a:rPr sz="2600" dirty="0">
                <a:latin typeface="Courier"/>
              </a:rPr>
              <a:t>, mu</a:t>
            </a:r>
            <a:r>
              <a:rPr sz="2600" dirty="0">
                <a:solidFill>
                  <a:srgbClr val="666666"/>
                </a:solidFill>
                <a:latin typeface="Courier"/>
              </a:rPr>
              <a:t>=</a:t>
            </a:r>
            <a:r>
              <a:rPr sz="2600" dirty="0">
                <a:solidFill>
                  <a:srgbClr val="40A070"/>
                </a:solidFill>
                <a:latin typeface="Courier"/>
              </a:rPr>
              <a:t>0</a:t>
            </a:r>
            <a:r>
              <a:rPr sz="2600" dirty="0">
                <a:latin typeface="Courier"/>
              </a:rPr>
              <a:t>, sigma</a:t>
            </a:r>
            <a:r>
              <a:rPr sz="2600" dirty="0">
                <a:solidFill>
                  <a:srgbClr val="666666"/>
                </a:solidFill>
                <a:latin typeface="Courier"/>
              </a:rPr>
              <a:t>=</a:t>
            </a:r>
            <a:r>
              <a:rPr sz="2600" dirty="0">
                <a:solidFill>
                  <a:srgbClr val="40A070"/>
                </a:solidFill>
                <a:latin typeface="Courier"/>
              </a:rPr>
              <a:t>100</a:t>
            </a:r>
            <a:r>
              <a:rPr sz="2600" dirty="0">
                <a:latin typeface="Courier"/>
              </a:rPr>
              <a:t>, shape</a:t>
            </a:r>
            <a:r>
              <a:rPr sz="2600" dirty="0">
                <a:solidFill>
                  <a:srgbClr val="666666"/>
                </a:solidFill>
                <a:latin typeface="Courier"/>
              </a:rPr>
              <a:t>=</a:t>
            </a:r>
            <a:r>
              <a:rPr sz="2600" dirty="0">
                <a:solidFill>
                  <a:srgbClr val="40A070"/>
                </a:solidFill>
                <a:latin typeface="Courier"/>
              </a:rPr>
              <a:t>2</a:t>
            </a:r>
            <a:r>
              <a:rPr sz="2600" dirty="0">
                <a:latin typeface="Courier"/>
              </a:rPr>
              <a:t>)</a:t>
            </a:r>
            <a:br>
              <a:rPr sz="2600" dirty="0"/>
            </a:br>
            <a:r>
              <a:rPr sz="2600" dirty="0">
                <a:latin typeface="Courier"/>
              </a:rPr>
              <a:t>    sigma </a:t>
            </a:r>
            <a:r>
              <a:rPr sz="2600" dirty="0">
                <a:solidFill>
                  <a:srgbClr val="666666"/>
                </a:solidFill>
                <a:latin typeface="Courier"/>
              </a:rPr>
              <a:t>=</a:t>
            </a:r>
            <a:r>
              <a:rPr sz="2600" dirty="0">
                <a:latin typeface="Courier"/>
              </a:rPr>
              <a:t> </a:t>
            </a:r>
            <a:r>
              <a:rPr sz="2600" dirty="0" err="1">
                <a:latin typeface="Courier"/>
              </a:rPr>
              <a:t>pm.HalfCauchy</a:t>
            </a:r>
            <a:r>
              <a:rPr sz="2600" dirty="0">
                <a:latin typeface="Courier"/>
              </a:rPr>
              <a:t>(</a:t>
            </a:r>
            <a:r>
              <a:rPr sz="2600" dirty="0">
                <a:solidFill>
                  <a:srgbClr val="4070A0"/>
                </a:solidFill>
                <a:latin typeface="Courier"/>
              </a:rPr>
              <a:t>"sigma"</a:t>
            </a:r>
            <a:r>
              <a:rPr sz="2600" dirty="0">
                <a:latin typeface="Courier"/>
              </a:rPr>
              <a:t>, </a:t>
            </a:r>
            <a:r>
              <a:rPr sz="2600" dirty="0">
                <a:solidFill>
                  <a:srgbClr val="40A070"/>
                </a:solidFill>
                <a:latin typeface="Courier"/>
              </a:rPr>
              <a:t>5</a:t>
            </a:r>
            <a:r>
              <a:rPr sz="2600" dirty="0">
                <a:latin typeface="Courier"/>
              </a:rPr>
              <a:t>)</a:t>
            </a:r>
            <a:br>
              <a:rPr sz="2600" dirty="0"/>
            </a:br>
            <a:br>
              <a:rPr sz="2600" dirty="0"/>
            </a:br>
            <a:r>
              <a:rPr sz="2600" dirty="0">
                <a:latin typeface="Courier"/>
              </a:rPr>
              <a:t>    </a:t>
            </a:r>
            <a:r>
              <a:rPr sz="2600" i="1" dirty="0">
                <a:solidFill>
                  <a:srgbClr val="60A0B0"/>
                </a:solidFill>
                <a:latin typeface="Courier"/>
              </a:rPr>
              <a:t># Deterministic </a:t>
            </a:r>
            <a:r>
              <a:rPr lang="en-US" sz="2600" i="1" dirty="0">
                <a:solidFill>
                  <a:srgbClr val="60A0B0"/>
                </a:solidFill>
                <a:latin typeface="Courier"/>
              </a:rPr>
              <a:t>response prediction</a:t>
            </a:r>
            <a:br>
              <a:rPr sz="2600" dirty="0"/>
            </a:br>
            <a:r>
              <a:rPr sz="2600" dirty="0">
                <a:latin typeface="Courier"/>
              </a:rPr>
              <a:t>    </a:t>
            </a:r>
            <a:r>
              <a:rPr sz="2600" dirty="0" err="1">
                <a:latin typeface="Courier"/>
              </a:rPr>
              <a:t>radon_est</a:t>
            </a:r>
            <a:r>
              <a:rPr sz="2600" dirty="0">
                <a:latin typeface="Courier"/>
              </a:rPr>
              <a:t> </a:t>
            </a:r>
            <a:r>
              <a:rPr sz="2600" dirty="0">
                <a:solidFill>
                  <a:srgbClr val="666666"/>
                </a:solidFill>
                <a:latin typeface="Courier"/>
              </a:rPr>
              <a:t>=</a:t>
            </a:r>
            <a:r>
              <a:rPr sz="2600" dirty="0">
                <a:latin typeface="Courier"/>
              </a:rPr>
              <a:t> betas[</a:t>
            </a:r>
            <a:r>
              <a:rPr sz="2600" dirty="0">
                <a:solidFill>
                  <a:srgbClr val="40A070"/>
                </a:solidFill>
                <a:latin typeface="Courier"/>
              </a:rPr>
              <a:t>0</a:t>
            </a:r>
            <a:r>
              <a:rPr sz="2600" dirty="0">
                <a:latin typeface="Courier"/>
              </a:rPr>
              <a:t>] </a:t>
            </a:r>
            <a:r>
              <a:rPr sz="2600" dirty="0">
                <a:solidFill>
                  <a:srgbClr val="666666"/>
                </a:solidFill>
                <a:latin typeface="Courier"/>
              </a:rPr>
              <a:t>+</a:t>
            </a:r>
            <a:r>
              <a:rPr sz="2600" dirty="0">
                <a:latin typeface="Courier"/>
              </a:rPr>
              <a:t> betas[</a:t>
            </a:r>
            <a:r>
              <a:rPr sz="2600" dirty="0">
                <a:solidFill>
                  <a:srgbClr val="40A070"/>
                </a:solidFill>
                <a:latin typeface="Courier"/>
              </a:rPr>
              <a:t>1</a:t>
            </a:r>
            <a:r>
              <a:rPr sz="2600" dirty="0">
                <a:latin typeface="Courier"/>
              </a:rPr>
              <a:t>] </a:t>
            </a:r>
            <a:r>
              <a:rPr sz="2600" dirty="0">
                <a:solidFill>
                  <a:srgbClr val="666666"/>
                </a:solidFill>
                <a:latin typeface="Courier"/>
              </a:rPr>
              <a:t>*</a:t>
            </a:r>
            <a:r>
              <a:rPr sz="2600" dirty="0">
                <a:latin typeface="Courier"/>
              </a:rPr>
              <a:t> floor</a:t>
            </a:r>
            <a:endParaRPr lang="en-US" sz="2600" dirty="0">
              <a:latin typeface="Courier"/>
            </a:endParaRPr>
          </a:p>
          <a:p>
            <a:pPr lvl="0" indent="0">
              <a:buNone/>
            </a:pPr>
            <a:br>
              <a:rPr sz="2600" dirty="0"/>
            </a:br>
            <a:r>
              <a:rPr sz="2600" dirty="0">
                <a:latin typeface="Courier"/>
              </a:rPr>
              <a:t>    </a:t>
            </a:r>
            <a:r>
              <a:rPr sz="2600" i="1" dirty="0">
                <a:solidFill>
                  <a:srgbClr val="60A0B0"/>
                </a:solidFill>
                <a:latin typeface="Courier"/>
              </a:rPr>
              <a:t># Likelihood of observations</a:t>
            </a:r>
            <a:br>
              <a:rPr sz="2600" dirty="0"/>
            </a:br>
            <a:r>
              <a:rPr sz="2600" dirty="0">
                <a:latin typeface="Courier"/>
              </a:rPr>
              <a:t>    y </a:t>
            </a:r>
            <a:r>
              <a:rPr sz="2600" dirty="0">
                <a:solidFill>
                  <a:srgbClr val="666666"/>
                </a:solidFill>
                <a:latin typeface="Courier"/>
              </a:rPr>
              <a:t>=</a:t>
            </a:r>
            <a:r>
              <a:rPr sz="2600" dirty="0">
                <a:latin typeface="Courier"/>
              </a:rPr>
              <a:t> </a:t>
            </a:r>
            <a:r>
              <a:rPr sz="2600" dirty="0" err="1">
                <a:latin typeface="Courier"/>
              </a:rPr>
              <a:t>pm.Normal</a:t>
            </a:r>
            <a:r>
              <a:rPr sz="2600" dirty="0">
                <a:latin typeface="Courier"/>
              </a:rPr>
              <a:t>(</a:t>
            </a:r>
            <a:r>
              <a:rPr sz="2600" dirty="0">
                <a:solidFill>
                  <a:srgbClr val="4070A0"/>
                </a:solidFill>
                <a:latin typeface="Courier"/>
              </a:rPr>
              <a:t>"y"</a:t>
            </a:r>
            <a:r>
              <a:rPr sz="2600" dirty="0">
                <a:latin typeface="Courier"/>
              </a:rPr>
              <a:t>, mu</a:t>
            </a:r>
            <a:r>
              <a:rPr sz="2600" dirty="0">
                <a:solidFill>
                  <a:srgbClr val="666666"/>
                </a:solidFill>
                <a:latin typeface="Courier"/>
              </a:rPr>
              <a:t>=</a:t>
            </a:r>
            <a:r>
              <a:rPr sz="2600" dirty="0" err="1">
                <a:latin typeface="Courier"/>
              </a:rPr>
              <a:t>radon_est</a:t>
            </a:r>
            <a:r>
              <a:rPr sz="2600" dirty="0">
                <a:latin typeface="Courier"/>
              </a:rPr>
              <a:t>, sigma</a:t>
            </a:r>
            <a:r>
              <a:rPr sz="2600" dirty="0">
                <a:solidFill>
                  <a:srgbClr val="666666"/>
                </a:solidFill>
                <a:latin typeface="Courier"/>
              </a:rPr>
              <a:t>=</a:t>
            </a:r>
            <a:r>
              <a:rPr sz="2600" dirty="0">
                <a:latin typeface="Courier"/>
              </a:rPr>
              <a:t>sigma, observed</a:t>
            </a:r>
            <a:r>
              <a:rPr sz="2600" dirty="0">
                <a:solidFill>
                  <a:srgbClr val="666666"/>
                </a:solidFill>
                <a:latin typeface="Courier"/>
              </a:rPr>
              <a:t>=</a:t>
            </a:r>
            <a:r>
              <a:rPr sz="2600" dirty="0" err="1">
                <a:latin typeface="Courier"/>
              </a:rPr>
              <a:t>radon_data.log_radon</a:t>
            </a:r>
            <a:r>
              <a:rPr sz="2600" dirty="0">
                <a:latin typeface="Courier"/>
              </a:rPr>
              <a:t>) 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Sampling the Pooled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0530" y="980330"/>
            <a:ext cx="8229600" cy="613409"/>
          </a:xfrm>
        </p:spPr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The sampling traces</a:t>
            </a:r>
            <a:r>
              <a:rPr lang="en-US" dirty="0"/>
              <a:t> and statistics</a:t>
            </a:r>
            <a:r>
              <a:rPr dirty="0"/>
              <a:t> look reasonable for the t</a:t>
            </a:r>
            <a:r>
              <a:rPr lang="en-US" dirty="0"/>
              <a:t>hree</a:t>
            </a:r>
            <a:r>
              <a:rPr dirty="0"/>
              <a:t> coefficients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B45827-459A-86A8-B0EE-47A19E9C4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1287034"/>
            <a:ext cx="6930390" cy="23480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9E51761-F121-DDCB-555A-ED174E0AB7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5049" y="3634654"/>
            <a:ext cx="4277031" cy="147836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959"/>
            <a:ext cx="8229600" cy="857250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Posterior Predictive Checks for Pooled Model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E7958055-EE8D-79CD-9765-B5A9104C5E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0530" y="980330"/>
                <a:ext cx="4282440" cy="3892660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Posterior predictive checks show generally good fit</a:t>
                </a:r>
              </a:p>
              <a:p>
                <a:r>
                  <a:rPr lang="en-US" sz="2000" dirty="0"/>
                  <a:t>Predicted close to the observed response with notable deviations</a:t>
                </a:r>
              </a:p>
              <a:p>
                <a:r>
                  <a:rPr lang="en-US" sz="2000" dirty="0"/>
                  <a:t>The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∆−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𝐸𝐶𝐷𝐹</m:t>
                    </m:r>
                  </m:oMath>
                </a14:m>
                <a:r>
                  <a:rPr lang="en-US" sz="2000" dirty="0"/>
                  <a:t> shows significant deviations respect to the ideal distribution </a:t>
                </a:r>
              </a:p>
              <a:p>
                <a:r>
                  <a:rPr lang="en-US" sz="2000" dirty="0"/>
                  <a:t>Sampled mean distribution is skewed with respect to the observed   </a:t>
                </a: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E7958055-EE8D-79CD-9765-B5A9104C5E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0530" y="980330"/>
                <a:ext cx="4282440" cy="3892660"/>
              </a:xfrm>
              <a:blipFill>
                <a:blip r:embed="rId2"/>
                <a:stretch>
                  <a:fillRect l="-1567" t="-9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7BD68258-E451-0EF9-E488-518296EBAA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6092" y="757484"/>
            <a:ext cx="3938439" cy="434005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F1E95-A7FF-E407-917D-230080BDD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0ABFE-58DC-2D84-02C7-0A7D0F3B0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Inference on the</a:t>
            </a:r>
            <a:r>
              <a:rPr lang="en-US" dirty="0"/>
              <a:t> Pooled </a:t>
            </a:r>
            <a:r>
              <a:rPr dirty="0"/>
              <a:t> </a:t>
            </a:r>
            <a:r>
              <a:rPr lang="en-US" dirty="0"/>
              <a:t>M</a:t>
            </a:r>
            <a:r>
              <a:rPr dirty="0"/>
              <a:t>odel </a:t>
            </a:r>
            <a:r>
              <a:rPr lang="en-US" dirty="0"/>
              <a:t>P</a:t>
            </a:r>
            <a:r>
              <a:rPr dirty="0"/>
              <a:t>arameters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D9B643-9F04-A60B-D0FC-488F350174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2050" y="961959"/>
            <a:ext cx="3851969" cy="39755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BA7CF00-C306-7FA9-0811-D83B973640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0530" y="1664970"/>
                <a:ext cx="4282440" cy="3208020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Examine HDI of model parameters</a:t>
                </a:r>
              </a:p>
              <a:p>
                <a:r>
                  <a:rPr lang="en-US" sz="2000" dirty="0"/>
                  <a:t>Intercept,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000" dirty="0"/>
                  <a:t>, has narrow HDI</a:t>
                </a:r>
              </a:p>
              <a:p>
                <a:r>
                  <a:rPr lang="en-US" sz="2000" dirty="0"/>
                  <a:t>Slope,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/>
                  <a:t>, has a wider HDI, indicating higher uncertainty</a:t>
                </a:r>
              </a:p>
              <a:p>
                <a:r>
                  <a:rPr lang="en-US" sz="2000" dirty="0"/>
                  <a:t>Scale,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000" dirty="0"/>
                  <a:t>, has narrow HDI</a:t>
                </a:r>
                <a:endParaRPr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BA7CF00-C306-7FA9-0811-D83B973640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0530" y="1664970"/>
                <a:ext cx="4282440" cy="3208020"/>
              </a:xfrm>
              <a:blipFill>
                <a:blip r:embed="rId3"/>
                <a:stretch>
                  <a:fillRect l="-1567" t="-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6665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36A99-750B-CF5D-E36B-D25932283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48B12-F34C-C628-1B12-6C0904AF7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344080"/>
            <a:ext cx="7772400" cy="1021556"/>
          </a:xfrm>
        </p:spPr>
        <p:txBody>
          <a:bodyPr/>
          <a:lstStyle/>
          <a:p>
            <a:pPr algn="ctr"/>
            <a:r>
              <a:rPr lang="en-US" cap="none" dirty="0" err="1"/>
              <a:t>Unpooled</a:t>
            </a:r>
            <a:r>
              <a:rPr lang="en-US" cap="none" dirty="0"/>
              <a:t> Model</a:t>
            </a:r>
            <a:br>
              <a:rPr lang="en-US" cap="none" dirty="0"/>
            </a:br>
            <a:endParaRPr lang="en-US" cap="none" dirty="0"/>
          </a:p>
        </p:txBody>
      </p:sp>
    </p:spTree>
    <p:extLst>
      <p:ext uri="{BB962C8B-B14F-4D97-AF65-F5344CB8AC3E}">
        <p14:creationId xmlns:p14="http://schemas.microsoft.com/office/powerpoint/2010/main" val="22533251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33867-7487-5410-F5F0-45764DF53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2BCB6-61D6-EFE7-65F0-9292366E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 err="1"/>
              <a:t>Unp</a:t>
            </a:r>
            <a:r>
              <a:rPr dirty="0" err="1"/>
              <a:t>ooled</a:t>
            </a:r>
            <a:r>
              <a:rPr dirty="0"/>
              <a:t>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35494-38AC-CEAE-091F-CA5A17905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28"/>
            <a:ext cx="8229600" cy="3726095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dirty="0"/>
              <a:t>Next, we test</a:t>
            </a:r>
            <a:r>
              <a:rPr dirty="0"/>
              <a:t> a</a:t>
            </a:r>
            <a:r>
              <a:rPr lang="en-US" dirty="0"/>
              <a:t>n</a:t>
            </a:r>
            <a:r>
              <a:rPr dirty="0"/>
              <a:t> </a:t>
            </a:r>
            <a:r>
              <a:rPr lang="en-US" b="1" dirty="0" err="1"/>
              <a:t>unp</a:t>
            </a:r>
            <a:r>
              <a:rPr b="1" dirty="0" err="1"/>
              <a:t>ooled</a:t>
            </a:r>
            <a:r>
              <a:rPr b="1" dirty="0"/>
              <a:t> model</a:t>
            </a:r>
          </a:p>
          <a:p>
            <a:pPr lvl="0"/>
            <a:r>
              <a:rPr lang="en-US" dirty="0" err="1"/>
              <a:t>Unp</a:t>
            </a:r>
            <a:r>
              <a:rPr dirty="0" err="1"/>
              <a:t>ooled</a:t>
            </a:r>
            <a:r>
              <a:rPr dirty="0"/>
              <a:t> model is a linear regression model of the log of Radon concentration</a:t>
            </a:r>
          </a:p>
          <a:p>
            <a:pPr lvl="0"/>
            <a:r>
              <a:rPr lang="en-US" dirty="0"/>
              <a:t>Each category level has independent posterior distribution of the model coefficients </a:t>
            </a:r>
            <a:endParaRPr dirty="0"/>
          </a:p>
          <a:p>
            <a:pPr lvl="0"/>
            <a:r>
              <a:rPr lang="en-US" dirty="0"/>
              <a:t>Posterior distributions are independently </a:t>
            </a:r>
            <a:r>
              <a:rPr dirty="0"/>
              <a:t>computed from the data </a:t>
            </a:r>
            <a:r>
              <a:rPr lang="en-US" dirty="0"/>
              <a:t>for each county</a:t>
            </a:r>
            <a:endParaRPr dirty="0"/>
          </a:p>
          <a:p>
            <a:pPr lvl="0"/>
            <a:r>
              <a:rPr dirty="0"/>
              <a:t>We assume the observations </a:t>
            </a:r>
            <a:r>
              <a:rPr b="1" dirty="0"/>
              <a:t>within each county </a:t>
            </a:r>
            <a:r>
              <a:rPr dirty="0"/>
              <a:t>are </a:t>
            </a:r>
            <a:r>
              <a:rPr b="1" dirty="0">
                <a:hlinkClick r:id="rId2"/>
              </a:rPr>
              <a:t>exchangeable</a:t>
            </a:r>
            <a:r>
              <a:rPr b="1" dirty="0"/>
              <a:t> </a:t>
            </a:r>
            <a:r>
              <a:rPr dirty="0"/>
              <a:t>with each other</a:t>
            </a:r>
            <a:r>
              <a:rPr lang="en-US" dirty="0"/>
              <a:t>, but </a:t>
            </a:r>
            <a:r>
              <a:rPr lang="en-US" b="1" dirty="0"/>
              <a:t>not between counties</a:t>
            </a:r>
          </a:p>
          <a:p>
            <a:pPr lvl="0"/>
            <a:r>
              <a:rPr lang="en-US" dirty="0"/>
              <a:t>Can pool some coefficients, e.g. dispersion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24445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4184E-B22C-E8E0-3A16-01C7A845E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F3E0-AA0E-8CFC-6EA4-E8D39A958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 err="1"/>
              <a:t>Unp</a:t>
            </a:r>
            <a:r>
              <a:rPr dirty="0" err="1"/>
              <a:t>ooled</a:t>
            </a:r>
            <a:r>
              <a:rPr dirty="0"/>
              <a:t>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70DC6C-EB64-0738-AB85-446DAD53AA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Next, we test an </a:t>
                </a:r>
                <a:r>
                  <a:rPr lang="en-US" b="1" dirty="0" err="1"/>
                  <a:t>unpooled</a:t>
                </a:r>
                <a:r>
                  <a:rPr lang="en-US" b="1" dirty="0"/>
                  <a:t> model</a:t>
                </a:r>
              </a:p>
              <a:p>
                <a:pPr lvl="0"/>
                <a:r>
                  <a:rPr lang="en-US" dirty="0"/>
                  <a:t>Typically for a regression model the </a:t>
                </a:r>
                <a:r>
                  <a:rPr lang="en-US" dirty="0" err="1"/>
                  <a:t>unpooled</a:t>
                </a:r>
                <a:r>
                  <a:rPr lang="en-US" dirty="0"/>
                  <a:t> model uses a Normal likelihood model: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𝑟𝑎𝑑𝑜𝑛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Where the subscript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indicates </a:t>
                </a:r>
                <a:r>
                  <a:rPr lang="en-US" b="1" dirty="0"/>
                  <a:t>county specific variables</a:t>
                </a:r>
              </a:p>
              <a:p>
                <a:r>
                  <a:rPr lang="en-US" dirty="0"/>
                  <a:t>The value of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is computed </a:t>
                </a:r>
                <a:r>
                  <a:rPr lang="en-US" b="1" dirty="0"/>
                  <a:t>deterministically</a:t>
                </a:r>
                <a:r>
                  <a:rPr lang="en-US" dirty="0"/>
                  <a:t> from samples of the posterior distribution of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𝑟𝑎𝑑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ac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/>
                  <a:t>Binary independent variable,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en-US" dirty="0"/>
                  <a:t>, the presence of a basement in the house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70DC6C-EB64-0738-AB85-446DAD53AA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19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7609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231B0-D331-B092-12C9-F27A12269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87365-D063-A726-3DB5-0ADC17D17C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2" y="204787"/>
            <a:ext cx="8252458" cy="537394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 err="1"/>
              <a:t>Unp</a:t>
            </a:r>
            <a:r>
              <a:rPr sz="3200" b="0" dirty="0" err="1"/>
              <a:t>ooled</a:t>
            </a:r>
            <a:r>
              <a:rPr sz="3200" b="0" dirty="0"/>
              <a:t>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9E54D9ED-3A8C-7C6C-A59B-DD2782384663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2" y="909821"/>
                <a:ext cx="4280670" cy="4149652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Next we test the </a:t>
                </a:r>
                <a:r>
                  <a:rPr lang="en-US" sz="2000" dirty="0" err="1"/>
                  <a:t>unpooled</a:t>
                </a:r>
                <a:r>
                  <a:rPr lang="en-US" sz="2000" dirty="0"/>
                  <a:t> model</a:t>
                </a:r>
                <a:endParaRPr lang="en-US" sz="2000" b="1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Model can be represented as a DAG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The model has county specific parameters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ar-AE" sz="20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</m:d>
                  </m:oMath>
                </a14:m>
                <a:endParaRPr lang="ar-AE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County specific prior distribution of the parameters: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lvl="0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~|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𝐶𝑎𝑢𝑐ℎ𝑦</m:t>
                      </m:r>
                      <m:d>
                        <m:dPr>
                          <m:ctrlPr>
                            <a:rPr lang="en-US" sz="20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Normal likelihood model: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r>
                        <a:rPr lang="en-US" sz="2000" i="1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𝑟𝑎𝑑𝑜𝑛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  <a:p>
                <a:pPr lvl="0"/>
                <a:endParaRPr lang="en-US" sz="2000" dirty="0"/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9E54D9ED-3A8C-7C6C-A59B-DD27823846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2" y="909821"/>
                <a:ext cx="4280670" cy="4149652"/>
              </a:xfrm>
              <a:blipFill>
                <a:blip r:embed="rId2"/>
                <a:stretch>
                  <a:fillRect l="-1425" t="-734" r="-2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85C45F30-21CC-BB44-04C0-1072DC78F7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2848" y="2350771"/>
            <a:ext cx="4280671" cy="1649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465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EFF6D-046F-7FD8-5F62-E2EA63865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0A3EF-D963-4C38-DBBE-C5F23AA8D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2" y="204787"/>
            <a:ext cx="8408668" cy="537394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 err="1"/>
              <a:t>Unp</a:t>
            </a:r>
            <a:r>
              <a:rPr sz="3200" b="0" dirty="0" err="1"/>
              <a:t>ooled</a:t>
            </a:r>
            <a:r>
              <a:rPr sz="3200" b="0" dirty="0"/>
              <a:t>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E260611B-8455-7E66-D7A2-4F42956D8BDA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2" y="789061"/>
                <a:ext cx="4571998" cy="2807579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What is the difference between the pooled and </a:t>
                </a:r>
                <a:r>
                  <a:rPr lang="en-US" sz="2000" dirty="0" err="1"/>
                  <a:t>unpooled</a:t>
                </a:r>
                <a:r>
                  <a:rPr lang="en-US" sz="2000" dirty="0"/>
                  <a:t> model? 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Pooled model has one set of coefficient posterior distributions for all categories  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 err="1"/>
                  <a:t>Unpooled</a:t>
                </a:r>
                <a:r>
                  <a:rPr lang="en-US" sz="2000" dirty="0"/>
                  <a:t> model has independently determined coefficient posterior distributions for each category 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The </a:t>
                </a:r>
                <a:r>
                  <a:rPr lang="en-US" sz="2000" b="1" dirty="0"/>
                  <a:t>plate notation </a:t>
                </a:r>
                <a:r>
                  <a:rPr lang="en-US" sz="2000" dirty="0"/>
                  <a:t>indicates there are multiple independent distributions, denoted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E260611B-8455-7E66-D7A2-4F42956D8B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2" y="789061"/>
                <a:ext cx="4571998" cy="2807579"/>
              </a:xfrm>
              <a:blipFill>
                <a:blip r:embed="rId2"/>
                <a:stretch>
                  <a:fillRect l="-1333" t="-1085" b="-32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041CF86-6873-F7AF-6717-FE9033023CE2}"/>
              </a:ext>
            </a:extLst>
          </p:cNvPr>
          <p:cNvSpPr/>
          <p:nvPr/>
        </p:nvSpPr>
        <p:spPr>
          <a:xfrm>
            <a:off x="2011680" y="4142367"/>
            <a:ext cx="2293620" cy="766763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A0C8E8-A9EA-50F3-E23C-B82A966959A8}"/>
                  </a:ext>
                </a:extLst>
              </p:cNvPr>
              <p:cNvSpPr txBox="1"/>
              <p:nvPr/>
            </p:nvSpPr>
            <p:spPr>
              <a:xfrm>
                <a:off x="3860268" y="4539798"/>
                <a:ext cx="53708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A0C8E8-A9EA-50F3-E23C-B82A966959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0268" y="4539798"/>
                <a:ext cx="53708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E388F7C7-75BC-B564-C5F5-05738D82C4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5624" y="2061211"/>
            <a:ext cx="3984086" cy="1535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822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FBBD9-767F-BD9D-7E0D-FBCA30E7C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6FC60E-C63A-9EDC-B069-60C911B61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0530" y="64770"/>
            <a:ext cx="8229600" cy="476011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Defining and Sampling the </a:t>
            </a:r>
            <a:r>
              <a:rPr lang="en-US" dirty="0" err="1"/>
              <a:t>Unp</a:t>
            </a:r>
            <a:r>
              <a:rPr dirty="0" err="1"/>
              <a:t>ooled</a:t>
            </a:r>
            <a:r>
              <a:rPr dirty="0"/>
              <a:t>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671B8-F8FD-25B1-C782-70AB92D27E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540781"/>
            <a:ext cx="8229600" cy="4545569"/>
          </a:xfrm>
        </p:spPr>
        <p:txBody>
          <a:bodyPr>
            <a:normAutofit fontScale="55000" lnSpcReduction="20000"/>
          </a:bodyPr>
          <a:lstStyle/>
          <a:p>
            <a:pPr marL="0" lvl="0" indent="0">
              <a:buNone/>
            </a:pPr>
            <a:r>
              <a:rPr sz="3300" dirty="0"/>
              <a:t>Sampling model defined by this code:</a:t>
            </a:r>
            <a:endParaRPr lang="en-US" sz="3300" dirty="0"/>
          </a:p>
          <a:p>
            <a:pPr marL="0" lvl="0" indent="0">
              <a:buNone/>
            </a:pPr>
            <a:endParaRPr lang="en-US" sz="1800" dirty="0">
              <a:latin typeface="Courier"/>
            </a:endParaRPr>
          </a:p>
          <a:p>
            <a:pPr marL="0" lvl="0" indent="0">
              <a:buNone/>
            </a:pPr>
            <a:r>
              <a:rPr lang="en-US" dirty="0">
                <a:latin typeface="Courier"/>
              </a:rPr>
              <a:t>with </a:t>
            </a:r>
            <a:r>
              <a:rPr lang="en-US" dirty="0" err="1">
                <a:latin typeface="Courier"/>
              </a:rPr>
              <a:t>pm.Model</a:t>
            </a:r>
            <a:r>
              <a:rPr lang="en-US" dirty="0">
                <a:latin typeface="Courier"/>
              </a:rPr>
              <a:t>(coords=coords) as </a:t>
            </a:r>
            <a:r>
              <a:rPr lang="en-US" dirty="0" err="1">
                <a:latin typeface="Courier"/>
              </a:rPr>
              <a:t>unpooled_model</a:t>
            </a:r>
            <a:r>
              <a:rPr lang="en-US" dirty="0">
                <a:latin typeface="Courier"/>
              </a:rPr>
              <a:t>:</a:t>
            </a:r>
            <a:endParaRPr dirty="0">
              <a:latin typeface="Courier"/>
            </a:endParaRPr>
          </a:p>
          <a:p>
            <a:pPr lvl="0" indent="0">
              <a:buNone/>
            </a:pPr>
            <a:r>
              <a:rPr lang="en-US" b="1" dirty="0">
                <a:solidFill>
                  <a:srgbClr val="007020"/>
                </a:solidFill>
                <a:latin typeface="Courier"/>
              </a:rPr>
              <a:t># Independent parameters for each county    </a:t>
            </a:r>
          </a:p>
          <a:p>
            <a:pPr lvl="0" indent="0">
              <a:buNone/>
            </a:pPr>
            <a:r>
              <a:rPr lang="en-US" b="1" dirty="0" err="1">
                <a:latin typeface="Courier"/>
              </a:rPr>
              <a:t>county_idx</a:t>
            </a:r>
            <a:r>
              <a:rPr lang="en-US" b="1" dirty="0">
                <a:latin typeface="Courier"/>
              </a:rPr>
              <a:t> = </a:t>
            </a:r>
            <a:r>
              <a:rPr lang="en-US" b="1" dirty="0" err="1">
                <a:latin typeface="Courier"/>
              </a:rPr>
              <a:t>pm.Data</a:t>
            </a:r>
            <a:r>
              <a:rPr lang="en-US" b="1" dirty="0">
                <a:latin typeface="Courier"/>
              </a:rPr>
              <a:t>("</a:t>
            </a:r>
            <a:r>
              <a:rPr lang="en-US" b="1" dirty="0" err="1">
                <a:latin typeface="Courier"/>
              </a:rPr>
              <a:t>county_idx</a:t>
            </a:r>
            <a:r>
              <a:rPr lang="en-US" b="1" dirty="0">
                <a:latin typeface="Courier"/>
              </a:rPr>
              <a:t>", </a:t>
            </a:r>
            <a:r>
              <a:rPr lang="en-US" b="1" dirty="0" err="1">
                <a:latin typeface="Courier"/>
              </a:rPr>
              <a:t>county_idxs</a:t>
            </a:r>
            <a:r>
              <a:rPr lang="en-US" b="1" dirty="0">
                <a:latin typeface="Courier"/>
              </a:rPr>
              <a:t>, dims="</a:t>
            </a:r>
            <a:r>
              <a:rPr lang="en-US" b="1" dirty="0" err="1">
                <a:latin typeface="Courier"/>
              </a:rPr>
              <a:t>obs_id</a:t>
            </a:r>
            <a:r>
              <a:rPr lang="en-US" b="1" dirty="0">
                <a:latin typeface="Courier"/>
              </a:rPr>
              <a:t>")    </a:t>
            </a:r>
          </a:p>
          <a:p>
            <a:pPr lvl="0" indent="0">
              <a:buNone/>
            </a:pPr>
            <a:r>
              <a:rPr lang="en-US" b="1" dirty="0">
                <a:latin typeface="Courier"/>
              </a:rPr>
              <a:t>floor = </a:t>
            </a:r>
            <a:r>
              <a:rPr lang="en-US" b="1" dirty="0" err="1">
                <a:latin typeface="Courier"/>
              </a:rPr>
              <a:t>pm.Data</a:t>
            </a:r>
            <a:r>
              <a:rPr lang="en-US" b="1" dirty="0">
                <a:latin typeface="Courier"/>
              </a:rPr>
              <a:t>("floor", </a:t>
            </a:r>
            <a:r>
              <a:rPr lang="en-US" b="1" dirty="0" err="1">
                <a:latin typeface="Courier"/>
              </a:rPr>
              <a:t>radon_data.floor.values</a:t>
            </a:r>
            <a:r>
              <a:rPr lang="en-US" b="1" dirty="0">
                <a:latin typeface="Courier"/>
              </a:rPr>
              <a:t>, dims="</a:t>
            </a:r>
            <a:r>
              <a:rPr lang="en-US" b="1" dirty="0" err="1">
                <a:latin typeface="Courier"/>
              </a:rPr>
              <a:t>obs_id</a:t>
            </a:r>
            <a:r>
              <a:rPr lang="en-US" b="1" dirty="0">
                <a:latin typeface="Courier"/>
              </a:rPr>
              <a:t>")    </a:t>
            </a:r>
          </a:p>
          <a:p>
            <a:pPr lvl="0" indent="0">
              <a:buNone/>
            </a:pPr>
            <a:endParaRPr lang="en-US" b="1" dirty="0">
              <a:solidFill>
                <a:srgbClr val="007020"/>
              </a:solidFill>
              <a:latin typeface="Courier"/>
            </a:endParaRPr>
          </a:p>
          <a:p>
            <a:pPr lvl="0" indent="0">
              <a:buNone/>
            </a:pPr>
            <a:r>
              <a:rPr lang="en-US" b="1" dirty="0">
                <a:solidFill>
                  <a:srgbClr val="007020"/>
                </a:solidFill>
                <a:latin typeface="Courier"/>
              </a:rPr>
              <a:t># Beta coefficient priors for each county </a:t>
            </a:r>
          </a:p>
          <a:p>
            <a:pPr lvl="0" indent="0">
              <a:buNone/>
            </a:pPr>
            <a:r>
              <a:rPr lang="en-US" b="1" dirty="0">
                <a:latin typeface="Courier"/>
              </a:rPr>
              <a:t>Beta0 = </a:t>
            </a:r>
            <a:r>
              <a:rPr lang="en-US" b="1" dirty="0" err="1">
                <a:latin typeface="Courier"/>
              </a:rPr>
              <a:t>pm.Normal</a:t>
            </a:r>
            <a:r>
              <a:rPr lang="en-US" b="1" dirty="0">
                <a:latin typeface="Courier"/>
              </a:rPr>
              <a:t>("Beta0", 0, sigma=100, dims="county")    </a:t>
            </a:r>
          </a:p>
          <a:p>
            <a:pPr lvl="0" indent="0">
              <a:buNone/>
            </a:pPr>
            <a:r>
              <a:rPr lang="en-US" b="1" dirty="0">
                <a:latin typeface="Courier"/>
              </a:rPr>
              <a:t>Beta1 = </a:t>
            </a:r>
            <a:r>
              <a:rPr lang="en-US" b="1" dirty="0" err="1">
                <a:latin typeface="Courier"/>
              </a:rPr>
              <a:t>pm.Normal</a:t>
            </a:r>
            <a:r>
              <a:rPr lang="en-US" b="1" dirty="0">
                <a:latin typeface="Courier"/>
              </a:rPr>
              <a:t>("Beta1", 0, sigma=100, dims="county")    </a:t>
            </a:r>
          </a:p>
          <a:p>
            <a:pPr lvl="0" indent="0">
              <a:buNone/>
            </a:pPr>
            <a:endParaRPr lang="en-US" b="1" dirty="0">
              <a:solidFill>
                <a:srgbClr val="007020"/>
              </a:solidFill>
              <a:latin typeface="Courier"/>
            </a:endParaRPr>
          </a:p>
          <a:p>
            <a:pPr lvl="0" indent="0">
              <a:buNone/>
            </a:pPr>
            <a:r>
              <a:rPr lang="en-US" b="1" dirty="0">
                <a:solidFill>
                  <a:srgbClr val="007020"/>
                </a:solidFill>
                <a:latin typeface="Courier"/>
              </a:rPr>
              <a:t># Model error prior </a:t>
            </a:r>
          </a:p>
          <a:p>
            <a:pPr lvl="0" indent="0">
              <a:buNone/>
            </a:pPr>
            <a:r>
              <a:rPr lang="en-US" b="1" dirty="0">
                <a:latin typeface="Courier"/>
              </a:rPr>
              <a:t>eps = </a:t>
            </a:r>
            <a:r>
              <a:rPr lang="en-US" b="1" dirty="0" err="1">
                <a:latin typeface="Courier"/>
              </a:rPr>
              <a:t>pm.HalfCauchy</a:t>
            </a:r>
            <a:r>
              <a:rPr lang="en-US" b="1" dirty="0">
                <a:latin typeface="Courier"/>
              </a:rPr>
              <a:t>("eps", 5)    </a:t>
            </a:r>
          </a:p>
          <a:p>
            <a:pPr lvl="0" indent="0">
              <a:buNone/>
            </a:pPr>
            <a:endParaRPr lang="en-US" b="1" dirty="0">
              <a:solidFill>
                <a:srgbClr val="007020"/>
              </a:solidFill>
              <a:latin typeface="Courier"/>
            </a:endParaRPr>
          </a:p>
          <a:p>
            <a:pPr lvl="0" indent="0">
              <a:buNone/>
            </a:pPr>
            <a:r>
              <a:rPr lang="en-US" b="1" dirty="0">
                <a:solidFill>
                  <a:srgbClr val="007020"/>
                </a:solidFill>
                <a:latin typeface="Courier"/>
              </a:rPr>
              <a:t># Deterministic model prediction of radon level by </a:t>
            </a:r>
            <a:r>
              <a:rPr lang="en-US" b="1" dirty="0" err="1">
                <a:solidFill>
                  <a:srgbClr val="007020"/>
                </a:solidFill>
                <a:latin typeface="Courier"/>
              </a:rPr>
              <a:t>county_idx</a:t>
            </a:r>
            <a:r>
              <a:rPr lang="en-US" b="1" dirty="0">
                <a:solidFill>
                  <a:srgbClr val="007020"/>
                </a:solidFill>
                <a:latin typeface="Courier"/>
              </a:rPr>
              <a:t> translates to </a:t>
            </a:r>
          </a:p>
          <a:p>
            <a:pPr lvl="0" indent="0">
              <a:buNone/>
            </a:pPr>
            <a:r>
              <a:rPr lang="en-US" b="1" dirty="0">
                <a:solidFill>
                  <a:srgbClr val="007020"/>
                </a:solidFill>
                <a:latin typeface="Courier"/>
              </a:rPr>
              <a:t>#[0, 0, 0, 1, 1, ...], we link multiple household measures in a county    </a:t>
            </a:r>
          </a:p>
          <a:p>
            <a:pPr lvl="0" indent="0">
              <a:buNone/>
            </a:pPr>
            <a:r>
              <a:rPr lang="en-US" b="1" dirty="0">
                <a:solidFill>
                  <a:srgbClr val="007020"/>
                </a:solidFill>
                <a:latin typeface="Courier"/>
              </a:rPr>
              <a:t># to </a:t>
            </a:r>
            <a:r>
              <a:rPr lang="en-US" b="1" dirty="0" err="1">
                <a:solidFill>
                  <a:srgbClr val="007020"/>
                </a:solidFill>
                <a:latin typeface="Courier"/>
              </a:rPr>
              <a:t>unpooled</a:t>
            </a:r>
            <a:r>
              <a:rPr lang="en-US" b="1" dirty="0">
                <a:solidFill>
                  <a:srgbClr val="007020"/>
                </a:solidFill>
                <a:latin typeface="Courier"/>
              </a:rPr>
              <a:t> coefficients.    </a:t>
            </a:r>
          </a:p>
          <a:p>
            <a:pPr lvl="0" indent="0">
              <a:buNone/>
            </a:pPr>
            <a:r>
              <a:rPr lang="en-US" b="1" dirty="0" err="1">
                <a:latin typeface="Courier"/>
              </a:rPr>
              <a:t>radon_est</a:t>
            </a:r>
            <a:r>
              <a:rPr lang="en-US" b="1" dirty="0">
                <a:latin typeface="Courier"/>
              </a:rPr>
              <a:t> = Beta0[</a:t>
            </a:r>
            <a:r>
              <a:rPr lang="en-US" b="1" dirty="0" err="1">
                <a:latin typeface="Courier"/>
              </a:rPr>
              <a:t>county_idx</a:t>
            </a:r>
            <a:r>
              <a:rPr lang="en-US" b="1" dirty="0">
                <a:latin typeface="Courier"/>
              </a:rPr>
              <a:t>] + Beta1[</a:t>
            </a:r>
            <a:r>
              <a:rPr lang="en-US" b="1" dirty="0" err="1">
                <a:latin typeface="Courier"/>
              </a:rPr>
              <a:t>county_idx</a:t>
            </a:r>
            <a:r>
              <a:rPr lang="en-US" b="1" dirty="0">
                <a:latin typeface="Courier"/>
              </a:rPr>
              <a:t>] * floor    </a:t>
            </a:r>
          </a:p>
          <a:p>
            <a:pPr lvl="0" indent="0">
              <a:buNone/>
            </a:pPr>
            <a:endParaRPr lang="en-US" b="1" dirty="0">
              <a:latin typeface="Courier"/>
            </a:endParaRPr>
          </a:p>
          <a:p>
            <a:pPr lvl="0" indent="0">
              <a:buNone/>
            </a:pPr>
            <a:r>
              <a:rPr lang="en-US" b="1" dirty="0">
                <a:solidFill>
                  <a:srgbClr val="007020"/>
                </a:solidFill>
                <a:latin typeface="Courier"/>
              </a:rPr>
              <a:t># Data likelihood    </a:t>
            </a:r>
          </a:p>
          <a:p>
            <a:pPr lvl="0" indent="0">
              <a:buNone/>
            </a:pPr>
            <a:r>
              <a:rPr lang="en-US" b="1" dirty="0">
                <a:latin typeface="Courier"/>
              </a:rPr>
              <a:t>y = </a:t>
            </a:r>
            <a:r>
              <a:rPr lang="en-US" b="1" dirty="0" err="1">
                <a:latin typeface="Courier"/>
              </a:rPr>
              <a:t>pm.Normal</a:t>
            </a:r>
            <a:r>
              <a:rPr lang="en-US" b="1" dirty="0">
                <a:latin typeface="Courier"/>
              </a:rPr>
              <a:t>("y", </a:t>
            </a:r>
            <a:r>
              <a:rPr lang="en-US" b="1" dirty="0" err="1">
                <a:latin typeface="Courier"/>
              </a:rPr>
              <a:t>radon_est</a:t>
            </a:r>
            <a:r>
              <a:rPr lang="en-US" b="1" dirty="0">
                <a:latin typeface="Courier"/>
              </a:rPr>
              <a:t>, sigma=eps, observed=</a:t>
            </a:r>
            <a:r>
              <a:rPr lang="en-US" b="1" dirty="0" err="1">
                <a:latin typeface="Courier"/>
              </a:rPr>
              <a:t>radon_data.log_radon</a:t>
            </a:r>
            <a:r>
              <a:rPr lang="en-US" b="1" dirty="0">
                <a:latin typeface="Courier"/>
              </a:rPr>
              <a:t>, dims="</a:t>
            </a:r>
            <a:r>
              <a:rPr lang="en-US" b="1" dirty="0" err="1">
                <a:latin typeface="Courier"/>
              </a:rPr>
              <a:t>obs_id</a:t>
            </a:r>
            <a:r>
              <a:rPr lang="en-US" b="1" dirty="0">
                <a:latin typeface="Courier"/>
              </a:rPr>
              <a:t>")</a:t>
            </a:r>
            <a:endParaRPr dirty="0">
              <a:latin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40963850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EB784-8CA8-513D-B361-A68E7A5C7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FC9E4-3C54-0453-0842-EF399924F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Sampling the </a:t>
            </a:r>
            <a:r>
              <a:rPr lang="en-US" dirty="0" err="1"/>
              <a:t>Unp</a:t>
            </a:r>
            <a:r>
              <a:rPr dirty="0" err="1"/>
              <a:t>ooled</a:t>
            </a:r>
            <a:r>
              <a:rPr dirty="0"/>
              <a:t>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435693-6340-A79A-C263-EB7B350A39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530" y="980330"/>
            <a:ext cx="8229600" cy="613409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The sampling traces</a:t>
            </a:r>
            <a:r>
              <a:rPr lang="en-US" dirty="0"/>
              <a:t> show </a:t>
            </a:r>
            <a:r>
              <a:rPr lang="en-US" b="1" dirty="0"/>
              <a:t>independent values by county </a:t>
            </a:r>
            <a:r>
              <a:rPr lang="en-US" dirty="0"/>
              <a:t>for two of </a:t>
            </a:r>
            <a:r>
              <a:rPr dirty="0"/>
              <a:t>t</a:t>
            </a:r>
            <a:r>
              <a:rPr lang="en-US" dirty="0"/>
              <a:t>hree</a:t>
            </a:r>
            <a:r>
              <a:rPr dirty="0"/>
              <a:t> coefficients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Placeholder 3">
                <a:extLst>
                  <a:ext uri="{FF2B5EF4-FFF2-40B4-BE49-F238E27FC236}">
                    <a16:creationId xmlns:a16="http://schemas.microsoft.com/office/drawing/2014/main" id="{75C1A475-4B32-0C7A-B9DD-4D474E495F4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81000" y="1772460"/>
                <a:ext cx="2225040" cy="3165061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sz="2000" dirty="0"/>
                  <a:t> are quite different by county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000" dirty="0">
                    <a:ea typeface="Cambria Math" panose="02040503050406030204" pitchFamily="18" charset="0"/>
                  </a:rPr>
                  <a:t>Slope,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000" dirty="0"/>
                  <a:t> and similar between counties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000" dirty="0"/>
                  <a:t>Dispersion,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2000" dirty="0"/>
                  <a:t>, is pooled between counties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endParaRPr lang="ar-AE" sz="2000" dirty="0"/>
              </a:p>
            </p:txBody>
          </p:sp>
        </mc:Choice>
        <mc:Fallback xmlns="">
          <p:sp>
            <p:nvSpPr>
              <p:cNvPr id="6" name="Text Placeholder 3">
                <a:extLst>
                  <a:ext uri="{FF2B5EF4-FFF2-40B4-BE49-F238E27FC236}">
                    <a16:creationId xmlns:a16="http://schemas.microsoft.com/office/drawing/2014/main" id="{75C1A475-4B32-0C7A-B9DD-4D474E495F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1772460"/>
                <a:ext cx="2225040" cy="3165061"/>
              </a:xfrm>
              <a:prstGeom prst="rect">
                <a:avLst/>
              </a:prstGeom>
              <a:blipFill>
                <a:blip r:embed="rId3"/>
                <a:stretch>
                  <a:fillRect l="-2466" t="-963" r="-4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4D0C2478-99FA-8B2A-5030-90F2ED5F0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1982" y="1626870"/>
            <a:ext cx="6382968" cy="3208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7647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6484E-2B0B-C9F8-AAD9-A2B56C752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0CB9-DBA1-DBE7-F679-F4E240833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Sampling the </a:t>
            </a:r>
            <a:r>
              <a:rPr lang="en-US" dirty="0" err="1"/>
              <a:t>Unp</a:t>
            </a:r>
            <a:r>
              <a:rPr dirty="0" err="1"/>
              <a:t>ooled</a:t>
            </a:r>
            <a:r>
              <a:rPr dirty="0"/>
              <a:t>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8E0BC-564F-6438-332A-254C465959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530" y="980330"/>
            <a:ext cx="8229600" cy="61340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The sampling </a:t>
            </a:r>
            <a:r>
              <a:rPr lang="en-US" dirty="0"/>
              <a:t>statistics</a:t>
            </a:r>
            <a:r>
              <a:rPr dirty="0"/>
              <a:t> </a:t>
            </a:r>
            <a:r>
              <a:rPr lang="en-US" dirty="0"/>
              <a:t>are good for all </a:t>
            </a:r>
            <a:r>
              <a:rPr dirty="0"/>
              <a:t>coefficients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D5E81B-7F65-E085-C8BF-3515C76D8A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7292" y="1447800"/>
            <a:ext cx="4487912" cy="3596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2279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56D8B-B245-FC1D-7A67-7502FE53D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AF1E2-AA7D-8F79-94A9-24676A38A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lang="en-US" dirty="0"/>
              <a:t>Posterior Predictive Checks for</a:t>
            </a:r>
            <a:r>
              <a:rPr dirty="0"/>
              <a:t> </a:t>
            </a:r>
            <a:r>
              <a:rPr lang="en-US" dirty="0" err="1"/>
              <a:t>Unp</a:t>
            </a:r>
            <a:r>
              <a:rPr dirty="0" err="1"/>
              <a:t>ooled</a:t>
            </a:r>
            <a:r>
              <a:rPr dirty="0"/>
              <a:t>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72EFDE-33F6-A6C7-436E-2065C0A645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530" y="980330"/>
            <a:ext cx="4724400" cy="89038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Posterior predictive checks show the </a:t>
            </a:r>
            <a:r>
              <a:rPr lang="en-US" dirty="0" err="1"/>
              <a:t>unpooled</a:t>
            </a:r>
            <a:r>
              <a:rPr lang="en-US" dirty="0"/>
              <a:t> model in a poor fit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671C0910-09D1-EF37-84D5-B68A51152C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7201" y="1837580"/>
                <a:ext cx="4495799" cy="3101132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000" dirty="0"/>
                  <a:t>Predicted close to the observed response with notable deviations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The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∆−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𝐸𝐶𝐷𝐹</m:t>
                    </m:r>
                  </m:oMath>
                </a14:m>
                <a:r>
                  <a:rPr lang="en-US" sz="2000" dirty="0"/>
                  <a:t> shows large bias with respect to the ideal distribution 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Sampled mean distribution shows minimal with respect to the observed   </a:t>
                </a:r>
              </a:p>
            </p:txBody>
          </p:sp>
        </mc:Choice>
        <mc:Fallback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671C0910-09D1-EF37-84D5-B68A51152C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1" y="1837580"/>
                <a:ext cx="4495799" cy="3101132"/>
              </a:xfrm>
              <a:prstGeom prst="rect">
                <a:avLst/>
              </a:prstGeom>
              <a:blipFill>
                <a:blip r:embed="rId2"/>
                <a:stretch>
                  <a:fillRect l="-1220" t="-982" r="-2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F2D514C1-77B5-9ABE-FED9-A669E5A1A0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5346" y="831018"/>
            <a:ext cx="3900580" cy="4194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369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362D6-05B8-C47C-E20F-241A359BB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EB9FB-5A29-72CC-7A42-775AF3089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344080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Hierarchical Model</a:t>
            </a:r>
            <a:br>
              <a:rPr lang="en-US" cap="none" dirty="0"/>
            </a:br>
            <a:endParaRPr lang="en-US" cap="none" dirty="0"/>
          </a:p>
        </p:txBody>
      </p:sp>
    </p:spTree>
    <p:extLst>
      <p:ext uri="{BB962C8B-B14F-4D97-AF65-F5344CB8AC3E}">
        <p14:creationId xmlns:p14="http://schemas.microsoft.com/office/powerpoint/2010/main" val="11970846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83F67-61ED-D717-809C-0788BB84E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32C18-86C8-045C-7C2F-D3C7198AA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Hierarchical </a:t>
            </a:r>
            <a:r>
              <a:rPr dirty="0"/>
              <a:t>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469316-7ADF-2752-D6E6-71015F71DA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28"/>
            <a:ext cx="8229600" cy="3726095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dirty="0"/>
              <a:t>Finally, we test</a:t>
            </a:r>
            <a:r>
              <a:rPr dirty="0"/>
              <a:t> a</a:t>
            </a:r>
            <a:r>
              <a:rPr lang="en-US" dirty="0"/>
              <a:t>n</a:t>
            </a:r>
            <a:r>
              <a:rPr dirty="0"/>
              <a:t> </a:t>
            </a:r>
            <a:r>
              <a:rPr lang="en-US" b="1" dirty="0"/>
              <a:t>Hierarchical Model</a:t>
            </a:r>
            <a:endParaRPr b="1" dirty="0"/>
          </a:p>
          <a:p>
            <a:pPr lvl="0"/>
            <a:r>
              <a:rPr lang="en-US" dirty="0"/>
              <a:t>The </a:t>
            </a:r>
            <a:r>
              <a:rPr lang="en-US" dirty="0" err="1"/>
              <a:t>unpooled</a:t>
            </a:r>
            <a:r>
              <a:rPr lang="en-US" dirty="0"/>
              <a:t> model has a poor fit   </a:t>
            </a:r>
          </a:p>
          <a:p>
            <a:pPr lvl="0"/>
            <a:r>
              <a:rPr lang="en-US" dirty="0"/>
              <a:t>The hierarchical model is organized from top to bottom</a:t>
            </a:r>
          </a:p>
          <a:p>
            <a:pPr marL="800100" lvl="1" indent="-457200">
              <a:buFont typeface="+mj-lt"/>
              <a:buAutoNum type="arabicPeriod"/>
            </a:pPr>
            <a:r>
              <a:rPr lang="en-US" dirty="0"/>
              <a:t>Pooled or common </a:t>
            </a:r>
            <a:r>
              <a:rPr lang="en-US" b="1" dirty="0"/>
              <a:t>hyperpriors</a:t>
            </a:r>
            <a:r>
              <a:rPr lang="en-US" dirty="0"/>
              <a:t> at the top level</a:t>
            </a:r>
          </a:p>
          <a:p>
            <a:pPr marL="800100" lvl="1" indent="-457200">
              <a:buFont typeface="+mj-lt"/>
              <a:buAutoNum type="arabicPeriod"/>
            </a:pPr>
            <a:r>
              <a:rPr lang="en-US" dirty="0"/>
              <a:t>Each category has a prior for the coefficients, with hyperpriors as priors</a:t>
            </a:r>
          </a:p>
          <a:p>
            <a:pPr marL="800100" lvl="1" indent="-457200">
              <a:buFont typeface="+mj-lt"/>
              <a:buAutoNum type="arabicPeriod"/>
            </a:pPr>
            <a:r>
              <a:rPr lang="en-US" dirty="0"/>
              <a:t>Likelihoods at the bottom level are computed starting with the prior values</a:t>
            </a:r>
          </a:p>
          <a:p>
            <a:pPr lvl="0"/>
            <a:r>
              <a:rPr lang="en-US" dirty="0"/>
              <a:t>We assume the observations </a:t>
            </a:r>
            <a:r>
              <a:rPr lang="en-US" b="1" dirty="0"/>
              <a:t>within each county </a:t>
            </a:r>
            <a:r>
              <a:rPr lang="en-US" dirty="0"/>
              <a:t>are </a:t>
            </a:r>
            <a:r>
              <a:rPr lang="en-US" b="1" dirty="0">
                <a:hlinkClick r:id="rId2"/>
              </a:rPr>
              <a:t>exchangeable</a:t>
            </a:r>
            <a:r>
              <a:rPr lang="en-US" b="1" dirty="0"/>
              <a:t> </a:t>
            </a:r>
            <a:r>
              <a:rPr lang="en-US" dirty="0"/>
              <a:t>with each other, but </a:t>
            </a:r>
            <a:r>
              <a:rPr lang="en-US" b="1" dirty="0"/>
              <a:t>not between counties</a:t>
            </a:r>
          </a:p>
          <a:p>
            <a:pPr lvl="1"/>
            <a:r>
              <a:rPr lang="en-US" dirty="0"/>
              <a:t>Assumes observations are </a:t>
            </a:r>
            <a:r>
              <a:rPr lang="en-US" dirty="0" err="1"/>
              <a:t>iid</a:t>
            </a:r>
            <a:r>
              <a:rPr lang="en-US" dirty="0"/>
              <a:t> within each county </a:t>
            </a:r>
            <a:endParaRPr lang="en-US" b="1" dirty="0"/>
          </a:p>
          <a:p>
            <a:pPr lvl="0"/>
            <a:r>
              <a:rPr lang="en-US" dirty="0"/>
              <a:t>Can pool some coefficients, e.g. dispersion </a:t>
            </a:r>
          </a:p>
        </p:txBody>
      </p:sp>
    </p:spTree>
    <p:extLst>
      <p:ext uri="{BB962C8B-B14F-4D97-AF65-F5344CB8AC3E}">
        <p14:creationId xmlns:p14="http://schemas.microsoft.com/office/powerpoint/2010/main" val="3831523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A45A2-1EDA-EEAC-59E9-E89663FF0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34B72-2394-EDAA-2E09-9ECF09850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2" y="204787"/>
            <a:ext cx="8252458" cy="537394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Hierarchical </a:t>
            </a:r>
            <a:r>
              <a:rPr sz="3200" b="0" dirty="0"/>
              <a:t>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899CFB7F-B1C9-CB3C-20C3-345302771D91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2" y="789061"/>
                <a:ext cx="3470744" cy="4149652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Hierarchical model start with priors</a:t>
                </a:r>
                <a:endParaRPr lang="en-US" sz="2000" b="1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b="1" dirty="0"/>
                  <a:t>Pooled hyperparameters </a:t>
                </a:r>
                <a:r>
                  <a:rPr lang="en-US" sz="2000" dirty="0"/>
                  <a:t>at top level 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ℎ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ℎ</m:t>
                          </m:r>
                        </m:sub>
                      </m:sSub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ℎ</m:t>
                          </m:r>
                        </m:sub>
                      </m:sSub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~|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𝐶𝑎𝑢𝑐ℎ𝑦</m:t>
                      </m:r>
                      <m:d>
                        <m:dPr>
                          <m:ctrlPr>
                            <a:rPr lang="en-US" sz="20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b="1" dirty="0"/>
                  <a:t>County specific priors </a:t>
                </a:r>
                <a:r>
                  <a:rPr lang="en-US" sz="2000" dirty="0"/>
                  <a:t>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sz="2000" dirty="0"/>
                  <a:t> parameters at middle level 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0,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ℎ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ℎ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ℎ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endParaRPr lang="ar-AE" sz="2000" dirty="0"/>
              </a:p>
            </p:txBody>
          </p:sp>
        </mc:Choice>
        <mc:Fallback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899CFB7F-B1C9-CB3C-20C3-345302771D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2" y="789061"/>
                <a:ext cx="3470744" cy="4149652"/>
              </a:xfrm>
              <a:blipFill>
                <a:blip r:embed="rId2"/>
                <a:stretch>
                  <a:fillRect l="-1757" t="-734" r="-1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23C8E2EF-E734-5BCD-E76B-96C9E1F403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9804" y="1604011"/>
            <a:ext cx="5240856" cy="2708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675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976BB-1C60-9530-C4D8-1A7B92894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EBE6E-3A68-80B3-D35B-3C75FCB33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2" y="204787"/>
            <a:ext cx="8252458" cy="537394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Hierarchical </a:t>
            </a:r>
            <a:r>
              <a:rPr sz="3200" b="0" dirty="0"/>
              <a:t>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5BEA480C-3F31-782F-DFED-2235F5A9DAFA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2" y="789061"/>
                <a:ext cx="3470744" cy="4149652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Hierarchical model has likelihood at bottom level </a:t>
                </a:r>
                <a:endParaRPr lang="en-US" sz="2000" b="1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Pooled prior for dispersion parameter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000" dirty="0"/>
              </a:p>
              <a:p>
                <a:pPr lvl="0"/>
                <a14:m>
                  <m:oMathPara xmlns:m="http://schemas.openxmlformats.org/officeDocument/2006/math">
                    <m:oMath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~|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𝐶𝑎𝑢𝑐ℎ𝑦</m:t>
                      </m:r>
                      <m:d>
                        <m:dPr>
                          <m:ctrlPr>
                            <a:rPr lang="en-US" sz="20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At bottom level, county specific Normal likelihood model: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r>
                        <a:rPr lang="en-US" sz="2000" i="1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𝑟𝑎𝑑𝑜𝑛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  <a:p>
                <a:pPr lvl="0"/>
                <a:endParaRPr lang="en-US" sz="2000" dirty="0"/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5BEA480C-3F31-782F-DFED-2235F5A9DA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2" y="789061"/>
                <a:ext cx="3470744" cy="4149652"/>
              </a:xfrm>
              <a:blipFill>
                <a:blip r:embed="rId2"/>
                <a:stretch>
                  <a:fillRect l="-1757" t="-7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2EE56D9-69AF-F16B-0F3D-5BC76D2F4D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9804" y="1604011"/>
            <a:ext cx="5240856" cy="2708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641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9D94E-548F-1500-C3C1-BA9F610D4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7AA68-1FDE-4385-246C-3F50FA968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0530" y="64770"/>
            <a:ext cx="8229600" cy="476011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Defining and Sampling the </a:t>
            </a:r>
            <a:r>
              <a:rPr lang="en-US" dirty="0"/>
              <a:t>Hierarchical </a:t>
            </a:r>
            <a:r>
              <a:rPr dirty="0"/>
              <a:t>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F5ADA3-E584-AC70-7D39-AB74EC329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540781"/>
            <a:ext cx="8632325" cy="4602719"/>
          </a:xfrm>
        </p:spPr>
        <p:txBody>
          <a:bodyPr>
            <a:normAutofit fontScale="25000" lnSpcReduction="20000"/>
          </a:bodyPr>
          <a:lstStyle/>
          <a:p>
            <a:pPr marL="0" lvl="0" indent="0">
              <a:buNone/>
            </a:pPr>
            <a:r>
              <a:rPr sz="6400" dirty="0"/>
              <a:t>Sampling model defined by this code:</a:t>
            </a:r>
            <a:endParaRPr lang="en-US" sz="6400" dirty="0"/>
          </a:p>
          <a:p>
            <a:pPr marL="0" lvl="0" indent="0">
              <a:buNone/>
            </a:pPr>
            <a:endParaRPr lang="en-US" sz="1800" dirty="0">
              <a:latin typeface="Courier"/>
            </a:endParaRP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with </a:t>
            </a:r>
            <a:r>
              <a:rPr lang="en-US" sz="4800" dirty="0" err="1">
                <a:latin typeface="Courier"/>
              </a:rPr>
              <a:t>pm.Model</a:t>
            </a:r>
            <a:r>
              <a:rPr lang="en-US" sz="4800" dirty="0">
                <a:latin typeface="Courier"/>
              </a:rPr>
              <a:t>(coords=coords) as </a:t>
            </a:r>
            <a:r>
              <a:rPr lang="en-US" sz="4800" dirty="0" err="1">
                <a:latin typeface="Courier"/>
              </a:rPr>
              <a:t>hierarchical_model</a:t>
            </a:r>
            <a:r>
              <a:rPr lang="en-US" sz="4800" dirty="0">
                <a:latin typeface="Courier"/>
              </a:rPr>
              <a:t>: 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</a:t>
            </a:r>
            <a:r>
              <a:rPr lang="en-US" sz="4800" dirty="0" err="1">
                <a:latin typeface="Courier"/>
              </a:rPr>
              <a:t>county_idx</a:t>
            </a:r>
            <a:r>
              <a:rPr lang="en-US" sz="4800" dirty="0">
                <a:latin typeface="Courier"/>
              </a:rPr>
              <a:t> = </a:t>
            </a:r>
            <a:r>
              <a:rPr lang="en-US" sz="4800" dirty="0" err="1">
                <a:latin typeface="Courier"/>
              </a:rPr>
              <a:t>pm.Data</a:t>
            </a:r>
            <a:r>
              <a:rPr lang="en-US" sz="4800" dirty="0">
                <a:latin typeface="Courier"/>
              </a:rPr>
              <a:t>("</a:t>
            </a:r>
            <a:r>
              <a:rPr lang="en-US" sz="4800" dirty="0" err="1">
                <a:latin typeface="Courier"/>
              </a:rPr>
              <a:t>county_idx</a:t>
            </a:r>
            <a:r>
              <a:rPr lang="en-US" sz="4800" dirty="0">
                <a:latin typeface="Courier"/>
              </a:rPr>
              <a:t>", </a:t>
            </a:r>
            <a:r>
              <a:rPr lang="en-US" sz="4800" dirty="0" err="1">
                <a:latin typeface="Courier"/>
              </a:rPr>
              <a:t>county_idxs</a:t>
            </a:r>
            <a:r>
              <a:rPr lang="en-US" sz="4800" dirty="0">
                <a:latin typeface="Courier"/>
              </a:rPr>
              <a:t>, dims="</a:t>
            </a:r>
            <a:r>
              <a:rPr lang="en-US" sz="4800" dirty="0" err="1">
                <a:latin typeface="Courier"/>
              </a:rPr>
              <a:t>obs_id</a:t>
            </a:r>
            <a:r>
              <a:rPr lang="en-US" sz="4800" dirty="0">
                <a:latin typeface="Courier"/>
              </a:rPr>
              <a:t>")    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# Hyperpriors for pooled nodes    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 mu_0 = </a:t>
            </a:r>
            <a:r>
              <a:rPr lang="en-US" sz="4800" dirty="0" err="1">
                <a:latin typeface="Courier"/>
              </a:rPr>
              <a:t>pm.Normal</a:t>
            </a:r>
            <a:r>
              <a:rPr lang="en-US" sz="4800" dirty="0">
                <a:latin typeface="Courier"/>
              </a:rPr>
              <a:t>("mu_0", mu=0.0, sigma=20)    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 sigma_0 = </a:t>
            </a:r>
            <a:r>
              <a:rPr lang="en-US" sz="4800" dirty="0" err="1">
                <a:latin typeface="Courier"/>
              </a:rPr>
              <a:t>pm.HalfNormal</a:t>
            </a:r>
            <a:r>
              <a:rPr lang="en-US" sz="4800" dirty="0">
                <a:latin typeface="Courier"/>
              </a:rPr>
              <a:t>("sigma_0", 5.0)    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 mu_1 = </a:t>
            </a:r>
            <a:r>
              <a:rPr lang="en-US" sz="4800" dirty="0" err="1">
                <a:latin typeface="Courier"/>
              </a:rPr>
              <a:t>pm.Normal</a:t>
            </a:r>
            <a:r>
              <a:rPr lang="en-US" sz="4800" dirty="0">
                <a:latin typeface="Courier"/>
              </a:rPr>
              <a:t>("mu_1", mu=0.0, sigma=20)    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 sigma_1 = </a:t>
            </a:r>
            <a:r>
              <a:rPr lang="en-US" sz="4800" dirty="0" err="1">
                <a:latin typeface="Courier"/>
              </a:rPr>
              <a:t>pm.HalfNormal</a:t>
            </a:r>
            <a:r>
              <a:rPr lang="en-US" sz="4800" dirty="0">
                <a:latin typeface="Courier"/>
              </a:rPr>
              <a:t>("sigma_1", 5.0)    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# Intercept for each county, distributed around group mean </a:t>
            </a:r>
            <a:r>
              <a:rPr lang="en-US" sz="4800" dirty="0" err="1">
                <a:latin typeface="Courier"/>
              </a:rPr>
              <a:t>mu_a</a:t>
            </a:r>
            <a:r>
              <a:rPr lang="en-US" sz="4800" dirty="0">
                <a:latin typeface="Courier"/>
              </a:rPr>
              <a:t> above we just set mu 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# and </a:t>
            </a:r>
            <a:r>
              <a:rPr lang="en-US" sz="4800" dirty="0" err="1">
                <a:latin typeface="Courier"/>
              </a:rPr>
              <a:t>sd</a:t>
            </a:r>
            <a:r>
              <a:rPr lang="en-US" sz="4800" dirty="0">
                <a:latin typeface="Courier"/>
              </a:rPr>
              <a:t> to a fixed value while here we plug in a common group distribution for all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# Beta0 and Beta1 (which are vectors of length </a:t>
            </a:r>
            <a:r>
              <a:rPr lang="en-US" sz="4800" dirty="0" err="1">
                <a:latin typeface="Courier"/>
              </a:rPr>
              <a:t>n_counties</a:t>
            </a:r>
            <a:r>
              <a:rPr lang="en-US" sz="4800" dirty="0">
                <a:latin typeface="Courier"/>
              </a:rPr>
              <a:t>).    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Beta0 = </a:t>
            </a:r>
            <a:r>
              <a:rPr lang="en-US" sz="4800" dirty="0" err="1">
                <a:latin typeface="Courier"/>
              </a:rPr>
              <a:t>pm.Normal</a:t>
            </a:r>
            <a:r>
              <a:rPr lang="en-US" sz="4800" dirty="0">
                <a:latin typeface="Courier"/>
              </a:rPr>
              <a:t>("Beta0", mu=mu_0, sigma=sigma_0, dims="county")    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# effect difference between basement and floor level    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Beta1 = </a:t>
            </a:r>
            <a:r>
              <a:rPr lang="en-US" sz="4800" dirty="0" err="1">
                <a:latin typeface="Courier"/>
              </a:rPr>
              <a:t>pm.Normal</a:t>
            </a:r>
            <a:r>
              <a:rPr lang="en-US" sz="4800" dirty="0">
                <a:latin typeface="Courier"/>
              </a:rPr>
              <a:t>("Beta1", mu=mu_1, sigma=sigma_1, dims="county")    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# Model error    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eps = </a:t>
            </a:r>
            <a:r>
              <a:rPr lang="en-US" sz="4800" dirty="0" err="1">
                <a:latin typeface="Courier"/>
              </a:rPr>
              <a:t>pm.HalfCauchy</a:t>
            </a:r>
            <a:r>
              <a:rPr lang="en-US" sz="4800" dirty="0">
                <a:latin typeface="Courier"/>
              </a:rPr>
              <a:t>("eps", 5.0)   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# Deterministic calculation of response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</a:t>
            </a:r>
            <a:r>
              <a:rPr lang="en-US" sz="4800" dirty="0" err="1">
                <a:latin typeface="Courier"/>
              </a:rPr>
              <a:t>radon_est</a:t>
            </a:r>
            <a:r>
              <a:rPr lang="en-US" sz="4800" dirty="0">
                <a:latin typeface="Courier"/>
              </a:rPr>
              <a:t> = Beta0[</a:t>
            </a:r>
            <a:r>
              <a:rPr lang="en-US" sz="4800" dirty="0" err="1">
                <a:latin typeface="Courier"/>
              </a:rPr>
              <a:t>county_idx</a:t>
            </a:r>
            <a:r>
              <a:rPr lang="en-US" sz="4800" dirty="0">
                <a:latin typeface="Courier"/>
              </a:rPr>
              <a:t>] + Beta1[</a:t>
            </a:r>
            <a:r>
              <a:rPr lang="en-US" sz="4800" dirty="0" err="1">
                <a:latin typeface="Courier"/>
              </a:rPr>
              <a:t>county_idx</a:t>
            </a:r>
            <a:r>
              <a:rPr lang="en-US" sz="4800" dirty="0">
                <a:latin typeface="Courier"/>
              </a:rPr>
              <a:t>] * </a:t>
            </a:r>
            <a:r>
              <a:rPr lang="en-US" sz="4800" dirty="0" err="1">
                <a:latin typeface="Courier"/>
              </a:rPr>
              <a:t>radon_data.floor.values</a:t>
            </a:r>
            <a:r>
              <a:rPr lang="en-US" sz="4800" dirty="0">
                <a:latin typeface="Courier"/>
              </a:rPr>
              <a:t>   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# Data likelihood    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</a:t>
            </a:r>
            <a:r>
              <a:rPr lang="en-US" sz="4800" dirty="0" err="1">
                <a:latin typeface="Courier"/>
              </a:rPr>
              <a:t>radon_like</a:t>
            </a:r>
            <a:r>
              <a:rPr lang="en-US" sz="4800" dirty="0">
                <a:latin typeface="Courier"/>
              </a:rPr>
              <a:t> = </a:t>
            </a:r>
            <a:r>
              <a:rPr lang="en-US" sz="4800" dirty="0" err="1">
                <a:latin typeface="Courier"/>
              </a:rPr>
              <a:t>pm.Normal</a:t>
            </a:r>
            <a:r>
              <a:rPr lang="en-US" sz="4800" dirty="0">
                <a:latin typeface="Courier"/>
              </a:rPr>
              <a:t>("</a:t>
            </a:r>
            <a:r>
              <a:rPr lang="en-US" sz="4800" dirty="0" err="1">
                <a:latin typeface="Courier"/>
              </a:rPr>
              <a:t>radon_like</a:t>
            </a:r>
            <a:r>
              <a:rPr lang="en-US" sz="4800" dirty="0">
                <a:latin typeface="Courier"/>
              </a:rPr>
              <a:t>", mu=</a:t>
            </a:r>
            <a:r>
              <a:rPr lang="en-US" sz="4800" dirty="0" err="1">
                <a:latin typeface="Courier"/>
              </a:rPr>
              <a:t>radon_est</a:t>
            </a:r>
            <a:r>
              <a:rPr lang="en-US" sz="4800" dirty="0">
                <a:latin typeface="Courier"/>
              </a:rPr>
              <a:t>, sigma=eps, observed=</a:t>
            </a:r>
            <a:r>
              <a:rPr lang="en-US" sz="4800" dirty="0" err="1">
                <a:latin typeface="Courier"/>
              </a:rPr>
              <a:t>radon_data.log_radon</a:t>
            </a:r>
            <a:r>
              <a:rPr lang="en-US" sz="4800" dirty="0">
                <a:latin typeface="Courier"/>
              </a:rPr>
              <a:t>, dims="</a:t>
            </a:r>
            <a:r>
              <a:rPr lang="en-US" sz="4800" dirty="0" err="1">
                <a:latin typeface="Courier"/>
              </a:rPr>
              <a:t>obs_id</a:t>
            </a:r>
            <a:r>
              <a:rPr lang="en-US" sz="4800" dirty="0">
                <a:latin typeface="Courier"/>
              </a:rPr>
              <a:t>")</a:t>
            </a:r>
            <a:endParaRPr sz="4800" dirty="0">
              <a:latin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36240161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9CFC3-4651-33F7-34AB-7D68790D9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633E5-5079-0B93-0278-16157D788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4255770" cy="857250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Sampling the </a:t>
            </a:r>
            <a:r>
              <a:rPr lang="en-US" dirty="0"/>
              <a:t>Hierarchical </a:t>
            </a:r>
            <a:r>
              <a:rPr dirty="0"/>
              <a:t>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C7E03F-9369-4C97-CF34-FCF8E287A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111140"/>
            <a:ext cx="4526280" cy="1167240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The sampling traces</a:t>
            </a:r>
            <a:r>
              <a:rPr lang="en-US" dirty="0"/>
              <a:t> show pooled </a:t>
            </a:r>
            <a:r>
              <a:rPr lang="en-US" b="1" dirty="0" err="1"/>
              <a:t>hypterprior</a:t>
            </a:r>
            <a:r>
              <a:rPr lang="en-US" b="1" dirty="0"/>
              <a:t> distribution </a:t>
            </a:r>
            <a:r>
              <a:rPr lang="en-US" dirty="0"/>
              <a:t>and  </a:t>
            </a:r>
            <a:r>
              <a:rPr lang="en-US" b="1" dirty="0"/>
              <a:t>independent parameter values by county </a:t>
            </a:r>
            <a:r>
              <a:rPr lang="en-US" dirty="0"/>
              <a:t>for two of </a:t>
            </a:r>
            <a:r>
              <a:rPr dirty="0"/>
              <a:t>t</a:t>
            </a:r>
            <a:r>
              <a:rPr lang="en-US" dirty="0"/>
              <a:t>hree</a:t>
            </a:r>
            <a:r>
              <a:rPr dirty="0"/>
              <a:t> coefficients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DC5C3EEB-76D0-ACFC-98E8-139D2D7DFC87}"/>
              </a:ext>
            </a:extLst>
          </p:cNvPr>
          <p:cNvSpPr txBox="1">
            <a:spLocks/>
          </p:cNvSpPr>
          <p:nvPr/>
        </p:nvSpPr>
        <p:spPr>
          <a:xfrm>
            <a:off x="381000" y="2358390"/>
            <a:ext cx="4526280" cy="2579131"/>
          </a:xfrm>
          <a:prstGeom prst="rect">
            <a:avLst/>
          </a:prstGeom>
        </p:spPr>
        <p:txBody>
          <a:bodyPr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There is divergence between traces</a:t>
            </a:r>
          </a:p>
          <a:p>
            <a:pPr lvl="1"/>
            <a:r>
              <a:rPr lang="en-US" sz="1700" dirty="0"/>
              <a:t>At least one trace diverges from the other</a:t>
            </a:r>
          </a:p>
          <a:p>
            <a:r>
              <a:rPr lang="en-US" sz="2000" dirty="0"/>
              <a:t>Note in particular, divergence of traces sigma_1 </a:t>
            </a:r>
          </a:p>
          <a:p>
            <a:r>
              <a:rPr lang="en-US" sz="2000" b="1" dirty="0"/>
              <a:t>We need a better model!</a:t>
            </a:r>
            <a:endParaRPr lang="ar-AE" sz="20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D19437-8AE1-4EB8-071B-F450A5220E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810" y="165715"/>
            <a:ext cx="4187190" cy="4905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142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FF0A5-E3A8-718E-36E9-59C101D02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D22B6-FFF7-C66E-A6F9-0CDDC70EE2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2" y="204787"/>
            <a:ext cx="8252458" cy="537394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Updated Hierarchical </a:t>
            </a:r>
            <a:r>
              <a:rPr sz="3200" b="0" dirty="0"/>
              <a:t>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07B48BCC-929D-59A7-D8F7-032E1216A8D0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2" y="789061"/>
                <a:ext cx="4053838" cy="4149652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Diverging traces indicate we need a better model 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In this case, we try different priors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Use an inverse Gamma distribution for the scale hyperprior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ℎ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𝐼𝑛𝑣𝑒𝑟𝑠𝑒𝐺𝑎𝑚𝑚𝑎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𝜂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𝜅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Use heavy-tailed student  t distribution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ℎ</m:t>
                        </m:r>
                      </m:sub>
                    </m:sSub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ℎ</m:t>
                        </m:r>
                      </m:sub>
                    </m:sSub>
                  </m:oMath>
                </a14:m>
                <a:r>
                  <a:rPr lang="en-US" sz="2000" dirty="0"/>
                  <a:t> hyperpriors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ℎ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ℎ</m:t>
                          </m:r>
                        </m:sub>
                      </m:sSub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𝜈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lvl="0"/>
                <a:endParaRPr lang="en-US" sz="2000" dirty="0"/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07B48BCC-929D-59A7-D8F7-032E1216A8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2" y="789061"/>
                <a:ext cx="4053838" cy="4149652"/>
              </a:xfrm>
              <a:blipFill>
                <a:blip r:embed="rId2"/>
                <a:stretch>
                  <a:fillRect l="-1504" t="-734" r="-1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1540D032-8D48-5669-5A6A-BC244A3972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3431" y="1432560"/>
            <a:ext cx="4529634" cy="3036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917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28876-8B38-47CB-2F55-F7DAB77F2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5EEA4-2376-DF05-5D22-3299BB2B1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2" y="204787"/>
            <a:ext cx="8252458" cy="537394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Updated Hierarchical </a:t>
            </a:r>
            <a:r>
              <a:rPr sz="3200" b="0" dirty="0"/>
              <a:t>Model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DAF7FD-2628-E1A7-FB33-FBAFBA2296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2" y="1211579"/>
            <a:ext cx="3470744" cy="3727133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Updated hierarchical model</a:t>
            </a:r>
            <a:endParaRPr lang="en-US" sz="2000" b="1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Updated hyperpriors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Other levels of the model are the same </a:t>
            </a:r>
          </a:p>
          <a:p>
            <a:pPr lvl="0"/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8BD11B-BCBB-6355-C9CB-AFCE146F69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9987" y="1367790"/>
            <a:ext cx="5285761" cy="2727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111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BF5FC-A955-9949-6B5A-EE572AE01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22B0C-96A4-9FDE-B70B-D9ACD3EE5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4255770" cy="857250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Sampling the</a:t>
            </a:r>
            <a:r>
              <a:rPr lang="en-US" dirty="0"/>
              <a:t> Updated</a:t>
            </a:r>
            <a:r>
              <a:rPr dirty="0"/>
              <a:t> </a:t>
            </a:r>
            <a:r>
              <a:rPr lang="en-US" dirty="0"/>
              <a:t>Hierarchical </a:t>
            </a:r>
            <a:r>
              <a:rPr dirty="0"/>
              <a:t>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2BF89E-FA59-33B3-3C6A-D88AAB4410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1984" y="1283970"/>
                <a:ext cx="4526280" cy="3569970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The sampling traces</a:t>
                </a:r>
                <a:r>
                  <a:rPr lang="en-US" dirty="0"/>
                  <a:t> show pooled </a:t>
                </a:r>
                <a:r>
                  <a:rPr lang="en-US" b="1" dirty="0"/>
                  <a:t>hyperprior distribution </a:t>
                </a:r>
                <a:r>
                  <a:rPr lang="en-US" dirty="0"/>
                  <a:t>and  </a:t>
                </a:r>
                <a:r>
                  <a:rPr lang="en-US" b="1" dirty="0"/>
                  <a:t>independent parameter distributions by county </a:t>
                </a:r>
                <a:r>
                  <a:rPr lang="en-US" dirty="0"/>
                  <a:t>for two of </a:t>
                </a:r>
                <a:r>
                  <a:rPr dirty="0"/>
                  <a:t>t</a:t>
                </a:r>
                <a:r>
                  <a:rPr lang="en-US" dirty="0"/>
                  <a:t>hree</a:t>
                </a:r>
                <a:r>
                  <a:rPr dirty="0"/>
                  <a:t> coefficients</a:t>
                </a:r>
                <a:endParaRPr lang="en-US" dirty="0"/>
              </a:p>
              <a:p>
                <a:r>
                  <a:rPr lang="en-US" sz="2400" dirty="0"/>
                  <a:t>The traces no longer show substantial divergence</a:t>
                </a:r>
              </a:p>
              <a:p>
                <a:r>
                  <a:rPr lang="en-US" sz="2400" dirty="0"/>
                  <a:t>Hyperprior traces show good convergence with new model</a:t>
                </a:r>
              </a:p>
              <a:p>
                <a:r>
                  <a:rPr lang="en-US" sz="2400" dirty="0"/>
                  <a:t>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ℎ</m:t>
                        </m:r>
                      </m:sub>
                    </m:sSub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ℎ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traces show county specific distributions </a:t>
                </a:r>
              </a:p>
              <a:p>
                <a:r>
                  <a:rPr lang="en-US" sz="2400" dirty="0"/>
                  <a:t>Pooled dispersion parameter traces show good convergence</a:t>
                </a:r>
                <a:endParaRPr lang="ar-AE" sz="2400" dirty="0"/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2BF89E-FA59-33B3-3C6A-D88AAB4410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1984" y="1283970"/>
                <a:ext cx="4526280" cy="3569970"/>
              </a:xfrm>
              <a:blipFill>
                <a:blip r:embed="rId2"/>
                <a:stretch>
                  <a:fillRect l="-1346" t="-2564" r="-22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F2BDCBED-DDF4-6FA9-B237-02B85084E8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3557" y="205979"/>
            <a:ext cx="4020443" cy="4731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123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AE872-AAFA-100C-3D30-EF79BCE69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90AE7-0B8B-69F7-009D-A1C7DE790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Sampling the </a:t>
            </a:r>
            <a:r>
              <a:rPr lang="en-US" dirty="0"/>
              <a:t>Updated Hierarchical </a:t>
            </a:r>
            <a:r>
              <a:rPr dirty="0"/>
              <a:t>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A075C2-EAB0-6DA7-79D7-08E26D3C06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530" y="980330"/>
            <a:ext cx="8229600" cy="61340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The sampling </a:t>
            </a:r>
            <a:r>
              <a:rPr lang="en-US" dirty="0"/>
              <a:t>statistics</a:t>
            </a:r>
            <a:r>
              <a:rPr dirty="0"/>
              <a:t> </a:t>
            </a:r>
            <a:r>
              <a:rPr lang="en-US" dirty="0"/>
              <a:t>are good for all </a:t>
            </a:r>
            <a:r>
              <a:rPr dirty="0"/>
              <a:t>coefficients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977901-465F-63F8-2F78-71E4CA1EE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9319" y="1370480"/>
            <a:ext cx="4767567" cy="3639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4310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68B500-24A0-6B9E-5D5E-A1F467799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F1448-D32B-3230-F841-6E698FF52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42711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400" dirty="0"/>
              <a:t>Posterior Predictive Checks for</a:t>
            </a:r>
            <a:r>
              <a:rPr sz="2400" dirty="0"/>
              <a:t> </a:t>
            </a:r>
            <a:r>
              <a:rPr lang="en-US" sz="2400" dirty="0"/>
              <a:t>Updated Hierarchical </a:t>
            </a:r>
            <a:r>
              <a:rPr sz="2400" dirty="0"/>
              <a:t>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0D003D-4566-1241-67DA-0D0B48EC4C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948690"/>
                <a:ext cx="4023360" cy="4091940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Posterior predictive checks show the update hieratical model is a generally good fit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Predicted close to the observed response with notable deviations – note the wide distribution as a result of the prior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𝐸𝐶𝐷𝐹</m:t>
                    </m:r>
                  </m:oMath>
                </a14:m>
                <a:r>
                  <a:rPr lang="en-US" dirty="0"/>
                  <a:t> some systematic bias with respect to the ideal distribution 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Sampled mean distribution is skewed with respect to the observed   </a:t>
                </a:r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0D003D-4566-1241-67DA-0D0B48EC4C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48690"/>
                <a:ext cx="4023360" cy="4091940"/>
              </a:xfrm>
              <a:blipFill>
                <a:blip r:embed="rId2"/>
                <a:stretch>
                  <a:fillRect l="-1970" t="-2534" r="-3182" b="-20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E5B0330E-066C-E945-5DB9-3BFA13198F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684" y="693153"/>
            <a:ext cx="3834712" cy="4306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463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9014D-AB76-8DD3-2A2D-959948837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5A209-D5EC-2178-53CF-53F34C2B7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Inference on the</a:t>
            </a:r>
            <a:r>
              <a:rPr lang="en-US" dirty="0"/>
              <a:t> Hierarchical</a:t>
            </a:r>
            <a:r>
              <a:rPr dirty="0"/>
              <a:t> </a:t>
            </a:r>
            <a:r>
              <a:rPr lang="en-US" dirty="0"/>
              <a:t>M</a:t>
            </a:r>
            <a:r>
              <a:rPr dirty="0"/>
              <a:t>odel </a:t>
            </a:r>
            <a:r>
              <a:rPr lang="en-US" dirty="0"/>
              <a:t>P</a:t>
            </a:r>
            <a:r>
              <a:rPr dirty="0"/>
              <a:t>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384600DB-9344-FE47-1A00-218FA5C378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0530" y="1104900"/>
                <a:ext cx="4282440" cy="3768090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Examine HDI of model parameters</a:t>
                </a:r>
              </a:p>
              <a:p>
                <a:r>
                  <a:rPr lang="en-US" sz="2000" dirty="0"/>
                  <a:t>HDI of hyperparameters show a narrow range</a:t>
                </a:r>
              </a:p>
              <a:p>
                <a:r>
                  <a:rPr lang="en-US" sz="2000" dirty="0"/>
                  <a:t>There is an HDI for each county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</a:p>
              <a:p>
                <a:r>
                  <a:rPr lang="en-US" sz="2000" dirty="0"/>
                  <a:t>MAP for each county parameter is different </a:t>
                </a:r>
                <a:endParaRPr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384600DB-9344-FE47-1A00-218FA5C378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0530" y="1104900"/>
                <a:ext cx="4282440" cy="3768090"/>
              </a:xfrm>
              <a:blipFill>
                <a:blip r:embed="rId2"/>
                <a:stretch>
                  <a:fillRect l="-1567" t="-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DBE3AE22-DEC0-2009-0D8C-5C22DCBE45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7727" y="937260"/>
            <a:ext cx="1988517" cy="41071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AA4DE9B-31A8-4C83-5757-08F460198C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300" y="1259360"/>
            <a:ext cx="2123809" cy="3758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128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0F372-6A7A-0F50-A8F3-9E960FF94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CA312-4AA3-94A6-9187-FF872249A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Inference on the</a:t>
            </a:r>
            <a:r>
              <a:rPr lang="en-US" dirty="0"/>
              <a:t> Hierarchical</a:t>
            </a:r>
            <a:r>
              <a:rPr dirty="0"/>
              <a:t> </a:t>
            </a:r>
            <a:r>
              <a:rPr lang="en-US" dirty="0"/>
              <a:t>M</a:t>
            </a:r>
            <a:r>
              <a:rPr dirty="0"/>
              <a:t>odel </a:t>
            </a:r>
            <a:r>
              <a:rPr lang="en-US" dirty="0"/>
              <a:t>P</a:t>
            </a:r>
            <a:r>
              <a:rPr dirty="0"/>
              <a:t>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B55BE0DB-2EB2-8348-E665-516CB1AA49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0530" y="1104900"/>
                <a:ext cx="4282440" cy="3768090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Examine HDI of model parameters</a:t>
                </a:r>
              </a:p>
              <a:p>
                <a:r>
                  <a:rPr lang="en-US" sz="2000" dirty="0"/>
                  <a:t>There are some counties with significant differences in the intercept parameter,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sz="2000" dirty="0"/>
              </a:p>
              <a:p>
                <a:r>
                  <a:rPr lang="en-US" sz="2000" dirty="0"/>
                  <a:t>There are a few significant differences in the slope parameter,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B55BE0DB-2EB2-8348-E665-516CB1AA49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0530" y="1104900"/>
                <a:ext cx="4282440" cy="3768090"/>
              </a:xfrm>
              <a:blipFill>
                <a:blip r:embed="rId2"/>
                <a:stretch>
                  <a:fillRect l="-1567" t="-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644A5D4D-09C9-5FCC-7742-298B62E09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230" y="948809"/>
            <a:ext cx="2118818" cy="4080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077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DE1EA-AF6A-210C-E3BC-05CEBC676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15F98-5503-AE85-25FF-CBF3F6F7B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344080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Comparing Bayesian Models</a:t>
            </a:r>
            <a:br>
              <a:rPr lang="en-US" cap="none" dirty="0"/>
            </a:br>
            <a:endParaRPr lang="en-US" cap="none" dirty="0"/>
          </a:p>
        </p:txBody>
      </p:sp>
    </p:spTree>
    <p:extLst>
      <p:ext uri="{BB962C8B-B14F-4D97-AF65-F5344CB8AC3E}">
        <p14:creationId xmlns:p14="http://schemas.microsoft.com/office/powerpoint/2010/main" val="198744519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9F992-FE2F-0E65-535B-0D22F100D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6623B-08E2-8465-E4FF-C66CABCF1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Comparing Bayesian </a:t>
            </a:r>
            <a:r>
              <a:rPr dirty="0"/>
              <a:t>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E68B2F-AB31-A531-3089-BF0E07F7C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28"/>
            <a:ext cx="8229600" cy="372609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How can we compare Bayesian models? </a:t>
            </a:r>
            <a:endParaRPr b="1" dirty="0"/>
          </a:p>
          <a:p>
            <a:pPr lvl="0"/>
            <a:r>
              <a:rPr lang="en-US" dirty="0"/>
              <a:t>We need comparison methods within the Bayesian framework </a:t>
            </a:r>
          </a:p>
          <a:p>
            <a:pPr lvl="0"/>
            <a:r>
              <a:rPr lang="en-US" dirty="0"/>
              <a:t>Idea, compare the likelihoods of models</a:t>
            </a:r>
          </a:p>
          <a:p>
            <a:pPr lvl="1"/>
            <a:r>
              <a:rPr lang="en-US" dirty="0"/>
              <a:t>Cannot compute directly from samples </a:t>
            </a:r>
          </a:p>
          <a:p>
            <a:pPr lvl="1"/>
            <a:r>
              <a:rPr lang="en-US" dirty="0"/>
              <a:t>Use </a:t>
            </a:r>
            <a:r>
              <a:rPr lang="en-US" b="1" dirty="0"/>
              <a:t>leave one out (LOO) cross validation (CV)</a:t>
            </a:r>
            <a:r>
              <a:rPr lang="en-US" dirty="0"/>
              <a:t> </a:t>
            </a:r>
          </a:p>
          <a:p>
            <a:pPr lvl="0"/>
            <a:r>
              <a:rPr lang="en-US" b="1" dirty="0"/>
              <a:t>Expected log pointwise density (ELPD)</a:t>
            </a:r>
            <a:r>
              <a:rPr lang="en-US" dirty="0"/>
              <a:t> is a LOO CV statistic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3571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52D4F-D7D4-9C96-4FF6-9A3972F43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85F04-592B-60CA-36E7-D2F0AA893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Comparing Bayesian </a:t>
            </a:r>
            <a:r>
              <a:rPr lang="en-US" dirty="0" err="1"/>
              <a:t>y</a:t>
            </a:r>
            <a:r>
              <a:rPr dirty="0" err="1"/>
              <a:t>Model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0A890D-60CE-D403-7347-19CA6740CE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28"/>
                <a:ext cx="8229600" cy="3726095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can we compare Bayesian models? </a:t>
                </a:r>
                <a:endParaRPr lang="en-US" b="1" dirty="0"/>
              </a:p>
              <a:p>
                <a:r>
                  <a:rPr lang="en-US" dirty="0"/>
                  <a:t>A LOO CV statistic </a:t>
                </a:r>
                <a:r>
                  <a:rPr lang="en-US" b="1" dirty="0"/>
                  <a:t>is expected log pointwise density (ELPD)</a:t>
                </a:r>
              </a:p>
              <a:p>
                <a:pPr lvl="0"/>
                <a:r>
                  <a:rPr lang="en-US" dirty="0"/>
                  <a:t>We do not know the true posterior density,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</a:t>
                </a:r>
                <a:endParaRPr lang="en-US" dirty="0"/>
              </a:p>
              <a:p>
                <a:pPr lvl="0"/>
                <a:r>
                  <a:rPr lang="en-US" dirty="0"/>
                  <a:t>Use a sampled approximation of the ELPD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𝐸𝐿𝑃𝐷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𝐿𝑂𝑂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𝐶𝑉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unc>
                            <m:func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nary>
                                <m:naryPr>
                                  <m:limLoc m:val="undOvr"/>
                                  <m:subHide m:val="on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nary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|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en-US" b="1" dirty="0"/>
              </a:p>
              <a:p>
                <a:pPr marL="342900" lvl="1" indent="0">
                  <a:buNone/>
                </a:pPr>
                <a:r>
                  <a:rPr lang="en-US" dirty="0"/>
                  <a:t>Where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/>
                  <a:t>model parameter vector </a:t>
                </a:r>
                <a:endParaRPr lang="en-US" i="1" dirty="0"/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the </a:t>
                </a:r>
                <a:r>
                  <a:rPr lang="en-US" i="1" dirty="0" err="1"/>
                  <a:t>ith</a:t>
                </a:r>
                <a:r>
                  <a:rPr lang="en-US" dirty="0"/>
                  <a:t> observed response 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the observed response leaving out the </a:t>
                </a:r>
                <a:r>
                  <a:rPr lang="en-US" i="1" dirty="0" err="1"/>
                  <a:t>ith</a:t>
                </a:r>
                <a:r>
                  <a:rPr lang="en-US" dirty="0"/>
                  <a:t> observation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|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LOO posterior density computed without the </a:t>
                </a:r>
                <a:r>
                  <a:rPr lang="en-US" i="1" dirty="0" err="1"/>
                  <a:t>ith</a:t>
                </a:r>
                <a:r>
                  <a:rPr lang="en-US" dirty="0"/>
                  <a:t> observation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The likelihood of the </a:t>
                </a:r>
                <a:r>
                  <a:rPr lang="en-US" i="1" dirty="0" err="1"/>
                  <a:t>ith</a:t>
                </a:r>
                <a:r>
                  <a:rPr lang="en-US" dirty="0"/>
                  <a:t> observation given LOO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 </a:t>
                </a:r>
              </a:p>
              <a:p>
                <a:pPr marL="342900" lvl="1" indent="0">
                  <a:buNone/>
                </a:pPr>
                <a:endParaRPr lang="en-US" dirty="0"/>
              </a:p>
              <a:p>
                <a:pPr marL="342900" lvl="1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0A890D-60CE-D403-7347-19CA6740CE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28"/>
                <a:ext cx="8229600" cy="3726095"/>
              </a:xfrm>
              <a:blipFill>
                <a:blip r:embed="rId2"/>
                <a:stretch>
                  <a:fillRect l="-741" t="-2288" b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0407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FE731-6F8C-B3F7-6BFC-48AF9E14F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2A8E6-83B5-B6F9-7F79-2CFC58D16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21731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lang="en-US" dirty="0"/>
              <a:t>Comparing Bayesian M</a:t>
            </a:r>
            <a:r>
              <a:rPr dirty="0"/>
              <a:t>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0452E7-B39E-7F8B-FF9C-1FFD372FEF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853440"/>
                <a:ext cx="8503920" cy="4213860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can we compare Bayesian models? </a:t>
                </a:r>
                <a:endParaRPr lang="en-US" b="1" dirty="0"/>
              </a:p>
              <a:p>
                <a:r>
                  <a:rPr lang="en-US" dirty="0"/>
                  <a:t>How can we interpret this complex looking formula for the ELPD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𝐸𝐿𝑃𝐷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𝐿𝑂𝑂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𝐶𝑉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unc>
                            <m:func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nary>
                                <m:naryPr>
                                  <m:limLoc m:val="undOvr"/>
                                  <m:subHide m:val="on"/>
                                  <m:supHide m:val="on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 |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nary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|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en-US" b="1" dirty="0"/>
              </a:p>
              <a:p>
                <a:r>
                  <a:rPr lang="en-US" dirty="0"/>
                  <a:t>We can interpret the integral as the LOO predictive density at the </a:t>
                </a:r>
                <a:r>
                  <a:rPr lang="en-US" i="1" dirty="0" err="1"/>
                  <a:t>ith</a:t>
                </a:r>
                <a:r>
                  <a:rPr lang="en-US" dirty="0"/>
                  <a:t> observation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|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LOO posterior density,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|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is the weight for the LOO likelihood,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 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𝐸𝐿𝑃𝐷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𝐿𝑂𝑂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𝐶𝑉</m:t>
                        </m:r>
                      </m:sub>
                    </m:sSub>
                  </m:oMath>
                </a14:m>
                <a:r>
                  <a:rPr lang="en-US" dirty="0"/>
                  <a:t> is the sum of the LOO posterior densities  </a:t>
                </a:r>
              </a:p>
              <a:p>
                <a:pPr marL="0" indent="0">
                  <a:buNone/>
                </a:pPr>
                <a:r>
                  <a:rPr lang="en-US" sz="2000" dirty="0"/>
                  <a:t>	</a:t>
                </a:r>
              </a:p>
              <a:p>
                <a:pPr marL="0" indent="0">
                  <a:buNone/>
                </a:pPr>
                <a:r>
                  <a:rPr lang="en-US" sz="2000" dirty="0"/>
                  <a:t>	You can see details of computing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𝐸𝐿𝑃𝐷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𝐿𝑂𝑂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𝐶𝑉</m:t>
                        </m:r>
                      </m:sub>
                    </m:sSub>
                  </m:oMath>
                </a14:m>
                <a:r>
                  <a:rPr lang="en-US" sz="2000" dirty="0"/>
                  <a:t> in </a:t>
                </a:r>
                <a:r>
                  <a:rPr lang="en-US" sz="2000" i="0" dirty="0">
                    <a:latin typeface="+mj-lt"/>
                    <a:hlinkClick r:id="rId2"/>
                  </a:rPr>
                  <a:t>this article </a:t>
                </a:r>
                <a:r>
                  <a:rPr lang="en-US" sz="2000" dirty="0"/>
                  <a:t>in the Stan package vignettes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0452E7-B39E-7F8B-FF9C-1FFD372FEF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853440"/>
                <a:ext cx="8503920" cy="4213860"/>
              </a:xfrm>
              <a:blipFill>
                <a:blip r:embed="rId3"/>
                <a:stretch>
                  <a:fillRect l="-645" t="-18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093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63B33-B5CA-1DE5-A604-CA650F8B1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24A19-EA31-62ED-2FB6-506A20B1B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Comparing Bayesian </a:t>
            </a:r>
            <a:r>
              <a:rPr dirty="0"/>
              <a:t>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694A50-832C-2F70-7CF5-FBDA556EB0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0761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sz="2000" dirty="0"/>
              <a:t>Compare the three models using </a:t>
            </a:r>
            <a:r>
              <a:rPr lang="en-US" sz="2000" b="1" dirty="0"/>
              <a:t>expected log pointwise density (ELPD)  </a:t>
            </a:r>
            <a:endParaRPr sz="20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79C2F1-0DDC-D10F-8319-B9A091116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337" y="1520429"/>
            <a:ext cx="7521936" cy="127254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55E6228-DD23-7AE3-5EB6-B2AC3776705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18159" y="2933938"/>
                <a:ext cx="8286751" cy="22095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000" b="1" i="1" dirty="0" err="1"/>
                  <a:t>elpd_loo</a:t>
                </a:r>
                <a:r>
                  <a:rPr lang="en-US" sz="2000" i="1" dirty="0"/>
                  <a:t>;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𝐸𝐿𝑃𝐷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𝑙𝑜𝑜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𝑐𝑣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of the model, larger values are better</a:t>
                </a:r>
              </a:p>
              <a:p>
                <a:r>
                  <a:rPr lang="en-US" sz="2000" dirty="0"/>
                  <a:t> </a:t>
                </a:r>
                <a:r>
                  <a:rPr lang="en-US" sz="2000" b="1" i="1" dirty="0" err="1"/>
                  <a:t>p_loo</a:t>
                </a:r>
                <a:r>
                  <a:rPr lang="en-US" sz="2000" i="1" dirty="0"/>
                  <a:t>;</a:t>
                </a:r>
                <a:r>
                  <a:rPr lang="en-US" sz="2000" dirty="0"/>
                  <a:t> pseudo estimate of the model complexity or, number of parameters</a:t>
                </a:r>
              </a:p>
              <a:p>
                <a:r>
                  <a:rPr lang="en-US" sz="2000" b="1" i="1" dirty="0" err="1"/>
                  <a:t>elpd_diff</a:t>
                </a:r>
                <a:r>
                  <a:rPr lang="en-US" sz="2000" i="1" dirty="0"/>
                  <a:t>; </a:t>
                </a:r>
                <a:r>
                  <a:rPr lang="en-US" sz="2000" dirty="0"/>
                  <a:t>difference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𝐸𝐿𝑃𝐷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𝑙𝑜𝑜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𝑐𝑣</m:t>
                        </m:r>
                      </m:sub>
                    </m:sSub>
                  </m:oMath>
                </a14:m>
                <a:r>
                  <a:rPr lang="en-US" sz="2000" dirty="0"/>
                  <a:t> between the model and the best model</a:t>
                </a:r>
              </a:p>
              <a:p>
                <a:r>
                  <a:rPr lang="en-US" sz="2000" b="1" i="1" dirty="0"/>
                  <a:t>weight</a:t>
                </a:r>
                <a:r>
                  <a:rPr lang="en-US" sz="2000" i="1" dirty="0"/>
                  <a:t>;</a:t>
                </a:r>
                <a:r>
                  <a:rPr lang="en-US" sz="2000" dirty="0"/>
                  <a:t> used for model averaging</a:t>
                </a:r>
              </a:p>
              <a:p>
                <a:r>
                  <a:rPr lang="en-US" sz="2000" b="1" i="1" dirty="0"/>
                  <a:t>se</a:t>
                </a:r>
                <a:r>
                  <a:rPr lang="en-US" sz="2000" i="1" dirty="0"/>
                  <a:t>;</a:t>
                </a:r>
                <a:r>
                  <a:rPr lang="en-US" sz="2000" dirty="0"/>
                  <a:t> is the standard error of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𝐸𝐿𝑃𝐷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𝑙𝑜𝑜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𝑐𝑣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</a:p>
              <a:p>
                <a:r>
                  <a:rPr lang="en-US" sz="2000" b="1" i="1" dirty="0" err="1"/>
                  <a:t>dse</a:t>
                </a:r>
                <a:r>
                  <a:rPr lang="en-US" sz="2000" i="1" dirty="0"/>
                  <a:t>;</a:t>
                </a:r>
                <a:r>
                  <a:rPr lang="en-US" sz="2000" dirty="0"/>
                  <a:t> is the standard error of the </a:t>
                </a:r>
                <a:r>
                  <a:rPr lang="en-US" sz="2000" dirty="0" err="1"/>
                  <a:t>elpd_diff</a:t>
                </a:r>
                <a:endParaRPr lang="en-US" sz="2000" dirty="0"/>
              </a:p>
              <a:p>
                <a:r>
                  <a:rPr lang="en-US" sz="2000" b="1" i="1" dirty="0"/>
                  <a:t>warning</a:t>
                </a:r>
                <a:r>
                  <a:rPr lang="en-US" sz="2000" i="1" dirty="0"/>
                  <a:t>; </a:t>
                </a:r>
                <a:r>
                  <a:rPr lang="en-US" sz="2000" dirty="0"/>
                  <a:t>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𝐸𝐿𝑃𝐷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𝑙𝑜𝑜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𝑐𝑣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estimate may not be reliable.    </a:t>
                </a:r>
              </a:p>
              <a:p>
                <a:r>
                  <a:rPr lang="en-US" sz="2000" b="1" i="1" dirty="0"/>
                  <a:t>scale</a:t>
                </a:r>
                <a:r>
                  <a:rPr lang="en-US" sz="2000" dirty="0"/>
                  <a:t>; used to report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𝐸𝐿𝑃𝐷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𝑙𝑜𝑜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𝑐𝑣</m:t>
                        </m:r>
                      </m:sub>
                    </m:sSub>
                  </m:oMath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55E6228-DD23-7AE3-5EB6-B2AC377670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159" y="2933938"/>
                <a:ext cx="8286751" cy="2209562"/>
              </a:xfrm>
              <a:prstGeom prst="rect">
                <a:avLst/>
              </a:prstGeom>
              <a:blipFill>
                <a:blip r:embed="rId3"/>
                <a:stretch>
                  <a:fillRect l="-368" t="-27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2449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A7A4E-A808-1C22-AF16-E4A16F632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FD1A6-10B7-5238-E753-39A183451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Comparing Bayesian </a:t>
            </a:r>
            <a:r>
              <a:rPr dirty="0"/>
              <a:t>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79AA0-5F6B-6B1C-E35A-75C33B8963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0761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sz="2000" dirty="0"/>
              <a:t>Compare the three models using </a:t>
            </a:r>
            <a:r>
              <a:rPr lang="en-US" sz="2000" b="1" dirty="0"/>
              <a:t>expected log pointwise density (ELPD)  </a:t>
            </a:r>
            <a:endParaRPr sz="2000" b="1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984339F-FFB8-AA03-88ED-90721C7059BF}"/>
              </a:ext>
            </a:extLst>
          </p:cNvPr>
          <p:cNvSpPr txBox="1">
            <a:spLocks/>
          </p:cNvSpPr>
          <p:nvPr/>
        </p:nvSpPr>
        <p:spPr>
          <a:xfrm>
            <a:off x="483869" y="1489949"/>
            <a:ext cx="3962401" cy="360021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Compare the HDI of the ELPD and difference of ELPD of each model</a:t>
            </a:r>
          </a:p>
          <a:p>
            <a:r>
              <a:rPr lang="en-US" sz="2000" dirty="0"/>
              <a:t>The HDI of the hierarchical model is greater than the other two models</a:t>
            </a:r>
          </a:p>
          <a:p>
            <a:r>
              <a:rPr lang="en-US" sz="2000" dirty="0"/>
              <a:t>The HDIs of the </a:t>
            </a:r>
            <a:r>
              <a:rPr lang="en-US" sz="2000" dirty="0" err="1"/>
              <a:t>unpooled</a:t>
            </a:r>
            <a:r>
              <a:rPr lang="en-US" sz="2000" dirty="0"/>
              <a:t> and pooled models do not over lap the hierarchical model </a:t>
            </a:r>
          </a:p>
          <a:p>
            <a:r>
              <a:rPr lang="en-US" sz="2000" dirty="0"/>
              <a:t>HDIs of </a:t>
            </a:r>
            <a:r>
              <a:rPr lang="en-US" sz="2000" dirty="0" err="1"/>
              <a:t>unpooled</a:t>
            </a:r>
            <a:r>
              <a:rPr lang="en-US" sz="2000" dirty="0"/>
              <a:t> and pooled models overlap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1E8063-F665-45B5-234F-7EF2BA30F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1478" y="2070733"/>
            <a:ext cx="4698231" cy="2413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76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0144C-E0B6-EA80-66D2-DC9D40094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3D62D-EC9B-B7C9-BDCB-06B1C9958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 Comparing Bayesian </a:t>
            </a:r>
            <a:r>
              <a:rPr dirty="0"/>
              <a:t>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1BC1A-EAB8-4777-871E-8963014107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0761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dirty="0"/>
              <a:t>Do we always need to choose one Bayesian model? </a:t>
            </a:r>
            <a:endParaRPr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A88AAB-556C-D9BA-A75B-47EF274161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337" y="1622822"/>
            <a:ext cx="7521936" cy="127254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29DF0F12-F13C-739B-3987-A87BFBA19A7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18159" y="3013710"/>
                <a:ext cx="8286751" cy="179451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No!</a:t>
                </a:r>
              </a:p>
              <a:p>
                <a:r>
                  <a:rPr lang="en-US" dirty="0"/>
                  <a:t>We can combine posteriors from several models  </a:t>
                </a:r>
              </a:p>
              <a:p>
                <a:r>
                  <a:rPr lang="en-US" dirty="0"/>
                  <a:t>Example, use the weights in the above table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𝑊𝑒𝑖𝑔ℎ𝑡𝑒𝑑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𝑝𝑜𝑠𝑡𝑒𝑟𝑖𝑜𝑟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 .89 ∗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ℎ𝑖𝑒𝑟𝑎𝑟𝑐ℎ𝑖𝑐𝑎𝑙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 .11∗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𝑝𝑜𝑜𝑙𝑒𝑑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29DF0F12-F13C-739B-3987-A87BFBA19A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159" y="3013710"/>
                <a:ext cx="8286751" cy="1794510"/>
              </a:xfrm>
              <a:prstGeom prst="rect">
                <a:avLst/>
              </a:prstGeom>
              <a:blipFill>
                <a:blip r:embed="rId3"/>
                <a:stretch>
                  <a:fillRect l="-957" t="-27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8402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06D53-62C2-8E9D-7BBD-08D73859E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066C0-6D5A-7BEF-0CDB-9929EB7E7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344080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Bayesian Shrinkage</a:t>
            </a:r>
            <a:br>
              <a:rPr lang="en-US" cap="none" dirty="0"/>
            </a:br>
            <a:endParaRPr lang="en-US" cap="none" dirty="0"/>
          </a:p>
        </p:txBody>
      </p:sp>
    </p:spTree>
    <p:extLst>
      <p:ext uri="{BB962C8B-B14F-4D97-AF65-F5344CB8AC3E}">
        <p14:creationId xmlns:p14="http://schemas.microsoft.com/office/powerpoint/2010/main" val="231168302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6BF31-A685-D23B-45B8-B0F961FC1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2EA85-4E51-31A5-EEAD-68BA65625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Bayesian Shrinkage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0B4EF3-E6D8-72F6-B11F-51014BF4C0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28"/>
            <a:ext cx="8229600" cy="3726095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dirty="0"/>
              <a:t>How can we account for the difference between </a:t>
            </a:r>
            <a:r>
              <a:rPr lang="en-US" dirty="0" err="1"/>
              <a:t>unpooled</a:t>
            </a:r>
            <a:r>
              <a:rPr lang="en-US" dirty="0"/>
              <a:t> and hierarchical model?  </a:t>
            </a:r>
            <a:endParaRPr b="1" dirty="0"/>
          </a:p>
          <a:p>
            <a:pPr lvl="0"/>
            <a:r>
              <a:rPr lang="en-US" dirty="0"/>
              <a:t>The answer lies in </a:t>
            </a:r>
            <a:r>
              <a:rPr lang="en-US" b="1" dirty="0"/>
              <a:t>Bayesian shrinkage </a:t>
            </a:r>
          </a:p>
          <a:p>
            <a:pPr lvl="0"/>
            <a:r>
              <a:rPr lang="en-US" dirty="0"/>
              <a:t>Bayesian posterior distributions </a:t>
            </a:r>
            <a:r>
              <a:rPr lang="en-US" b="1" dirty="0"/>
              <a:t>shrink</a:t>
            </a:r>
            <a:r>
              <a:rPr lang="en-US" dirty="0"/>
              <a:t> toward the prior  </a:t>
            </a:r>
          </a:p>
          <a:p>
            <a:r>
              <a:rPr lang="en-US" dirty="0"/>
              <a:t>Shrinkage effect is greatest when there are many parameters</a:t>
            </a:r>
          </a:p>
          <a:p>
            <a:pPr lvl="1"/>
            <a:r>
              <a:rPr lang="en-US" dirty="0"/>
              <a:t>Recall that when there is no data the posterior equals the prior </a:t>
            </a:r>
          </a:p>
          <a:p>
            <a:pPr lvl="1"/>
            <a:r>
              <a:rPr lang="en-US" dirty="0"/>
              <a:t>With limited data the posterior will be close to the prior </a:t>
            </a:r>
          </a:p>
          <a:p>
            <a:r>
              <a:rPr lang="en-US" dirty="0"/>
              <a:t>Shrinkage is the Bayesian equivalent of regularization    </a:t>
            </a:r>
          </a:p>
          <a:p>
            <a:pPr lvl="1"/>
            <a:r>
              <a:rPr lang="en-US" b="1" dirty="0"/>
              <a:t>Shrinkage prevents overfitting in Bayesian model  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3805678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76B8B-D7D8-8A90-3770-481982D40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63F22-D4E5-5812-D186-640C419B6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Bayesian Shrinkage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E6C38B-FA62-B976-00D1-0DD645EE38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0761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sz="2000" dirty="0"/>
              <a:t>Compare the parameter values of the </a:t>
            </a:r>
            <a:r>
              <a:rPr lang="en-US" sz="2000" dirty="0" err="1"/>
              <a:t>unpooled</a:t>
            </a:r>
            <a:r>
              <a:rPr lang="en-US" sz="2000" dirty="0"/>
              <a:t> and hierarchical models</a:t>
            </a:r>
            <a:endParaRPr sz="2000" b="1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7A5C0FF-7BF0-8900-C1AB-E1F02D1125FB}"/>
              </a:ext>
            </a:extLst>
          </p:cNvPr>
          <p:cNvSpPr txBox="1">
            <a:spLocks/>
          </p:cNvSpPr>
          <p:nvPr/>
        </p:nvSpPr>
        <p:spPr>
          <a:xfrm>
            <a:off x="483869" y="1489949"/>
            <a:ext cx="3921227" cy="360021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The model has 2 parameters for each county and few observations per county</a:t>
            </a:r>
          </a:p>
          <a:p>
            <a:r>
              <a:rPr lang="en-US" sz="2000" dirty="0"/>
              <a:t>The distribution of the parameter MAP values of the two models are significantly different </a:t>
            </a:r>
          </a:p>
          <a:p>
            <a:r>
              <a:rPr lang="en-US" sz="2000" dirty="0"/>
              <a:t>The MAP values of the </a:t>
            </a:r>
            <a:r>
              <a:rPr lang="en-US" sz="2000" dirty="0" err="1"/>
              <a:t>unpooled</a:t>
            </a:r>
            <a:r>
              <a:rPr lang="en-US" sz="2000" dirty="0"/>
              <a:t> model parameters are under-constrained and widely dispersed</a:t>
            </a:r>
          </a:p>
          <a:p>
            <a:r>
              <a:rPr lang="en-US" sz="2000" dirty="0"/>
              <a:t>The MAP values of the hierarchical model parameters are shrunk toward the prior and have low dispersion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775BD7-4794-5ECD-9C60-4480C3FEE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2033" y="1645920"/>
            <a:ext cx="4661968" cy="3249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1268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D5A5D-36B6-159F-FED2-14C486F84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BA4AF-2C26-968B-592E-545A00D71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Bayesian Shrinkage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28D65-34F5-4EDF-FAE7-F19CF9FE83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0761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sz="2000" dirty="0"/>
              <a:t>Compare the parameter values of the </a:t>
            </a:r>
            <a:r>
              <a:rPr lang="en-US" sz="2000" dirty="0" err="1"/>
              <a:t>unpooled</a:t>
            </a:r>
            <a:r>
              <a:rPr lang="en-US" sz="2000" dirty="0"/>
              <a:t> and hierarchical models</a:t>
            </a:r>
            <a:endParaRPr sz="2000" b="1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6972BBF-585A-DA56-2BF7-67F1E4E0EC21}"/>
              </a:ext>
            </a:extLst>
          </p:cNvPr>
          <p:cNvSpPr txBox="1">
            <a:spLocks/>
          </p:cNvSpPr>
          <p:nvPr/>
        </p:nvSpPr>
        <p:spPr>
          <a:xfrm>
            <a:off x="483869" y="1489949"/>
            <a:ext cx="3691891" cy="352401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The model has 2 parameters for each county and few observation per county </a:t>
            </a:r>
          </a:p>
          <a:p>
            <a:r>
              <a:rPr lang="en-US" sz="2000" dirty="0"/>
              <a:t>The distribution of MAP values of the two models are significantly different </a:t>
            </a:r>
          </a:p>
          <a:p>
            <a:r>
              <a:rPr lang="en-US" sz="2000" dirty="0"/>
              <a:t>The MAP values of the </a:t>
            </a:r>
            <a:r>
              <a:rPr lang="en-US" sz="2000" dirty="0" err="1"/>
              <a:t>unpooled</a:t>
            </a:r>
            <a:r>
              <a:rPr lang="en-US" sz="2000" dirty="0"/>
              <a:t> model parameters are under-constrained and widely dispersed</a:t>
            </a:r>
          </a:p>
          <a:p>
            <a:r>
              <a:rPr lang="en-US" sz="2000" dirty="0"/>
              <a:t>The MAP values of the hierarchical model parameters are shrunk toward the priors and have low dispersion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A209510-6AE7-0232-0E02-50EAE3BEB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5760" y="1384745"/>
            <a:ext cx="4968241" cy="3552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1E809-1DBE-E41C-F17B-6E9D59522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C0934-EC40-631B-79A0-5FC454C12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344080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Summary</a:t>
            </a:r>
            <a:br>
              <a:rPr lang="en-US" cap="none" dirty="0"/>
            </a:br>
            <a:endParaRPr lang="en-US" cap="none" dirty="0"/>
          </a:p>
        </p:txBody>
      </p:sp>
    </p:spTree>
    <p:extLst>
      <p:ext uri="{BB962C8B-B14F-4D97-AF65-F5344CB8AC3E}">
        <p14:creationId xmlns:p14="http://schemas.microsoft.com/office/powerpoint/2010/main" val="335433764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155D6-A874-3286-B2E0-A8C1664EB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3FD6E-A80B-DF8A-2179-0D34BB14B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For Further Study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17EC6D-6F9B-9A28-7634-095DBF4537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28"/>
            <a:ext cx="8229600" cy="372609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Materials for further study of constructing and evaluating hierarchical Bayesian models include:</a:t>
            </a:r>
          </a:p>
          <a:p>
            <a:r>
              <a:rPr lang="en-US" dirty="0">
                <a:hlinkClick r:id="rId2"/>
              </a:rPr>
              <a:t>Bayesian Data Analysis, 3</a:t>
            </a:r>
            <a:r>
              <a:rPr lang="en-US" baseline="30000" dirty="0">
                <a:hlinkClick r:id="rId2"/>
              </a:rPr>
              <a:t>rd</a:t>
            </a:r>
            <a:r>
              <a:rPr lang="en-US" dirty="0">
                <a:hlinkClick r:id="rId2"/>
              </a:rPr>
              <a:t> edition, Gelman, et. al., 2014, Chapter 15</a:t>
            </a:r>
            <a:r>
              <a:rPr lang="en-US" dirty="0"/>
              <a:t> </a:t>
            </a:r>
          </a:p>
          <a:p>
            <a:r>
              <a:rPr lang="en-US" dirty="0">
                <a:hlinkClick r:id="rId3"/>
              </a:rPr>
              <a:t>Bayesian Modeling and Computation in Python, Martin, et. al., 2022, Chapter 4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426845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91774-BFB0-D14F-EA16-E4C79FFAA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C784B-1DCF-5A7E-8B7E-FBE4FA8AA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Summary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9338F-D66D-ACAB-074B-B1962CAB3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28"/>
            <a:ext cx="8229600" cy="3726095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lang="en-US" dirty="0"/>
              <a:t>Key points in this lesson:</a:t>
            </a:r>
          </a:p>
          <a:p>
            <a:pPr marL="342900" lvl="0" indent="-342900">
              <a:buAutoNum type="arabicPeriod"/>
            </a:pPr>
            <a:r>
              <a:rPr lang="en-US" dirty="0"/>
              <a:t>Pooled vs. </a:t>
            </a:r>
            <a:r>
              <a:rPr lang="en-US" dirty="0" err="1"/>
              <a:t>unpooled</a:t>
            </a:r>
            <a:r>
              <a:rPr lang="en-US" dirty="0"/>
              <a:t> models</a:t>
            </a:r>
          </a:p>
          <a:p>
            <a:pPr lvl="1"/>
            <a:r>
              <a:rPr lang="en-US" dirty="0"/>
              <a:t>Pooled models have single prior and posterior for all parameters</a:t>
            </a:r>
          </a:p>
          <a:p>
            <a:pPr lvl="1"/>
            <a:r>
              <a:rPr lang="en-US" dirty="0" err="1"/>
              <a:t>Unpooled</a:t>
            </a:r>
            <a:r>
              <a:rPr lang="en-US" dirty="0"/>
              <a:t> models achieve flexibility with posterior distributions for each independent case</a:t>
            </a:r>
          </a:p>
          <a:p>
            <a:pPr marL="342900" lvl="0" indent="-342900">
              <a:buAutoNum type="arabicPeriod"/>
            </a:pPr>
            <a:r>
              <a:rPr lang="en-US" dirty="0"/>
              <a:t>Defining hierarchical models through hyperpriors and priors</a:t>
            </a:r>
          </a:p>
          <a:p>
            <a:pPr lvl="1"/>
            <a:r>
              <a:rPr lang="en-US" dirty="0"/>
              <a:t>Priors fit using the hyperpriors</a:t>
            </a:r>
          </a:p>
          <a:p>
            <a:pPr lvl="1"/>
            <a:r>
              <a:rPr lang="en-US" dirty="0"/>
              <a:t>Posterior fit using priors at bottom level </a:t>
            </a:r>
          </a:p>
          <a:p>
            <a:pPr marL="342900" lvl="0" indent="-342900">
              <a:buAutoNum type="arabicPeriod"/>
            </a:pPr>
            <a:r>
              <a:rPr lang="en-US" dirty="0"/>
              <a:t>Evaluation and comparison of Bayesian models with LOO CV </a:t>
            </a:r>
          </a:p>
          <a:p>
            <a:pPr marL="342900" lvl="0" indent="-342900">
              <a:buAutoNum type="arabicPeriod"/>
            </a:pPr>
            <a:r>
              <a:rPr lang="en-US" dirty="0"/>
              <a:t>Bayesian shrinkage prevents overfitting model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11105008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3796</TotalTime>
  <Words>3374</Words>
  <Application>Microsoft Office PowerPoint</Application>
  <PresentationFormat>On-screen Show (16:9)</PresentationFormat>
  <Paragraphs>374</Paragraphs>
  <Slides>58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3" baseType="lpstr">
      <vt:lpstr>Arial</vt:lpstr>
      <vt:lpstr>Calibri</vt:lpstr>
      <vt:lpstr>Cambria Math</vt:lpstr>
      <vt:lpstr>Courier</vt:lpstr>
      <vt:lpstr>Office Theme</vt:lpstr>
      <vt:lpstr>Hierarchical Bayesian Models </vt:lpstr>
      <vt:lpstr>Introduction</vt:lpstr>
      <vt:lpstr>Introduction</vt:lpstr>
      <vt:lpstr>Pooled vs. Unpooled Models</vt:lpstr>
      <vt:lpstr>Pooled vs. Unpooled Models</vt:lpstr>
      <vt:lpstr>Overview of Hierarchical Models</vt:lpstr>
      <vt:lpstr>Modeling Radon Risk</vt:lpstr>
      <vt:lpstr>Example: Dangers of Radon in Homes</vt:lpstr>
      <vt:lpstr>Example: Dangers of Radon in Homes</vt:lpstr>
      <vt:lpstr>Example: Dangers of Radon in Homes</vt:lpstr>
      <vt:lpstr>Example: Dangers of Radon in Homes</vt:lpstr>
      <vt:lpstr>Bayesian Modeling of Radon Concentration</vt:lpstr>
      <vt:lpstr>Radon Dataset</vt:lpstr>
      <vt:lpstr>Pooled Model </vt:lpstr>
      <vt:lpstr>Pooled Model</vt:lpstr>
      <vt:lpstr>Pooled Model</vt:lpstr>
      <vt:lpstr>Pooled Model</vt:lpstr>
      <vt:lpstr>Pooled Model</vt:lpstr>
      <vt:lpstr>Defining and Sampling the Pooled Model</vt:lpstr>
      <vt:lpstr>Sampling the Pooled Model</vt:lpstr>
      <vt:lpstr>Posterior Predictive Checks for Pooled Model</vt:lpstr>
      <vt:lpstr>Inference on the Pooled  Model Parameters</vt:lpstr>
      <vt:lpstr>Unpooled Model </vt:lpstr>
      <vt:lpstr>Unpooled Model</vt:lpstr>
      <vt:lpstr>Unpooled Model</vt:lpstr>
      <vt:lpstr>Unpooled Model</vt:lpstr>
      <vt:lpstr>Unpooled Model</vt:lpstr>
      <vt:lpstr>Defining and Sampling the Unpooled Model</vt:lpstr>
      <vt:lpstr>Sampling the Unpooled Model</vt:lpstr>
      <vt:lpstr>Sampling the Unpooled Model</vt:lpstr>
      <vt:lpstr>Posterior Predictive Checks for Unpooled Model</vt:lpstr>
      <vt:lpstr>Hierarchical Model </vt:lpstr>
      <vt:lpstr>Hierarchical Model</vt:lpstr>
      <vt:lpstr>Hierarchical Model</vt:lpstr>
      <vt:lpstr>Hierarchical Model</vt:lpstr>
      <vt:lpstr>Defining and Sampling the Hierarchical Model</vt:lpstr>
      <vt:lpstr>Sampling the Hierarchical Model</vt:lpstr>
      <vt:lpstr>Updated Hierarchical Model</vt:lpstr>
      <vt:lpstr>Updated Hierarchical Model</vt:lpstr>
      <vt:lpstr>Sampling the Updated Hierarchical Model</vt:lpstr>
      <vt:lpstr>Sampling the Updated Hierarchical Model</vt:lpstr>
      <vt:lpstr>Posterior Predictive Checks for Updated Hierarchical Model</vt:lpstr>
      <vt:lpstr>Inference on the Hierarchical Model Parameters</vt:lpstr>
      <vt:lpstr>Inference on the Hierarchical Model Parameters</vt:lpstr>
      <vt:lpstr>Comparing Bayesian Models </vt:lpstr>
      <vt:lpstr>Comparing Bayesian Model</vt:lpstr>
      <vt:lpstr>Comparing Bayesian yModel</vt:lpstr>
      <vt:lpstr>Comparing Bayesian Model</vt:lpstr>
      <vt:lpstr>Comparing Bayesian Model</vt:lpstr>
      <vt:lpstr>Comparing Bayesian Model</vt:lpstr>
      <vt:lpstr> Comparing Bayesian Model</vt:lpstr>
      <vt:lpstr>Bayesian Shrinkage </vt:lpstr>
      <vt:lpstr>Bayesian Shrinkage</vt:lpstr>
      <vt:lpstr>Bayesian Shrinkage</vt:lpstr>
      <vt:lpstr>Bayesian Shrinkage</vt:lpstr>
      <vt:lpstr>Summary </vt:lpstr>
      <vt:lpstr>For Further Study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Hierarchical Bayesian Models</dc:title>
  <dc:creator>Steve Elston</dc:creator>
  <cp:keywords/>
  <cp:lastModifiedBy>Stephen Elston</cp:lastModifiedBy>
  <cp:revision>198</cp:revision>
  <dcterms:created xsi:type="dcterms:W3CDTF">2024-11-22T23:41:15Z</dcterms:created>
  <dcterms:modified xsi:type="dcterms:W3CDTF">2026-10-29T20:55:37Z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2023-12-05</vt:lpwstr>
  </property>
  <property fmtid="{D5CDD505-2E9C-101B-9397-08002B2CF9AE}" pid="3" name="output">
    <vt:lpwstr/>
  </property>
</Properties>
</file>