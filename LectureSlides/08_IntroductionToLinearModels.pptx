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338" r:id="rId2"/>
    <p:sldId id="341" r:id="rId3"/>
    <p:sldId id="342" r:id="rId4"/>
    <p:sldId id="343" r:id="rId5"/>
    <p:sldId id="344" r:id="rId6"/>
    <p:sldId id="345" r:id="rId7"/>
    <p:sldId id="346" r:id="rId8"/>
    <p:sldId id="386" r:id="rId9"/>
    <p:sldId id="347" r:id="rId10"/>
    <p:sldId id="348" r:id="rId11"/>
    <p:sldId id="380" r:id="rId12"/>
    <p:sldId id="349" r:id="rId13"/>
    <p:sldId id="350" r:id="rId14"/>
    <p:sldId id="351" r:id="rId15"/>
    <p:sldId id="352" r:id="rId16"/>
    <p:sldId id="353" r:id="rId17"/>
    <p:sldId id="354" r:id="rId18"/>
    <p:sldId id="387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88" r:id="rId27"/>
    <p:sldId id="363" r:id="rId28"/>
    <p:sldId id="364" r:id="rId29"/>
    <p:sldId id="384" r:id="rId30"/>
    <p:sldId id="302" r:id="rId31"/>
    <p:sldId id="389" r:id="rId32"/>
    <p:sldId id="382" r:id="rId33"/>
    <p:sldId id="303" r:id="rId34"/>
    <p:sldId id="390" r:id="rId35"/>
    <p:sldId id="301" r:id="rId36"/>
    <p:sldId id="367" r:id="rId37"/>
    <p:sldId id="383" r:id="rId38"/>
    <p:sldId id="368" r:id="rId39"/>
    <p:sldId id="370" r:id="rId40"/>
    <p:sldId id="293" r:id="rId41"/>
    <p:sldId id="294" r:id="rId42"/>
    <p:sldId id="295" r:id="rId43"/>
    <p:sldId id="296" r:id="rId44"/>
    <p:sldId id="297" r:id="rId45"/>
    <p:sldId id="298" r:id="rId46"/>
    <p:sldId id="372" r:id="rId47"/>
    <p:sldId id="373" r:id="rId48"/>
    <p:sldId id="300" r:id="rId49"/>
    <p:sldId id="391" r:id="rId50"/>
    <p:sldId id="393" r:id="rId51"/>
    <p:sldId id="394" r:id="rId52"/>
    <p:sldId id="392" r:id="rId53"/>
    <p:sldId id="304" r:id="rId54"/>
    <p:sldId id="385" r:id="rId55"/>
    <p:sldId id="305" r:id="rId56"/>
    <p:sldId id="306" r:id="rId57"/>
    <p:sldId id="308" r:id="rId58"/>
    <p:sldId id="374" r:id="rId59"/>
    <p:sldId id="375" r:id="rId60"/>
    <p:sldId id="376" r:id="rId61"/>
    <p:sldId id="377" r:id="rId62"/>
    <p:sldId id="312" r:id="rId63"/>
    <p:sldId id="378" r:id="rId64"/>
    <p:sldId id="379" r:id="rId65"/>
    <p:sldId id="335" r:id="rId66"/>
    <p:sldId id="319" r:id="rId67"/>
    <p:sldId id="336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5" d="100"/>
          <a:sy n="95" d="100"/>
        </p:scale>
        <p:origin x="36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36D9D-5B1A-4F71-A845-003503DCA96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9576F-5C1B-411B-ACD1-77A3957AF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5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90C29-277A-4C0B-9914-D82F5D04F8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7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Total_least_squar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taylorfrancis.com/books/e/9780203738535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en.wikipedia.org/wiki/Omnibus_test" TargetMode="External"/><Relationship Id="rId7" Type="http://schemas.openxmlformats.org/officeDocument/2006/relationships/hyperlink" Target="https://en.wikipedia.org/wiki/Condition_numbe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Jarque%E2%80%93Bera_test" TargetMode="External"/><Relationship Id="rId5" Type="http://schemas.openxmlformats.org/officeDocument/2006/relationships/hyperlink" Target="https://en.wikipedia.org/wiki/Durbin%E2%80%93Watson_statistic" TargetMode="External"/><Relationship Id="rId4" Type="http://schemas.openxmlformats.org/officeDocument/2006/relationships/hyperlink" Target="https://pmc.ncbi.nlm.nih.gov/articles/PMC7289536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Introduction to Linear Models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6136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- Why linear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Linear models are widely used in statistics and machine learning</a:t>
            </a:r>
          </a:p>
          <a:p>
            <a:pPr lvl="0"/>
            <a:r>
              <a:rPr b="1" dirty="0"/>
              <a:t>Understandable and interpretable</a:t>
            </a:r>
          </a:p>
          <a:p>
            <a:pPr lvl="0"/>
            <a:r>
              <a:rPr b="1" dirty="0"/>
              <a:t>Generalize well</a:t>
            </a:r>
            <a:r>
              <a:rPr dirty="0"/>
              <a:t>, if properly fit</a:t>
            </a:r>
          </a:p>
          <a:p>
            <a:pPr lvl="0"/>
            <a:r>
              <a:rPr b="1" dirty="0"/>
              <a:t>Highly scalable </a:t>
            </a:r>
            <a:r>
              <a:rPr lang="en-US" dirty="0"/>
              <a:t>and </a:t>
            </a:r>
            <a:r>
              <a:rPr dirty="0"/>
              <a:t>computationally efficient</a:t>
            </a:r>
          </a:p>
          <a:p>
            <a:pPr lvl="0"/>
            <a:r>
              <a:rPr dirty="0"/>
              <a:t>Can approximate fairly complex functions</a:t>
            </a:r>
          </a:p>
          <a:p>
            <a:pPr lvl="1"/>
            <a:r>
              <a:rPr dirty="0"/>
              <a:t>A basis of understanding complex models</a:t>
            </a:r>
          </a:p>
          <a:p>
            <a:pPr lvl="0"/>
            <a:r>
              <a:rPr dirty="0"/>
              <a:t>Many non-linear models are locally linear at convergence</a:t>
            </a:r>
          </a:p>
          <a:p>
            <a:pPr lvl="1"/>
            <a:r>
              <a:rPr dirty="0"/>
              <a:t>We can learn a lot about the convergence of DL and RL models from linear approximations</a:t>
            </a:r>
          </a:p>
          <a:p>
            <a:pPr lvl="0"/>
            <a:r>
              <a:rPr dirty="0"/>
              <a:t>In this lesson we take a </a:t>
            </a:r>
            <a:r>
              <a:rPr b="1" dirty="0"/>
              <a:t>frequentist view</a:t>
            </a:r>
            <a:r>
              <a:rPr dirty="0"/>
              <a:t> of the linear model</a:t>
            </a:r>
          </a:p>
          <a:p>
            <a:pPr lvl="1"/>
            <a:r>
              <a:rPr lang="en-US" dirty="0"/>
              <a:t>Frequentist view uses </a:t>
            </a:r>
            <a:r>
              <a:rPr lang="en-US" b="1" dirty="0"/>
              <a:t>maximum likelihood estimation (MLE) </a:t>
            </a:r>
          </a:p>
          <a:p>
            <a:pPr lvl="1"/>
            <a:r>
              <a:rPr dirty="0"/>
              <a:t>Bayesian view is </a:t>
            </a:r>
            <a:r>
              <a:rPr lang="en-US" dirty="0"/>
              <a:t>alternative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- Why linear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9472"/>
            <a:ext cx="8229600" cy="392176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Linear models are </a:t>
            </a:r>
            <a:r>
              <a:rPr b="1" dirty="0"/>
              <a:t>readily interpretable!</a:t>
            </a:r>
          </a:p>
          <a:p>
            <a:pPr lvl="0"/>
            <a:r>
              <a:rPr b="1" dirty="0"/>
              <a:t>Human interpretability </a:t>
            </a:r>
            <a:r>
              <a:rPr dirty="0"/>
              <a:t>is importa</a:t>
            </a:r>
            <a:r>
              <a:rPr lang="en-US" dirty="0"/>
              <a:t>nt</a:t>
            </a:r>
            <a:r>
              <a:rPr dirty="0"/>
              <a:t> for models used for critical decisions</a:t>
            </a:r>
          </a:p>
          <a:p>
            <a:pPr lvl="1"/>
            <a:r>
              <a:rPr dirty="0"/>
              <a:t>Health care</a:t>
            </a:r>
          </a:p>
          <a:p>
            <a:pPr lvl="1"/>
            <a:r>
              <a:rPr dirty="0"/>
              <a:t>Safe operation of autonomous systems</a:t>
            </a:r>
          </a:p>
          <a:p>
            <a:pPr lvl="1"/>
            <a:r>
              <a:rPr dirty="0"/>
              <a:t>Social justice </a:t>
            </a:r>
            <a:r>
              <a:rPr lang="en-US" dirty="0"/>
              <a:t>and other</a:t>
            </a:r>
            <a:r>
              <a:rPr dirty="0"/>
              <a:t> applications with human impact</a:t>
            </a:r>
          </a:p>
          <a:p>
            <a:pPr lvl="1"/>
            <a:r>
              <a:rPr dirty="0"/>
              <a:t>etc.</a:t>
            </a:r>
          </a:p>
          <a:p>
            <a:r>
              <a:rPr lang="en-US" dirty="0"/>
              <a:t>Complex and nonlinear model result in poor human intuition about expected response</a:t>
            </a:r>
          </a:p>
          <a:p>
            <a:pPr lvl="0"/>
            <a:r>
              <a:rPr lang="en-US" dirty="0"/>
              <a:t>Models </a:t>
            </a:r>
            <a:r>
              <a:rPr lang="en-US" b="1" dirty="0"/>
              <a:t>generalize</a:t>
            </a:r>
            <a:r>
              <a:rPr lang="en-US" dirty="0"/>
              <a:t> well</a:t>
            </a:r>
            <a:endParaRPr dirty="0"/>
          </a:p>
          <a:p>
            <a:pPr lvl="1"/>
            <a:r>
              <a:rPr dirty="0"/>
              <a:t>Low chance of </a:t>
            </a:r>
            <a:r>
              <a:rPr i="1" dirty="0"/>
              <a:t>unexpected output</a:t>
            </a:r>
            <a:endParaRPr dirty="0"/>
          </a:p>
          <a:p>
            <a:pPr lvl="1"/>
            <a:r>
              <a:rPr dirty="0"/>
              <a:t>Complex and nonlinear models vulnerable to </a:t>
            </a:r>
            <a:r>
              <a:rPr i="1" dirty="0"/>
              <a:t>unexpected output</a:t>
            </a:r>
            <a:endParaRPr lang="en-US" i="1" dirty="0"/>
          </a:p>
          <a:p>
            <a:r>
              <a:rPr lang="en-US" b="1" dirty="0"/>
              <a:t>Model coefficients </a:t>
            </a:r>
            <a:r>
              <a:rPr lang="en-US" dirty="0"/>
              <a:t>provide information on </a:t>
            </a:r>
            <a:r>
              <a:rPr lang="en-US" b="1" dirty="0"/>
              <a:t>response sensitivities </a:t>
            </a:r>
            <a:r>
              <a:rPr lang="en-US" dirty="0"/>
              <a:t>to changes in independent variable values</a:t>
            </a:r>
          </a:p>
          <a:p>
            <a:endParaRPr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9857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What are the alternatives?</a:t>
            </a:r>
          </a:p>
          <a:p>
            <a:pPr lvl="0"/>
            <a:r>
              <a:rPr dirty="0"/>
              <a:t>Linear models are saleable and interpretable</a:t>
            </a:r>
          </a:p>
          <a:p>
            <a:pPr lvl="1"/>
            <a:r>
              <a:rPr dirty="0"/>
              <a:t>Idea</a:t>
            </a:r>
            <a:r>
              <a:rPr lang="en-US" dirty="0"/>
              <a:t>l</a:t>
            </a:r>
            <a:r>
              <a:rPr dirty="0"/>
              <a:t> if </a:t>
            </a:r>
            <a:r>
              <a:rPr b="1" dirty="0"/>
              <a:t>goal is inference and exploration</a:t>
            </a:r>
            <a:endParaRPr dirty="0"/>
          </a:p>
          <a:p>
            <a:pPr lvl="1"/>
            <a:r>
              <a:rPr dirty="0"/>
              <a:t>Can </a:t>
            </a:r>
            <a:r>
              <a:rPr b="1" dirty="0"/>
              <a:t>identify data problems</a:t>
            </a:r>
            <a:r>
              <a:rPr dirty="0"/>
              <a:t> more easily</a:t>
            </a:r>
          </a:p>
          <a:p>
            <a:pPr lvl="1"/>
            <a:r>
              <a:rPr dirty="0"/>
              <a:t>May have lower prediction accuracy on some problems</a:t>
            </a:r>
          </a:p>
          <a:p>
            <a:pPr lvl="0"/>
            <a:r>
              <a:rPr lang="en-US" dirty="0"/>
              <a:t>Gradient boosted</a:t>
            </a:r>
            <a:r>
              <a:rPr dirty="0"/>
              <a:t> algorithms are go-to models for prediction on </a:t>
            </a:r>
            <a:r>
              <a:rPr b="1" dirty="0"/>
              <a:t>tabular data</a:t>
            </a:r>
          </a:p>
          <a:p>
            <a:pPr lvl="1"/>
            <a:r>
              <a:rPr dirty="0"/>
              <a:t>Known to give superior predictions, </a:t>
            </a:r>
            <a:r>
              <a:rPr b="1" dirty="0"/>
              <a:t>but clean data matter more!</a:t>
            </a:r>
            <a:endParaRPr dirty="0"/>
          </a:p>
          <a:p>
            <a:pPr lvl="1"/>
            <a:r>
              <a:rPr dirty="0"/>
              <a:t>Interpretability is nearly impossible</a:t>
            </a:r>
          </a:p>
          <a:p>
            <a:pPr lvl="1"/>
            <a:r>
              <a:rPr dirty="0"/>
              <a:t>Limits inference and exploration opportunities</a:t>
            </a:r>
            <a:endParaRPr lang="en-US" dirty="0"/>
          </a:p>
          <a:p>
            <a:pPr lvl="1"/>
            <a:r>
              <a:rPr lang="en-US" dirty="0"/>
              <a:t>Can bootstrap! </a:t>
            </a:r>
          </a:p>
          <a:p>
            <a:r>
              <a:rPr lang="en-US" dirty="0"/>
              <a:t>Neural network models give superior performance for </a:t>
            </a:r>
            <a:r>
              <a:rPr lang="en-US" b="1" dirty="0"/>
              <a:t>unstructured data</a:t>
            </a:r>
            <a:r>
              <a:rPr lang="en-US" dirty="0"/>
              <a:t>, but are generally uninterpretable 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7920"/>
            <a:ext cx="8229600" cy="3456703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dirty="0"/>
              <a:t>In statistics, </a:t>
            </a:r>
            <a:r>
              <a:rPr b="1" dirty="0"/>
              <a:t>regression</a:t>
            </a:r>
            <a:r>
              <a:rPr dirty="0"/>
              <a:t> refers to a family of model</a:t>
            </a:r>
            <a:r>
              <a:rPr lang="en-US" dirty="0"/>
              <a:t>s</a:t>
            </a:r>
            <a:r>
              <a:rPr dirty="0"/>
              <a:t> that attempt to predict the value of</a:t>
            </a:r>
            <a:r>
              <a:rPr lang="en-US" dirty="0"/>
              <a:t> a</a:t>
            </a:r>
            <a:r>
              <a:rPr dirty="0"/>
              <a:t> numeric random variable</a:t>
            </a:r>
          </a:p>
          <a:p>
            <a:pPr lvl="0"/>
            <a:r>
              <a:rPr dirty="0"/>
              <a:t>Regression is a common form of a linear model</a:t>
            </a:r>
          </a:p>
          <a:p>
            <a:pPr lvl="0"/>
            <a:r>
              <a:rPr lang="en-US" dirty="0"/>
              <a:t>Linear models are</a:t>
            </a:r>
            <a:r>
              <a:rPr dirty="0"/>
              <a:t> a building block of many statistical and ML methods:</a:t>
            </a:r>
          </a:p>
          <a:p>
            <a:pPr lvl="1"/>
            <a:r>
              <a:rPr dirty="0"/>
              <a:t>multivariate regression and principal component</a:t>
            </a:r>
            <a:r>
              <a:rPr lang="en-US" dirty="0"/>
              <a:t>s</a:t>
            </a:r>
            <a:endParaRPr dirty="0"/>
          </a:p>
          <a:p>
            <a:pPr lvl="1"/>
            <a:r>
              <a:rPr dirty="0"/>
              <a:t>Analysis of variance (ANOVA)</a:t>
            </a:r>
          </a:p>
          <a:p>
            <a:pPr lvl="1"/>
            <a:r>
              <a:rPr dirty="0"/>
              <a:t>Polynomial regression</a:t>
            </a:r>
          </a:p>
          <a:p>
            <a:pPr lvl="1"/>
            <a:r>
              <a:rPr dirty="0"/>
              <a:t>Logistic regression for binary classification</a:t>
            </a:r>
          </a:p>
          <a:p>
            <a:pPr lvl="1"/>
            <a:r>
              <a:rPr dirty="0"/>
              <a:t>Poisson regression</a:t>
            </a:r>
            <a:r>
              <a:rPr lang="en-US" dirty="0"/>
              <a:t> and other non-Normal response models</a:t>
            </a:r>
            <a:endParaRPr dirty="0"/>
          </a:p>
          <a:p>
            <a:pPr lvl="1"/>
            <a:r>
              <a:rPr dirty="0"/>
              <a:t>M</a:t>
            </a:r>
            <a:r>
              <a:rPr lang="en-US" dirty="0"/>
              <a:t>any</a:t>
            </a:r>
            <a:r>
              <a:rPr dirty="0"/>
              <a:t> time series models</a:t>
            </a:r>
            <a:endParaRPr lang="en-US" dirty="0"/>
          </a:p>
          <a:p>
            <a:pPr lvl="1"/>
            <a:r>
              <a:rPr lang="en-US" dirty="0"/>
              <a:t>Survival models</a:t>
            </a:r>
          </a:p>
          <a:p>
            <a:pPr lvl="1"/>
            <a:r>
              <a:rPr lang="en-US" dirty="0"/>
              <a:t>Etc.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959343" cy="70961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Terminology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1548384"/>
            <a:ext cx="2651759" cy="23286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The confusing division in terminology arises from different communities within statistics and machine learning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633347"/>
              </p:ext>
            </p:extLst>
          </p:nvPr>
        </p:nvGraphicFramePr>
        <p:xfrm>
          <a:off x="3584448" y="1181038"/>
          <a:ext cx="5494528" cy="350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833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>
                          <a:solidFill>
                            <a:schemeClr val="tx1"/>
                          </a:solidFill>
                        </a:rPr>
                        <a:t>Machine Learning 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>
                          <a:solidFill>
                            <a:schemeClr val="tx1"/>
                          </a:solidFill>
                        </a:rPr>
                        <a:t>Statistical Terminology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8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Regression vs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000" dirty="0"/>
                        <a:t>Normal </a:t>
                      </a:r>
                      <a:r>
                        <a:rPr sz="2000" dirty="0"/>
                        <a:t>vs </a:t>
                      </a:r>
                      <a:r>
                        <a:rPr lang="en-US" sz="2000" dirty="0"/>
                        <a:t>non-Normal</a:t>
                      </a:r>
                      <a:r>
                        <a:rPr sz="2000" dirty="0"/>
                        <a:t>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5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Learning algorithm or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5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5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Trained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Fitted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15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Predictive modeling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34831" cy="551117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Terminology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83361"/>
            <a:ext cx="3338575" cy="192633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Different communities have created different terminology at different times for the variables in a machine learning models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01948" y="820928"/>
          <a:ext cx="5197348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8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69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>
                          <a:solidFill>
                            <a:schemeClr val="tx1"/>
                          </a:solidFill>
                        </a:rPr>
                        <a:t>Predicted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>
                          <a:solidFill>
                            <a:schemeClr val="tx1"/>
                          </a:solidFill>
                        </a:rPr>
                        <a:t>Variables Used to Predict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Independent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Endogenous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Exogenous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Predictor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Explanatory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Regressand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Regressors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/>
                        <a:t>Left Hand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2000" dirty="0"/>
                        <a:t>Right Hand 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510B8-43C0-E0EE-E81B-E3715AB78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Formulating the Linear Model</a:t>
            </a:r>
          </a:p>
        </p:txBody>
      </p:sp>
    </p:spTree>
    <p:extLst>
      <p:ext uri="{BB962C8B-B14F-4D97-AF65-F5344CB8AC3E}">
        <p14:creationId xmlns:p14="http://schemas.microsoft.com/office/powerpoint/2010/main" val="142001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Formulating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8317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The general formulation of a linear model can be written: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dirty="0"/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dirty="0"/>
                  <a:t> is the </a:t>
                </a:r>
                <a:r>
                  <a:rPr lang="en-US" b="1" dirty="0"/>
                  <a:t>n </a:t>
                </a:r>
                <a:r>
                  <a:rPr b="1" dirty="0"/>
                  <a:t>vector</a:t>
                </a:r>
                <a:r>
                  <a:rPr dirty="0"/>
                  <a:t> </a:t>
                </a:r>
                <a:r>
                  <a:rPr lang="en-US" dirty="0"/>
                  <a:t>or </a:t>
                </a:r>
                <a:r>
                  <a:rPr b="1" dirty="0"/>
                  <a:t>dependent variable </a:t>
                </a:r>
                <a:r>
                  <a:rPr dirty="0"/>
                  <a:t>or label we seek to predict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is the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 x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</a:t>
                </a:r>
                <a:r>
                  <a:rPr b="1" dirty="0"/>
                  <a:t>model matrix</a:t>
                </a:r>
                <a:r>
                  <a:rPr dirty="0"/>
                  <a:t> or </a:t>
                </a:r>
                <a:r>
                  <a:rPr b="1" dirty="0"/>
                  <a:t>design matrix</a:t>
                </a:r>
              </a:p>
              <a:p>
                <a:pPr lvl="1"/>
                <a:r>
                  <a:rPr dirty="0"/>
                  <a:t>Defines the structure of the model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columns </a:t>
                </a:r>
                <a:r>
                  <a:rPr lang="en-US" dirty="0"/>
                  <a:t>of </a:t>
                </a:r>
                <a:r>
                  <a:rPr lang="en-US" b="1" dirty="0"/>
                  <a:t>independent</a:t>
                </a:r>
                <a:r>
                  <a:rPr b="1" dirty="0"/>
                  <a:t> variables </a:t>
                </a:r>
                <a:r>
                  <a:rPr dirty="0"/>
                  <a:t>or features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 rows of </a:t>
                </a:r>
                <a:r>
                  <a:rPr b="1" dirty="0"/>
                  <a:t>training cases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83177"/>
              </a:xfrm>
              <a:blipFill>
                <a:blip r:embed="rId2"/>
                <a:stretch>
                  <a:fillRect l="-1111" t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Formulating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00151"/>
                <a:ext cx="8613281" cy="373737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general formulation of a linear model can be written: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nor/>
                      </m:rPr>
                      <a:rPr lang="ar-AE" i="0" dirty="0"/>
                      <m:t> </m:t>
                    </m:r>
                    <m:r>
                      <m:rPr>
                        <m:nor/>
                      </m:rPr>
                      <a:rPr lang="en-US" i="0" dirty="0"/>
                      <m:t>is the vector of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i="0" dirty="0"/>
                      <m:t> model coefficients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/>
                      <m:t>One coefficient for each predictor or feature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Response of model is linear WRT these coefficients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/>
                      <m:t>Model is fit by finding an optimal value for each coefficient</m:t>
                    </m:r>
                  </m:oMath>
                </a14:m>
                <a:endParaRPr lang="en-US" dirty="0"/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n vector representing the model residuals</a:t>
                </a:r>
              </a:p>
              <a:p>
                <a:pPr lvl="1"/>
                <a:r>
                  <a:rPr lang="en-US" dirty="0"/>
                  <a:t>Is </a:t>
                </a:r>
                <a:r>
                  <a:rPr lang="en-US" dirty="0" err="1"/>
                  <a:t>iid</a:t>
                </a:r>
                <a:r>
                  <a:rPr lang="en-US" dirty="0"/>
                  <a:t> Normally distributed homoscedastic with 0 mean;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Linear models have errors are only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Must use </a:t>
                </a:r>
                <a:r>
                  <a:rPr lang="en-US" dirty="0">
                    <a:hlinkClick r:id="rId2"/>
                  </a:rPr>
                  <a:t>total least squares method </a:t>
                </a:r>
                <a:r>
                  <a:rPr lang="en-US" dirty="0"/>
                  <a:t>if errors in 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Example: total least squares method commonly used for data with instrumentation or measurement error</a:t>
                </a:r>
              </a:p>
              <a:p>
                <a:pPr lvl="1"/>
                <a:endParaRPr lang="en-US" dirty="0"/>
              </a:p>
              <a:p>
                <a:pPr lvl="1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00151"/>
                <a:ext cx="8613281" cy="3737370"/>
              </a:xfrm>
              <a:blipFill>
                <a:blip r:embed="rId3"/>
                <a:stretch>
                  <a:fillRect l="-708" t="-2447" r="-778" b="-2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Formulating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92125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general formulation of a linear model can be written: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921257"/>
              </a:xfrm>
              <a:blipFill>
                <a:blip r:embed="rId2"/>
                <a:stretch>
                  <a:fillRect l="-1111" t="-5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172E5B8-265A-8F10-A02C-66087B17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664" y="2013267"/>
            <a:ext cx="5990336" cy="2976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2A90F6B-8E2F-23C7-9124-1ECE7FA21D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0096" y="2258330"/>
                <a:ext cx="3015488" cy="21795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287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145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the n vector representing the </a:t>
                </a:r>
                <a:r>
                  <a:rPr lang="en-US" b="1" dirty="0"/>
                  <a:t>model residuals</a:t>
                </a:r>
              </a:p>
              <a:p>
                <a:r>
                  <a:rPr lang="en-US" b="1" dirty="0"/>
                  <a:t>Errors are </a:t>
                </a:r>
                <a:r>
                  <a:rPr lang="en-US" b="1" dirty="0" err="1"/>
                  <a:t>iid</a:t>
                </a:r>
                <a:r>
                  <a:rPr lang="en-US" b="1" dirty="0"/>
                  <a:t> and homoscedastic in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not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2A90F6B-8E2F-23C7-9124-1ECE7FA2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96" y="2258330"/>
                <a:ext cx="3015488" cy="2179558"/>
              </a:xfrm>
              <a:prstGeom prst="rect">
                <a:avLst/>
              </a:prstGeom>
              <a:blipFill>
                <a:blip r:embed="rId4"/>
                <a:stretch>
                  <a:fillRect l="-2834" t="-5866" b="-4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3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Single Predictor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4005028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Consider a simple case of regression with a single predictor</a:t>
                </a:r>
              </a:p>
              <a:p>
                <a:pPr lvl="0"/>
                <a:r>
                  <a:rPr lang="en-US" dirty="0"/>
                  <a:t>Only two coefficients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) defining a straight line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𝑖𝑛𝑡𝑒𝑟𝑐𝑒𝑝𝑡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𝑠𝑙𝑜𝑝𝑒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Fit model such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acc>
                              <m:accPr>
                                <m:chr m:val="⃗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ar-A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func>
                  </m:oMath>
                </a14:m>
                <a:r>
                  <a:rPr lang="ar-AE" dirty="0"/>
                  <a:t> </a:t>
                </a:r>
                <a:r>
                  <a:rPr lang="en-US" dirty="0"/>
                  <a:t>, a </a:t>
                </a:r>
                <a:r>
                  <a:rPr lang="en-US" b="1" dirty="0"/>
                  <a:t>least squares solution</a:t>
                </a:r>
              </a:p>
              <a:p>
                <a:pPr lvl="1"/>
                <a:r>
                  <a:rPr lang="en-US" b="1" dirty="0"/>
                  <a:t>Minimize sum of squared error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the </a:t>
                </a:r>
                <a:r>
                  <a:rPr lang="en-US" b="1" dirty="0"/>
                  <a:t>intercept term</a:t>
                </a:r>
              </a:p>
              <a:p>
                <a:pPr lvl="1"/>
                <a:r>
                  <a:rPr lang="en-US" dirty="0"/>
                  <a:t>Intercept is value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mean</m:t>
                    </m:r>
                    <m:d>
                      <m:d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– a </a:t>
                </a:r>
                <a:r>
                  <a:rPr lang="en-US" b="1" dirty="0"/>
                  <a:t>zero-centered model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model </a:t>
                </a:r>
                <a:r>
                  <a:rPr lang="en-US" b="1" dirty="0"/>
                  <a:t>coefficient</a:t>
                </a:r>
                <a:r>
                  <a:rPr lang="en-US" dirty="0"/>
                  <a:t> for the predictor variable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slope coefficient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rate of change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change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4005028"/>
              </a:xfrm>
              <a:blipFill>
                <a:blip r:embed="rId2"/>
                <a:stretch>
                  <a:fillRect l="-741" t="-2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Single Predictor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7971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Consider a simple case of regression with a single predictor</a:t>
                </a:r>
              </a:p>
              <a:p>
                <a:pPr lvl="0"/>
                <a:r>
                  <a:rPr lang="en-US" dirty="0"/>
                  <a:t>Given a variable predictor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prediction,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has </a:t>
                </a:r>
                <a:r>
                  <a:rPr lang="en-US" b="1" dirty="0"/>
                  <a:t>expected value 0</a:t>
                </a:r>
                <a:r>
                  <a:rPr lang="en-US" dirty="0"/>
                  <a:t>, else the model would be </a:t>
                </a:r>
                <a:r>
                  <a:rPr lang="en-US" b="1" dirty="0"/>
                  <a:t>biased</a:t>
                </a:r>
                <a:endParaRPr lang="en-US" b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𝙴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constant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 </a:t>
                </a:r>
                <a:r>
                  <a:rPr lang="en-US" b="1" dirty="0"/>
                  <a:t>variance of the residuals is stationary</a:t>
                </a:r>
              </a:p>
              <a:p>
                <a:pPr lvl="1"/>
                <a:r>
                  <a:rPr lang="en-US" dirty="0"/>
                  <a:t>The error or residual is </a:t>
                </a:r>
                <a:r>
                  <a:rPr lang="en-US" b="1" dirty="0"/>
                  <a:t>homoscedastic 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79712"/>
              </a:xfrm>
              <a:blipFill>
                <a:blip r:embed="rId3"/>
                <a:stretch>
                  <a:fillRect l="-1111" t="-1325" r="-519" b="-2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3732784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2208"/>
                <a:ext cx="4765040" cy="4210304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Let’s start with a simulated data set with one predictor and one response variable</a:t>
                </a:r>
              </a:p>
              <a:p>
                <a:pPr lvl="0"/>
                <a:r>
                  <a:rPr dirty="0"/>
                  <a:t>The response variable,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 is linear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with additive random noise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Intercept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and slope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first 10 rows: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##           x         y
## 0  0.000000  1.951736
## 1  0.204082  0.627047
## 2  0.408163  3.025441
## 3  0.612245  1.112869
## 4  0.816327  5.225976
## 5  1.020408 -0.382646
## 6  1.224490  3.969339
## 7  1.428571  2.834755
## 8  1.632653  1.516411
## 9  1.836735  2.958745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2208"/>
                <a:ext cx="4765040" cy="4210304"/>
              </a:xfrm>
              <a:blipFill>
                <a:blip r:embed="rId2"/>
                <a:stretch>
                  <a:fillRect l="-512" t="-1158" r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E4F7C94-8425-8FEE-11D0-F255946A9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76" y="872236"/>
            <a:ext cx="3978240" cy="42103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Model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60393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How do we create the model matrix</a:t>
                </a:r>
                <a:r>
                  <a:rPr lang="en-US" dirty="0"/>
                  <a:t>?</a:t>
                </a:r>
                <a:endParaRPr dirty="0"/>
              </a:p>
              <a:p>
                <a:pPr lvl="0"/>
                <a:r>
                  <a:rPr dirty="0"/>
                  <a:t>Start with a data table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 samples with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dirty="0"/>
                  <a:t> columns</a:t>
                </a:r>
              </a:p>
              <a:p>
                <a:r>
                  <a:rPr dirty="0"/>
                  <a:t>First column is </a:t>
                </a:r>
                <a:r>
                  <a:rPr lang="en-US" dirty="0"/>
                  <a:t>independent or predictor</a:t>
                </a:r>
                <a:r>
                  <a:rPr dirty="0"/>
                  <a:t> variable</a:t>
                </a:r>
              </a:p>
              <a:p>
                <a:r>
                  <a:rPr dirty="0"/>
                  <a:t>Second column is the response variable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60393"/>
              </a:xfrm>
              <a:blipFill>
                <a:blip r:embed="rId2"/>
                <a:stretch>
                  <a:fillRect l="-1111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Model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The </a:t>
                </a:r>
                <a:r>
                  <a:rPr b="1" dirty="0"/>
                  <a:t>model matrix</a:t>
                </a:r>
                <a:r>
                  <a:rPr dirty="0"/>
                  <a:t> for this case, including the intercept term: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The column of 1’s define the </a:t>
                </a:r>
                <a:r>
                  <a:rPr b="1" dirty="0"/>
                  <a:t>intercept term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6618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Constructing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77494"/>
                <a:ext cx="8229600" cy="3660393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For the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dirty="0"/>
                  <a:t> data samples and the parameter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000" dirty="0"/>
                  <a:t> we can construct the entire 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⋮,⋮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sz="20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2000" dirty="0"/>
              </a:p>
              <a:p>
                <a:pPr marL="0" lvl="0" indent="0">
                  <a:buNone/>
                </a:pPr>
                <a:r>
                  <a:rPr sz="2000" dirty="0"/>
                  <a:t>For a single prediction: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2000" dirty="0"/>
              </a:p>
              <a:p>
                <a:pPr marL="0" lvl="0" indent="0">
                  <a:buNone/>
                </a:pPr>
                <a:r>
                  <a:rPr sz="2000" dirty="0"/>
                  <a:t>Or, in matrix notation: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sz="200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</m:oMath>
                  </m:oMathPara>
                </a14:m>
                <a:endParaRPr sz="2000" dirty="0"/>
              </a:p>
              <a:p>
                <a:pPr marL="0" lvl="0" indent="0">
                  <a:buNone/>
                </a:pPr>
                <a:r>
                  <a:rPr sz="2000" dirty="0"/>
                  <a:t>We are assuming that the </a:t>
                </a:r>
                <a:r>
                  <a:rPr sz="2000" b="1" dirty="0"/>
                  <a:t>error,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sz="2000" b="1" dirty="0"/>
                  <a:t>, is only attributable to the dependent variable</a:t>
                </a:r>
                <a:r>
                  <a:rPr sz="2000" dirty="0"/>
                  <a:t>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77494"/>
                <a:ext cx="8229600" cy="3660393"/>
              </a:xfrm>
              <a:blipFill>
                <a:blip r:embed="rId2"/>
                <a:stretch>
                  <a:fillRect l="-741" b="-19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B137-F8A0-7022-4EDB-F3F7AC173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78C12-C05F-2508-8E66-554B27DB8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Estimating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182796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How do we find the best </a:t>
                </a:r>
                <a:r>
                  <a:rPr lang="en-US" dirty="0"/>
                  <a:t>fit</a:t>
                </a:r>
                <a:r>
                  <a:rPr dirty="0"/>
                  <a:t> for the coefficients</a:t>
                </a:r>
              </a:p>
              <a:p>
                <a:pPr lvl="0"/>
                <a:r>
                  <a:rPr dirty="0"/>
                  <a:t>Need to minimize an </a:t>
                </a:r>
                <a:r>
                  <a:rPr b="1" dirty="0"/>
                  <a:t>error metric</a:t>
                </a:r>
              </a:p>
              <a:p>
                <a:pPr lvl="0"/>
                <a:r>
                  <a:rPr dirty="0"/>
                  <a:t>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dirty="0"/>
                  <a:t> by minimizing the </a:t>
                </a:r>
                <a:r>
                  <a:rPr b="1" dirty="0"/>
                  <a:t>sum of squared errors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sSubSup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</a:t>
                </a:r>
                <a:r>
                  <a:rPr dirty="0"/>
                  <a:t> is known as the </a:t>
                </a:r>
                <a:r>
                  <a:rPr b="1" dirty="0"/>
                  <a:t>least squares</a:t>
                </a:r>
                <a:r>
                  <a:rPr dirty="0"/>
                  <a:t> method</a:t>
                </a:r>
              </a:p>
              <a:p>
                <a:pPr lvl="0"/>
                <a:r>
                  <a:rPr dirty="0"/>
                  <a:t>Given training data, minimize the squared error between the prediction,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, and the observed response variable or label,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limLow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lim>
                      </m:limLow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,.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̂"/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lim>
                      </m:limLow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lim>
                      </m:limLow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dirty="0"/>
              </a:p>
              <a:p>
                <a:pPr marL="342900" lvl="1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,.</m:t>
                        </m:r>
                      </m:sub>
                    </m:sSub>
                  </m:oMath>
                </a14:m>
                <a:r>
                  <a:rPr dirty="0"/>
                  <a:t> is the </a:t>
                </a:r>
                <a:r>
                  <a:rPr dirty="0" err="1"/>
                  <a:t>ith</a:t>
                </a:r>
                <a:r>
                  <a:rPr dirty="0"/>
                  <a:t> row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74" b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We could try a naive solution: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dirty="0"/>
                  <a:t> is the </a:t>
                </a:r>
                <a:r>
                  <a:rPr b="1" dirty="0"/>
                  <a:t>matrix inverse</a:t>
                </a:r>
                <a:r>
                  <a:rPr dirty="0"/>
                  <a:t>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dirty="0"/>
              </a:p>
              <a:p>
                <a:pPr lvl="0"/>
                <a:r>
                  <a:rPr lang="en-US" dirty="0"/>
                  <a:t>This cannot work!</a:t>
                </a:r>
                <a:endParaRPr b="1" dirty="0"/>
              </a:p>
              <a:p>
                <a:pPr lvl="0"/>
                <a:r>
                  <a:rPr dirty="0"/>
                  <a:t>Direct matrix inverse algorithm has complexity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dirty="0"/>
                  <a:t>, so inefficient</a:t>
                </a:r>
                <a:endParaRPr lang="en-US" dirty="0"/>
              </a:p>
              <a:p>
                <a:pPr lvl="0"/>
                <a:r>
                  <a:rPr lang="en-US" dirty="0"/>
                  <a:t>Direct matrix inversion only works for square matrix  </a:t>
                </a:r>
                <a:endParaRPr dirty="0"/>
              </a:p>
              <a:p>
                <a:pPr lvl="0"/>
                <a:r>
                  <a:rPr dirty="0"/>
                  <a:t>There is no guarantee the inverse exists</a:t>
                </a:r>
              </a:p>
              <a:p>
                <a:pPr lvl="1"/>
                <a:r>
                  <a:rPr dirty="0"/>
                  <a:t>The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features can be colinear</a:t>
                </a:r>
                <a:endParaRPr lang="en-US" dirty="0"/>
              </a:p>
              <a:p>
                <a:pPr lvl="1"/>
                <a:r>
                  <a:rPr lang="en-US" dirty="0"/>
                  <a:t>We will address </a:t>
                </a:r>
                <a:r>
                  <a:rPr lang="en-US" b="1" dirty="0"/>
                  <a:t>regularization methods </a:t>
                </a:r>
                <a:r>
                  <a:rPr lang="en-US" dirty="0"/>
                  <a:t>in another lesson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334" r="-519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dirty="0"/>
                  <a:t>We can use the </a:t>
                </a:r>
                <a:r>
                  <a:rPr lang="en-US" b="1" dirty="0"/>
                  <a:t>Normal equations</a:t>
                </a:r>
              </a:p>
              <a:p>
                <a:pPr lvl="0"/>
                <a:r>
                  <a:rPr lang="en-US" dirty="0"/>
                  <a:t>Start with the problem: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acc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set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Taking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we arrive at the normal equations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We can use the </a:t>
                </a:r>
                <a:r>
                  <a:rPr b="1" dirty="0"/>
                  <a:t>Normal equations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b="1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is the </a:t>
                </a:r>
                <a:r>
                  <a:rPr b="1" dirty="0"/>
                  <a:t>covariance matrix</a:t>
                </a:r>
                <a:r>
                  <a:rPr dirty="0"/>
                  <a:t> for the data set</a:t>
                </a:r>
              </a:p>
              <a:p>
                <a:pPr lvl="1"/>
                <a:r>
                  <a:rPr dirty="0"/>
                  <a:t>Is dimension only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x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dirty="0"/>
              </a:p>
              <a:p>
                <a:pPr lvl="1"/>
                <a:r>
                  <a:rPr dirty="0"/>
                  <a:t>For single predictor</a:t>
                </a:r>
                <a:r>
                  <a:rPr lang="en-US" dirty="0"/>
                  <a:t> and intercept</a:t>
                </a:r>
                <a:r>
                  <a:rPr dirty="0"/>
                  <a:t> model this is just dimension 2x2</a:t>
                </a:r>
              </a:p>
              <a:p>
                <a:pPr lvl="1"/>
                <a:r>
                  <a:rPr dirty="0"/>
                  <a:t>Much easier to take inverse</a:t>
                </a:r>
                <a:r>
                  <a:rPr lang="en-US" dirty="0"/>
                  <a:t>, if the inverse exists! </a:t>
                </a:r>
                <a:endParaRPr dirty="0"/>
              </a:p>
              <a:p>
                <a:pPr lvl="1"/>
                <a:r>
                  <a:rPr dirty="0"/>
                  <a:t>But poor scaling for large-scale problems,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&gt;1,000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84357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084414"/>
                <a:ext cx="8378937" cy="4025198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1600" dirty="0"/>
                  <a:t>What is the relationship between the normal equations, </a:t>
                </a:r>
                <a:r>
                  <a:rPr lang="en-US" sz="1600" b="1" dirty="0"/>
                  <a:t>least squares and maximum likelihood</a:t>
                </a:r>
                <a:r>
                  <a:rPr lang="en-US" sz="1600" dirty="0"/>
                  <a:t>?</a:t>
                </a:r>
              </a:p>
              <a:p>
                <a:pPr lvl="0"/>
                <a:r>
                  <a:rPr lang="en-US" sz="1600" dirty="0"/>
                  <a:t>First consider how the </a:t>
                </a:r>
                <a:r>
                  <a:rPr lang="en-US" sz="1600" b="1" dirty="0"/>
                  <a:t>Normal likelihood </a:t>
                </a:r>
                <a:r>
                  <a:rPr lang="en-US" sz="1600" dirty="0"/>
                  <a:t>can be written in terms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/>
                  <a:t> model parameter vector,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 sz="16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600" dirty="0"/>
                  <a:t>,</a:t>
                </a:r>
                <a:r>
                  <a:rPr lang="ar-AE" sz="1600" dirty="0"/>
                  <a:t> </a:t>
                </a:r>
                <a:r>
                  <a:rPr lang="en-US" sz="1600" dirty="0"/>
                  <a:t>with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feature vectors of observations,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ar-AE" sz="16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:r>
                  <a:rPr lang="ar-AE" sz="1600" dirty="0"/>
                  <a:t> </a:t>
                </a:r>
                <a:r>
                  <a:rPr lang="en-US" sz="1600" dirty="0"/>
                  <a:t>and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/>
                  <a:t> responses,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ar-AE" sz="160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acc>
                            <m:accPr>
                              <m:chr m:val="⃗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1600" dirty="0"/>
              </a:p>
              <a:p>
                <a:pPr lvl="0"/>
                <a:r>
                  <a:rPr lang="en-US" sz="1600" dirty="0"/>
                  <a:t>The log-likelihood is then: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600">
                          <a:latin typeface="Cambria Math" panose="02040503050406030204" pitchFamily="18" charset="0"/>
                        </a:rPr>
                        <m:t>𝓁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acc>
                            <m:accPr>
                              <m:chr m:val="⃗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1600" dirty="0"/>
              </a:p>
              <a:p>
                <a:pPr lvl="0"/>
                <a:r>
                  <a:rPr lang="en-US" sz="1600" dirty="0"/>
                  <a:t>For a fixed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600" dirty="0"/>
                  <a:t> </a:t>
                </a:r>
                <a:r>
                  <a:rPr lang="en-US" sz="1600" dirty="0"/>
                  <a:t>one can see that the </a:t>
                </a:r>
                <a:r>
                  <a:rPr lang="en-US" sz="1600" b="1" dirty="0"/>
                  <a:t>log-likelihood is maximized by minimizing the squared error: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600">
                          <a:latin typeface="Cambria Math" panose="02040503050406030204" pitchFamily="18" charset="0"/>
                        </a:rPr>
                        <m:t>𝑆𝑆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ar-AE" sz="16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⃗"/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sSup>
                        <m:sSupPr>
                          <m:ctrlPr>
                            <a:rPr lang="ar-AE" sz="16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6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084414"/>
                <a:ext cx="8378937" cy="4025198"/>
              </a:xfrm>
              <a:blipFill>
                <a:blip r:embed="rId2"/>
                <a:stretch>
                  <a:fillRect l="-364" t="-455" r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Minimize sum of square errors to maximize log-likelihood</a:t>
                </a:r>
              </a:p>
              <a:p>
                <a:pPr lvl="0"/>
                <a:r>
                  <a:rPr dirty="0"/>
                  <a:t>Set the first derivative of sum of square errors to zero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𝑆𝑆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  <a:p>
                <a:pPr marL="342900" lvl="1" indent="0">
                  <a:buNone/>
                </a:pPr>
                <a:r>
                  <a:rPr dirty="0"/>
                  <a:t>Or, in matrix form: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Solving the above leads to the </a:t>
                </a:r>
                <a:r>
                  <a:rPr b="1" dirty="0"/>
                  <a:t>normal equations: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b="1" dirty="0"/>
              </a:p>
              <a:p>
                <a:pPr lvl="0"/>
                <a:r>
                  <a:rPr dirty="0"/>
                  <a:t>But still need to compute inverse of covariance matrix,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Estimating the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07872"/>
                <a:ext cx="8229600" cy="3840480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Are there more scalable ways to solve the least squares problems?</a:t>
                </a:r>
              </a:p>
              <a:p>
                <a:pPr lvl="0"/>
                <a:r>
                  <a:rPr dirty="0"/>
                  <a:t>Inverting the covariance matrix is a big improvement over a naive approach, </a:t>
                </a:r>
                <a:r>
                  <a:rPr lang="en-US" dirty="0"/>
                  <a:t>but requires </a:t>
                </a:r>
                <a:r>
                  <a:rPr dirty="0"/>
                  <a:t>taking a large matrix inverse at scale.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&gt;1,000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Can we solve the least squares problem in a more computationally efficient way?</a:t>
                </a:r>
              </a:p>
              <a:p>
                <a:pPr lvl="0"/>
                <a:r>
                  <a:rPr dirty="0"/>
                  <a:t>Start with the linear equations for maximum likelihood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⃗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Eliminate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dirty="0"/>
                  <a:t> from both sides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can find the minimum of this linear system with an efficient solver</a:t>
                </a:r>
              </a:p>
              <a:p>
                <a:pPr lvl="1"/>
                <a:r>
                  <a:rPr b="1" dirty="0"/>
                  <a:t>Stochastic Gradient Descent (SGD)</a:t>
                </a:r>
                <a:r>
                  <a:rPr dirty="0"/>
                  <a:t> and its relatives</a:t>
                </a:r>
              </a:p>
              <a:p>
                <a:pPr lvl="1"/>
                <a:r>
                  <a:rPr dirty="0"/>
                  <a:t>Quasi-Newton methods like </a:t>
                </a:r>
                <a:r>
                  <a:rPr b="1" dirty="0"/>
                  <a:t>L-BFGS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07872"/>
                <a:ext cx="8229600" cy="3840480"/>
              </a:xfrm>
              <a:blipFill>
                <a:blip r:embed="rId2"/>
                <a:stretch>
                  <a:fillRect l="-741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11C73-D24C-1499-0E79-1C3FF82F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33361-C254-A356-7B12-74FA1FE09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Specifying Linear Models</a:t>
            </a:r>
          </a:p>
        </p:txBody>
      </p:sp>
    </p:spTree>
    <p:extLst>
      <p:ext uri="{BB962C8B-B14F-4D97-AF65-F5344CB8AC3E}">
        <p14:creationId xmlns:p14="http://schemas.microsoft.com/office/powerpoint/2010/main" val="2529536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- Specifying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83177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How do we specify the model formula with </a:t>
                </a:r>
                <a:r>
                  <a:rPr lang="en-US" dirty="0" err="1"/>
                  <a:t>statsmodels</a:t>
                </a:r>
                <a:r>
                  <a:rPr lang="en-US" dirty="0"/>
                  <a:t>?</a:t>
                </a:r>
              </a:p>
              <a:p>
                <a:pPr lvl="0"/>
                <a:r>
                  <a:rPr lang="en-US" dirty="0"/>
                  <a:t>Use the S/R style model formula developed by </a:t>
                </a:r>
                <a:r>
                  <a:rPr lang="en-US" dirty="0">
                    <a:hlinkClick r:id="rId2"/>
                  </a:rPr>
                  <a:t>Chambers and Hastie; Statistical Models in S (1992)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Uses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dirty="0"/>
                  <a:t> operator to mean *modeled by**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𝑑𝑒𝑝𝑒𝑛𝑑𝑒𝑛𝑡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𝑖𝑛𝑑𝑒𝑝𝑒𝑛𝑒𝑛𝑡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𝑣𝑎𝑟𝑖𝑎𝑏𝑙𝑒𝑠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Example; dependent variable (dv) modeled by two independent variables (var1 and var2):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Example; dependent variable (dv) modeled by independent variables (var1) and its square, uses the ‘literal’ operator,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to wrap a function: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1∗∗2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83177"/>
              </a:xfrm>
              <a:blipFill>
                <a:blip r:embed="rId3"/>
                <a:stretch>
                  <a:fillRect l="-741" t="-1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3200" dirty="0">
                <a:latin typeface="+mn-lt"/>
              </a:rPr>
              <a:t>Example - Specifying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39447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200" dirty="0"/>
                  <a:t>How do we specify the model formula with </a:t>
                </a:r>
                <a:r>
                  <a:rPr lang="en-US" sz="2200" dirty="0" err="1"/>
                  <a:t>statsmodels</a:t>
                </a:r>
                <a:r>
                  <a:rPr lang="en-US" sz="2200" dirty="0"/>
                  <a:t>?</a:t>
                </a:r>
              </a:p>
              <a:p>
                <a:pPr lvl="0"/>
                <a:r>
                  <a:rPr lang="en-US" sz="2200" dirty="0"/>
                  <a:t>Example; dependent variable (dv) is modeled by two independent variables (var1 and var2) and the </a:t>
                </a:r>
                <a:r>
                  <a:rPr lang="en-US" sz="2200" b="1" dirty="0"/>
                  <a:t>interaction term</a:t>
                </a:r>
                <a:r>
                  <a:rPr lang="en-US" sz="2200" dirty="0"/>
                  <a:t> with </a:t>
                </a:r>
                <a:r>
                  <a:rPr lang="en-US" sz="2200" b="1" dirty="0"/>
                  <a:t>no intercept </a:t>
                </a:r>
                <a:r>
                  <a:rPr lang="en-US" sz="2200" dirty="0"/>
                  <a:t>term: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0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∼−1+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2↔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∼−1+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1: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  <a:p>
                <a:pPr marL="685800" lvl="2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indicates </a:t>
                </a:r>
                <a:r>
                  <a:rPr lang="en-US" sz="2000" b="1" dirty="0"/>
                  <a:t>removes the intercept term </a:t>
                </a:r>
              </a:p>
              <a:p>
                <a:pPr lvl="0"/>
                <a:r>
                  <a:rPr lang="en-US" sz="2200" dirty="0"/>
                  <a:t>Example; dependent variable (dv) modeled by independent numeric variable (var1) and a categorical variable (var2):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20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394472"/>
              </a:xfrm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41C9-EB4B-ACC4-6CBA-0CA835CC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5BC1-316C-C917-8F48-E11557E4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5979"/>
            <a:ext cx="8370917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Example</a:t>
            </a:r>
            <a:r>
              <a:rPr lang="en-US" dirty="0"/>
              <a:t> – Fitting the 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40EC57-4118-3BEF-2935-116990CA41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2208"/>
                <a:ext cx="4765040" cy="4210304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Let’s start with a simulated data set with one predictor and one response variable</a:t>
                </a:r>
              </a:p>
              <a:p>
                <a:pPr lvl="0"/>
                <a:r>
                  <a:rPr dirty="0"/>
                  <a:t>The response variable,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 is linear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with additive random noise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endParaRPr dirty="0"/>
              </a:p>
              <a:p>
                <a:pPr lvl="0"/>
                <a:r>
                  <a:rPr dirty="0"/>
                  <a:t>Intercept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and slope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The first 10 rows:</a:t>
                </a:r>
              </a:p>
              <a:p>
                <a:pPr lvl="0" indent="0">
                  <a:buNone/>
                </a:pPr>
                <a:r>
                  <a:rPr dirty="0">
                    <a:latin typeface="Courier"/>
                  </a:rPr>
                  <a:t>##           x         y
## 0  0.000000  1.951736
## 1  0.204082  0.627047
## 2  0.408163  3.025441
## 3  0.612245  1.112869
## 4  0.816327  5.225976
## 5  1.020408 -0.382646
## 6  1.224490  3.969339
## 7  1.428571  2.834755
## 8  1.632653  1.516411
## 9  1.836735  2.958745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2208"/>
                <a:ext cx="4765040" cy="4210304"/>
              </a:xfrm>
              <a:blipFill>
                <a:blip r:embed="rId2"/>
                <a:stretch>
                  <a:fillRect l="-512" t="-1158" r="-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D827BE4-A290-4BF3-55A6-BA446C41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76" y="872236"/>
            <a:ext cx="3978240" cy="421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66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042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dirty="0">
                <a:latin typeface="+mn-lt"/>
              </a:rPr>
              <a:t>Example - Fitting </a:t>
            </a:r>
            <a:r>
              <a:rPr lang="en-US" sz="3200" dirty="0">
                <a:latin typeface="+mn-lt"/>
              </a:rPr>
              <a:t>the</a:t>
            </a:r>
            <a:r>
              <a:rPr sz="3200" dirty="0">
                <a:latin typeface="+mn-lt"/>
              </a:rPr>
              <a:t>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9009"/>
            <a:ext cx="8229600" cy="3952660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Fit the model using </a:t>
            </a:r>
            <a:r>
              <a:rPr dirty="0" err="1"/>
              <a:t>statsmodels.formula.api.ols</a:t>
            </a:r>
            <a:r>
              <a:rPr dirty="0"/>
              <a:t> with </a:t>
            </a:r>
            <a:r>
              <a:rPr b="1" dirty="0"/>
              <a:t>centered independent variable</a:t>
            </a:r>
            <a:r>
              <a:rPr dirty="0"/>
              <a:t> to create a linear model object</a:t>
            </a:r>
          </a:p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## Center the independent variable   </a:t>
            </a:r>
            <a:br>
              <a:rPr dirty="0"/>
            </a:br>
            <a:r>
              <a:rPr dirty="0" err="1">
                <a:latin typeface="Courier"/>
              </a:rPr>
              <a:t>sim_data.loc</a:t>
            </a:r>
            <a:r>
              <a:rPr dirty="0">
                <a:latin typeface="Courier"/>
              </a:rPr>
              <a:t>[:,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x_centered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np.subtract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sim_data.x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np.mean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sim_data.x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## Define the regression model and fit it to the data</a:t>
            </a:r>
            <a:br>
              <a:rPr dirty="0"/>
            </a:br>
            <a:r>
              <a:rPr dirty="0" err="1">
                <a:latin typeface="Courier"/>
              </a:rPr>
              <a:t>ols_model_centered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(formula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'y ~ </a:t>
            </a:r>
            <a:r>
              <a:rPr dirty="0" err="1">
                <a:solidFill>
                  <a:srgbClr val="4070A0"/>
                </a:solidFill>
                <a:latin typeface="Courier"/>
              </a:rPr>
              <a:t>x_centered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,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 err="1">
                <a:latin typeface="Courier"/>
              </a:rPr>
              <a:t>sim_data</a:t>
            </a:r>
            <a:r>
              <a:rPr dirty="0">
                <a:latin typeface="Courier"/>
              </a:rPr>
              <a:t>).fit()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## Print the model coefficient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'Intercept = %4.3f  Slope = %4.3f'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%</a:t>
            </a:r>
            <a:r>
              <a:rPr dirty="0">
                <a:latin typeface="Courier"/>
              </a:rPr>
              <a:t> (ols_model_centered._</a:t>
            </a:r>
            <a:r>
              <a:rPr dirty="0" err="1">
                <a:latin typeface="Courier"/>
              </a:rPr>
              <a:t>results.params</a:t>
            </a:r>
            <a:r>
              <a:rPr dirty="0">
                <a:latin typeface="Courier"/>
              </a:rPr>
              <a:t>[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], ols_model_centered._</a:t>
            </a:r>
            <a:r>
              <a:rPr dirty="0" err="1">
                <a:latin typeface="Courier"/>
              </a:rPr>
              <a:t>results.params</a:t>
            </a:r>
            <a:r>
              <a:rPr dirty="0">
                <a:latin typeface="Courier"/>
              </a:rPr>
              <a:t>[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]))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Intercept = 6.022  Slope = 0.882</a:t>
            </a:r>
          </a:p>
          <a:p>
            <a:pPr lvl="0"/>
            <a:r>
              <a:rPr dirty="0"/>
              <a:t>We can now interpret this model</a:t>
            </a:r>
            <a:r>
              <a:rPr lang="en-US" dirty="0"/>
              <a:t>?</a:t>
            </a:r>
            <a:endParaRPr dirty="0"/>
          </a:p>
          <a:p>
            <a:pPr lvl="1"/>
            <a:r>
              <a:rPr dirty="0"/>
              <a:t>Intercept is the mean of the dependent variable</a:t>
            </a:r>
          </a:p>
          <a:p>
            <a:pPr lvl="1"/>
            <a:r>
              <a:rPr dirty="0"/>
              <a:t>Slope is the rate of change of the dependent variable for unit change in independent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95564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D0AA-C9F1-C3D8-8D19-2B7E3DEB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7FB9C-927C-97C5-9EE2-25B79CAA1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Interpretation of Linear Models</a:t>
            </a:r>
          </a:p>
        </p:txBody>
      </p:sp>
    </p:spTree>
    <p:extLst>
      <p:ext uri="{BB962C8B-B14F-4D97-AF65-F5344CB8AC3E}">
        <p14:creationId xmlns:p14="http://schemas.microsoft.com/office/powerpoint/2010/main" val="1100674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B36A-F15B-AC61-9D6C-37244A60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35DE-1B74-3151-1C4C-47D99E02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042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dirty="0">
                <a:latin typeface="+mn-lt"/>
              </a:rPr>
              <a:t>Example - </a:t>
            </a:r>
            <a:r>
              <a:rPr lang="en-US" sz="3200" dirty="0">
                <a:latin typeface="+mn-lt"/>
              </a:rPr>
              <a:t>Interpreting</a:t>
            </a:r>
            <a:r>
              <a:rPr sz="3200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the</a:t>
            </a:r>
            <a:r>
              <a:rPr sz="3200" dirty="0">
                <a:latin typeface="+mn-lt"/>
              </a:rPr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1EAE1-4B0F-0E53-B892-7F7A9D36A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0244"/>
                <a:ext cx="8229600" cy="4131425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Why do we want to zero-center the independent variables? </a:t>
                </a:r>
              </a:p>
              <a:p>
                <a:pPr lvl="0"/>
                <a:r>
                  <a:rPr lang="en-US" dirty="0"/>
                  <a:t>Intercept is value of dependent variable at point independent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With zero-centered independent variable can interpret model</a:t>
                </a:r>
              </a:p>
              <a:p>
                <a:pPr lvl="1"/>
                <a:r>
                  <a:rPr lang="en-US" dirty="0"/>
                  <a:t>Intercept is the mean of the dependent variable</a:t>
                </a:r>
              </a:p>
              <a:p>
                <a:pPr lvl="1"/>
                <a:r>
                  <a:rPr lang="en-US" dirty="0"/>
                  <a:t>Slope is the rate of change of the dependent variable for unit change in independent variable</a:t>
                </a:r>
              </a:p>
              <a:p>
                <a:pPr lvl="0"/>
                <a:r>
                  <a:rPr lang="en-US" dirty="0"/>
                  <a:t>If independent variable is not zero-centered interpretation is difficult</a:t>
                </a:r>
              </a:p>
              <a:p>
                <a:pPr lvl="1"/>
                <a:r>
                  <a:rPr lang="en-US" dirty="0"/>
                  <a:t>May not even be in defined range of independent variable</a:t>
                </a:r>
              </a:p>
              <a:p>
                <a:pPr lvl="1"/>
                <a:r>
                  <a:rPr lang="en-US" dirty="0"/>
                  <a:t>e.g. How can we interpret a negative life expectancy?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1EAE1-4B0F-0E53-B892-7F7A9D36A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0244"/>
                <a:ext cx="8229600" cy="4131425"/>
              </a:xfrm>
              <a:blipFill>
                <a:blip r:embed="rId2"/>
                <a:stretch>
                  <a:fillRect l="-1111" t="-2065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85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08_IntroductionToLinearModels_files/figure-pptx/unnamed-chunk-13-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6050" y="992515"/>
            <a:ext cx="4617950" cy="384829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006D32C3-B15F-0A0E-6307-C7D923CF6D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753" y="1171719"/>
                <a:ext cx="4198387" cy="36690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342900" rtl="0" eaLnBrk="1" latinLnBrk="0" hangingPunct="1">
                  <a:spcBef>
                    <a:spcPct val="20000"/>
                  </a:spcBef>
                  <a:buFont typeface="Arial"/>
                  <a:buNone/>
                  <a:defRPr sz="67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Plot the regression line against the </a:t>
                </a:r>
                <a:r>
                  <a:rPr lang="en-US" sz="2000" b="1" dirty="0"/>
                  <a:t>centered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Intercept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=6.02</m:t>
                    </m:r>
                  </m:oMath>
                </a14:m>
                <a:r>
                  <a:rPr lang="en-US" sz="2000" dirty="0"/>
                  <a:t>, the mean of </a:t>
                </a:r>
                <a:r>
                  <a:rPr lang="en-US" sz="2000" i="1" dirty="0"/>
                  <a:t>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Slope = 0.882 is the </a:t>
                </a:r>
                <a:r>
                  <a:rPr lang="en-US" sz="2000" b="1" dirty="0"/>
                  <a:t>effect size</a:t>
                </a:r>
                <a:r>
                  <a:rPr lang="en-US" sz="2000" dirty="0"/>
                  <a:t>, or sensitivity of the response to a change in the independent variable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 change of 1 unit of x causes a change of 0.882 units in y in the scaled coordinates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looks like a good fit, but how good is it really?</a:t>
                </a: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006D32C3-B15F-0A0E-6307-C7D923CF6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53" y="1171719"/>
                <a:ext cx="4198387" cy="3669087"/>
              </a:xfrm>
              <a:prstGeom prst="rect">
                <a:avLst/>
              </a:prstGeom>
              <a:blipFill>
                <a:blip r:embed="rId3"/>
                <a:stretch>
                  <a:fillRect l="-1451" t="-1661" r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5BAC176D-97A2-C9BD-8C07-D57E07F1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04787"/>
            <a:ext cx="7450750" cy="685229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Example </a:t>
            </a:r>
            <a:r>
              <a:rPr lang="en-US" sz="3200" b="0" dirty="0"/>
              <a:t>–</a:t>
            </a:r>
            <a:r>
              <a:rPr sz="3200" b="0" dirty="0"/>
              <a:t> </a:t>
            </a:r>
            <a:r>
              <a:rPr lang="en-US" sz="3200" b="0" dirty="0"/>
              <a:t>Interpreting the Model</a:t>
            </a:r>
            <a:endParaRPr sz="3200" b="0" dirty="0"/>
          </a:p>
        </p:txBody>
      </p:sp>
    </p:spTree>
    <p:extLst>
      <p:ext uri="{BB962C8B-B14F-4D97-AF65-F5344CB8AC3E}">
        <p14:creationId xmlns:p14="http://schemas.microsoft.com/office/powerpoint/2010/main" val="292435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929B-B6D5-F7F3-90EF-E4F91B8B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618C1-AB20-FD2E-8D71-E81CEE9F9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Evaluating Linear Models</a:t>
            </a:r>
          </a:p>
        </p:txBody>
      </p:sp>
    </p:spTree>
    <p:extLst>
      <p:ext uri="{BB962C8B-B14F-4D97-AF65-F5344CB8AC3E}">
        <p14:creationId xmlns:p14="http://schemas.microsoft.com/office/powerpoint/2010/main" val="2132420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2979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When evaluating </a:t>
            </a:r>
            <a:r>
              <a:rPr b="1" dirty="0"/>
              <a:t>any </a:t>
            </a:r>
            <a:r>
              <a:rPr lang="en-US" b="1" dirty="0"/>
              <a:t>statistical or machine learning </a:t>
            </a:r>
            <a:r>
              <a:rPr b="1" dirty="0"/>
              <a:t>model consider all evaluation methods available</a:t>
            </a:r>
          </a:p>
          <a:p>
            <a:pPr lvl="0"/>
            <a:r>
              <a:rPr dirty="0"/>
              <a:t>No one method is most important all of the time</a:t>
            </a:r>
          </a:p>
          <a:p>
            <a:pPr lvl="0"/>
            <a:r>
              <a:rPr b="1" dirty="0"/>
              <a:t>Different methods highlight different </a:t>
            </a:r>
            <a:r>
              <a:rPr lang="en-US" b="1" dirty="0"/>
              <a:t>aspects</a:t>
            </a:r>
            <a:r>
              <a:rPr dirty="0"/>
              <a:t> </a:t>
            </a:r>
            <a:r>
              <a:rPr lang="en-US" dirty="0"/>
              <a:t>of</a:t>
            </a:r>
            <a:r>
              <a:rPr dirty="0"/>
              <a:t> model</a:t>
            </a:r>
            <a:r>
              <a:rPr lang="en-US" dirty="0"/>
              <a:t> performance</a:t>
            </a:r>
            <a:endParaRPr dirty="0"/>
          </a:p>
          <a:p>
            <a:pPr lvl="0"/>
            <a:r>
              <a:rPr dirty="0">
                <a:solidFill>
                  <a:srgbClr val="C00000"/>
                </a:solidFill>
              </a:rPr>
              <a:t>Don’t forget to check that the </a:t>
            </a:r>
            <a:r>
              <a:rPr b="1" dirty="0">
                <a:solidFill>
                  <a:srgbClr val="C00000"/>
                </a:solidFill>
              </a:rPr>
              <a:t>model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b="1" dirty="0">
                <a:solidFill>
                  <a:srgbClr val="C00000"/>
                </a:solidFill>
              </a:rPr>
              <a:t>make</a:t>
            </a:r>
            <a:r>
              <a:rPr lang="en-US" b="1" dirty="0">
                <a:solidFill>
                  <a:srgbClr val="C00000"/>
                </a:solidFill>
              </a:rPr>
              <a:t>s</a:t>
            </a:r>
            <a:r>
              <a:rPr b="1" dirty="0">
                <a:solidFill>
                  <a:srgbClr val="C00000"/>
                </a:solidFill>
              </a:rPr>
              <a:t> sense</a:t>
            </a:r>
            <a:r>
              <a:rPr lang="en-US" b="1" dirty="0">
                <a:solidFill>
                  <a:srgbClr val="C00000"/>
                </a:solidFill>
              </a:rPr>
              <a:t>s</a:t>
            </a:r>
            <a:r>
              <a:rPr dirty="0">
                <a:solidFill>
                  <a:srgbClr val="C00000"/>
                </a:solidFill>
              </a:rPr>
              <a:t> for your application!</a:t>
            </a:r>
            <a:endParaRPr lang="en-US" dirty="0">
              <a:solidFill>
                <a:srgbClr val="C00000"/>
              </a:solidFill>
            </a:endParaRPr>
          </a:p>
          <a:p>
            <a:pPr lvl="0"/>
            <a:r>
              <a:rPr lang="en-US" b="1" dirty="0"/>
              <a:t>Methods discussed here are applicable to any regression model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1338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7781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0064"/>
                <a:ext cx="8229600" cy="391745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Evaluation of regression models focuses on the residuals or errors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 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Residuals should be Normally distributed with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 mean and constant variance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0064"/>
                <a:ext cx="8229600" cy="3917457"/>
              </a:xfrm>
              <a:blipFill>
                <a:blip r:embed="rId2"/>
                <a:stretch>
                  <a:fillRect l="-1111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88C9-7D3A-DAE3-2487-2B7F99EE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79C3-5642-9B15-79CC-CB69E23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67781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5F6D-E3FF-F41F-E4A9-D2093C212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0064"/>
            <a:ext cx="8229600" cy="3917457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dirty="0"/>
              <a:t>Residual evaluation is important for </a:t>
            </a:r>
            <a:r>
              <a:rPr lang="en-US" b="1" dirty="0"/>
              <a:t>any machine learning regression model!</a:t>
            </a:r>
            <a:endParaRPr b="1" dirty="0"/>
          </a:p>
          <a:p>
            <a:pPr lvl="0"/>
            <a:r>
              <a:rPr lang="en-US" dirty="0"/>
              <a:t>Good model fit requires the</a:t>
            </a:r>
            <a:r>
              <a:rPr dirty="0"/>
              <a:t> residuals </a:t>
            </a:r>
            <a:r>
              <a:rPr lang="en-US" dirty="0"/>
              <a:t>to</a:t>
            </a:r>
            <a:r>
              <a:rPr dirty="0"/>
              <a:t> be </a:t>
            </a:r>
            <a:r>
              <a:rPr b="1" dirty="0"/>
              <a:t>homoscedastic</a:t>
            </a:r>
            <a:r>
              <a:rPr dirty="0"/>
              <a:t> with respect to the fitted values</a:t>
            </a:r>
          </a:p>
          <a:p>
            <a:pPr lvl="1"/>
            <a:r>
              <a:rPr dirty="0"/>
              <a:t>Homoscedastic residuals have constant variance </a:t>
            </a:r>
            <a:r>
              <a:rPr lang="en-US" dirty="0"/>
              <a:t>WRT the</a:t>
            </a:r>
            <a:r>
              <a:rPr dirty="0"/>
              <a:t> predicted values</a:t>
            </a:r>
            <a:endParaRPr lang="en-US" dirty="0"/>
          </a:p>
          <a:p>
            <a:pPr lvl="1"/>
            <a:r>
              <a:rPr lang="en-US" dirty="0"/>
              <a:t>In other words the residuals are </a:t>
            </a:r>
            <a:r>
              <a:rPr lang="en-US" b="1" dirty="0"/>
              <a:t>stationary</a:t>
            </a:r>
            <a:r>
              <a:rPr lang="en-US" dirty="0"/>
              <a:t> WRT the predicted values</a:t>
            </a:r>
            <a:endParaRPr dirty="0"/>
          </a:p>
          <a:p>
            <a:pPr lvl="0"/>
            <a:r>
              <a:rPr dirty="0"/>
              <a:t>Any trend or structure in the residuals indicates a poor model fit</a:t>
            </a:r>
          </a:p>
          <a:p>
            <a:pPr lvl="1"/>
            <a:r>
              <a:rPr lang="en-US" dirty="0"/>
              <a:t>If </a:t>
            </a:r>
            <a:r>
              <a:rPr dirty="0"/>
              <a:t>variance is not constant we say </a:t>
            </a:r>
            <a:r>
              <a:rPr lang="en-US" dirty="0"/>
              <a:t>the residuals</a:t>
            </a:r>
            <a:r>
              <a:rPr dirty="0"/>
              <a:t> are </a:t>
            </a:r>
            <a:r>
              <a:rPr b="1" dirty="0"/>
              <a:t>heteroskedastic</a:t>
            </a:r>
            <a:r>
              <a:rPr dirty="0"/>
              <a:t> </a:t>
            </a:r>
            <a:endParaRPr lang="en-US" dirty="0"/>
          </a:p>
          <a:p>
            <a:pPr lvl="1"/>
            <a:r>
              <a:rPr dirty="0"/>
              <a:t>Heteroskedastic residuals indicate that model </a:t>
            </a:r>
            <a:r>
              <a:rPr lang="en-US" dirty="0"/>
              <a:t>is a poor fit!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637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633967" cy="612077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b="0" dirty="0"/>
              <a:t>Evaluating Regression Models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924565"/>
            <a:ext cx="8455151" cy="108825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2000" b="1" dirty="0"/>
              <a:t>Residual plots</a:t>
            </a:r>
            <a:r>
              <a:rPr sz="2000" dirty="0"/>
              <a:t> </a:t>
            </a:r>
            <a:r>
              <a:rPr lang="en-US" sz="2000" dirty="0"/>
              <a:t>are</a:t>
            </a:r>
            <a:r>
              <a:rPr sz="2000" dirty="0"/>
              <a:t> a key diagnostic for any regression model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Plot residual against the predicted values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These residuals look homoscedastic - we are happy!</a:t>
            </a:r>
          </a:p>
          <a:p>
            <a:pPr lvl="0"/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8E8B-2DAF-3864-7DBC-E2C397E5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6" y="2178304"/>
            <a:ext cx="6349263" cy="29300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495791" cy="58769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dirty="0"/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910336"/>
                <a:ext cx="8292591" cy="1081023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Residuals must be distributed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sz="2000" dirty="0"/>
                  <a:t>Graphically test the residuals </a:t>
                </a:r>
                <a:r>
                  <a:rPr lang="en-US" sz="2000" dirty="0"/>
                  <a:t>to ensure they are</a:t>
                </a:r>
                <a:r>
                  <a:rPr sz="2000" dirty="0"/>
                  <a:t> </a:t>
                </a:r>
                <a:r>
                  <a:rPr sz="2000" dirty="0" err="1"/>
                  <a:t>iid</a:t>
                </a:r>
                <a:r>
                  <a:rPr sz="2000" dirty="0"/>
                  <a:t> Normal</a:t>
                </a:r>
                <a:endParaRPr lang="en-US" sz="2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These plots look promising – we are still happy!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910336"/>
                <a:ext cx="8292591" cy="1081023"/>
              </a:xfrm>
              <a:blipFill>
                <a:blip r:embed="rId2"/>
                <a:stretch>
                  <a:fillRect l="-735" t="-562" b="-17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F5507D8-9B1E-4F2D-8F42-10CF0D49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" y="2178101"/>
            <a:ext cx="6478016" cy="29653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7600"/>
                <a:ext cx="8229600" cy="39624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quantitatively understand model performance by defining these relationships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ar-AE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𝒎𝒆𝒂𝒏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𝑺𝒖𝒎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𝑺𝒒𝒖𝒂𝒓𝒆𝒔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𝑻𝒐𝒕𝒂𝒍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𝑺𝑺𝑻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𝑺𝒖𝒎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𝑺𝒒𝒖𝒂𝒓𝒆𝒔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𝑬𝒙𝒑𝒍𝒂𝒊𝒏𝒆𝒅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𝑺𝒖𝒎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𝑺𝒒𝒖𝒂𝒓𝒆𝒔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𝑹𝒆𝒔𝒊𝒅𝒖𝒂𝒍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𝑺𝑺𝑹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The relationship between these metrics: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𝑆𝑆𝐸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Or, we can say that the sum of squares explained by the model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𝑆𝑆𝑅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7600"/>
                <a:ext cx="8229600" cy="3962400"/>
              </a:xfrm>
              <a:blipFill>
                <a:blip r:embed="rId2"/>
                <a:stretch>
                  <a:fillRect l="-444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31205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7184"/>
            <a:ext cx="8229600" cy="4259071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Compute the sums of squares for the running example</a:t>
            </a:r>
          </a:p>
          <a:p>
            <a:pPr lvl="0" indent="0">
              <a:buNone/>
            </a:pPr>
            <a:r>
              <a:rPr dirty="0" err="1">
                <a:latin typeface="Courier"/>
              </a:rPr>
              <a:t>y_bar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np.mean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sim_data.y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SST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</a:t>
            </a:r>
            <a:r>
              <a:rPr dirty="0" err="1">
                <a:solidFill>
                  <a:srgbClr val="008000"/>
                </a:solidFill>
                <a:latin typeface="Courier"/>
              </a:rPr>
              <a:t>sum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np.square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np.subtract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sim_data.y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y_bar</a:t>
            </a:r>
            <a:r>
              <a:rPr dirty="0">
                <a:latin typeface="Courier"/>
              </a:rPr>
              <a:t>)))</a:t>
            </a:r>
            <a:br>
              <a:rPr dirty="0"/>
            </a:br>
            <a:r>
              <a:rPr dirty="0">
                <a:latin typeface="Courier"/>
              </a:rPr>
              <a:t>SSR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</a:t>
            </a:r>
            <a:r>
              <a:rPr dirty="0" err="1">
                <a:solidFill>
                  <a:srgbClr val="008000"/>
                </a:solidFill>
                <a:latin typeface="Courier"/>
              </a:rPr>
              <a:t>sum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np.square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sim_data.resids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dirty="0">
                <a:latin typeface="Courier"/>
              </a:rPr>
              <a:t>SSE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np.</a:t>
            </a:r>
            <a:r>
              <a:rPr dirty="0" err="1">
                <a:solidFill>
                  <a:srgbClr val="008000"/>
                </a:solidFill>
                <a:latin typeface="Courier"/>
              </a:rPr>
              <a:t>sum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np.square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np.subtract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sim_data.predicted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y_bar</a:t>
            </a:r>
            <a:r>
              <a:rPr dirty="0">
                <a:latin typeface="Courier"/>
              </a:rPr>
              <a:t>)))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'SST = {0:6.2f}'</a:t>
            </a:r>
            <a:r>
              <a:rPr dirty="0">
                <a:latin typeface="Courier"/>
              </a:rPr>
              <a:t>.</a:t>
            </a:r>
            <a:r>
              <a:rPr dirty="0">
                <a:solidFill>
                  <a:srgbClr val="008000"/>
                </a:solidFill>
                <a:latin typeface="Courier"/>
              </a:rPr>
              <a:t>format</a:t>
            </a:r>
            <a:r>
              <a:rPr dirty="0">
                <a:latin typeface="Courier"/>
              </a:rPr>
              <a:t>(SST))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SST = 494.61</a:t>
            </a:r>
          </a:p>
          <a:p>
            <a:pPr lvl="0" indent="0">
              <a:buNone/>
            </a:pP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'SSE = {0:6.2f}'</a:t>
            </a:r>
            <a:r>
              <a:rPr dirty="0">
                <a:latin typeface="Courier"/>
              </a:rPr>
              <a:t>.</a:t>
            </a:r>
            <a:r>
              <a:rPr dirty="0">
                <a:solidFill>
                  <a:srgbClr val="008000"/>
                </a:solidFill>
                <a:latin typeface="Courier"/>
              </a:rPr>
              <a:t>format</a:t>
            </a:r>
            <a:r>
              <a:rPr dirty="0">
                <a:latin typeface="Courier"/>
              </a:rPr>
              <a:t>(SSE))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SSE = 337.53</a:t>
            </a:r>
          </a:p>
          <a:p>
            <a:pPr lvl="0" indent="0">
              <a:buNone/>
            </a:pP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'SSR = {0:6.2f}'</a:t>
            </a:r>
            <a:r>
              <a:rPr dirty="0">
                <a:latin typeface="Courier"/>
              </a:rPr>
              <a:t>.</a:t>
            </a:r>
            <a:r>
              <a:rPr dirty="0">
                <a:solidFill>
                  <a:srgbClr val="008000"/>
                </a:solidFill>
                <a:latin typeface="Courier"/>
              </a:rPr>
              <a:t>format</a:t>
            </a:r>
            <a:r>
              <a:rPr dirty="0">
                <a:latin typeface="Courier"/>
              </a:rPr>
              <a:t>(SSR))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SSR = 157.08</a:t>
            </a:r>
          </a:p>
          <a:p>
            <a:pPr lvl="0" indent="0">
              <a:buNone/>
            </a:pP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'SSE + SSR = {0:6.2f}'</a:t>
            </a:r>
            <a:r>
              <a:rPr dirty="0">
                <a:latin typeface="Courier"/>
              </a:rPr>
              <a:t>.</a:t>
            </a:r>
            <a:r>
              <a:rPr dirty="0">
                <a:solidFill>
                  <a:srgbClr val="008000"/>
                </a:solidFill>
                <a:latin typeface="Courier"/>
              </a:rPr>
              <a:t>format</a:t>
            </a:r>
            <a:r>
              <a:rPr dirty="0">
                <a:latin typeface="Courier"/>
              </a:rPr>
              <a:t>(SSE </a:t>
            </a:r>
            <a:r>
              <a:rPr dirty="0">
                <a:solidFill>
                  <a:srgbClr val="666666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SSR))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## SSE + SSR = 494.61</a:t>
            </a:r>
          </a:p>
          <a:p>
            <a:pPr marL="0" lvl="0" indent="0">
              <a:buNone/>
            </a:pPr>
            <a:r>
              <a:rPr dirty="0"/>
              <a:t>The model has explained most of the SST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28741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11936"/>
                <a:ext cx="8229600" cy="3832352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can compare the sum of square residual to the sum of square total to evaluate how well our model explains the data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𝑆𝑆𝐸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call the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𝑆𝑆𝑇</m:t>
                        </m:r>
                      </m:den>
                    </m:f>
                  </m:oMath>
                </a14:m>
                <a:r>
                  <a:rPr lang="ar-AE" dirty="0"/>
                  <a:t>,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or the </a:t>
                </a:r>
                <a:r>
                  <a:rPr lang="en-US" b="1" dirty="0"/>
                  <a:t>coefficient of determination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 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ar-AE" b="1" dirty="0"/>
              </a:p>
              <a:p>
                <a:r>
                  <a:rPr lang="en-US" b="1" dirty="0"/>
                  <a:t>Perfect model </a:t>
                </a:r>
                <a:r>
                  <a:rPr lang="en-US" dirty="0"/>
                  <a:t>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model which </a:t>
                </a:r>
                <a:r>
                  <a:rPr lang="en-US" b="1" dirty="0"/>
                  <a:t>does not explain the data </a:t>
                </a:r>
                <a:r>
                  <a:rPr lang="en-US" dirty="0"/>
                  <a:t>or a </a:t>
                </a:r>
                <a:r>
                  <a:rPr lang="en-US" b="1" dirty="0"/>
                  <a:t>null model </a:t>
                </a:r>
                <a:r>
                  <a:rPr lang="en-US" dirty="0"/>
                  <a:t>has: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𝑆𝑆𝑇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11936"/>
                <a:ext cx="8229600" cy="3832352"/>
              </a:xfrm>
              <a:blipFill>
                <a:blip r:embed="rId2"/>
                <a:stretch>
                  <a:fillRect l="-741" t="-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7600"/>
                <a:ext cx="8229600" cy="3856736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As the number of model parameters increases the model will fit the data better</a:t>
                </a:r>
              </a:p>
              <a:p>
                <a:pPr lvl="0"/>
                <a:r>
                  <a:rPr lang="en-US" dirty="0"/>
                  <a:t>But, the model will become over-fit as the number of parameters increases, high degree of freedom</a:t>
                </a:r>
              </a:p>
              <a:p>
                <a:pPr lvl="0"/>
                <a:r>
                  <a:rPr lang="en-US" dirty="0"/>
                  <a:t>Must adjust model performance for degrees of freedom - </a:t>
                </a:r>
                <a:r>
                  <a:rPr lang="en-US" b="1" dirty="0"/>
                  <a:t>adjusted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𝑆𝑆𝑅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𝑆𝑆𝑅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𝑆𝑆𝑇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𝑆𝑆𝑇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𝑟𝑒𝑠𝑖𝑑𝑢𝑎𝑙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𝑆𝑆𝑅</m:t>
                        </m:r>
                      </m:sub>
                    </m:sSub>
                  </m:oMath>
                </a14:m>
                <a:r>
                  <a:rPr lang="en-US" dirty="0"/>
                  <a:t> is degrees of freedom of SSR,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degrees of freedom of SST</a:t>
                </a:r>
                <a:endParaRPr lang="ar-AE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7600"/>
                <a:ext cx="8229600" cy="3856736"/>
              </a:xfrm>
              <a:blipFill>
                <a:blip r:embed="rId2"/>
                <a:stretch>
                  <a:fillRect l="-963" t="-948" b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As the number of model parameters increases the model will fit the data better</a:t>
                </a:r>
              </a:p>
              <a:p>
                <a:r>
                  <a:rPr lang="en-US" dirty="0"/>
                  <a:t>We can express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=1.0−</m:t>
                      </m:r>
                      <m:d>
                        <m:dPr>
                          <m:ctrlPr>
                            <a:rPr lang="ar-A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685800" lvl="2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samples,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parameters</a:t>
                </a:r>
                <a:endParaRPr lang="ar-AE" dirty="0"/>
              </a:p>
              <a:p>
                <a:r>
                  <a:rPr lang="en-US" dirty="0"/>
                  <a:t>Or, we can rewrite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=1.0−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721CDB-D9A1-48A9-D264-1FF359F1F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89984" y="937245"/>
                <a:ext cx="4823968" cy="4049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Summary of the linear regression model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indicate variance explained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 variance explained, adjusted for </a:t>
                </a:r>
              </a:p>
              <a:p>
                <a:pPr lvl="1"/>
                <a:r>
                  <a:rPr lang="en-US" sz="1800" dirty="0"/>
                  <a:t>The </a:t>
                </a:r>
                <a:r>
                  <a:rPr lang="en-US" sz="1800" b="1" dirty="0"/>
                  <a:t>observations degrees of freedom</a:t>
                </a:r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𝑆𝑆𝑇</m:t>
                        </m:r>
                      </m:sub>
                    </m:sSub>
                  </m:oMath>
                </a14:m>
                <a:endParaRPr lang="ar-AE" sz="1800" dirty="0"/>
              </a:p>
              <a:p>
                <a:pPr lvl="1"/>
                <a:r>
                  <a:rPr lang="en-US" sz="1800" dirty="0"/>
                  <a:t>The </a:t>
                </a:r>
                <a:r>
                  <a:rPr lang="en-US" sz="1800" b="1" dirty="0"/>
                  <a:t>degrees of freedom residuals</a:t>
                </a:r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𝑆𝑆𝑅</m:t>
                        </m:r>
                      </m:sub>
                    </m:sSub>
                  </m:oMath>
                </a14:m>
                <a:endParaRPr lang="ar-AE" sz="18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𝑆𝑆𝑇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ar-AE"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𝑆𝑆𝑅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number of model coefficients, </a:t>
                </a:r>
                <a:r>
                  <a:rPr lang="en-US" sz="1800" dirty="0" err="1"/>
                  <a:t>DoF</a:t>
                </a:r>
                <a:r>
                  <a:rPr lang="en-US" sz="1800" dirty="0"/>
                  <a:t> of the model</a:t>
                </a:r>
                <a:endParaRPr lang="en-US" sz="1700" dirty="0"/>
              </a:p>
              <a:p>
                <a:r>
                  <a:rPr lang="en-US" sz="2000" b="1" dirty="0"/>
                  <a:t>F-statistic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Prob (F-statistic)</a:t>
                </a:r>
                <a:r>
                  <a:rPr lang="en-US" sz="2000" dirty="0"/>
                  <a:t> are a measure of the significance of the model against a </a:t>
                </a:r>
                <a:r>
                  <a:rPr lang="en-US" sz="2000" b="1" dirty="0"/>
                  <a:t>null model that does not explain the data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721CDB-D9A1-48A9-D264-1FF359F1F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89984" y="937245"/>
                <a:ext cx="4823968" cy="4049283"/>
              </a:xfrm>
              <a:blipFill>
                <a:blip r:embed="rId2"/>
                <a:stretch>
                  <a:fillRect l="-1263" t="-904" r="-758" b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597A8D-0A6A-436D-41D7-8703935BE8B2}"/>
              </a:ext>
            </a:extLst>
          </p:cNvPr>
          <p:cNvCxnSpPr>
            <a:cxnSpLocks/>
          </p:cNvCxnSpPr>
          <p:nvPr/>
        </p:nvCxnSpPr>
        <p:spPr>
          <a:xfrm flipH="1" flipV="1">
            <a:off x="3470564" y="1231392"/>
            <a:ext cx="792572" cy="268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7E9CF5-4068-66B3-E7E9-3A723A79DFEA}"/>
              </a:ext>
            </a:extLst>
          </p:cNvPr>
          <p:cNvCxnSpPr>
            <a:cxnSpLocks/>
          </p:cNvCxnSpPr>
          <p:nvPr/>
        </p:nvCxnSpPr>
        <p:spPr>
          <a:xfrm flipH="1" flipV="1">
            <a:off x="3470564" y="1499616"/>
            <a:ext cx="792572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169351-A09C-4244-0467-C4EC172B9BA8}"/>
              </a:ext>
            </a:extLst>
          </p:cNvPr>
          <p:cNvCxnSpPr>
            <a:cxnSpLocks/>
          </p:cNvCxnSpPr>
          <p:nvPr/>
        </p:nvCxnSpPr>
        <p:spPr>
          <a:xfrm flipH="1" flipV="1">
            <a:off x="3470564" y="1731264"/>
            <a:ext cx="829148" cy="2027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55D869-E4BB-F09A-D5D3-195FA1FA59CB}"/>
              </a:ext>
            </a:extLst>
          </p:cNvPr>
          <p:cNvCxnSpPr>
            <a:cxnSpLocks/>
          </p:cNvCxnSpPr>
          <p:nvPr/>
        </p:nvCxnSpPr>
        <p:spPr>
          <a:xfrm flipH="1" flipV="1">
            <a:off x="3413760" y="1953491"/>
            <a:ext cx="885952" cy="1805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7EFA3B7-E1FE-0D6D-2EA5-B1385CF65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8" y="977234"/>
            <a:ext cx="3358152" cy="4119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4E8FD6-A22C-F0AE-85B6-E772191B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" y="900919"/>
            <a:ext cx="3396089" cy="4165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721CDB-D9A1-48A9-D264-1FF359F1F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984" y="937245"/>
            <a:ext cx="4823968" cy="4049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Summary of the linear regression model</a:t>
            </a:r>
          </a:p>
          <a:p>
            <a:pPr lvl="0"/>
            <a:r>
              <a:rPr lang="en-US" sz="2000" b="1" dirty="0"/>
              <a:t>Model coefficients</a:t>
            </a:r>
          </a:p>
          <a:p>
            <a:pPr lvl="0"/>
            <a:r>
              <a:rPr lang="en-US" sz="2000" b="1" dirty="0"/>
              <a:t>Standard error </a:t>
            </a:r>
            <a:r>
              <a:rPr lang="en-US" sz="2000" dirty="0"/>
              <a:t>of model coefficients should be less than the coefficients </a:t>
            </a:r>
          </a:p>
          <a:p>
            <a:pPr lvl="0"/>
            <a:r>
              <a:rPr lang="en-US" sz="2000" b="1" dirty="0"/>
              <a:t>T-statistic</a:t>
            </a:r>
            <a:r>
              <a:rPr lang="en-US" sz="2000" dirty="0"/>
              <a:t> and </a:t>
            </a:r>
            <a:r>
              <a:rPr lang="en-US" sz="2000" b="1" dirty="0"/>
              <a:t>p-value</a:t>
            </a:r>
            <a:r>
              <a:rPr lang="en-US" sz="2000" dirty="0"/>
              <a:t> of the t-test for coefficient significance   </a:t>
            </a:r>
          </a:p>
          <a:p>
            <a:pPr lvl="0"/>
            <a:r>
              <a:rPr lang="en-US" sz="2000" dirty="0"/>
              <a:t>95% confidence intervals of the model coefficients </a:t>
            </a:r>
          </a:p>
          <a:p>
            <a:endParaRPr lang="en-US" sz="2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597A8D-0A6A-436D-41D7-8703935BE8B2}"/>
              </a:ext>
            </a:extLst>
          </p:cNvPr>
          <p:cNvCxnSpPr>
            <a:cxnSpLocks/>
          </p:cNvCxnSpPr>
          <p:nvPr/>
        </p:nvCxnSpPr>
        <p:spPr>
          <a:xfrm flipH="1">
            <a:off x="1064029" y="1533698"/>
            <a:ext cx="3235683" cy="1811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7E9CF5-4068-66B3-E7E9-3A723A79DFEA}"/>
              </a:ext>
            </a:extLst>
          </p:cNvPr>
          <p:cNvCxnSpPr>
            <a:cxnSpLocks/>
          </p:cNvCxnSpPr>
          <p:nvPr/>
        </p:nvCxnSpPr>
        <p:spPr>
          <a:xfrm flipH="1">
            <a:off x="1417320" y="1888027"/>
            <a:ext cx="2837688" cy="14567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169351-A09C-4244-0467-C4EC172B9BA8}"/>
              </a:ext>
            </a:extLst>
          </p:cNvPr>
          <p:cNvCxnSpPr>
            <a:cxnSpLocks/>
          </p:cNvCxnSpPr>
          <p:nvPr/>
        </p:nvCxnSpPr>
        <p:spPr>
          <a:xfrm flipH="1">
            <a:off x="1936865" y="2571750"/>
            <a:ext cx="2318143" cy="736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55D869-E4BB-F09A-D5D3-195FA1FA59CB}"/>
              </a:ext>
            </a:extLst>
          </p:cNvPr>
          <p:cNvCxnSpPr>
            <a:cxnSpLocks/>
          </p:cNvCxnSpPr>
          <p:nvPr/>
        </p:nvCxnSpPr>
        <p:spPr>
          <a:xfrm flipH="1">
            <a:off x="3039872" y="3214624"/>
            <a:ext cx="1215136" cy="170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57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08A662-EDB2-64D1-C0FD-FCFBE89B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2" y="900920"/>
            <a:ext cx="3398257" cy="41682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721CDB-D9A1-48A9-D264-1FF359F1F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89984" y="937245"/>
                <a:ext cx="4823968" cy="404928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Summary of the linear regression model</a:t>
                </a:r>
              </a:p>
              <a:p>
                <a:pPr lvl="0"/>
                <a:r>
                  <a:rPr lang="en-US" sz="2000" b="1" dirty="0">
                    <a:hlinkClick r:id="rId3"/>
                  </a:rPr>
                  <a:t>Omnibus</a:t>
                </a:r>
                <a:r>
                  <a:rPr lang="en-US" sz="2000" b="1" dirty="0"/>
                  <a:t> statistic</a:t>
                </a:r>
                <a:r>
                  <a:rPr lang="en-US" sz="2000" dirty="0"/>
                  <a:t>, and </a:t>
                </a:r>
                <a:r>
                  <a:rPr lang="en-US" sz="2000" b="1" dirty="0"/>
                  <a:t>p-value</a:t>
                </a:r>
                <a:r>
                  <a:rPr lang="en-US" sz="2000" dirty="0"/>
                  <a:t>, </a:t>
                </a:r>
                <a:r>
                  <a:rPr lang="en-US" sz="2000" dirty="0">
                    <a:hlinkClick r:id="rId4"/>
                  </a:rPr>
                  <a:t>an hypothesis test skewness and kurtosis with the null being the Normal distribution</a:t>
                </a:r>
                <a:endParaRPr lang="en-US" sz="2000" dirty="0"/>
              </a:p>
              <a:p>
                <a:pPr lvl="0"/>
                <a:r>
                  <a:rPr lang="en-US" sz="2000" b="1" dirty="0">
                    <a:hlinkClick r:id="rId5"/>
                  </a:rPr>
                  <a:t>Durbin-Watson</a:t>
                </a:r>
                <a:r>
                  <a:rPr lang="en-US" sz="2000" dirty="0"/>
                  <a:t> statistic for test on serial correlation of the residuals,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𝐷𝑊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sz="2000" dirty="0"/>
                  <a:t> indicates serial correlation </a:t>
                </a:r>
                <a:endParaRPr lang="en-US" sz="2000" b="1" dirty="0">
                  <a:hlinkClick r:id="rId6"/>
                </a:endParaRPr>
              </a:p>
              <a:p>
                <a:pPr lvl="0"/>
                <a:r>
                  <a:rPr lang="en-US" sz="2000" b="1" dirty="0">
                    <a:hlinkClick r:id="rId6"/>
                  </a:rPr>
                  <a:t>Jarque-Bera</a:t>
                </a:r>
                <a:r>
                  <a:rPr lang="en-US" sz="2000" dirty="0"/>
                  <a:t> statistic and p-value is a test on the skewness and kurtosis of the residuals with the null being the Normal distribution</a:t>
                </a:r>
              </a:p>
              <a:p>
                <a:pPr lvl="0"/>
                <a:r>
                  <a:rPr lang="en-US" sz="2000" dirty="0"/>
                  <a:t>The </a:t>
                </a:r>
                <a:r>
                  <a:rPr lang="en-US" sz="2000" b="1" dirty="0">
                    <a:hlinkClick r:id="rId7"/>
                  </a:rPr>
                  <a:t>Condition number</a:t>
                </a:r>
                <a:r>
                  <a:rPr lang="en-US" sz="2000" dirty="0">
                    <a:hlinkClick r:id="rId7"/>
                  </a:rPr>
                  <a:t> </a:t>
                </a:r>
                <a:r>
                  <a:rPr lang="en-US" sz="2000" dirty="0"/>
                  <a:t>a measure of how well ill-posed the solution of the linear equations are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C721CDB-D9A1-48A9-D264-1FF359F1F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89984" y="937245"/>
                <a:ext cx="4823968" cy="4049283"/>
              </a:xfrm>
              <a:blipFill>
                <a:blip r:embed="rId8"/>
                <a:stretch>
                  <a:fillRect l="-1136" t="-1506" r="-126" b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597A8D-0A6A-436D-41D7-8703935BE8B2}"/>
              </a:ext>
            </a:extLst>
          </p:cNvPr>
          <p:cNvCxnSpPr>
            <a:cxnSpLocks/>
          </p:cNvCxnSpPr>
          <p:nvPr/>
        </p:nvCxnSpPr>
        <p:spPr>
          <a:xfrm flipH="1">
            <a:off x="2747823" y="2352502"/>
            <a:ext cx="1494993" cy="1791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7E9CF5-4068-66B3-E7E9-3A723A79DFEA}"/>
              </a:ext>
            </a:extLst>
          </p:cNvPr>
          <p:cNvCxnSpPr>
            <a:cxnSpLocks/>
          </p:cNvCxnSpPr>
          <p:nvPr/>
        </p:nvCxnSpPr>
        <p:spPr>
          <a:xfrm flipH="1">
            <a:off x="1321724" y="1496291"/>
            <a:ext cx="2921092" cy="2589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169351-A09C-4244-0467-C4EC172B9BA8}"/>
              </a:ext>
            </a:extLst>
          </p:cNvPr>
          <p:cNvCxnSpPr>
            <a:cxnSpLocks/>
          </p:cNvCxnSpPr>
          <p:nvPr/>
        </p:nvCxnSpPr>
        <p:spPr>
          <a:xfrm flipH="1">
            <a:off x="2834640" y="4272742"/>
            <a:ext cx="1408176" cy="5652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55D869-E4BB-F09A-D5D3-195FA1FA59CB}"/>
              </a:ext>
            </a:extLst>
          </p:cNvPr>
          <p:cNvCxnSpPr>
            <a:cxnSpLocks/>
          </p:cNvCxnSpPr>
          <p:nvPr/>
        </p:nvCxnSpPr>
        <p:spPr>
          <a:xfrm flipH="1">
            <a:off x="2834640" y="3169920"/>
            <a:ext cx="1444752" cy="1215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4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Evaluating 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8"/>
                <a:ext cx="8229600" cy="4007535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sz="2900" dirty="0"/>
                  <a:t>We can compare models using </a:t>
                </a:r>
                <a:r>
                  <a:rPr lang="en-US" sz="2900" b="1" dirty="0"/>
                  <a:t>machine learning error metrics </a:t>
                </a:r>
                <a:r>
                  <a:rPr lang="en-US" sz="2900" dirty="0"/>
                  <a:t>– </a:t>
                </a:r>
                <a:r>
                  <a:rPr lang="en-US" sz="2900" b="1" dirty="0"/>
                  <a:t>not useful for inference! </a:t>
                </a:r>
              </a:p>
              <a:p>
                <a:pPr lvl="0"/>
                <a:r>
                  <a:rPr lang="en-US" sz="2900" dirty="0"/>
                  <a:t>The </a:t>
                </a:r>
                <a:r>
                  <a:rPr lang="en-US" sz="2900" b="1" dirty="0"/>
                  <a:t>root mean square error (RMSE)</a:t>
                </a:r>
                <a:r>
                  <a:rPr lang="en-US" sz="2900" dirty="0"/>
                  <a:t> is a measure of the mean of the squared residuals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90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sz="29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ar-AE" sz="29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ar-AE" sz="2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g>
                        <m:e>
                          <m:f>
                            <m:fPr>
                              <m:ctrlPr>
                                <a:rPr lang="ar-AE" sz="2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ar-AE" sz="2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29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90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ar-AE" sz="29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29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ar-AE" sz="2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290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290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290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ar-AE" sz="29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sz="29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g>
                        <m:e>
                          <m:f>
                            <m:fPr>
                              <m:ctrlPr>
                                <a:rPr lang="ar-AE" sz="29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900">
                                  <a:latin typeface="Cambria Math" panose="02040503050406030204" pitchFamily="18" charset="0"/>
                                </a:rPr>
                                <m:t>𝑆𝑆𝑅</m:t>
                              </m:r>
                            </m:num>
                            <m:den>
                              <m:r>
                                <a:rPr lang="ar-AE" sz="29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ar-AE" sz="2900" dirty="0"/>
              </a:p>
              <a:p>
                <a:pPr lvl="0" indent="0">
                  <a:buNone/>
                </a:pPr>
                <a:r>
                  <a:rPr lang="en-US" sz="2000" dirty="0"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>
                    <a:solidFill>
                      <a:srgbClr val="4070A0"/>
                    </a:solidFill>
                    <a:latin typeface="Courier"/>
                  </a:rPr>
                  <a:t>'RMSE = {0:6.2}'</a:t>
                </a:r>
                <a:r>
                  <a:rPr lang="en-US" sz="2000" dirty="0">
                    <a:latin typeface="Courier"/>
                  </a:rPr>
                  <a:t>.</a:t>
                </a:r>
                <a:r>
                  <a:rPr lang="en-US" sz="2000" dirty="0">
                    <a:solidFill>
                      <a:srgbClr val="008000"/>
                    </a:solidFill>
                    <a:latin typeface="Courier"/>
                  </a:rPr>
                  <a:t>format</a:t>
                </a:r>
                <a:r>
                  <a:rPr lang="en-US" sz="2000" dirty="0">
                    <a:latin typeface="Courier"/>
                  </a:rPr>
                  <a:t>(sqrt(</a:t>
                </a:r>
                <a:r>
                  <a:rPr lang="en-US" sz="2000" dirty="0" err="1">
                    <a:latin typeface="Courier"/>
                  </a:rPr>
                  <a:t>np.</a:t>
                </a:r>
                <a:r>
                  <a:rPr lang="en-US" sz="2000" dirty="0" err="1">
                    <a:solidFill>
                      <a:srgbClr val="008000"/>
                    </a:solidFill>
                    <a:latin typeface="Courier"/>
                  </a:rPr>
                  <a:t>sum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np.square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sim_data.resids</a:t>
                </a:r>
                <a:r>
                  <a:rPr lang="en-US" sz="2000" dirty="0">
                    <a:latin typeface="Courier"/>
                  </a:rPr>
                  <a:t>)))</a:t>
                </a:r>
                <a:r>
                  <a:rPr lang="en-US" sz="2000" dirty="0"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 lang="en-US" sz="2000" dirty="0">
                    <a:latin typeface="Courier"/>
                  </a:rPr>
                  <a:t> </a:t>
                </a:r>
                <a:r>
                  <a:rPr lang="en-US" sz="2000" dirty="0">
                    <a:solidFill>
                      <a:srgbClr val="008000"/>
                    </a:solidFill>
                    <a:latin typeface="Courier"/>
                  </a:rPr>
                  <a:t>float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sim_data.shape</a:t>
                </a:r>
                <a:r>
                  <a:rPr lang="en-US" sz="2000" dirty="0">
                    <a:latin typeface="Courier"/>
                  </a:rPr>
                  <a:t>[</a:t>
                </a:r>
                <a:r>
                  <a:rPr lang="en-US" sz="2000" dirty="0"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 lang="en-US" sz="2000" dirty="0">
                    <a:latin typeface="Courier"/>
                  </a:rPr>
                  <a:t>])))</a:t>
                </a:r>
              </a:p>
              <a:p>
                <a:pPr lvl="0" indent="0">
                  <a:buNone/>
                </a:pPr>
                <a:r>
                  <a:rPr lang="en-US" sz="2000" dirty="0">
                    <a:latin typeface="Courier"/>
                  </a:rPr>
                  <a:t>## RMSE =   0.25</a:t>
                </a:r>
              </a:p>
              <a:p>
                <a:pPr lvl="0"/>
                <a:r>
                  <a:rPr lang="en-US" sz="2900" dirty="0"/>
                  <a:t>The </a:t>
                </a:r>
                <a:r>
                  <a:rPr lang="en-US" sz="2900" b="1" dirty="0"/>
                  <a:t>median absolute error (MAE)</a:t>
                </a:r>
                <a:r>
                  <a:rPr lang="en-US" sz="2900" dirty="0"/>
                  <a:t> is a robust measure of mean residuals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90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>
                          <a:latin typeface="Cambria Math" panose="02040503050406030204" pitchFamily="18" charset="0"/>
                        </a:rPr>
                        <m:t>𝑚𝑒𝑑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sz="2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9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sz="29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ar-AE" sz="2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ar-AE" sz="29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90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29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ar-AE" sz="2900" dirty="0"/>
              </a:p>
              <a:p>
                <a:pPr lvl="0" indent="0">
                  <a:buNone/>
                </a:pPr>
                <a:r>
                  <a:rPr lang="en-US" sz="2000" dirty="0"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>
                    <a:solidFill>
                      <a:srgbClr val="4070A0"/>
                    </a:solidFill>
                    <a:latin typeface="Courier"/>
                  </a:rPr>
                  <a:t>'MAE= {0:6.2}'</a:t>
                </a:r>
                <a:r>
                  <a:rPr lang="en-US" sz="2000" dirty="0">
                    <a:latin typeface="Courier"/>
                  </a:rPr>
                  <a:t>.</a:t>
                </a:r>
                <a:r>
                  <a:rPr lang="en-US" sz="2000" dirty="0">
                    <a:solidFill>
                      <a:srgbClr val="008000"/>
                    </a:solidFill>
                    <a:latin typeface="Courier"/>
                  </a:rPr>
                  <a:t>format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np.median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np.absolute</a:t>
                </a:r>
                <a:r>
                  <a:rPr lang="en-US" sz="2000" dirty="0">
                    <a:latin typeface="Courier"/>
                  </a:rPr>
                  <a:t>(</a:t>
                </a:r>
                <a:r>
                  <a:rPr lang="en-US" sz="2000" dirty="0" err="1">
                    <a:latin typeface="Courier"/>
                  </a:rPr>
                  <a:t>sim_data.resids</a:t>
                </a:r>
                <a:r>
                  <a:rPr lang="en-US" sz="2000" dirty="0">
                    <a:latin typeface="Courier"/>
                  </a:rPr>
                  <a:t>))))</a:t>
                </a:r>
              </a:p>
              <a:p>
                <a:pPr lvl="0" indent="0">
                  <a:buNone/>
                </a:pPr>
                <a:r>
                  <a:rPr lang="en-US" sz="2000" dirty="0">
                    <a:latin typeface="Courier"/>
                  </a:rPr>
                  <a:t>## MAE=    1.3</a:t>
                </a:r>
              </a:p>
              <a:p>
                <a:pPr lvl="0"/>
                <a:r>
                  <a:rPr lang="en-US" sz="2900" dirty="0"/>
                  <a:t>And many more possibilities…</a:t>
                </a:r>
                <a:endParaRPr sz="29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8"/>
                <a:ext cx="8229600" cy="4007535"/>
              </a:xfrm>
              <a:blipFill>
                <a:blip r:embed="rId2"/>
                <a:stretch>
                  <a:fillRect l="-741" t="-2128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ECF7-2FB3-3595-F741-275DA95E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44B70-E001-60F7-FDE7-F4C38CD72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Inference on Linear Models</a:t>
            </a:r>
          </a:p>
        </p:txBody>
      </p:sp>
    </p:spTree>
    <p:extLst>
      <p:ext uri="{BB962C8B-B14F-4D97-AF65-F5344CB8AC3E}">
        <p14:creationId xmlns:p14="http://schemas.microsoft.com/office/powerpoint/2010/main" val="13178816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FFB7-C569-B302-8A2A-49DDC424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39BAB-061E-EFA8-F62A-308AAA2C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Inference on </a:t>
            </a:r>
            <a:r>
              <a:rPr dirty="0"/>
              <a:t>Linear Model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DFD00-A2B4-08F7-221F-79F4ED35D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0112"/>
            <a:ext cx="8229600" cy="3787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Inference on linear models can be directly interpreted</a:t>
            </a:r>
            <a:endParaRPr dirty="0"/>
          </a:p>
          <a:p>
            <a:pPr lvl="0"/>
            <a:r>
              <a:rPr lang="en-US" dirty="0"/>
              <a:t>For properly fit (not over-fit) the model coefficients are the effect size   </a:t>
            </a:r>
          </a:p>
          <a:p>
            <a:pPr lvl="0"/>
            <a:r>
              <a:rPr lang="en-US" dirty="0"/>
              <a:t>Effect size is the change in the response for a unit change in the independent variable     </a:t>
            </a:r>
          </a:p>
          <a:p>
            <a:pPr lvl="0"/>
            <a:r>
              <a:rPr lang="en-US" dirty="0"/>
              <a:t>Example: For effect size of 0.5 the response changes by 0.5 for a unit change in the independent variable   </a:t>
            </a:r>
          </a:p>
        </p:txBody>
      </p:sp>
    </p:spTree>
    <p:extLst>
      <p:ext uri="{BB962C8B-B14F-4D97-AF65-F5344CB8AC3E}">
        <p14:creationId xmlns:p14="http://schemas.microsoft.com/office/powerpoint/2010/main" val="29588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D33A-8B17-6003-EB37-F9C3C766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B82-918E-A7CD-43A7-06908E72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Inference on </a:t>
            </a:r>
            <a:r>
              <a:rPr dirty="0"/>
              <a:t>Linear Model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C610-D00E-A806-2E8F-6E49BD803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0112"/>
            <a:ext cx="8229600" cy="3787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Inference on linear models can be directly interpreted</a:t>
            </a:r>
            <a:endParaRPr dirty="0"/>
          </a:p>
          <a:p>
            <a:pPr lvl="0"/>
            <a:r>
              <a:rPr lang="en-US" dirty="0"/>
              <a:t>We can only perform inference on The confidence interval tells us the range of effect sizes arising from the sampling distribution     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73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EBCD-B438-66E3-09B2-9504FF7A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1F147-34FB-DD74-5B78-4C2EA6A4D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Extending Linear Models</a:t>
            </a:r>
          </a:p>
        </p:txBody>
      </p:sp>
    </p:spTree>
    <p:extLst>
      <p:ext uri="{BB962C8B-B14F-4D97-AF65-F5344CB8AC3E}">
        <p14:creationId xmlns:p14="http://schemas.microsoft.com/office/powerpoint/2010/main" val="2139030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Extending the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0112"/>
            <a:ext cx="8229600" cy="3787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We extend the linear model by adding new features or predictor variables</a:t>
            </a:r>
          </a:p>
          <a:p>
            <a:pPr lvl="0"/>
            <a:r>
              <a:rPr dirty="0"/>
              <a:t>Higher order terms - e.g. polynomial regression</a:t>
            </a:r>
          </a:p>
          <a:p>
            <a:pPr lvl="0"/>
            <a:r>
              <a:rPr dirty="0"/>
              <a:t>Other exogenous variables</a:t>
            </a:r>
          </a:p>
          <a:p>
            <a:pPr lvl="0"/>
            <a:r>
              <a:rPr dirty="0"/>
              <a:t>We prefer the simplest model that does a reasonable job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parsimonious model</a:t>
            </a:r>
            <a:r>
              <a:rPr lang="en-US" dirty="0"/>
              <a:t> has the minimum number of parameters required to explain the data</a:t>
            </a:r>
          </a:p>
          <a:p>
            <a:pPr lvl="1"/>
            <a:r>
              <a:rPr dirty="0"/>
              <a:t>The principle of </a:t>
            </a:r>
            <a:r>
              <a:rPr b="1" dirty="0"/>
              <a:t>Occam’s razor</a:t>
            </a:r>
          </a:p>
          <a:p>
            <a:pPr lvl="0"/>
            <a:r>
              <a:rPr dirty="0"/>
              <a:t>Must consider the </a:t>
            </a:r>
            <a:r>
              <a:rPr b="1" dirty="0"/>
              <a:t>bias-variance trade-off</a:t>
            </a:r>
          </a:p>
          <a:p>
            <a:pPr lvl="0"/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4C1A-E04F-DB3B-4BE6-4CB4758CA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B5CD-0938-9931-39E6-1B8722D9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Extending the Linear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49EB-52EB-045B-C439-5F1DF1752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0112"/>
            <a:ext cx="8229600" cy="378740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We prefer the simplest model that does a reasonable job</a:t>
            </a:r>
          </a:p>
          <a:p>
            <a:pPr lvl="0"/>
            <a:r>
              <a:rPr dirty="0"/>
              <a:t>Must consider the </a:t>
            </a:r>
            <a:r>
              <a:rPr b="1" dirty="0"/>
              <a:t>bias-variance trade-off</a:t>
            </a:r>
          </a:p>
          <a:p>
            <a:pPr lvl="0"/>
            <a:r>
              <a:rPr b="1" dirty="0"/>
              <a:t>High complexity model</a:t>
            </a:r>
            <a:r>
              <a:rPr dirty="0"/>
              <a:t> fits the training data well</a:t>
            </a:r>
          </a:p>
          <a:p>
            <a:pPr lvl="1"/>
            <a:r>
              <a:rPr b="1" dirty="0"/>
              <a:t>Low bias</a:t>
            </a:r>
            <a:r>
              <a:rPr lang="en-US" dirty="0"/>
              <a:t>, fits the training data well</a:t>
            </a:r>
            <a:endParaRPr b="1" dirty="0"/>
          </a:p>
          <a:p>
            <a:pPr lvl="1"/>
            <a:r>
              <a:rPr dirty="0"/>
              <a:t>But might not generalize well to new cases - </a:t>
            </a:r>
            <a:r>
              <a:rPr b="1" dirty="0"/>
              <a:t>high variance</a:t>
            </a:r>
          </a:p>
          <a:p>
            <a:pPr lvl="0"/>
            <a:r>
              <a:rPr b="1" dirty="0"/>
              <a:t>Low complexity model</a:t>
            </a:r>
            <a:r>
              <a:rPr dirty="0"/>
              <a:t> can </a:t>
            </a:r>
            <a:r>
              <a:rPr b="1" dirty="0"/>
              <a:t>generalize</a:t>
            </a:r>
            <a:r>
              <a:rPr dirty="0"/>
              <a:t> to new cases</a:t>
            </a:r>
          </a:p>
          <a:p>
            <a:pPr lvl="1"/>
            <a:r>
              <a:rPr b="1" dirty="0"/>
              <a:t>low variance</a:t>
            </a:r>
            <a:r>
              <a:rPr lang="en-US" dirty="0"/>
              <a:t>, error for new observations is low</a:t>
            </a:r>
            <a:endParaRPr dirty="0"/>
          </a:p>
          <a:p>
            <a:pPr lvl="1"/>
            <a:r>
              <a:rPr dirty="0"/>
              <a:t>But does not fit training data as well - </a:t>
            </a:r>
            <a:r>
              <a:rPr b="1" dirty="0"/>
              <a:t>high bias</a:t>
            </a:r>
          </a:p>
        </p:txBody>
      </p:sp>
    </p:spTree>
    <p:extLst>
      <p:ext uri="{BB962C8B-B14F-4D97-AF65-F5344CB8AC3E}">
        <p14:creationId xmlns:p14="http://schemas.microsoft.com/office/powerpoint/2010/main" val="103152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Extending the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30"/>
                <a:ext cx="8229600" cy="3797314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Building a model matrix for a more complex linear model is easy</a:t>
                </a:r>
              </a:p>
              <a:p>
                <a:pPr lvl="0"/>
                <a:r>
                  <a:rPr dirty="0"/>
                  <a:t>We now have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dirty="0"/>
                  <a:t> model coefficients, including intercept term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With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features the model matrix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⋮, ⋮, ⋮, ⋮, ⋮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</a:t>
                </a:r>
                <a:r>
                  <a:rPr lang="en-US" dirty="0"/>
                  <a:t>s</a:t>
                </a:r>
                <a:r>
                  <a:rPr dirty="0"/>
                  <a:t>eek the least squares solution</a:t>
                </a:r>
              </a:p>
              <a:p>
                <a:pPr lvl="0"/>
                <a:r>
                  <a:rPr dirty="0"/>
                  <a:t>The covariance matrix is now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dirty="0"/>
                  <a:t> x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  <m:r>
                      <a:rPr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dirty="0"/>
                  <a:t>, including intercept term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30"/>
                <a:ext cx="8229600" cy="3797314"/>
              </a:xfrm>
              <a:blipFill>
                <a:blip r:embed="rId2"/>
                <a:stretch>
                  <a:fillRect l="-741" t="-1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776555" cy="54335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29741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Start with a new </a:t>
                </a:r>
                <a:r>
                  <a:rPr sz="2000" dirty="0"/>
                  <a:t>simulated data set</a:t>
                </a:r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Fit linear regression to the simulated data    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How good is this fit?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129741" cy="3518297"/>
              </a:xfrm>
              <a:blipFill>
                <a:blip r:embed="rId2"/>
                <a:stretch>
                  <a:fillRect l="-1949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DDFA2D0-A6EE-2F94-EF3A-5428A6E6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878" y="877824"/>
            <a:ext cx="5490363" cy="421284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16899" cy="50179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839585"/>
            <a:ext cx="8138159" cy="9933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dirty="0"/>
              <a:t>Let’s check the residuals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The trend of these residuals shows a curve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These residuals look heteroskedastic!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1BD1CE-07E4-66C3-959A-085CC9184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4348"/>
            <a:ext cx="7082444" cy="321520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16899" cy="50179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834476"/>
            <a:ext cx="8138159" cy="9933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dirty="0"/>
              <a:t>Let’s check the residuals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These residuals are right skewed and not Normally distributed!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Note the curve on the Q-Q Normal plot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08244-8772-EAB7-B8B1-DDE993B3A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64" y="1849460"/>
            <a:ext cx="6833063" cy="322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04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7776555" cy="543358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1076326"/>
                <a:ext cx="4159503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000" dirty="0"/>
                  <a:t>Try a second order polynomial fit 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Fit to zero centered data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model is </a:t>
                </a:r>
                <a:r>
                  <a:rPr lang="en-US" sz="2000" b="1" dirty="0"/>
                  <a:t>linear in the coefficients </a:t>
                </a:r>
              </a:p>
              <a:p>
                <a:pPr lvl="0"/>
                <a14:m>
                  <m:oMathPara xmlns:m="http://schemas.openxmlformats.org/officeDocument/2006/math">
                    <m:oMath>
                      <m:acc>
                        <m:accPr>
                          <m:chr m:val="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fit looks better, but we need to investigate further 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sz="20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1076326"/>
                <a:ext cx="4159503" cy="3518297"/>
              </a:xfrm>
              <a:blipFill>
                <a:blip r:embed="rId2"/>
                <a:stretch>
                  <a:fillRect l="-1466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89053DC-4D4E-F70D-67CF-6F103E456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70" y="788416"/>
            <a:ext cx="4266322" cy="42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16899" cy="50179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839585"/>
            <a:ext cx="8138159" cy="9933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dirty="0"/>
              <a:t>Let’s check the residuals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The residuals now look homoscedastic!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Variance looks fairly constant across the predictive values 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154EF-1B0D-ECEE-837C-1F5974C67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3574"/>
            <a:ext cx="6999316" cy="319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550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16899" cy="501795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sz="3200" dirty="0"/>
              <a:t>Example of Multi-Feature Linear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834476"/>
            <a:ext cx="8138159" cy="993372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dirty="0"/>
              <a:t>Let’s check the residuals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The residuals are now close to Normally distributed!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/>
              <a:t>Note the nearly strait line of points on Q-Q Normal plot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119142-E20B-A04D-C71F-C5F52A2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31" y="1827848"/>
            <a:ext cx="7020085" cy="328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18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3DE4CE-64DF-5327-5F8E-25906D240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74" y="2117823"/>
            <a:ext cx="3876498" cy="2654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5F4C9A-A395-4D0F-C743-E7129AB4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11" y="2117823"/>
            <a:ext cx="4049763" cy="26543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22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 of Multi-Feature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61390C8-7670-FE67-994F-6AF9C386A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9711" y="712582"/>
                <a:ext cx="8229600" cy="138850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Compare to single feature model, more complex multi-feature model exhibits</a:t>
                </a:r>
              </a:p>
              <a:p>
                <a:r>
                  <a:rPr lang="en-US" sz="2000" dirty="0"/>
                  <a:t>Increase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r>
                  <a:rPr lang="en-US" sz="2000" dirty="0"/>
                  <a:t>Increase in F-statistic </a:t>
                </a:r>
              </a:p>
              <a:p>
                <a:r>
                  <a:rPr lang="en-US" sz="2000" dirty="0"/>
                  <a:t>Increase in Log-Likelihood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61390C8-7670-FE67-994F-6AF9C386A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9711" y="712582"/>
                <a:ext cx="8229600" cy="1388506"/>
              </a:xfrm>
              <a:blipFill>
                <a:blip r:embed="rId4"/>
                <a:stretch>
                  <a:fillRect l="-667" t="-4386" b="-5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E8B641A-0276-F0B0-AC04-ED544F7F33AF}"/>
              </a:ext>
            </a:extLst>
          </p:cNvPr>
          <p:cNvSpPr txBox="1">
            <a:spLocks/>
          </p:cNvSpPr>
          <p:nvPr/>
        </p:nvSpPr>
        <p:spPr>
          <a:xfrm>
            <a:off x="495808" y="4764073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Single feature model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5DB8B96A-6AD7-C553-565E-9FB5BF433D75}"/>
              </a:ext>
            </a:extLst>
          </p:cNvPr>
          <p:cNvSpPr txBox="1">
            <a:spLocks/>
          </p:cNvSpPr>
          <p:nvPr/>
        </p:nvSpPr>
        <p:spPr>
          <a:xfrm>
            <a:off x="4867674" y="4764072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Multi-feature 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2F9052-08C7-DB33-4207-E662F546D110}"/>
              </a:ext>
            </a:extLst>
          </p:cNvPr>
          <p:cNvCxnSpPr>
            <a:cxnSpLocks/>
          </p:cNvCxnSpPr>
          <p:nvPr/>
        </p:nvCxnSpPr>
        <p:spPr>
          <a:xfrm>
            <a:off x="4478528" y="2442464"/>
            <a:ext cx="389331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32335A-BDC5-95FD-F2BF-806B73135BF4}"/>
              </a:ext>
            </a:extLst>
          </p:cNvPr>
          <p:cNvCxnSpPr>
            <a:cxnSpLocks/>
          </p:cNvCxnSpPr>
          <p:nvPr/>
        </p:nvCxnSpPr>
        <p:spPr>
          <a:xfrm>
            <a:off x="4478528" y="2693670"/>
            <a:ext cx="383308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42F2BC-E141-C799-A95E-8D9471EE0C25}"/>
              </a:ext>
            </a:extLst>
          </p:cNvPr>
          <p:cNvCxnSpPr>
            <a:cxnSpLocks/>
          </p:cNvCxnSpPr>
          <p:nvPr/>
        </p:nvCxnSpPr>
        <p:spPr>
          <a:xfrm>
            <a:off x="4478528" y="2895974"/>
            <a:ext cx="383308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6CA32-2F35-6E7B-989D-74406A611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74" y="2117823"/>
            <a:ext cx="3876498" cy="26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22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 of Multi-Feature Linear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390C8-7670-FE67-994F-6AF9C386A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11" y="729317"/>
            <a:ext cx="8229600" cy="13885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All parameters of both models are significant</a:t>
            </a:r>
          </a:p>
          <a:p>
            <a:r>
              <a:rPr lang="en-US" sz="2000" dirty="0"/>
              <a:t>Standard errors are less than an order of magnitude compared to the coefficients for the multi-feature model </a:t>
            </a:r>
          </a:p>
          <a:p>
            <a:r>
              <a:rPr lang="en-US" sz="2000" dirty="0"/>
              <a:t>The sensitivity of </a:t>
            </a:r>
            <a:r>
              <a:rPr lang="en-US" sz="2000" i="1" dirty="0"/>
              <a:t>y</a:t>
            </a:r>
            <a:r>
              <a:rPr lang="en-US" sz="2000" dirty="0"/>
              <a:t> to </a:t>
            </a:r>
            <a:r>
              <a:rPr lang="en-US" sz="2000" i="1" dirty="0"/>
              <a:t>x</a:t>
            </a:r>
            <a:r>
              <a:rPr lang="en-US" sz="2000" dirty="0"/>
              <a:t> is similar, but different standard error and CI </a:t>
            </a:r>
          </a:p>
          <a:p>
            <a:r>
              <a:rPr lang="en-US" sz="2000" dirty="0"/>
              <a:t>Significant second order effect in complex model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E8B641A-0276-F0B0-AC04-ED544F7F33AF}"/>
              </a:ext>
            </a:extLst>
          </p:cNvPr>
          <p:cNvSpPr txBox="1">
            <a:spLocks/>
          </p:cNvSpPr>
          <p:nvPr/>
        </p:nvSpPr>
        <p:spPr>
          <a:xfrm>
            <a:off x="495808" y="4764073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Single feature model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5DB8B96A-6AD7-C553-565E-9FB5BF433D75}"/>
              </a:ext>
            </a:extLst>
          </p:cNvPr>
          <p:cNvSpPr txBox="1">
            <a:spLocks/>
          </p:cNvSpPr>
          <p:nvPr/>
        </p:nvSpPr>
        <p:spPr>
          <a:xfrm>
            <a:off x="4867674" y="4764072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Multi-feature model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42F2BC-E141-C799-A95E-8D9471EE0C25}"/>
              </a:ext>
            </a:extLst>
          </p:cNvPr>
          <p:cNvCxnSpPr>
            <a:cxnSpLocks/>
          </p:cNvCxnSpPr>
          <p:nvPr/>
        </p:nvCxnSpPr>
        <p:spPr>
          <a:xfrm flipV="1">
            <a:off x="4459474" y="3903591"/>
            <a:ext cx="440562" cy="1031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15EDF9-FAD9-168C-4D3E-00866C10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11" y="2147003"/>
            <a:ext cx="4049763" cy="26543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A6C662-8A88-7ECA-9A07-2CDB4916B121}"/>
              </a:ext>
            </a:extLst>
          </p:cNvPr>
          <p:cNvCxnSpPr>
            <a:cxnSpLocks/>
          </p:cNvCxnSpPr>
          <p:nvPr/>
        </p:nvCxnSpPr>
        <p:spPr>
          <a:xfrm flipH="1">
            <a:off x="6425738" y="1221971"/>
            <a:ext cx="1454727" cy="2219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789458-B651-0AC8-4D86-B546840EF3F4}"/>
              </a:ext>
            </a:extLst>
          </p:cNvPr>
          <p:cNvCxnSpPr>
            <a:cxnSpLocks/>
          </p:cNvCxnSpPr>
          <p:nvPr/>
        </p:nvCxnSpPr>
        <p:spPr>
          <a:xfrm>
            <a:off x="5116484" y="1949335"/>
            <a:ext cx="2302625" cy="1492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B5E958-CFD8-5595-1B99-39F0C1FF15DF}"/>
              </a:ext>
            </a:extLst>
          </p:cNvPr>
          <p:cNvCxnSpPr>
            <a:cxnSpLocks/>
          </p:cNvCxnSpPr>
          <p:nvPr/>
        </p:nvCxnSpPr>
        <p:spPr>
          <a:xfrm>
            <a:off x="5116484" y="1949335"/>
            <a:ext cx="3104803" cy="1492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61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9CB76E-DC82-0DFD-65F7-6FCBD5F92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674" y="2117823"/>
            <a:ext cx="3876498" cy="26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05221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Example of Multi-Feature Linear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1390C8-7670-FE67-994F-6AF9C386A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11" y="712582"/>
            <a:ext cx="8562070" cy="13885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Compare to single feature model, more complex multi-feature model exhibits</a:t>
            </a:r>
          </a:p>
          <a:p>
            <a:r>
              <a:rPr lang="en-US" sz="2000" dirty="0"/>
              <a:t>Increased Durban-Watson statistic indicates reduced serial correlation of residuals</a:t>
            </a:r>
          </a:p>
          <a:p>
            <a:r>
              <a:rPr lang="en-US" sz="2000" dirty="0"/>
              <a:t>Decreased Jarque-Bara statistic indicates reduced skewness of residuals</a:t>
            </a:r>
          </a:p>
          <a:p>
            <a:r>
              <a:rPr lang="en-US" sz="2000" dirty="0"/>
              <a:t>More complex model has increased condition number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E8B641A-0276-F0B0-AC04-ED544F7F33AF}"/>
              </a:ext>
            </a:extLst>
          </p:cNvPr>
          <p:cNvSpPr txBox="1">
            <a:spLocks/>
          </p:cNvSpPr>
          <p:nvPr/>
        </p:nvSpPr>
        <p:spPr>
          <a:xfrm>
            <a:off x="495808" y="4764073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Single feature model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5DB8B96A-6AD7-C553-565E-9FB5BF433D75}"/>
              </a:ext>
            </a:extLst>
          </p:cNvPr>
          <p:cNvSpPr txBox="1">
            <a:spLocks/>
          </p:cNvSpPr>
          <p:nvPr/>
        </p:nvSpPr>
        <p:spPr>
          <a:xfrm>
            <a:off x="4867674" y="4764072"/>
            <a:ext cx="3844544" cy="350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Multi-feature model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2F9052-08C7-DB33-4207-E662F546D110}"/>
              </a:ext>
            </a:extLst>
          </p:cNvPr>
          <p:cNvCxnSpPr>
            <a:cxnSpLocks/>
          </p:cNvCxnSpPr>
          <p:nvPr/>
        </p:nvCxnSpPr>
        <p:spPr>
          <a:xfrm>
            <a:off x="4478528" y="4246224"/>
            <a:ext cx="383308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32335A-BDC5-95FD-F2BF-806B73135BF4}"/>
              </a:ext>
            </a:extLst>
          </p:cNvPr>
          <p:cNvCxnSpPr>
            <a:cxnSpLocks/>
          </p:cNvCxnSpPr>
          <p:nvPr/>
        </p:nvCxnSpPr>
        <p:spPr>
          <a:xfrm>
            <a:off x="4478528" y="4375544"/>
            <a:ext cx="383308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42F2BC-E141-C799-A95E-8D9471EE0C25}"/>
              </a:ext>
            </a:extLst>
          </p:cNvPr>
          <p:cNvCxnSpPr>
            <a:cxnSpLocks/>
          </p:cNvCxnSpPr>
          <p:nvPr/>
        </p:nvCxnSpPr>
        <p:spPr>
          <a:xfrm>
            <a:off x="4478528" y="4616741"/>
            <a:ext cx="393559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55C4E52-DAA7-8AC0-535D-774EB1534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11" y="2147003"/>
            <a:ext cx="4049763" cy="26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0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Linear models are a flexible and widely used class of models</a:t>
            </a:r>
          </a:p>
          <a:p>
            <a:pPr lvl="0"/>
            <a:r>
              <a:rPr dirty="0"/>
              <a:t>Fit model coefficients by </a:t>
            </a:r>
            <a:r>
              <a:rPr b="1" dirty="0"/>
              <a:t>least squares</a:t>
            </a:r>
            <a:r>
              <a:rPr dirty="0"/>
              <a:t> estimation</a:t>
            </a:r>
          </a:p>
          <a:p>
            <a:pPr lvl="0"/>
            <a:r>
              <a:rPr dirty="0"/>
              <a:t>Can use many types of predictor variables</a:t>
            </a:r>
          </a:p>
          <a:p>
            <a:pPr lvl="0"/>
            <a:r>
              <a:rPr dirty="0"/>
              <a:t>SGD and L-FBGS algorithms allow massive scaling of linear models</a:t>
            </a:r>
          </a:p>
          <a:p>
            <a:pPr lvl="0"/>
            <a:r>
              <a:rPr dirty="0"/>
              <a:t>We prefer </a:t>
            </a:r>
            <a:r>
              <a:rPr lang="en-US" dirty="0"/>
              <a:t>a </a:t>
            </a:r>
            <a:r>
              <a:rPr lang="en-US" b="1" dirty="0"/>
              <a:t>parsimonious model</a:t>
            </a:r>
            <a:endParaRPr b="1" dirty="0"/>
          </a:p>
          <a:p>
            <a:pPr lvl="1"/>
            <a:r>
              <a:rPr dirty="0"/>
              <a:t>The principle of </a:t>
            </a:r>
            <a:r>
              <a:rPr b="1" dirty="0"/>
              <a:t>Occam’s razor</a:t>
            </a:r>
          </a:p>
          <a:p>
            <a:pPr lvl="0"/>
            <a:r>
              <a:rPr dirty="0"/>
              <a:t>Must consider the </a:t>
            </a:r>
            <a:r>
              <a:rPr b="1" dirty="0"/>
              <a:t>bias-variance trade-off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68645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4672"/>
            <a:ext cx="8229600" cy="4238752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There are a number of assumptions in linear models that you overlook at your peril!</a:t>
            </a:r>
          </a:p>
          <a:p>
            <a:pPr lvl="0"/>
            <a:r>
              <a:rPr dirty="0"/>
              <a:t>The feature or predictor variables should be </a:t>
            </a:r>
            <a:r>
              <a:rPr b="1" dirty="0"/>
              <a:t>independent</a:t>
            </a:r>
            <a:r>
              <a:rPr dirty="0"/>
              <a:t> of one another</a:t>
            </a:r>
          </a:p>
          <a:p>
            <a:pPr lvl="1"/>
            <a:r>
              <a:rPr dirty="0"/>
              <a:t>This is rarely true in practice</a:t>
            </a:r>
          </a:p>
          <a:p>
            <a:pPr lvl="1"/>
            <a:r>
              <a:rPr b="1" dirty="0"/>
              <a:t>Multi-</a:t>
            </a:r>
            <a:r>
              <a:rPr b="1" dirty="0" err="1"/>
              <a:t>colinearity</a:t>
            </a:r>
            <a:r>
              <a:rPr dirty="0"/>
              <a:t> between features makes the model </a:t>
            </a:r>
            <a:r>
              <a:rPr b="1" dirty="0"/>
              <a:t>under-determined</a:t>
            </a:r>
          </a:p>
          <a:p>
            <a:pPr lvl="0"/>
            <a:r>
              <a:rPr dirty="0"/>
              <a:t>We assume that numeric features or predictors have zero mean and about the same scale</a:t>
            </a:r>
          </a:p>
          <a:p>
            <a:pPr lvl="1"/>
            <a:r>
              <a:rPr dirty="0"/>
              <a:t>We do not want to bias the estimation of regression coefficients with predictors that do not have a 0 mean</a:t>
            </a:r>
          </a:p>
          <a:p>
            <a:pPr lvl="1"/>
            <a:r>
              <a:rPr dirty="0"/>
              <a:t>We do not want to have predictors with a large numeric range dominate training</a:t>
            </a:r>
          </a:p>
          <a:p>
            <a:pPr lvl="1"/>
            <a:r>
              <a:rPr dirty="0"/>
              <a:t>Example: income is in the range of 10s or 100s of thousands and age is in the range of 10s, but </a:t>
            </a:r>
            <a:r>
              <a:rPr dirty="0" err="1"/>
              <a:t>apriori</a:t>
            </a:r>
            <a:r>
              <a:rPr dirty="0"/>
              <a:t> income is no more important than age as a predictor</a:t>
            </a:r>
          </a:p>
          <a:p>
            <a:pPr lvl="0"/>
            <a:r>
              <a:rPr dirty="0"/>
              <a:t>Values of each predictor or feature should be </a:t>
            </a:r>
            <a:r>
              <a:rPr dirty="0" err="1"/>
              <a:t>iid</a:t>
            </a:r>
            <a:endParaRPr dirty="0"/>
          </a:p>
          <a:p>
            <a:pPr lvl="1"/>
            <a:r>
              <a:rPr dirty="0"/>
              <a:t>If variance changes with sample, the optimal value of the coefficient could not be constant</a:t>
            </a:r>
          </a:p>
          <a:p>
            <a:pPr lvl="1"/>
            <a:r>
              <a:rPr lang="en-US" b="1" dirty="0"/>
              <a:t>S</a:t>
            </a:r>
            <a:r>
              <a:rPr b="1" dirty="0"/>
              <a:t>erial correlation</a:t>
            </a:r>
            <a:r>
              <a:rPr dirty="0"/>
              <a:t> in the predictor values, </a:t>
            </a:r>
            <a:r>
              <a:rPr lang="en-US" dirty="0"/>
              <a:t>violates </a:t>
            </a:r>
            <a:r>
              <a:rPr dirty="0"/>
              <a:t>the </a:t>
            </a:r>
            <a:r>
              <a:rPr dirty="0" err="1"/>
              <a:t>iid</a:t>
            </a:r>
            <a:r>
              <a:rPr dirty="0"/>
              <a:t> assumption- but can account for this such as in time series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dirty="0"/>
                  <a:t>When evaluating any machine learning model consider </a:t>
                </a:r>
                <a:r>
                  <a:rPr b="1" dirty="0"/>
                  <a:t>all evaluation methods available</a:t>
                </a:r>
              </a:p>
              <a:p>
                <a:pPr lvl="0"/>
                <a:r>
                  <a:rPr dirty="0"/>
                  <a:t>No one method best all of the time</a:t>
                </a:r>
              </a:p>
              <a:p>
                <a:pPr lvl="1"/>
                <a:r>
                  <a:rPr dirty="0" err="1"/>
                  <a:t>Homoskedastic</a:t>
                </a:r>
                <a:r>
                  <a:rPr dirty="0"/>
                  <a:t> Normally distributed residuals</a:t>
                </a:r>
              </a:p>
              <a:p>
                <a:pPr lvl="1"/>
                <a:r>
                  <a:rPr dirty="0"/>
                  <a:t>Reasonable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, RMSE, </a:t>
                </a:r>
                <a:r>
                  <a:rPr dirty="0" err="1"/>
                  <a:t>etc</a:t>
                </a:r>
                <a:endParaRPr dirty="0"/>
              </a:p>
              <a:p>
                <a:pPr lvl="1"/>
                <a:r>
                  <a:rPr dirty="0"/>
                  <a:t>Are the model coefficients all significant?</a:t>
                </a:r>
              </a:p>
              <a:p>
                <a:pPr lvl="0"/>
                <a:r>
                  <a:rPr b="1" dirty="0"/>
                  <a:t>Different methods highlight different problems</a:t>
                </a:r>
                <a:r>
                  <a:rPr dirty="0"/>
                  <a:t> with your model</a:t>
                </a:r>
              </a:p>
              <a:p>
                <a:pPr lvl="0"/>
                <a:r>
                  <a:rPr dirty="0"/>
                  <a:t>Don’t forget to check that the </a:t>
                </a:r>
                <a:r>
                  <a:rPr b="1" dirty="0"/>
                  <a:t>model must make sense</a:t>
                </a:r>
                <a:r>
                  <a:rPr dirty="0"/>
                  <a:t> for your application!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b="-2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4217</Words>
  <Application>Microsoft Office PowerPoint</Application>
  <PresentationFormat>On-screen Show (16:9)</PresentationFormat>
  <Paragraphs>485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Cambria Math</vt:lpstr>
      <vt:lpstr>Courier</vt:lpstr>
      <vt:lpstr>Office Theme</vt:lpstr>
      <vt:lpstr>Introduction to Linear Models</vt:lpstr>
      <vt:lpstr>Introduction - Why linear models?</vt:lpstr>
      <vt:lpstr>Introduction - Why linear models?</vt:lpstr>
      <vt:lpstr>Why Linear Models</vt:lpstr>
      <vt:lpstr>What is regression?</vt:lpstr>
      <vt:lpstr>Terminology</vt:lpstr>
      <vt:lpstr>Terminology</vt:lpstr>
      <vt:lpstr>PowerPoint Presentation</vt:lpstr>
      <vt:lpstr>Formulating the Linear Model</vt:lpstr>
      <vt:lpstr>Formulating the Linear Model</vt:lpstr>
      <vt:lpstr>Formulating the Linear Model</vt:lpstr>
      <vt:lpstr>Single Predictor Regression</vt:lpstr>
      <vt:lpstr>Single Predictor Regression</vt:lpstr>
      <vt:lpstr>Example</vt:lpstr>
      <vt:lpstr>The Model Matrix</vt:lpstr>
      <vt:lpstr>The Model Matrix</vt:lpstr>
      <vt:lpstr>Constructing the Model</vt:lpstr>
      <vt:lpstr>PowerPoint Presentation</vt:lpstr>
      <vt:lpstr>Estimating the Model Parameters</vt:lpstr>
      <vt:lpstr>Estimating the Model Parameters</vt:lpstr>
      <vt:lpstr>Estimating the Model Parameters</vt:lpstr>
      <vt:lpstr>Estimating the Model Parameters</vt:lpstr>
      <vt:lpstr>Estimating the Model Parameters</vt:lpstr>
      <vt:lpstr>Estimating the Model Parameters</vt:lpstr>
      <vt:lpstr>Estimating the Model Parameters</vt:lpstr>
      <vt:lpstr>PowerPoint Presentation</vt:lpstr>
      <vt:lpstr>Example - Specifying the Model</vt:lpstr>
      <vt:lpstr>Example - Specifying the Model</vt:lpstr>
      <vt:lpstr>Example – Fitting the Model</vt:lpstr>
      <vt:lpstr>Example - Fitting the Model</vt:lpstr>
      <vt:lpstr>PowerPoint Presentation</vt:lpstr>
      <vt:lpstr>Example - Interpreting the Model</vt:lpstr>
      <vt:lpstr>Example – Interpreting the Model</vt:lpstr>
      <vt:lpstr>PowerPoint Presentation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Evaluating Regression Models</vt:lpstr>
      <vt:lpstr>PowerPoint Presentation</vt:lpstr>
      <vt:lpstr>Inference on Linear Models</vt:lpstr>
      <vt:lpstr>Inference on Linear Models</vt:lpstr>
      <vt:lpstr>PowerPoint Presentation</vt:lpstr>
      <vt:lpstr>Extending the Linear Model</vt:lpstr>
      <vt:lpstr>Extending the Linear Model</vt:lpstr>
      <vt:lpstr>Extending the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Example of Multi-Feature Linear Model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Models</dc:title>
  <dc:creator>Steve Elston</dc:creator>
  <cp:keywords/>
  <cp:lastModifiedBy>Stephen Elston</cp:lastModifiedBy>
  <cp:revision>139</cp:revision>
  <dcterms:created xsi:type="dcterms:W3CDTF">2024-08-16T02:31:51Z</dcterms:created>
  <dcterms:modified xsi:type="dcterms:W3CDTF">2026-09-22T02:40:24Z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10/23/2023</vt:lpwstr>
  </property>
  <property fmtid="{D5CDD505-2E9C-101B-9397-08002B2CF9AE}" pid="3" name="output">
    <vt:lpwstr/>
  </property>
</Properties>
</file>