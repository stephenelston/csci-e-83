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301" r:id="rId2"/>
    <p:sldId id="261" r:id="rId3"/>
    <p:sldId id="319" r:id="rId4"/>
    <p:sldId id="262" r:id="rId5"/>
    <p:sldId id="263" r:id="rId6"/>
    <p:sldId id="264" r:id="rId7"/>
    <p:sldId id="265" r:id="rId8"/>
    <p:sldId id="266" r:id="rId9"/>
    <p:sldId id="311" r:id="rId10"/>
    <p:sldId id="258" r:id="rId11"/>
    <p:sldId id="259" r:id="rId12"/>
    <p:sldId id="260" r:id="rId13"/>
    <p:sldId id="267" r:id="rId14"/>
    <p:sldId id="268" r:id="rId15"/>
    <p:sldId id="312" r:id="rId16"/>
    <p:sldId id="269" r:id="rId17"/>
    <p:sldId id="302" r:id="rId18"/>
    <p:sldId id="270" r:id="rId19"/>
    <p:sldId id="321" r:id="rId20"/>
    <p:sldId id="320" r:id="rId21"/>
    <p:sldId id="322" r:id="rId22"/>
    <p:sldId id="313" r:id="rId23"/>
    <p:sldId id="271" r:id="rId24"/>
    <p:sldId id="272" r:id="rId25"/>
    <p:sldId id="306" r:id="rId26"/>
    <p:sldId id="307" r:id="rId27"/>
    <p:sldId id="308" r:id="rId28"/>
    <p:sldId id="314" r:id="rId29"/>
    <p:sldId id="273" r:id="rId30"/>
    <p:sldId id="274" r:id="rId31"/>
    <p:sldId id="275" r:id="rId32"/>
    <p:sldId id="276" r:id="rId33"/>
    <p:sldId id="326" r:id="rId34"/>
    <p:sldId id="277" r:id="rId35"/>
    <p:sldId id="309" r:id="rId36"/>
    <p:sldId id="278" r:id="rId37"/>
    <p:sldId id="324" r:id="rId38"/>
    <p:sldId id="325" r:id="rId39"/>
    <p:sldId id="315" r:id="rId40"/>
    <p:sldId id="279" r:id="rId41"/>
    <p:sldId id="280" r:id="rId42"/>
    <p:sldId id="281" r:id="rId43"/>
    <p:sldId id="310" r:id="rId44"/>
    <p:sldId id="282" r:id="rId45"/>
    <p:sldId id="303" r:id="rId46"/>
    <p:sldId id="284" r:id="rId47"/>
    <p:sldId id="285" r:id="rId48"/>
    <p:sldId id="286" r:id="rId49"/>
    <p:sldId id="287" r:id="rId50"/>
    <p:sldId id="288" r:id="rId51"/>
    <p:sldId id="304" r:id="rId52"/>
    <p:sldId id="289" r:id="rId53"/>
    <p:sldId id="316" r:id="rId54"/>
    <p:sldId id="290" r:id="rId55"/>
    <p:sldId id="291" r:id="rId56"/>
    <p:sldId id="292" r:id="rId57"/>
    <p:sldId id="317" r:id="rId58"/>
    <p:sldId id="293" r:id="rId59"/>
    <p:sldId id="294" r:id="rId60"/>
    <p:sldId id="295" r:id="rId61"/>
    <p:sldId id="296" r:id="rId62"/>
    <p:sldId id="297" r:id="rId63"/>
    <p:sldId id="318" r:id="rId64"/>
    <p:sldId id="298" r:id="rId65"/>
    <p:sldId id="299" r:id="rId66"/>
    <p:sldId id="327" r:id="rId67"/>
    <p:sldId id="300" r:id="rId6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305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DEE00-70AE-47E2-95E5-F1C95ECCE916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04D45-DAE7-4D1F-88B9-D696491D3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65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C04D45-DAE7-4D1F-88B9-D696491D3F5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2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xkcd.com/1132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www.metsci.com/wp-content/uploads/2019/08/Search-and-Rescue-Optimal-Planning-System.pdf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fron.ckirby.su.domains/papers/2021EB-concepts-methods.pd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Jeffreys_prior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Bayesian Models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0204" y="343138"/>
            <a:ext cx="4613563" cy="3356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Introduction Bayesian Models</a:t>
            </a:r>
            <a:br>
              <a:rPr lang="en-US" dirty="0"/>
            </a:br>
            <a:br>
              <a:rPr lang="en-US" dirty="0"/>
            </a:br>
            <a:r>
              <a:rPr lang="en-US" sz="1400" dirty="0">
                <a:hlinkClick r:id="rId2"/>
              </a:rPr>
              <a:t>Drawing from </a:t>
            </a:r>
            <a:r>
              <a:rPr lang="en-US" sz="1400" dirty="0" err="1">
                <a:hlinkClick r:id="rId2"/>
              </a:rPr>
              <a:t>xkcd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0E65B1-68AA-37F2-F9AD-B64695362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189" y="71084"/>
            <a:ext cx="3279878" cy="49581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B9FA8-191F-1A69-1B39-314AB7213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F255D-C244-3C3E-A5C1-73F79A5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7A9F6-0D43-C4AB-63C1-289400768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3886"/>
            <a:ext cx="8229600" cy="374105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Despite the long history, </a:t>
            </a:r>
            <a:r>
              <a:rPr b="1" dirty="0"/>
              <a:t>Bayesian models </a:t>
            </a:r>
            <a:r>
              <a:rPr dirty="0"/>
              <a:t>have not been used extensively until recently</a:t>
            </a:r>
          </a:p>
          <a:p>
            <a:pPr lvl="0"/>
            <a:r>
              <a:rPr dirty="0"/>
              <a:t>Two traditions in statistics</a:t>
            </a:r>
          </a:p>
          <a:p>
            <a:pPr lvl="1"/>
            <a:r>
              <a:rPr b="1" dirty="0"/>
              <a:t>Frequentist </a:t>
            </a:r>
            <a:r>
              <a:rPr lang="en-US" b="1" dirty="0"/>
              <a:t>classical statistics </a:t>
            </a:r>
            <a:r>
              <a:rPr dirty="0"/>
              <a:t>we have been working with previously</a:t>
            </a:r>
          </a:p>
          <a:p>
            <a:pPr lvl="1"/>
            <a:r>
              <a:rPr b="1" dirty="0"/>
              <a:t>Bayesian statistics</a:t>
            </a:r>
          </a:p>
          <a:p>
            <a:pPr lvl="0"/>
            <a:r>
              <a:rPr dirty="0"/>
              <a:t>Limited use</a:t>
            </a:r>
            <a:r>
              <a:rPr lang="en-US" dirty="0"/>
              <a:t> of Bayesian methods</a:t>
            </a:r>
            <a:r>
              <a:rPr dirty="0"/>
              <a:t> is a result of several difficulties</a:t>
            </a:r>
          </a:p>
          <a:p>
            <a:pPr lvl="1"/>
            <a:r>
              <a:rPr dirty="0"/>
              <a:t>Rarely taught for much of the 20th Century</a:t>
            </a:r>
          </a:p>
          <a:p>
            <a:pPr lvl="1"/>
            <a:r>
              <a:rPr lang="en-US" dirty="0"/>
              <a:t>Specifying </a:t>
            </a:r>
            <a:r>
              <a:rPr dirty="0"/>
              <a:t>a </a:t>
            </a:r>
            <a:r>
              <a:rPr b="1" dirty="0"/>
              <a:t>prior distribution</a:t>
            </a:r>
            <a:r>
              <a:rPr dirty="0"/>
              <a:t> has proved a formidable intellectual obstacle</a:t>
            </a:r>
          </a:p>
          <a:p>
            <a:pPr lvl="1"/>
            <a:r>
              <a:rPr dirty="0"/>
              <a:t>Modern Bayesian methods are often computationally intensive and have become practical only with cheap computing</a:t>
            </a:r>
          </a:p>
          <a:p>
            <a:pPr lvl="0"/>
            <a:r>
              <a:rPr lang="en-US" dirty="0"/>
              <a:t>E</a:t>
            </a:r>
            <a:r>
              <a:rPr dirty="0"/>
              <a:t>mergence of improved software and algorithms has resulted in wide and practical </a:t>
            </a:r>
            <a:r>
              <a:rPr lang="en-US" dirty="0"/>
              <a:t>use</a:t>
            </a:r>
            <a:r>
              <a:rPr dirty="0"/>
              <a:t> to Bayesian methods</a:t>
            </a:r>
          </a:p>
        </p:txBody>
      </p:sp>
    </p:spTree>
    <p:extLst>
      <p:ext uri="{BB962C8B-B14F-4D97-AF65-F5344CB8AC3E}">
        <p14:creationId xmlns:p14="http://schemas.microsoft.com/office/powerpoint/2010/main" val="639575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r>
              <a:rPr lang="en-US" dirty="0"/>
              <a:t>F</a:t>
            </a:r>
            <a:r>
              <a:rPr dirty="0"/>
              <a:t>requentist statistics compute</a:t>
            </a:r>
            <a:r>
              <a:rPr lang="en-US" dirty="0"/>
              <a:t>s</a:t>
            </a:r>
            <a:r>
              <a:rPr dirty="0"/>
              <a:t> a point estimate and confidence interval from a sample</a:t>
            </a:r>
            <a:endParaRPr lang="en-US" dirty="0"/>
          </a:p>
          <a:p>
            <a:r>
              <a:rPr lang="en-US" dirty="0"/>
              <a:t>The objective of Bayesian analysis is to compute a </a:t>
            </a:r>
            <a:r>
              <a:rPr lang="en-US" b="1" dirty="0"/>
              <a:t>posterior distribution</a:t>
            </a:r>
          </a:p>
          <a:p>
            <a:r>
              <a:rPr lang="en-US" dirty="0"/>
              <a:t>Inference can be performed on the posterior distribution by finding the </a:t>
            </a:r>
            <a:r>
              <a:rPr lang="en-US" b="1" dirty="0"/>
              <a:t>maximum a </a:t>
            </a:r>
            <a:r>
              <a:rPr lang="en-US" b="1" dirty="0" err="1"/>
              <a:t>postiori</a:t>
            </a:r>
            <a:r>
              <a:rPr lang="en-US" b="1" dirty="0"/>
              <a:t> (MAP)</a:t>
            </a:r>
            <a:r>
              <a:rPr lang="en-US" dirty="0"/>
              <a:t> value and a </a:t>
            </a:r>
            <a:r>
              <a:rPr lang="en-US" b="1" dirty="0"/>
              <a:t>credible interval</a:t>
            </a:r>
            <a:endParaRPr lang="en-US" dirty="0"/>
          </a:p>
          <a:p>
            <a:pPr lvl="0"/>
            <a:r>
              <a:rPr dirty="0"/>
              <a:t>The </a:t>
            </a:r>
            <a:r>
              <a:rPr b="1" dirty="0"/>
              <a:t>posterior distribution </a:t>
            </a:r>
            <a:r>
              <a:rPr b="1"/>
              <a:t>quantif</a:t>
            </a:r>
            <a:r>
              <a:rPr lang="en-US" b="1"/>
              <a:t>ies</a:t>
            </a:r>
            <a:r>
              <a:rPr b="1"/>
              <a:t> </a:t>
            </a:r>
            <a:r>
              <a:rPr b="1" dirty="0"/>
              <a:t>our current belief</a:t>
            </a:r>
            <a:endParaRPr lang="en-US" b="1" dirty="0"/>
          </a:p>
          <a:p>
            <a:pPr lvl="0"/>
            <a:r>
              <a:rPr lang="en-US" dirty="0"/>
              <a:t>Bayesian models allow expressing </a:t>
            </a:r>
            <a:r>
              <a:rPr lang="en-US" b="1" dirty="0"/>
              <a:t>prior information </a:t>
            </a:r>
            <a:r>
              <a:rPr lang="en-US" dirty="0"/>
              <a:t>in the form of a </a:t>
            </a:r>
            <a:r>
              <a:rPr lang="en-US" b="1" dirty="0"/>
              <a:t>prior distribution</a:t>
            </a:r>
          </a:p>
          <a:p>
            <a:pPr lvl="0"/>
            <a:r>
              <a:rPr lang="en-US" dirty="0"/>
              <a:t>Update beliefs based on </a:t>
            </a:r>
            <a:r>
              <a:rPr lang="en-US" b="1" dirty="0"/>
              <a:t>additional data </a:t>
            </a:r>
            <a:r>
              <a:rPr lang="en-US" dirty="0"/>
              <a:t>or </a:t>
            </a:r>
            <a:r>
              <a:rPr lang="en-US" b="1" dirty="0"/>
              <a:t>evidence</a:t>
            </a:r>
            <a:endParaRPr lang="en-US" dirty="0"/>
          </a:p>
          <a:p>
            <a:r>
              <a:rPr lang="en-US" dirty="0"/>
              <a:t>Frequentist models which must be recomputed from a complete sample</a:t>
            </a:r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21229"/>
            <a:ext cx="4728029" cy="3816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methods made global headlines with the successful location of the missing Air France Flight 447</a:t>
            </a:r>
          </a:p>
          <a:p>
            <a:pPr lvl="0"/>
            <a:r>
              <a:rPr dirty="0"/>
              <a:t>Aircraft had disappeared in little traveled area of the South Atlantic Ocean</a:t>
            </a:r>
            <a:r>
              <a:rPr lang="en-US" dirty="0"/>
              <a:t> on June 1, 2009</a:t>
            </a:r>
            <a:endParaRPr dirty="0"/>
          </a:p>
          <a:p>
            <a:pPr lvl="0"/>
            <a:r>
              <a:rPr dirty="0"/>
              <a:t>Conventional location methods had failed to locate the wreckage; potential search area too large</a:t>
            </a:r>
          </a:p>
          <a:p>
            <a:pPr lvl="0"/>
            <a:r>
              <a:rPr dirty="0"/>
              <a:t>Bayesian methods rapidly narrowed the prospective search area</a:t>
            </a:r>
          </a:p>
          <a:p>
            <a:pPr lvl="1"/>
            <a:r>
              <a:rPr dirty="0"/>
              <a:t>Used ‘prior information’ on aircraft heading and time of satellite transmission</a:t>
            </a:r>
          </a:p>
        </p:txBody>
      </p:sp>
      <p:pic>
        <p:nvPicPr>
          <p:cNvPr id="4" name="Picture 1" descr="../images/AirFrance447_posterior_PDF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4290" y="1121229"/>
            <a:ext cx="3751696" cy="31659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39567" y="4345158"/>
            <a:ext cx="370114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distribution of locations of Air France 447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200151"/>
            <a:ext cx="5312229" cy="339447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>
                <a:hlinkClick r:id="rId2"/>
              </a:rPr>
              <a:t>Kratzke, Stone and Frost</a:t>
            </a:r>
            <a:r>
              <a:rPr dirty="0"/>
              <a:t> developed an optimal search planner using Bayesian model</a:t>
            </a:r>
            <a:r>
              <a:rPr lang="en-US" dirty="0"/>
              <a:t>ing for the US Coast Guard</a:t>
            </a:r>
            <a:endParaRPr dirty="0"/>
          </a:p>
          <a:p>
            <a:pPr lvl="0"/>
            <a:r>
              <a:rPr dirty="0"/>
              <a:t>Search areas concentrate on high posterior probability regions</a:t>
            </a:r>
          </a:p>
          <a:p>
            <a:pPr lvl="0"/>
            <a:r>
              <a:rPr dirty="0"/>
              <a:t>Model accounts for current, wind, etc.</a:t>
            </a:r>
          </a:p>
        </p:txBody>
      </p:sp>
      <p:pic>
        <p:nvPicPr>
          <p:cNvPr id="4" name="Picture 1" descr="../images/USCG_search_planner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47971" y="962836"/>
            <a:ext cx="2476499" cy="355800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20971" y="4420450"/>
            <a:ext cx="282302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Screen shot from USCG search planner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10761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With greater computational power and general acceptance, Bayes methods are now widely used</a:t>
            </a:r>
          </a:p>
          <a:p>
            <a:pPr lvl="0"/>
            <a:r>
              <a:rPr dirty="0"/>
              <a:t>Among pragmatists</a:t>
            </a:r>
          </a:p>
          <a:p>
            <a:pPr lvl="1"/>
            <a:r>
              <a:rPr dirty="0"/>
              <a:t>Some problems are better handled by frequentist methods</a:t>
            </a:r>
          </a:p>
          <a:p>
            <a:pPr lvl="1"/>
            <a:r>
              <a:rPr dirty="0"/>
              <a:t>Some problems with Bayesian methods</a:t>
            </a:r>
          </a:p>
          <a:p>
            <a:pPr lvl="0"/>
            <a:r>
              <a:rPr dirty="0"/>
              <a:t>Bayes models allow us to express </a:t>
            </a:r>
            <a:r>
              <a:rPr b="1" dirty="0"/>
              <a:t>prior information</a:t>
            </a:r>
          </a:p>
          <a:p>
            <a:pPr lvl="0"/>
            <a:r>
              <a:rPr dirty="0"/>
              <a:t>Models that fall between these extremes are also in common use</a:t>
            </a:r>
          </a:p>
          <a:p>
            <a:pPr lvl="1"/>
            <a:r>
              <a:rPr dirty="0"/>
              <a:t>Methods include the so-called </a:t>
            </a:r>
            <a:r>
              <a:rPr b="1" dirty="0"/>
              <a:t>empirical Bayes</a:t>
            </a:r>
            <a:r>
              <a:rPr dirty="0"/>
              <a:t> methods</a:t>
            </a:r>
            <a:endParaRPr lang="en-US" dirty="0"/>
          </a:p>
          <a:p>
            <a:pPr lvl="1"/>
            <a:r>
              <a:rPr lang="en-US" dirty="0"/>
              <a:t>See </a:t>
            </a:r>
            <a:r>
              <a:rPr lang="en-US" dirty="0">
                <a:hlinkClick r:id="rId2"/>
              </a:rPr>
              <a:t>Empirical Bayes: Concepts and Methods by Bradley Efron</a:t>
            </a:r>
            <a:r>
              <a:rPr lang="en-US" dirty="0"/>
              <a:t> for an introduction to the theory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7286" y="902664"/>
            <a:ext cx="8229600" cy="32113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Can compare the contrasting frequentist and Bayesian approaches</a:t>
            </a:r>
          </a:p>
        </p:txBody>
      </p:sp>
      <p:pic>
        <p:nvPicPr>
          <p:cNvPr id="4" name="Picture 1" descr="../images/FrequentistBayes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84097" y="1200120"/>
            <a:ext cx="5445330" cy="393659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B9081-0CA3-AAB6-7DBB-A24F7018A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30AEC-C3DD-98C7-32C5-EC633E41F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 Theorem</a:t>
            </a:r>
          </a:p>
        </p:txBody>
      </p:sp>
    </p:spTree>
    <p:extLst>
      <p:ext uri="{BB962C8B-B14F-4D97-AF65-F5344CB8AC3E}">
        <p14:creationId xmlns:p14="http://schemas.microsoft.com/office/powerpoint/2010/main" val="1371435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pPr lvl="0"/>
                <a:r>
                  <a:rPr lang="en-US" b="1" dirty="0"/>
                  <a:t>Sample space</a:t>
                </a:r>
                <a:r>
                  <a:rPr lang="en-US" dirty="0"/>
                  <a:t> is the space of all possible events in the set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Intersection</a:t>
                </a:r>
                <a:r>
                  <a:rPr lang="en-US" dirty="0"/>
                  <a:t> is where the two sets overlap occur in both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as</a:t>
                </a:r>
                <a:r>
                  <a:rPr lang="en-US" dirty="0"/>
                  <a:t>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probability distribution in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 of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Bayes’ Theorem is fundamental to Bayesian data analysis.</a:t>
                </a:r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And finally, </a:t>
                </a:r>
                <a:r>
                  <a:rPr b="1" dirty="0"/>
                  <a:t>Bayes theorem!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</a:t>
            </a:r>
          </a:p>
        </p:txBody>
      </p:sp>
      <p:pic>
        <p:nvPicPr>
          <p:cNvPr id="3" name="Picture 1" descr="../images/BayesDeNeon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74042" y="918028"/>
            <a:ext cx="3928289" cy="35668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5171" y="4575629"/>
            <a:ext cx="8229600" cy="61589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400" dirty="0"/>
              <a:t>Bayes Theorem!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E7B-C1EF-B062-E7C3-0C47EEF4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1075F-590A-7087-ACA1-3AF2A041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Marginal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1025652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</a:t>
                </a:r>
                <a:r>
                  <a:rPr lang="en-US" sz="2000" dirty="0"/>
                  <a:t>;</a:t>
                </a:r>
                <a:r>
                  <a:rPr sz="2000" dirty="0"/>
                  <a:t> it is often the case that only one or a few parameters of a joint distribution </a:t>
                </a:r>
                <a:r>
                  <a:rPr lang="en-US" sz="2000" dirty="0"/>
                  <a:t>are </a:t>
                </a:r>
                <a:r>
                  <a:rPr sz="2000" dirty="0"/>
                  <a:t>of interest</a:t>
                </a:r>
              </a:p>
              <a:p>
                <a:r>
                  <a:rPr sz="2000" dirty="0"/>
                  <a:t>In other words, we are interested in the </a:t>
                </a:r>
                <a:r>
                  <a:rPr sz="2000" b="1" dirty="0"/>
                  <a:t>marginal distribution </a:t>
                </a:r>
                <a:r>
                  <a:rPr sz="2000" dirty="0"/>
                  <a:t>of these parameters</a:t>
                </a:r>
              </a:p>
              <a:p>
                <a:r>
                  <a:rPr sz="20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0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78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</a:t>
                </a:r>
                <a:r>
                  <a:rPr sz="2000" b="1" dirty="0"/>
                  <a:t>probability density function </a:t>
                </a:r>
                <a:r>
                  <a:rPr sz="2000" dirty="0"/>
                  <a:t>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</a:t>
                </a:r>
                <a:r>
                  <a:rPr lang="en-US" sz="2000" dirty="0"/>
                  <a:t>dimensions</a:t>
                </a:r>
                <a:r>
                  <a:rPr sz="2000" dirty="0"/>
                  <a:t>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0"/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</a:t>
                </a:r>
                <a:endParaRPr lang="en-US" sz="2000" dirty="0"/>
              </a:p>
              <a:p>
                <a:pPr lvl="0"/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  <a:endParaRPr lang="en-US" sz="20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r>
                  <a:rPr sz="2000" dirty="0"/>
                  <a:t>But </a:t>
                </a:r>
                <a:r>
                  <a:rPr lang="en-US" sz="2000" dirty="0"/>
                  <a:t>directly evaluating</a:t>
                </a:r>
                <a:r>
                  <a:rPr sz="2000" dirty="0"/>
                  <a:t> this integral is not easy!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148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</a:t>
                </a:r>
                <a:r>
                  <a:rPr dirty="0"/>
                  <a:t>or </a:t>
                </a:r>
                <a:r>
                  <a:rPr b="1" dirty="0"/>
                  <a:t>discrete distributions </a:t>
                </a:r>
                <a:r>
                  <a:rPr dirty="0"/>
                  <a:t>compute the marginal by summation</a:t>
                </a:r>
              </a:p>
              <a:p>
                <a:pPr lvl="0"/>
                <a:r>
                  <a:rPr dirty="0"/>
                  <a:t>Example, need to know </a:t>
                </a:r>
                <a:r>
                  <a:rPr lang="en-US" dirty="0"/>
                  <a:t>the </a:t>
                </a:r>
                <a:r>
                  <a:rPr dirty="0"/>
                  <a:t>(un-normalized) posterior distribution of 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</a:t>
                </a:r>
                <a:r>
                  <a:rPr lang="en-US" dirty="0"/>
                  <a:t>computed as a</a:t>
                </a:r>
                <a:r>
                  <a:rPr dirty="0"/>
                  <a:t>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 we have the marginal distribution of</a:t>
                </a:r>
                <a:r>
                  <a:rPr lang="en-US" dirty="0"/>
                  <a:t> the parameters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Or, we need to find the denominator for Bayes theorem to normalize our posterior distribution, a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𝛩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compute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</m:oMath>
                </a14:m>
                <a:r>
                  <a:rPr dirty="0"/>
                  <a:t> from samples without directly </a:t>
                </a:r>
                <a:r>
                  <a:rPr lang="en-US" dirty="0"/>
                  <a:t>knowing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b="-2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604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B596-A5A1-2085-96D3-9633168B9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F835A-AA1F-3961-2447-CA79D534D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Interpreting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905732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you interpret Bayes’ Theorem?</a:t>
                </a:r>
              </a:p>
              <a:p>
                <a:pPr lvl="0"/>
                <a:r>
                  <a:rPr lang="en-US" dirty="0"/>
                  <a:t>For model parameter estimation problem: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𝐿𝑖𝑘𝑒𝑙𝑖ℎ𝑜𝑜𝑑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𝐷𝑖𝑠𝑡𝑟𝑖𝑏𝑢𝑡𝑖𝑜𝑛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𝐸𝑣𝑖𝑑𝑒𝑛𝑐𝑒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Or, Bayes’ theorem in terms of </a:t>
                </a:r>
                <a:r>
                  <a:rPr lang="en-US" b="1" dirty="0"/>
                  <a:t>data and model parameters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Summarized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Posterior distribution</a:t>
                </a:r>
                <a:r>
                  <a:rPr dirty="0"/>
                  <a:t> of the</a:t>
                </a:r>
                <a:r>
                  <a:rPr lang="en-US" dirty="0"/>
                  <a:t> model</a:t>
                </a:r>
                <a:r>
                  <a:rPr dirty="0"/>
                  <a:t> parameters given the evidence or data, the goal of Bayesian analysis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A Bayesian analyst thinks of the posterior distribution as quantifying the </a:t>
                </a:r>
                <a:r>
                  <a:rPr lang="en-US" b="1" dirty="0"/>
                  <a:t>current state of belief</a:t>
                </a:r>
                <a:r>
                  <a:rPr lang="en-US" dirty="0"/>
                  <a:t> about the model parameters</a:t>
                </a:r>
                <a:endParaRPr b="1"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0FC39-8A58-FBF9-8FAE-CF6B4854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52BC9-1D08-D207-A300-0E84CFE1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2"/>
                </a:pPr>
                <a:r>
                  <a:rPr b="1" dirty="0"/>
                  <a:t>Prior distribution</a:t>
                </a:r>
                <a:r>
                  <a:rPr dirty="0"/>
                  <a:t> is chosen to express information available about the model parameters </a:t>
                </a:r>
                <a:r>
                  <a:rPr dirty="0" err="1"/>
                  <a:t>apriori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249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426B5-5BFD-E688-EB8A-8D5D4D5E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AD6D-7C28-97E8-DD45-7F9C3B68A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3"/>
                </a:pPr>
                <a:r>
                  <a:rPr b="1" dirty="0"/>
                  <a:t>Likelihood</a:t>
                </a:r>
                <a:r>
                  <a:rPr dirty="0"/>
                  <a:t> is the conditional distribution of the data given the model parameters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98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F9DBD-0624-B170-F5D9-517871F9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51031-E105-5065-B37E-BF0CF0D6B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4"/>
                </a:pPr>
                <a:r>
                  <a:rPr b="1" dirty="0"/>
                  <a:t>Probability of Data</a:t>
                </a:r>
                <a:r>
                  <a:rPr dirty="0"/>
                  <a:t> or </a:t>
                </a:r>
                <a:r>
                  <a:rPr b="1" dirty="0"/>
                  <a:t>evidence</a:t>
                </a:r>
                <a:r>
                  <a:rPr dirty="0"/>
                  <a:t> is the distribution of the data and normalizes the posterior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Directly computing this </a:t>
                </a:r>
                <a:r>
                  <a:rPr lang="en-US" b="1" dirty="0"/>
                  <a:t>partition function </a:t>
                </a:r>
                <a:r>
                  <a:rPr lang="en-US" dirty="0"/>
                  <a:t>or normalization can be problematic</a:t>
                </a:r>
                <a:endParaRPr dirty="0"/>
              </a:p>
              <a:p>
                <a:pPr marL="0" lvl="0" indent="0">
                  <a:buNone/>
                </a:pPr>
                <a:r>
                  <a:rPr dirty="0"/>
                  <a:t>Relationships can apply to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b="-2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18863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8D44E-25A6-3AA1-75E9-D88F94427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8D54E-DB50-1362-6520-A97812FBA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Applying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2184794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need a tractable formulation of Bayes Theorem for computational problems</a:t>
                </a:r>
              </a:p>
              <a:p>
                <a:pPr lvl="0"/>
                <a:r>
                  <a:rPr lang="en-US" dirty="0"/>
                  <a:t>We must avoid directly enumerating all of the possibilities required to compute the denominator,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 many cases, computing this denominator directly is intractable</a:t>
                </a:r>
              </a:p>
              <a:p>
                <a:pPr lvl="0"/>
                <a:r>
                  <a:rPr lang="en-US" dirty="0"/>
                  <a:t>Some interesting facts about conditional probabilities: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the marginal distribution,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Using the foregoing relations we can rewrite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│</m:t>
                              </m:r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Computing the denominator requires summing all cases in the subsets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is a bit of a mess!</a:t>
                </a:r>
              </a:p>
              <a:p>
                <a:pPr lvl="1"/>
                <a:r>
                  <a:rPr lang="en-US" dirty="0"/>
                  <a:t>And, the situation is worse if there are multiple alternative hypotheses!</a:t>
                </a:r>
              </a:p>
              <a:p>
                <a:r>
                  <a:rPr lang="en-US" dirty="0"/>
                  <a:t>Fortunately, we can often avoid computing this denominator by force</a:t>
                </a:r>
              </a:p>
              <a:p>
                <a:r>
                  <a:rPr lang="en-US" dirty="0"/>
                  <a:t>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Ignoring the normalization constant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444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𝑦𝑝𝑡ℎ𝑒𝑠𝑖𝑠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ℎ𝑦𝑝𝑜𝑡ℎ𝑒𝑠𝑖𝑠</m:t>
                              </m:r>
                            </m:e>
                          </m:d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𝑝𝑜𝑡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𝑠𝑒𝑠</m:t>
                              </m:r>
                            </m:sub>
                            <m:sup/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𝑙𝑖𝑘𝑒𝑙𝑖ℎ𝑜𝑜𝑑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ar-AE" sz="2000" dirty="0"/>
              </a:p>
              <a:p>
                <a:r>
                  <a:rPr lang="en-US" sz="2000" dirty="0"/>
                  <a:t>Computing this denominator is a formidable problem!</a:t>
                </a:r>
              </a:p>
              <a:p>
                <a:pPr lvl="0"/>
                <a:r>
                  <a:rPr lang="en-US" sz="2000" dirty="0"/>
                  <a:t>Can be infinite number of alternative hypotheses; e.g. continuous random variable</a:t>
                </a:r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41" t="-1077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Simplified Relationship for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compute the posterior distribution?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𝑙𝑖𝑘𝑒𝑙𝑖ℎ𝑜𝑜𝑑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𝑑𝑖𝑠𝑡𝑟𝑖𝑏𝑢𝑡𝑖𝑜𝑛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:r>
                  <a:rPr lang="en-US" dirty="0"/>
                  <a:t>Or,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/>
                        <m:t>𝑃( ���𝑎𝑟𝑎𝑚𝑒𝑡𝑒𝑟𝑠 │ ���𝑎𝑡𝑎 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m:rPr>
                          <m:nor/>
                        </m:rPr>
                        <a:rPr lang="en-US" i="0" dirty="0"/>
                        <m:t>𝑃( ���𝑎𝑡𝑎 | ���𝑎𝑟𝑎𝑚𝑒𝑡𝑒𝑟𝑠 )���( ���𝑎𝑟𝑎𝑚𝑒𝑡𝑒𝑟𝑠 )</m:t>
                      </m:r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dirty="0"/>
                  <a:t>Compute un-normalized function proportional to the posterior distribution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dirty="0"/>
                  <a:t>Sum over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to find the </a:t>
                </a:r>
                <a:r>
                  <a:rPr lang="en-US" b="1" dirty="0"/>
                  <a:t>marginal distribution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dirty="0"/>
                  <a:t>Normalize the posterior </a:t>
                </a:r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Approach can transform an intractable computation into a simple summation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 b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F25B6-B34F-2431-4006-BA946139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237E5-C990-1F33-A71B-4452C4A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Workflow for Bayes Modeling</a:t>
            </a:r>
          </a:p>
        </p:txBody>
      </p:sp>
    </p:spTree>
    <p:extLst>
      <p:ext uri="{BB962C8B-B14F-4D97-AF65-F5344CB8AC3E}">
        <p14:creationId xmlns:p14="http://schemas.microsoft.com/office/powerpoint/2010/main" val="37699858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b="1" dirty="0"/>
              <a:t>Identify data </a:t>
            </a:r>
            <a:r>
              <a:rPr dirty="0"/>
              <a:t>relevant to the research question</a:t>
            </a:r>
          </a:p>
          <a:p>
            <a:pPr marL="342900" lvl="0" indent="-342900">
              <a:buAutoNum type="arabicPeriod"/>
            </a:pPr>
            <a:r>
              <a:rPr dirty="0"/>
              <a:t>Define a </a:t>
            </a:r>
            <a:r>
              <a:rPr b="1" dirty="0"/>
              <a:t>sampling plan </a:t>
            </a:r>
            <a:r>
              <a:rPr dirty="0"/>
              <a:t>for the data</a:t>
            </a:r>
            <a:r>
              <a:rPr lang="en-US" dirty="0"/>
              <a:t>,</a:t>
            </a:r>
            <a:r>
              <a:rPr dirty="0"/>
              <a:t> need not be collected in a single batch</a:t>
            </a:r>
          </a:p>
          <a:p>
            <a:pPr marL="342900" lvl="0" indent="-342900">
              <a:buAutoNum type="arabicPeriod"/>
            </a:pPr>
            <a:r>
              <a:rPr b="1" dirty="0"/>
              <a:t>Define the</a:t>
            </a:r>
            <a:r>
              <a:rPr lang="en-US" b="1" dirty="0"/>
              <a:t> likelihood</a:t>
            </a:r>
            <a:r>
              <a:rPr b="1" dirty="0"/>
              <a:t> model</a:t>
            </a:r>
            <a:r>
              <a:rPr dirty="0"/>
              <a:t>; e.g. regression model with Normal likelihood</a:t>
            </a:r>
          </a:p>
          <a:p>
            <a:pPr marL="342900" lvl="0" indent="-342900">
              <a:buAutoNum type="arabicPeriod"/>
            </a:pPr>
            <a:r>
              <a:rPr dirty="0"/>
              <a:t>Specify a </a:t>
            </a:r>
            <a:r>
              <a:rPr b="1" dirty="0"/>
              <a:t>prior distribution </a:t>
            </a:r>
            <a:r>
              <a:rPr dirty="0"/>
              <a:t>of the model parameters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32B1-4F33-3818-EFF9-0D5040581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615D1-9AB7-C13F-6BC4-1A0DF4C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DD501-71E7-A0BF-7B21-BE0AC1A16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457200" lvl="0" indent="-457200">
              <a:buFont typeface="+mj-lt"/>
              <a:buAutoNum type="arabicPeriod" startAt="5"/>
            </a:pPr>
            <a:r>
              <a:rPr dirty="0"/>
              <a:t>Use the Bayesian inference formula to </a:t>
            </a:r>
            <a:r>
              <a:rPr b="1" dirty="0"/>
              <a:t>compute posterior distribution </a:t>
            </a:r>
            <a:r>
              <a:rPr dirty="0"/>
              <a:t>of the model parameters</a:t>
            </a:r>
          </a:p>
          <a:p>
            <a:pPr marL="342900" lvl="0" indent="-342900">
              <a:buAutoNum type="arabicPeriod" startAt="5"/>
            </a:pPr>
            <a:r>
              <a:rPr b="1" dirty="0"/>
              <a:t>Update the posterior </a:t>
            </a:r>
            <a:r>
              <a:rPr dirty="0"/>
              <a:t>as data is observed</a:t>
            </a:r>
          </a:p>
          <a:p>
            <a:pPr marL="342900" lvl="0" indent="-342900">
              <a:buAutoNum type="arabicPeriod" startAt="5"/>
            </a:pPr>
            <a:r>
              <a:rPr lang="en-US" dirty="0"/>
              <a:t>Perform </a:t>
            </a:r>
            <a:r>
              <a:rPr lang="en-US" b="1" dirty="0"/>
              <a:t>i</a:t>
            </a:r>
            <a:r>
              <a:rPr b="1" dirty="0"/>
              <a:t>nference</a:t>
            </a:r>
            <a:r>
              <a:rPr dirty="0"/>
              <a:t> on the posterior; </a:t>
            </a:r>
            <a:r>
              <a:rPr lang="en-US" dirty="0"/>
              <a:t>e.g. </a:t>
            </a:r>
            <a:r>
              <a:rPr dirty="0"/>
              <a:t>compute</a:t>
            </a:r>
            <a:r>
              <a:rPr lang="en-US" dirty="0"/>
              <a:t> </a:t>
            </a:r>
            <a:r>
              <a:rPr lang="en-US" b="1" dirty="0"/>
              <a:t>MAP</a:t>
            </a:r>
            <a:r>
              <a:rPr lang="en-US" dirty="0"/>
              <a:t> and</a:t>
            </a:r>
            <a:r>
              <a:rPr dirty="0"/>
              <a:t> </a:t>
            </a:r>
            <a:r>
              <a:rPr b="1" dirty="0"/>
              <a:t>credible interval</a:t>
            </a:r>
          </a:p>
          <a:p>
            <a:pPr marL="342900" lvl="0" indent="-342900">
              <a:buAutoNum type="arabicPeriod" startAt="5"/>
            </a:pPr>
            <a:r>
              <a:rPr lang="en-US" b="1" dirty="0"/>
              <a:t>S</a:t>
            </a:r>
            <a:r>
              <a:rPr b="1" dirty="0"/>
              <a:t>imulate from the posterior distribution</a:t>
            </a:r>
            <a:r>
              <a:rPr lang="en-US" b="1" dirty="0"/>
              <a:t>,</a:t>
            </a:r>
            <a:r>
              <a:rPr dirty="0"/>
              <a:t> predictions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2921203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346076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  <a:p>
            <a:pPr lvl="0"/>
            <a:r>
              <a:rPr sz="2200" dirty="0"/>
              <a:t>In contrast, frequentist models </a:t>
            </a:r>
            <a:r>
              <a:rPr lang="en-US" sz="2200" dirty="0"/>
              <a:t>must be recomputed when new </a:t>
            </a:r>
            <a:r>
              <a:rPr sz="2200" dirty="0"/>
              <a:t>data </a:t>
            </a:r>
            <a:r>
              <a:rPr lang="en-US" sz="2200" dirty="0"/>
              <a:t>becomes available</a:t>
            </a:r>
            <a:endParaRPr sz="2200" dirty="0"/>
          </a:p>
          <a:p>
            <a:pPr lvl="0"/>
            <a:r>
              <a:rPr sz="2200" dirty="0"/>
              <a:t>The </a:t>
            </a:r>
            <a:r>
              <a:rPr sz="2200" b="1" dirty="0"/>
              <a:t>previous posterior serves as a prior</a:t>
            </a:r>
            <a:r>
              <a:rPr sz="2200" dirty="0"/>
              <a:t> </a:t>
            </a:r>
            <a:r>
              <a:rPr sz="2200" b="1" dirty="0"/>
              <a:t>for model updates</a:t>
            </a:r>
            <a:endParaRPr lang="en-US" sz="2200" b="1" dirty="0"/>
          </a:p>
          <a:p>
            <a:r>
              <a:rPr lang="en-US" sz="2200" dirty="0"/>
              <a:t>The </a:t>
            </a:r>
            <a:r>
              <a:rPr lang="en-US" sz="2200" b="1" dirty="0"/>
              <a:t>posterior of a Bayesian model with no evidence is the prior</a:t>
            </a:r>
          </a:p>
          <a:p>
            <a:pPr lvl="0"/>
            <a:endParaRPr sz="22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B8028-71E8-04F0-99F0-C0C65132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11571-632A-22D6-2692-C6877B22A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410E2-6D8E-1174-0162-EA4A4CF6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9110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/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8A15A8C-41B9-6313-A097-9B785C8E4CC6}"/>
              </a:ext>
            </a:extLst>
          </p:cNvPr>
          <p:cNvSpPr txBox="1"/>
          <p:nvPr/>
        </p:nvSpPr>
        <p:spPr>
          <a:xfrm>
            <a:off x="6674020" y="1569810"/>
            <a:ext cx="22693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Current belief, or posterior distribution from prior model, used as prior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A3B6D7-7EA2-FA1D-494E-88877356DF69}"/>
              </a:ext>
            </a:extLst>
          </p:cNvPr>
          <p:cNvSpPr txBox="1"/>
          <p:nvPr/>
        </p:nvSpPr>
        <p:spPr>
          <a:xfrm>
            <a:off x="3764281" y="2143492"/>
            <a:ext cx="26476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dirty="0"/>
              <a:t>Compute likelihood for new evidence (new data)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0CAA2-C444-4C1F-ED55-63F657C8D228}"/>
              </a:ext>
            </a:extLst>
          </p:cNvPr>
          <p:cNvSpPr txBox="1"/>
          <p:nvPr/>
        </p:nvSpPr>
        <p:spPr>
          <a:xfrm>
            <a:off x="516775" y="2420491"/>
            <a:ext cx="2647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US" dirty="0"/>
              <a:t>Updated posterior is updated belief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414B79-2224-4F9D-1E79-C3410F0ABE7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964417" y="3047138"/>
            <a:ext cx="844291" cy="344455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88C707-7564-231E-602C-4C690381B13B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871258" y="3066822"/>
            <a:ext cx="216825" cy="32477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6A37EF-C51E-E3C6-FD91-0541B1F89FA1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840577" y="3066822"/>
            <a:ext cx="703117" cy="44276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19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AB51-EDD4-EC54-D5ED-D049F421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7CA76-D04E-6DB5-EC8E-7729DD25E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Updating Bayesian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200" b="1" dirty="0"/>
                  <a:t>Updating belief </a:t>
                </a:r>
                <a:r>
                  <a:rPr lang="en-US" sz="2200" dirty="0"/>
                  <a:t>when </a:t>
                </a:r>
                <a:r>
                  <a:rPr lang="en-US" sz="2200" b="1" dirty="0"/>
                  <a:t>new evidence </a:t>
                </a:r>
                <a:r>
                  <a:rPr lang="en-US" sz="2200" dirty="0"/>
                  <a:t>becomes available is a major advantage of Bayesian models</a:t>
                </a:r>
              </a:p>
              <a:p>
                <a:pPr lvl="0"/>
                <a:r>
                  <a:rPr lang="en-US" sz="2200" dirty="0"/>
                  <a:t>The </a:t>
                </a:r>
                <a:r>
                  <a:rPr lang="en-US" sz="2200" b="1" dirty="0"/>
                  <a:t>posterior of a Bayesian model with no evidence is the prior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𝑏𝑒𝑙𝑖𝑒𝑓</m:t>
                      </m:r>
                    </m:oMath>
                  </m:oMathPara>
                </a14:m>
                <a:endParaRPr lang="ar-AE" sz="1900" b="1" dirty="0"/>
              </a:p>
              <a:p>
                <a:r>
                  <a:rPr lang="en-US" sz="2200" dirty="0"/>
                  <a:t>There is no evidence,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en-US" sz="2200" dirty="0"/>
                  <a:t>, so the likelihood,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lang="en-US" sz="2200" dirty="0"/>
                  <a:t>, and distribution of data,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lang="en-US" sz="2200" dirty="0"/>
                  <a:t>, are just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2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  <a:blipFill>
                <a:blip r:embed="rId2"/>
                <a:stretch>
                  <a:fillRect l="-963" t="-1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89074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4C4A7-9FB4-30BC-41F9-96CE8931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D05B-BA60-70AD-962A-9B2D38DBB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Prior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0221744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The </a:t>
            </a:r>
            <a:r>
              <a:rPr sz="2200" b="1" dirty="0"/>
              <a:t>choice of the prior </a:t>
            </a:r>
            <a:r>
              <a:rPr sz="2200" dirty="0"/>
              <a:t>is a difficult, and potentially vexing, problem when performing Bayesian analysis</a:t>
            </a:r>
          </a:p>
          <a:p>
            <a:pPr lvl="0"/>
            <a:r>
              <a:rPr sz="2200" dirty="0"/>
              <a:t>The need to choose a prior has often been cited as a reason why Bayesian models are impractical</a:t>
            </a:r>
          </a:p>
          <a:p>
            <a:pPr lvl="0"/>
            <a:r>
              <a:rPr sz="2200" dirty="0"/>
              <a:t>General guidance is that a prior must be </a:t>
            </a:r>
            <a:r>
              <a:rPr sz="2200" b="1" dirty="0"/>
              <a:t>convincing to a skeptical audience</a:t>
            </a:r>
            <a:endParaRPr sz="2200" dirty="0"/>
          </a:p>
          <a:p>
            <a:pPr lvl="0"/>
            <a:r>
              <a:rPr lang="en-US" sz="2200" dirty="0"/>
              <a:t>T</a:t>
            </a:r>
            <a:r>
              <a:rPr sz="2200" dirty="0"/>
              <a:t>end to use vague or less informative priors in practice</a:t>
            </a:r>
            <a:endParaRPr lang="en-US" sz="2200" dirty="0"/>
          </a:p>
          <a:p>
            <a:pPr lvl="0"/>
            <a:r>
              <a:rPr lang="en-US" sz="2200" dirty="0"/>
              <a:t>In practice, given a bit of data Bayesian models are robust to choice of prior</a:t>
            </a:r>
            <a:endParaRPr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0263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Some possible approaches to prior selection include:</a:t>
            </a:r>
          </a:p>
          <a:p>
            <a:pPr lvl="0"/>
            <a:r>
              <a:rPr dirty="0"/>
              <a:t>Use </a:t>
            </a:r>
            <a:r>
              <a:rPr b="1" dirty="0"/>
              <a:t>empirical information</a:t>
            </a:r>
          </a:p>
          <a:p>
            <a:pPr lvl="1"/>
            <a:r>
              <a:rPr b="1" dirty="0"/>
              <a:t>Empirical Bayes estimate</a:t>
            </a:r>
            <a:r>
              <a:rPr lang="en-US" b="1" dirty="0"/>
              <a:t>s</a:t>
            </a:r>
            <a:r>
              <a:rPr dirty="0"/>
              <a:t> prior from sample of observations</a:t>
            </a:r>
          </a:p>
          <a:p>
            <a:pPr lvl="0"/>
            <a:r>
              <a:rPr dirty="0"/>
              <a:t>Apply </a:t>
            </a:r>
            <a:r>
              <a:rPr b="1" dirty="0"/>
              <a:t>domain knowledge</a:t>
            </a:r>
            <a:r>
              <a:rPr dirty="0"/>
              <a:t> to determine a reasonable distribution</a:t>
            </a:r>
          </a:p>
          <a:p>
            <a:pPr lvl="1"/>
            <a:r>
              <a:rPr lang="en-US" dirty="0"/>
              <a:t>I</a:t>
            </a:r>
            <a:r>
              <a:rPr dirty="0"/>
              <a:t>nformation from </a:t>
            </a:r>
            <a:r>
              <a:rPr lang="en-US" dirty="0"/>
              <a:t>existing</a:t>
            </a:r>
            <a:r>
              <a:rPr dirty="0"/>
              <a:t> work</a:t>
            </a:r>
          </a:p>
          <a:p>
            <a:pPr lvl="1"/>
            <a:r>
              <a:rPr dirty="0"/>
              <a:t>Example, the viable range of parameter values computed from physical principles</a:t>
            </a:r>
          </a:p>
          <a:p>
            <a:pPr lvl="1"/>
            <a:r>
              <a:rPr dirty="0"/>
              <a:t>Example, </a:t>
            </a:r>
            <a:r>
              <a:rPr lang="en-US" dirty="0"/>
              <a:t>a known </a:t>
            </a:r>
            <a:r>
              <a:rPr dirty="0"/>
              <a:t>price range for some asset</a:t>
            </a:r>
          </a:p>
          <a:p>
            <a:pPr lvl="0"/>
            <a:r>
              <a:rPr dirty="0"/>
              <a:t>If there is poor prior knowledge for the problem a </a:t>
            </a:r>
            <a:r>
              <a:rPr b="1" dirty="0"/>
              <a:t>non-informative prior</a:t>
            </a:r>
            <a:r>
              <a:rPr dirty="0"/>
              <a:t> can be used</a:t>
            </a:r>
          </a:p>
          <a:p>
            <a:pPr lvl="1"/>
            <a:r>
              <a:rPr dirty="0"/>
              <a:t>One possibility is a Uniform distribution</a:t>
            </a:r>
            <a:endParaRPr lang="en-US" dirty="0"/>
          </a:p>
          <a:p>
            <a:pPr lvl="1"/>
            <a:r>
              <a:rPr lang="en-US" b="1" dirty="0"/>
              <a:t>B</a:t>
            </a:r>
            <a:r>
              <a:rPr b="1" dirty="0"/>
              <a:t>e careful</a:t>
            </a:r>
            <a:r>
              <a:rPr lang="en-US" b="1" dirty="0"/>
              <a:t>, </a:t>
            </a:r>
            <a:r>
              <a:rPr lang="en-US" dirty="0"/>
              <a:t>a </a:t>
            </a:r>
            <a:r>
              <a:rPr dirty="0"/>
              <a:t>uniform prior is informative because of limits on the values!</a:t>
            </a:r>
          </a:p>
          <a:p>
            <a:pPr lvl="1"/>
            <a:r>
              <a:rPr dirty="0"/>
              <a:t>Other options include the </a:t>
            </a:r>
            <a:r>
              <a:rPr dirty="0" err="1">
                <a:hlinkClick r:id="rId2"/>
              </a:rPr>
              <a:t>Jefferys</a:t>
            </a:r>
            <a:r>
              <a:rPr dirty="0">
                <a:hlinkClick r:id="rId2"/>
              </a:rPr>
              <a:t>’ prior</a:t>
            </a:r>
            <a:r>
              <a:rPr lang="en-US" dirty="0"/>
              <a:t>, but hard to work with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pPr lvl="1"/>
            <a:r>
              <a:rPr lang="en-US" dirty="0"/>
              <a:t>Estimation of useful priors has</a:t>
            </a:r>
            <a:r>
              <a:rPr dirty="0"/>
              <a:t> become practical with large modern data sets</a:t>
            </a:r>
          </a:p>
          <a:p>
            <a:pPr lvl="1"/>
            <a:r>
              <a:rPr dirty="0"/>
              <a:t>Empirical Bayes approach is often applied in practice</a:t>
            </a:r>
          </a:p>
          <a:p>
            <a:pPr lvl="1"/>
            <a:r>
              <a:rPr dirty="0"/>
              <a:t>Some Bayesian theoreticians do not consider this a Bayesian approach at all!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89D7-52E4-0326-1397-B0527A107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4EDA-9937-AA26-A0B7-8CDCB422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21D70-5AE5-82A2-EF10-35C49D43C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pPr lvl="0"/>
            <a:r>
              <a:rPr dirty="0"/>
              <a:t>Example, need a prior distribution of home prices per square foot by location</a:t>
            </a:r>
          </a:p>
          <a:p>
            <a:pPr lvl="1"/>
            <a:r>
              <a:rPr dirty="0"/>
              <a:t>Use </a:t>
            </a:r>
            <a:r>
              <a:rPr b="1" dirty="0"/>
              <a:t>pooled information </a:t>
            </a:r>
            <a:r>
              <a:rPr dirty="0"/>
              <a:t>to compute distribution of prices for all locations</a:t>
            </a:r>
          </a:p>
          <a:p>
            <a:pPr lvl="1"/>
            <a:r>
              <a:rPr dirty="0"/>
              <a:t>Use the prior with specific </a:t>
            </a:r>
            <a:r>
              <a:rPr b="1" dirty="0"/>
              <a:t>evidence</a:t>
            </a:r>
            <a:r>
              <a:rPr dirty="0"/>
              <a:t> by locations</a:t>
            </a:r>
            <a:r>
              <a:rPr lang="en-US" dirty="0"/>
              <a:t>, property characteristics, etc.</a:t>
            </a:r>
            <a:r>
              <a:rPr dirty="0"/>
              <a:t> to </a:t>
            </a:r>
            <a:r>
              <a:rPr b="1" dirty="0"/>
              <a:t>compute posteriors </a:t>
            </a:r>
            <a:r>
              <a:rPr dirty="0"/>
              <a:t>by location</a:t>
            </a:r>
          </a:p>
          <a:p>
            <a:pPr lvl="1"/>
            <a:r>
              <a:rPr dirty="0"/>
              <a:t>Is example of </a:t>
            </a:r>
            <a:r>
              <a:rPr b="1" dirty="0"/>
              <a:t>hierarchical model</a:t>
            </a:r>
          </a:p>
          <a:p>
            <a:pPr lvl="0"/>
            <a:r>
              <a:rPr dirty="0"/>
              <a:t>Typically, a </a:t>
            </a:r>
            <a:r>
              <a:rPr b="1" dirty="0"/>
              <a:t>less informative prior distribution </a:t>
            </a:r>
            <a:r>
              <a:rPr dirty="0"/>
              <a:t>is used than the actual empirical distribution so the model is not overly</a:t>
            </a:r>
            <a:r>
              <a:rPr lang="en-US" dirty="0"/>
              <a:t> </a:t>
            </a:r>
            <a:r>
              <a:rPr dirty="0"/>
              <a:t>constrained</a:t>
            </a:r>
          </a:p>
        </p:txBody>
      </p:sp>
    </p:spTree>
    <p:extLst>
      <p:ext uri="{BB962C8B-B14F-4D97-AF65-F5344CB8AC3E}">
        <p14:creationId xmlns:p14="http://schemas.microsoft.com/office/powerpoint/2010/main" val="70047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lvl="0"/>
            <a:r>
              <a:rPr lang="en-US" dirty="0"/>
              <a:t>The posterior distribution computed from the product of a</a:t>
            </a:r>
            <a:r>
              <a:rPr dirty="0"/>
              <a:t> likelihood function </a:t>
            </a:r>
            <a:r>
              <a:rPr lang="en-US" dirty="0"/>
              <a:t>and a</a:t>
            </a:r>
            <a:r>
              <a:rPr dirty="0"/>
              <a:t> conjugate</a:t>
            </a:r>
            <a:r>
              <a:rPr lang="en-US" dirty="0"/>
              <a:t> prior</a:t>
            </a:r>
            <a:r>
              <a:rPr dirty="0"/>
              <a:t> </a:t>
            </a:r>
            <a:r>
              <a:rPr lang="en-US" dirty="0"/>
              <a:t>is</a:t>
            </a:r>
            <a:r>
              <a:rPr dirty="0"/>
              <a:t> in the same family as the prior</a:t>
            </a:r>
          </a:p>
          <a:p>
            <a:pPr lvl="0"/>
            <a:r>
              <a:rPr dirty="0"/>
              <a:t>Attractive idea for cases where the conjugate distribution exists</a:t>
            </a:r>
          </a:p>
          <a:p>
            <a:pPr lvl="1"/>
            <a:r>
              <a:rPr dirty="0"/>
              <a:t>Analytic results can be computed</a:t>
            </a:r>
          </a:p>
          <a:p>
            <a:pPr lvl="1"/>
            <a:r>
              <a:rPr dirty="0"/>
              <a:t>The posterior is a known distribution</a:t>
            </a:r>
          </a:p>
          <a:p>
            <a:pPr lvl="0"/>
            <a:r>
              <a:rPr dirty="0"/>
              <a:t>But there are many practical cases where a conjugate prior is not </a:t>
            </a:r>
            <a:r>
              <a:rPr lang="en-US" dirty="0"/>
              <a:t>known</a:t>
            </a:r>
            <a:endParaRPr dirty="0"/>
          </a:p>
          <a:p>
            <a:pPr lvl="1"/>
            <a:r>
              <a:rPr dirty="0"/>
              <a:t>We will address more general methods later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9118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marL="0" lvl="0" indent="0">
              <a:buNone/>
            </a:pP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variance,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inverse variance,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608197" r="-101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708197" r="-101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051475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analyz</a:t>
                </a:r>
                <a:r>
                  <a:rPr lang="en-US" dirty="0"/>
                  <a:t>e </a:t>
                </a:r>
                <a:r>
                  <a:rPr dirty="0"/>
                  <a:t>the incidence of distracted drivers</a:t>
                </a:r>
              </a:p>
              <a:p>
                <a:pPr lvl="0"/>
                <a:r>
                  <a:rPr lang="en-US" b="1" dirty="0"/>
                  <a:t>Sample Data: </a:t>
                </a:r>
                <a:r>
                  <a:rPr dirty="0"/>
                  <a:t>Randomly sample the behavior of 40 drivers at an intersection and determine if they exhibit distracted driving or not</a:t>
                </a:r>
              </a:p>
              <a:p>
                <a:pPr lvl="0"/>
                <a:r>
                  <a:rPr lang="en-US" b="1" dirty="0"/>
                  <a:t>Choose Likelihood Model: </a:t>
                </a:r>
                <a:r>
                  <a:rPr dirty="0"/>
                  <a:t>Data are Binomially distributed, a driver is distracted or not, with likelihood: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trials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failures</a:t>
                </a:r>
              </a:p>
              <a:p>
                <a:pPr lvl="0"/>
                <a:r>
                  <a:rPr dirty="0"/>
                  <a:t>Binomial likelihood has one parameter we need to estimate,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the probability of success</a:t>
                </a:r>
                <a:endParaRPr lang="en-US" dirty="0"/>
              </a:p>
              <a:p>
                <a:pPr lvl="0"/>
                <a:r>
                  <a:rPr lang="en-US" dirty="0"/>
                  <a:t>Goal is to compute the </a:t>
                </a:r>
                <a:r>
                  <a:rPr lang="en-US" b="1" dirty="0"/>
                  <a:t>posterior distribution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b="1" dirty="0"/>
                  <a:t> 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  <a:blipFill>
                <a:blip r:embed="rId2"/>
                <a:stretch>
                  <a:fillRect l="-741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</a:t>
            </a:r>
            <a:r>
              <a:rPr lang="en-US" dirty="0"/>
              <a:t>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The steps to compute the posterior</a:t>
                </a:r>
                <a:r>
                  <a:rPr dirty="0"/>
                  <a:t>: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Select</a:t>
                </a:r>
                <a:r>
                  <a:rPr b="1" dirty="0"/>
                  <a:t> the conjugate prior</a:t>
                </a:r>
                <a:r>
                  <a:rPr dirty="0"/>
                  <a:t>, the </a:t>
                </a:r>
                <a:r>
                  <a:rPr b="1" dirty="0"/>
                  <a:t>Beta distribution </a:t>
                </a:r>
                <a:r>
                  <a:rPr dirty="0"/>
                  <a:t>with parameters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dirty="0"/>
                  <a:t> (or a,</a:t>
                </a:r>
                <a:r>
                  <a:rPr lang="en-US" dirty="0"/>
                  <a:t> </a:t>
                </a:r>
                <a:r>
                  <a:rPr dirty="0"/>
                  <a:t>b)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Using the data sample, compute the </a:t>
                </a:r>
                <a:r>
                  <a:rPr lang="en-US" dirty="0"/>
                  <a:t>binomial </a:t>
                </a:r>
                <a:r>
                  <a:rPr dirty="0"/>
                  <a:t>likelihood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Compute the</a:t>
                </a:r>
                <a:r>
                  <a:rPr lang="en-US" dirty="0"/>
                  <a:t> </a:t>
                </a:r>
                <a:r>
                  <a:rPr lang="en-US" b="1" dirty="0"/>
                  <a:t>Beta</a:t>
                </a:r>
                <a:r>
                  <a:rPr b="1" dirty="0"/>
                  <a:t> posterior distribution </a:t>
                </a:r>
                <a:r>
                  <a:rPr dirty="0"/>
                  <a:t>of distracted driving</a:t>
                </a:r>
                <a:r>
                  <a:rPr lang="en-US" dirty="0"/>
                  <a:t> as product of likelihood and prior</a:t>
                </a:r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Add more evidence </a:t>
                </a:r>
                <a:r>
                  <a:rPr dirty="0"/>
                  <a:t>(data) and update the posterior distribution.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1436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2507"/>
            <a:ext cx="8229600" cy="50115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Working with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p:pic>
        <p:nvPicPr>
          <p:cNvPr id="4" name="Picture 1" descr="../images/Beta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7378" y="655153"/>
            <a:ext cx="6596622" cy="43403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/>
              <p:cNvSpPr txBox="1"/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r>
                  <a:rPr lang="en-US" sz="2000" dirty="0"/>
                  <a:t>What are the properties of the Beta distribution for different parameter values?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symmetric distribution 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right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left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000" dirty="0"/>
              </a:p>
              <a:p>
                <a:pPr algn="ctr"/>
                <a:endParaRPr sz="2000" dirty="0"/>
              </a:p>
            </p:txBody>
          </p:sp>
        </mc:Choice>
        <mc:Fallback xmlns="">
          <p:sp>
            <p:nvSpPr>
              <p:cNvPr id="5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blipFill>
                <a:blip r:embed="rId3"/>
                <a:stretch>
                  <a:fillRect l="-2786" t="-726" b="-6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the product of a </a:t>
                </a:r>
                <a:r>
                  <a:rPr lang="en-US" b="1" dirty="0"/>
                  <a:t>Binomial likelihood </a:t>
                </a:r>
                <a:r>
                  <a:rPr lang="en-US" dirty="0"/>
                  <a:t>and a </a:t>
                </a:r>
                <a:r>
                  <a:rPr lang="en-US" b="1" dirty="0"/>
                  <a:t>Beta prior</a:t>
                </a:r>
              </a:p>
              <a:p>
                <a:pPr lvl="0"/>
                <a:r>
                  <a:rPr lang="en-US" dirty="0"/>
                  <a:t>Define evidence as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trials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successes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failures</a:t>
                </a:r>
              </a:p>
              <a:p>
                <a:pPr lvl="0"/>
                <a:r>
                  <a:rPr lang="en-US" dirty="0"/>
                  <a:t>Prior is a Beta distribution 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or the parameter vector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From Bayes Theorem the distribution of the posterior: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𝑑𝑖𝑠𝑡𝑟𝑖𝑏𝑢𝑡𝑖𝑜𝑛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𝐵𝑖𝑛𝑜𝑚𝑖𝑎𝑙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𝐵𝑒𝑡𝑎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  <a:blipFill>
                <a:blip r:embed="rId2"/>
                <a:stretch>
                  <a:fillRect l="-96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Posterior distribution is in the Beta family, as a result of conjugacy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are the </a:t>
                </a:r>
                <a:r>
                  <a:rPr lang="en-US" b="1" dirty="0"/>
                  <a:t>evidence</a:t>
                </a:r>
              </a:p>
              <a:p>
                <a:pPr lvl="0"/>
                <a:r>
                  <a:rPr lang="en-US" dirty="0"/>
                  <a:t>a and b define the </a:t>
                </a:r>
                <a:r>
                  <a:rPr lang="en-US" b="1" dirty="0"/>
                  <a:t>prior</a:t>
                </a:r>
                <a:r>
                  <a:rPr lang="en-US" dirty="0"/>
                  <a:t> as </a:t>
                </a:r>
                <a:r>
                  <a:rPr lang="en-US" b="1" dirty="0"/>
                  <a:t>pseudo counts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𝑠𝑢𝑐𝑐𝑒𝑠𝑠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𝑓𝑎𝑖𝑙𝑢𝑟𝑒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careful when creating a prior to </a:t>
                </a:r>
                <a:r>
                  <a:rPr lang="en-US" b="1" dirty="0"/>
                  <a:t>add 1</a:t>
                </a:r>
                <a:r>
                  <a:rPr lang="en-US" dirty="0"/>
                  <a:t> to the successes and failures</a:t>
                </a:r>
              </a:p>
              <a:p>
                <a:pPr lvl="1"/>
                <a:r>
                  <a:rPr lang="en-US" dirty="0"/>
                  <a:t>The larger the total pseudo counts,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stronger the prior information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963" t="-2104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Evidence</a:t>
                </a:r>
                <a:r>
                  <a:rPr dirty="0"/>
                  <a:t> is also in the form (actual) </a:t>
                </a:r>
                <a:r>
                  <a:rPr b="1" dirty="0"/>
                  <a:t>counts of successes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dirty="0"/>
                  <a:t> and </a:t>
                </a:r>
                <a:r>
                  <a:rPr b="1" dirty="0"/>
                  <a:t>failure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more </a:t>
                </a:r>
                <a:r>
                  <a:rPr b="1" dirty="0"/>
                  <a:t>evidence</a:t>
                </a:r>
                <a:r>
                  <a:rPr dirty="0"/>
                  <a:t> the </a:t>
                </a:r>
                <a:r>
                  <a:rPr b="1" dirty="0"/>
                  <a:t>greater the influence on the posterior </a:t>
                </a:r>
                <a:r>
                  <a:rPr dirty="0"/>
                  <a:t>distribution</a:t>
                </a:r>
              </a:p>
              <a:p>
                <a:pPr lvl="0"/>
                <a:r>
                  <a:rPr dirty="0"/>
                  <a:t>Large amount of evidence will overwhelm the prior</a:t>
                </a:r>
              </a:p>
              <a:p>
                <a:pPr lvl="0"/>
                <a:r>
                  <a:rPr dirty="0"/>
                  <a:t>With large amount of evidence, posterior converges to frequentist model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1111" t="-2265" r="-1852" b="-22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2968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Consider example with:</a:t>
                </a:r>
                <a:br>
                  <a:rPr lang="en-US" dirty="0"/>
                </a:br>
                <a:r>
                  <a:rPr lang="en-US" b="1" dirty="0"/>
                  <a:t>Prior pseudo counts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1,9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=1+1=2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=9+1=10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Evidence</a:t>
                </a:r>
                <a:r>
                  <a:rPr lang="en-US" dirty="0"/>
                  <a:t>, 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endParaRPr lang="en-US"/>
              </a:p>
              <a:p>
                <a:r>
                  <a:rPr lang="en-US" b="1"/>
                  <a:t>Posterior</a:t>
                </a:r>
                <a:r>
                  <a:rPr lang="en-US"/>
                  <a:t>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10+2, 30+10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Evidence is stronger than the prior, 40:12 </a:t>
                </a:r>
                <a:r>
                  <a:rPr lang="en-US" dirty="0" err="1"/>
                  <a:t>counts:pseudo</a:t>
                </a:r>
                <a:r>
                  <a:rPr lang="en-US" dirty="0"/>
                  <a:t> counts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  <a:blipFill>
                <a:blip r:embed="rId2"/>
                <a:stretch>
                  <a:fillRect l="-1418" t="-2281" r="-2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DistrtractedDriver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91328" y="872744"/>
            <a:ext cx="3748532" cy="36996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95468" y="4529088"/>
            <a:ext cx="3748532" cy="57529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Prior, likelihood and posterior for distracted driving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B1184-EA39-7EA8-39D9-986BB1F24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2A22-973F-5F61-E01F-3AD14CD14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Sampling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38815305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find an </a:t>
            </a:r>
            <a:r>
              <a:rPr lang="en-US" dirty="0"/>
              <a:t>empirical </a:t>
            </a:r>
            <a:r>
              <a:rPr dirty="0"/>
              <a:t>estimate of the poster</a:t>
            </a:r>
            <a:r>
              <a:rPr lang="en-US" dirty="0"/>
              <a:t>ior</a:t>
            </a:r>
            <a:r>
              <a:rPr dirty="0"/>
              <a:t> distribution?</a:t>
            </a:r>
          </a:p>
          <a:p>
            <a:pPr marL="342900" lvl="0" indent="-342900">
              <a:buAutoNum type="arabicPeriod"/>
            </a:pPr>
            <a:r>
              <a:rPr dirty="0"/>
              <a:t>We can sample from the </a:t>
            </a:r>
            <a:r>
              <a:rPr lang="en-US" dirty="0"/>
              <a:t>likelihood function and prior</a:t>
            </a:r>
          </a:p>
          <a:p>
            <a:pPr lvl="1"/>
            <a:r>
              <a:rPr lang="en-US" dirty="0"/>
              <a:t>Sample the analytic </a:t>
            </a:r>
            <a:r>
              <a:rPr dirty="0"/>
              <a:t>conjugate</a:t>
            </a:r>
            <a:r>
              <a:rPr lang="en-US" dirty="0"/>
              <a:t> prior if it exists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Grid sample </a:t>
            </a:r>
            <a:r>
              <a:rPr lang="en-US" dirty="0"/>
              <a:t>or Markov chain </a:t>
            </a:r>
            <a:r>
              <a:rPr lang="en-US" b="1" dirty="0"/>
              <a:t>Monte Carlo (MCMC) sample</a:t>
            </a:r>
            <a:endParaRPr b="1" dirty="0"/>
          </a:p>
          <a:p>
            <a:pPr marL="342900" lvl="0" indent="-342900">
              <a:buAutoNum type="arabicPeriod"/>
            </a:pPr>
            <a:r>
              <a:rPr lang="en-US" dirty="0"/>
              <a:t>Take </a:t>
            </a:r>
            <a:r>
              <a:rPr dirty="0"/>
              <a:t>the product</a:t>
            </a:r>
            <a:r>
              <a:rPr lang="en-US" dirty="0"/>
              <a:t> of the likelihood and the prior</a:t>
            </a:r>
            <a:r>
              <a:rPr dirty="0"/>
              <a:t> </a:t>
            </a:r>
            <a:endParaRPr lang="en-US" dirty="0"/>
          </a:p>
          <a:p>
            <a:pPr marL="342900" lvl="0" indent="-342900">
              <a:buAutoNum type="arabicPeriod"/>
            </a:pPr>
            <a:r>
              <a:rPr lang="en-US" b="1" dirty="0"/>
              <a:t>Normalize</a:t>
            </a:r>
            <a:r>
              <a:rPr lang="en-US" dirty="0"/>
              <a:t> to compute proper posterior distribution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5833872" cy="382701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Grid sampling</a:t>
            </a:r>
            <a:r>
              <a:rPr dirty="0"/>
              <a:t> is a naive approach</a:t>
            </a:r>
          </a:p>
          <a:p>
            <a:pPr lvl="0"/>
            <a:r>
              <a:rPr dirty="0"/>
              <a:t>Compute the probability at each point on a regular gird</a:t>
            </a:r>
          </a:p>
          <a:p>
            <a:pPr lvl="1"/>
            <a:r>
              <a:rPr dirty="0"/>
              <a:t>Sample over range of values </a:t>
            </a:r>
            <a:r>
              <a:rPr lang="en-US" dirty="0"/>
              <a:t>of interest</a:t>
            </a:r>
            <a:endParaRPr dirty="0"/>
          </a:p>
          <a:p>
            <a:pPr lvl="1"/>
            <a:r>
              <a:rPr lang="en-US" dirty="0"/>
              <a:t>Take the product of the p</a:t>
            </a:r>
            <a:r>
              <a:rPr dirty="0"/>
              <a:t>rior and likelihood</a:t>
            </a:r>
          </a:p>
          <a:p>
            <a:pPr lvl="0"/>
            <a:r>
              <a:rPr i="1" dirty="0"/>
              <a:t>In principle</a:t>
            </a:r>
            <a:r>
              <a:rPr dirty="0"/>
              <a:t> </a:t>
            </a:r>
            <a:r>
              <a:rPr lang="en-US" dirty="0"/>
              <a:t>grid sampling </a:t>
            </a:r>
            <a:r>
              <a:rPr dirty="0"/>
              <a:t>can work for any number of dimensions</a:t>
            </a:r>
          </a:p>
          <a:p>
            <a:pPr lvl="1"/>
            <a:r>
              <a:rPr dirty="0"/>
              <a:t>In 1-dimension is just regularly spaced points on a line</a:t>
            </a:r>
          </a:p>
          <a:p>
            <a:pPr lvl="1"/>
            <a:r>
              <a:rPr dirty="0"/>
              <a:t>Poor scaling to higher dimensions</a:t>
            </a:r>
          </a:p>
        </p:txBody>
      </p:sp>
      <p:pic>
        <p:nvPicPr>
          <p:cNvPr id="4" name="Picture 1" descr="../images/SamplingGri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5456" y="1628648"/>
            <a:ext cx="279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50000" y="4477545"/>
            <a:ext cx="275945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Sampling grid for bivariate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5360"/>
            <a:ext cx="8229600" cy="4055872"/>
          </a:xfrm>
        </p:spPr>
        <p:txBody>
          <a:bodyPr>
            <a:normAutofit fontScale="47500" lnSpcReduction="20000"/>
          </a:bodyPr>
          <a:lstStyle/>
          <a:p>
            <a:pPr marL="0" lvl="0" indent="0">
              <a:buNone/>
            </a:pPr>
            <a:r>
              <a:rPr dirty="0"/>
              <a:t>Algorithm for grid sampling to compute posterior from likelihood and prior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Build the sampling grid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sampling_grid</a:t>
            </a:r>
            <a:r>
              <a:rPr dirty="0">
                <a:latin typeface="Courier"/>
              </a:rPr>
              <a:t>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likelihood_function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prior_density_function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prior_parameter_values</a:t>
            </a:r>
            <a:r>
              <a:rPr dirty="0">
                <a:latin typeface="Courier"/>
              </a:rPr>
              <a:t>)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 err="1">
                <a:latin typeface="Courier"/>
              </a:rPr>
              <a:t>ComputePosterior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the sampling grid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Grid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array to hold sampled posterior values       </a:t>
            </a:r>
            <a:br>
              <a:rPr dirty="0"/>
            </a:br>
            <a:r>
              <a:rPr dirty="0">
                <a:latin typeface="Courier"/>
              </a:rPr>
              <a:t>    array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Compute posterior at each sampling value in the grid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for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in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</a:t>
            </a:r>
            <a:br>
              <a:rPr dirty="0"/>
            </a:br>
            <a:r>
              <a:rPr dirty="0">
                <a:latin typeface="Courier"/>
              </a:rPr>
              <a:t>       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    prior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   </a:t>
            </a:r>
            <a:br>
              <a:rPr dirty="0"/>
            </a:br>
            <a:r>
              <a:rPr dirty="0">
                <a:latin typeface="Courier"/>
              </a:rPr>
              <a:t>        posterior[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prior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Normalize the posterior   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(Grid)])</a:t>
            </a:r>
            <a:br>
              <a:rPr dirty="0"/>
            </a:br>
            <a:r>
              <a:rPr dirty="0">
                <a:latin typeface="Courier"/>
              </a:rPr>
              <a:t>    posterior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r>
              <a:rPr dirty="0">
                <a:solidFill>
                  <a:srgbClr val="666666"/>
                </a:solidFill>
                <a:latin typeface="Courier"/>
              </a:rPr>
              <a:t>/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posterior    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7C365-57AC-FAE0-2F60-03B00916E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E8C89-1884-66E1-6B07-59126DF20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Credible Intervals</a:t>
            </a:r>
          </a:p>
        </p:txBody>
      </p:sp>
    </p:spTree>
    <p:extLst>
      <p:ext uri="{BB962C8B-B14F-4D97-AF65-F5344CB8AC3E}">
        <p14:creationId xmlns:p14="http://schemas.microsoft.com/office/powerpoint/2010/main" val="40652911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For frequentist analysis we use confidence intervals</a:t>
                </a:r>
              </a:p>
              <a:p>
                <a:pPr lvl="1"/>
                <a:r>
                  <a:rPr dirty="0"/>
                  <a:t>Confidence intervals are based on a </a:t>
                </a:r>
                <a:r>
                  <a:rPr b="1" dirty="0"/>
                  <a:t>sampling distribution</a:t>
                </a:r>
                <a:r>
                  <a:rPr lang="en-US" dirty="0"/>
                  <a:t>, not posterior distribution </a:t>
                </a:r>
                <a:endParaRPr dirty="0"/>
              </a:p>
              <a:p>
                <a:pPr lvl="1"/>
                <a:r>
                  <a:rPr dirty="0"/>
                  <a:t>The upper and lower </a:t>
                </a:r>
                <a:r>
                  <a:rPr lang="en-US" dirty="0"/>
                  <a:t>bounds on </a:t>
                </a:r>
                <a:r>
                  <a:rPr dirty="0"/>
                  <a:t>confidence intervals </a:t>
                </a:r>
                <a:r>
                  <a:rPr lang="en-US" dirty="0"/>
                  <a:t>are </a:t>
                </a:r>
                <a:r>
                  <a:rPr dirty="0"/>
                  <a:t>quantiles of the sampling distribution</a:t>
                </a:r>
              </a:p>
              <a:p>
                <a:pPr lvl="0"/>
                <a:r>
                  <a:rPr dirty="0"/>
                  <a:t>For Bayesian analysis </a:t>
                </a:r>
                <a:r>
                  <a:rPr b="1" dirty="0"/>
                  <a:t>inference performed on posterior distribution</a:t>
                </a:r>
              </a:p>
              <a:p>
                <a:pPr lvl="1"/>
                <a:r>
                  <a:rPr lang="en-US" dirty="0"/>
                  <a:t>Bayesian analysis has no concept sampling distribution</a:t>
                </a:r>
              </a:p>
              <a:p>
                <a:pPr lvl="1"/>
                <a:r>
                  <a:rPr dirty="0"/>
                  <a:t>We </a:t>
                </a:r>
                <a:r>
                  <a:rPr lang="en-US" dirty="0"/>
                  <a:t>measure</a:t>
                </a:r>
                <a:r>
                  <a:rPr dirty="0"/>
                  <a:t> the </a:t>
                </a:r>
                <a:r>
                  <a:rPr b="1" dirty="0"/>
                  <a:t>credible interval</a:t>
                </a:r>
                <a:r>
                  <a:rPr lang="en-US" dirty="0"/>
                  <a:t> on the posterior distribution</a:t>
                </a:r>
              </a:p>
              <a:p>
                <a:pPr lvl="1"/>
                <a:r>
                  <a:rPr lang="en-US" b="1" dirty="0"/>
                  <a:t>Credible interval </a:t>
                </a:r>
                <a:r>
                  <a:rPr lang="en-US" dirty="0"/>
                  <a:t>is the</a:t>
                </a:r>
                <a:r>
                  <a:rPr dirty="0"/>
                  <a:t> interval with the </a:t>
                </a:r>
                <a:r>
                  <a:rPr b="1" dirty="0"/>
                  <a:t>highest </a:t>
                </a:r>
                <a14:m>
                  <m:oMath xmlns:m="http://schemas.openxmlformats.org/officeDocument/2006/math">
                    <m:r>
                      <a:rPr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b="1" dirty="0"/>
                  <a:t> </a:t>
                </a:r>
                <a:r>
                  <a:rPr lang="en-US" b="1" dirty="0"/>
                  <a:t>fraction</a:t>
                </a:r>
                <a:r>
                  <a:rPr b="1" dirty="0"/>
                  <a:t> of posterior probability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  <a:blipFill>
                <a:blip r:embed="rId2"/>
                <a:stretch>
                  <a:fillRect l="-963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Example,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r>
                      <a:rPr>
                        <a:latin typeface="Cambria Math" panose="02040503050406030204" pitchFamily="18" charset="0"/>
                      </a:rPr>
                      <m:t>=0.90</m:t>
                    </m:r>
                  </m:oMath>
                </a14:m>
                <a:r>
                  <a:rPr dirty="0"/>
                  <a:t> credible interval encompasses the 90% of the posterior distribution with the </a:t>
                </a:r>
                <a:r>
                  <a:rPr b="1" dirty="0"/>
                  <a:t>highest density</a:t>
                </a:r>
              </a:p>
              <a:p>
                <a:pPr lvl="0"/>
                <a:r>
                  <a:rPr dirty="0"/>
                  <a:t>The credible interval is sometime called the </a:t>
                </a:r>
                <a:r>
                  <a:rPr b="1" dirty="0"/>
                  <a:t>highest density interval (HDI)</a:t>
                </a:r>
                <a:r>
                  <a:rPr dirty="0"/>
                  <a:t>, or </a:t>
                </a:r>
                <a:r>
                  <a:rPr b="1" dirty="0"/>
                  <a:t>highest posterior density interval (HPDI)</a:t>
                </a:r>
              </a:p>
              <a:p>
                <a:pPr lvl="1"/>
                <a:r>
                  <a:rPr dirty="0"/>
                  <a:t>These names make sense, since we seek the </a:t>
                </a:r>
                <a:r>
                  <a:rPr dirty="0" err="1"/>
                  <a:t>the</a:t>
                </a:r>
                <a:r>
                  <a:rPr dirty="0"/>
                  <a:t> densest posterior interval </a:t>
                </a:r>
                <a:r>
                  <a:rPr lang="en-US" dirty="0"/>
                  <a:t>with</a:t>
                </a:r>
                <a:r>
                  <a:rPr dirty="0"/>
                  <a:t> probability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  <a:p>
                <a:pPr lvl="0"/>
                <a:r>
                  <a:rPr dirty="0"/>
                  <a:t>For symmetric distributions the credible interval </a:t>
                </a:r>
                <a:r>
                  <a:rPr lang="en-US" dirty="0"/>
                  <a:t>is</a:t>
                </a:r>
                <a:r>
                  <a:rPr dirty="0"/>
                  <a:t> numerically the same as the confidence interval</a:t>
                </a:r>
              </a:p>
              <a:p>
                <a:pPr lvl="1"/>
                <a:r>
                  <a:rPr dirty="0"/>
                  <a:t>In general, these two quantities can be quite different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2121" r="-1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What are the 95% credible intervals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CredibleInterval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50620" y="1643639"/>
            <a:ext cx="6733540" cy="308790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92176" y="4731545"/>
            <a:ext cx="8229600" cy="35001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Probability of distract drivers for next 10 cars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Credible Intervals are not 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are credible intervals different from the more familiar confidence intervals?</a:t>
                </a:r>
              </a:p>
              <a:p>
                <a:r>
                  <a:rPr lang="en-US" dirty="0"/>
                  <a:t>A confidence interval is a purely frequentist concept</a:t>
                </a:r>
              </a:p>
              <a:p>
                <a:pPr lvl="1"/>
                <a:r>
                  <a:rPr lang="en-US" dirty="0"/>
                  <a:t>Is an interval on the </a:t>
                </a:r>
                <a:r>
                  <a:rPr lang="en-US" b="1" dirty="0"/>
                  <a:t>sampling distribution</a:t>
                </a:r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Cannot interpret</a:t>
                </a:r>
                <a:r>
                  <a:rPr lang="en-US" dirty="0"/>
                  <a:t> a confidence interval as an interval on the posterior distribution of a statistic!</a:t>
                </a:r>
              </a:p>
              <a:p>
                <a:r>
                  <a:rPr lang="en-US" dirty="0"/>
                  <a:t>Credible interval is an interval on a posterior distribution of the statistic</a:t>
                </a:r>
              </a:p>
              <a:p>
                <a:pPr lvl="1"/>
                <a:r>
                  <a:rPr lang="en-US" b="1" dirty="0"/>
                  <a:t>Credible interval is the interval with highest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 probability</a:t>
                </a:r>
                <a:r>
                  <a:rPr lang="en-US" dirty="0"/>
                  <a:t> for the posterior of the statistic</a:t>
                </a:r>
              </a:p>
              <a:p>
                <a:pPr lvl="1"/>
                <a:r>
                  <a:rPr lang="en-US" dirty="0"/>
                  <a:t>Credible interval is exactly what intuition would like the confidence interval to be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  <a:blipFill>
                <a:blip r:embed="rId2"/>
                <a:stretch>
                  <a:fillRect l="-963" t="-1926" r="-1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 are not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12" y="1017271"/>
            <a:ext cx="8479536" cy="1270761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Compare </a:t>
            </a:r>
            <a:r>
              <a:rPr lang="en-US" dirty="0"/>
              <a:t>95% </a:t>
            </a:r>
            <a:r>
              <a:rPr dirty="0"/>
              <a:t>confidence interval and </a:t>
            </a:r>
            <a:r>
              <a:rPr lang="en-US" dirty="0"/>
              <a:t>95% </a:t>
            </a:r>
            <a:r>
              <a:rPr dirty="0"/>
              <a:t>credible interval for the case of 10 observations</a:t>
            </a:r>
          </a:p>
          <a:p>
            <a:pPr lvl="0"/>
            <a:r>
              <a:rPr dirty="0"/>
              <a:t>Credible intervals cross the density function at exactly the same density</a:t>
            </a:r>
          </a:p>
          <a:p>
            <a:pPr lvl="0"/>
            <a:r>
              <a:rPr dirty="0"/>
              <a:t>Confidence intervals have the same CDF in the tails beyond the interval</a:t>
            </a:r>
          </a:p>
        </p:txBody>
      </p:sp>
      <p:pic>
        <p:nvPicPr>
          <p:cNvPr id="4" name="Picture 1" descr="../images/CredibleConfidenceInterval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200" y="2217521"/>
            <a:ext cx="5704832" cy="26267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89712" y="4730816"/>
            <a:ext cx="7130290" cy="32544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Difference between credible and confidence intervals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C7386-B01B-54BB-2699-909C298F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98928-B84A-E8E1-D6AC-5247B3CD6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Simulating From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57898140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Simulating from the posterior distribution: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071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What else can we do with </a:t>
            </a:r>
            <a:r>
              <a:rPr lang="en-US" dirty="0"/>
              <a:t>the</a:t>
            </a:r>
            <a:r>
              <a:rPr dirty="0"/>
              <a:t> Bayesian posterior distribution?</a:t>
            </a:r>
          </a:p>
          <a:p>
            <a:pPr lvl="0"/>
            <a:r>
              <a:rPr dirty="0"/>
              <a:t>Predictions are computed by simulating from the posterior distribution</a:t>
            </a:r>
          </a:p>
          <a:p>
            <a:pPr lvl="0"/>
            <a:r>
              <a:rPr dirty="0"/>
              <a:t>Results of these simulations are useful for several purposes, including:</a:t>
            </a:r>
          </a:p>
          <a:p>
            <a:pPr lvl="1"/>
            <a:r>
              <a:rPr dirty="0"/>
              <a:t>Predicting posterior values</a:t>
            </a:r>
          </a:p>
          <a:p>
            <a:pPr lvl="1"/>
            <a:r>
              <a:rPr dirty="0"/>
              <a:t>Model checking by comparing simulation results agree (or not) with observations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Simulating from the posterior distribution: predictions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Example; What are the probabilities of distracted drivers for the next 10 cars </a:t>
                </a:r>
                <a:r>
                  <a:rPr lang="en-US" dirty="0"/>
                  <a:t>simulated from</a:t>
                </a:r>
                <a:r>
                  <a:rPr dirty="0"/>
                  <a:t> posterior,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rPr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  <a:blipFill>
                <a:blip r:embed="rId2"/>
                <a:stretch>
                  <a:fillRect l="-963" t="-1000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DistractedNext10Car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746756" y="1883173"/>
            <a:ext cx="410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03504" y="4731544"/>
            <a:ext cx="8229600" cy="35353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Probability of distract drivers for next 10 cars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29155-1D6D-2EFF-9C96-E8FF3298E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1F7C6-3603-9050-217C-EE3936771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060784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477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pPr lvl="0"/>
            <a:r>
              <a:rPr dirty="0"/>
              <a:t>The objective of Bayesian analysis is to compute a </a:t>
            </a:r>
            <a:r>
              <a:rPr b="1" dirty="0"/>
              <a:t>posterior distribution</a:t>
            </a:r>
          </a:p>
          <a:p>
            <a:pPr lvl="0"/>
            <a:r>
              <a:rPr dirty="0"/>
              <a:t>Contrasts with frequentist statistics </a:t>
            </a:r>
            <a:r>
              <a:rPr lang="en-US" dirty="0"/>
              <a:t>which </a:t>
            </a:r>
            <a:r>
              <a:rPr dirty="0"/>
              <a:t>compute</a:t>
            </a:r>
            <a:r>
              <a:rPr lang="en-US" dirty="0"/>
              <a:t>s</a:t>
            </a:r>
            <a:r>
              <a:rPr dirty="0"/>
              <a:t> a </a:t>
            </a:r>
            <a:r>
              <a:rPr b="1" dirty="0"/>
              <a:t>point estimate </a:t>
            </a:r>
            <a:r>
              <a:rPr dirty="0"/>
              <a:t>and </a:t>
            </a:r>
            <a:r>
              <a:rPr b="1" dirty="0"/>
              <a:t>confidence interval </a:t>
            </a:r>
            <a:r>
              <a:rPr dirty="0"/>
              <a:t>from a sample</a:t>
            </a:r>
          </a:p>
          <a:p>
            <a:pPr lvl="0"/>
            <a:r>
              <a:rPr dirty="0"/>
              <a:t>Bayesian models allow expressing prior information in the form of a </a:t>
            </a:r>
            <a:r>
              <a:rPr b="1" dirty="0"/>
              <a:t>prior distribution</a:t>
            </a:r>
          </a:p>
          <a:p>
            <a:pPr lvl="0"/>
            <a:r>
              <a:rPr dirty="0"/>
              <a:t>Selection of prior distributions can be performed in a number of ways</a:t>
            </a:r>
          </a:p>
          <a:p>
            <a:pPr lvl="0"/>
            <a:r>
              <a:rPr dirty="0"/>
              <a:t>The posterior distribution is said to quantify our current </a:t>
            </a:r>
            <a:r>
              <a:rPr b="1" dirty="0"/>
              <a:t>belief</a:t>
            </a:r>
            <a:endParaRPr dirty="0"/>
          </a:p>
          <a:p>
            <a:pPr lvl="0"/>
            <a:r>
              <a:rPr dirty="0"/>
              <a:t>We </a:t>
            </a:r>
            <a:r>
              <a:rPr b="1" dirty="0"/>
              <a:t>update beliefs </a:t>
            </a:r>
            <a:r>
              <a:rPr dirty="0"/>
              <a:t>based on additional data or evidence</a:t>
            </a:r>
          </a:p>
          <a:p>
            <a:pPr lvl="0"/>
            <a:r>
              <a:rPr dirty="0"/>
              <a:t>Inference can be performed on the posterior distribution by finding the </a:t>
            </a:r>
            <a:r>
              <a:rPr b="1" dirty="0"/>
              <a:t>maximum a </a:t>
            </a:r>
            <a:r>
              <a:rPr b="1" dirty="0" err="1"/>
              <a:t>postiori</a:t>
            </a:r>
            <a:r>
              <a:rPr b="1" dirty="0"/>
              <a:t> (MAP) </a:t>
            </a:r>
            <a:r>
              <a:rPr dirty="0"/>
              <a:t>value and a </a:t>
            </a:r>
            <a:r>
              <a:rPr b="1" dirty="0"/>
              <a:t>credible interval</a:t>
            </a:r>
          </a:p>
          <a:p>
            <a:pPr lvl="0"/>
            <a:r>
              <a:rPr dirty="0"/>
              <a:t>Predictions are made by simulating from the posterior distribution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2375</TotalTime>
  <Words>3997</Words>
  <Application>Microsoft Office PowerPoint</Application>
  <PresentationFormat>On-screen Show (16:9)</PresentationFormat>
  <Paragraphs>404</Paragraphs>
  <Slides>67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Arial</vt:lpstr>
      <vt:lpstr>Calibri</vt:lpstr>
      <vt:lpstr>Cambria Math</vt:lpstr>
      <vt:lpstr>Courier</vt:lpstr>
      <vt:lpstr>Office Theme</vt:lpstr>
      <vt:lpstr>Introduction to Bayesian Models</vt:lpstr>
      <vt:lpstr>Introduction Bayesian Models  Drawing from xkcd</vt:lpstr>
      <vt:lpstr>Introduction Bayesian Models</vt:lpstr>
      <vt:lpstr>Introduction</vt:lpstr>
      <vt:lpstr>Bayesian Model Use Case</vt:lpstr>
      <vt:lpstr>Bayesian Model Use Case</vt:lpstr>
      <vt:lpstr>Bayesian vs. Frequentist Views</vt:lpstr>
      <vt:lpstr>Bayesian vs. Frequentist Views</vt:lpstr>
      <vt:lpstr>Bayes Theorem</vt:lpstr>
      <vt:lpstr>Properties of Conditional Probability</vt:lpstr>
      <vt:lpstr>Properties of Conditional Probability</vt:lpstr>
      <vt:lpstr>Properties of Conditional Probability</vt:lpstr>
      <vt:lpstr>Review of Bayes Theorem</vt:lpstr>
      <vt:lpstr>Bayes Theorem</vt:lpstr>
      <vt:lpstr>Marginal Distribution</vt:lpstr>
      <vt:lpstr>Marginal Distributions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Interpreting Bayes Models</vt:lpstr>
      <vt:lpstr>Interpreting Bayes Theorem</vt:lpstr>
      <vt:lpstr>Interpreting Bayes Theorem</vt:lpstr>
      <vt:lpstr>Interpreting Bayes Theorem</vt:lpstr>
      <vt:lpstr>Interpreting Bayes Theorem</vt:lpstr>
      <vt:lpstr>Interpreting Bayes Theorem</vt:lpstr>
      <vt:lpstr>Applying Bayes Models</vt:lpstr>
      <vt:lpstr>Applying Bayes Theorem</vt:lpstr>
      <vt:lpstr>Applying Bayes Theorem</vt:lpstr>
      <vt:lpstr>Interpreting Bayes Theorem</vt:lpstr>
      <vt:lpstr>Simplified Relationship for Bayes Theorem</vt:lpstr>
      <vt:lpstr>Workflow for Bayes Modeling</vt:lpstr>
      <vt:lpstr>Bayesian Workflow</vt:lpstr>
      <vt:lpstr>Bayesian Workflow</vt:lpstr>
      <vt:lpstr>Updating Bayesian Models</vt:lpstr>
      <vt:lpstr>Updating Bayesian Models</vt:lpstr>
      <vt:lpstr>Updating Bayesian Models</vt:lpstr>
      <vt:lpstr>Prior Distributions</vt:lpstr>
      <vt:lpstr>How can you choose a prior?</vt:lpstr>
      <vt:lpstr>How can you choose a prior?</vt:lpstr>
      <vt:lpstr>How can you choose a prior?</vt:lpstr>
      <vt:lpstr>How can you choose a prior?</vt:lpstr>
      <vt:lpstr>Conjugate Prior Distributions</vt:lpstr>
      <vt:lpstr>Conjugate Prior Distributions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Sampling the Posterior Distribution</vt:lpstr>
      <vt:lpstr>Sampling the Posterior</vt:lpstr>
      <vt:lpstr>Sampling the Posterior</vt:lpstr>
      <vt:lpstr>Sampling the Posterior</vt:lpstr>
      <vt:lpstr>Credible Intervals</vt:lpstr>
      <vt:lpstr>Credible Intervals</vt:lpstr>
      <vt:lpstr>Credible Intervals</vt:lpstr>
      <vt:lpstr>Credible Intervals</vt:lpstr>
      <vt:lpstr>Credible Intervals are not Confidence Intervals</vt:lpstr>
      <vt:lpstr>Credible Intervals are not Confidence Intervals</vt:lpstr>
      <vt:lpstr>Simulating From the Posterior Distribution</vt:lpstr>
      <vt:lpstr>Simulating from the posterior distribution: predictions</vt:lpstr>
      <vt:lpstr>Simulating from the posterior distribution: predictions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Bayesian Models</dc:title>
  <dc:creator>Steve Elston</dc:creator>
  <cp:keywords/>
  <cp:lastModifiedBy>Stephen Elston</cp:lastModifiedBy>
  <cp:revision>137</cp:revision>
  <dcterms:created xsi:type="dcterms:W3CDTF">2024-08-16T02:28:43Z</dcterms:created>
  <dcterms:modified xsi:type="dcterms:W3CDTF">2026-10-12T19:00:30Z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10/13/2022</vt:lpwstr>
  </property>
  <property fmtid="{D5CDD505-2E9C-101B-9397-08002B2CF9AE}" pid="3" name="output">
    <vt:lpwstr/>
  </property>
</Properties>
</file>