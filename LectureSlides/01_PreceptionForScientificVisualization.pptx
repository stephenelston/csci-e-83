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310" r:id="rId5"/>
    <p:sldId id="728" r:id="rId6"/>
    <p:sldId id="795" r:id="rId7"/>
    <p:sldId id="796" r:id="rId8"/>
    <p:sldId id="259" r:id="rId9"/>
    <p:sldId id="786" r:id="rId10"/>
    <p:sldId id="260" r:id="rId11"/>
    <p:sldId id="794" r:id="rId12"/>
    <p:sldId id="467" r:id="rId13"/>
    <p:sldId id="797" r:id="rId14"/>
    <p:sldId id="264" r:id="rId15"/>
    <p:sldId id="266" r:id="rId16"/>
    <p:sldId id="265" r:id="rId17"/>
    <p:sldId id="268" r:id="rId18"/>
    <p:sldId id="269" r:id="rId19"/>
    <p:sldId id="270" r:id="rId20"/>
    <p:sldId id="271" r:id="rId21"/>
    <p:sldId id="272" r:id="rId22"/>
    <p:sldId id="381" r:id="rId23"/>
    <p:sldId id="793" r:id="rId24"/>
    <p:sldId id="725" r:id="rId25"/>
    <p:sldId id="800" r:id="rId26"/>
    <p:sldId id="274" r:id="rId27"/>
    <p:sldId id="801" r:id="rId28"/>
    <p:sldId id="808" r:id="rId29"/>
    <p:sldId id="275" r:id="rId30"/>
    <p:sldId id="798" r:id="rId31"/>
    <p:sldId id="799" r:id="rId32"/>
    <p:sldId id="315" r:id="rId33"/>
    <p:sldId id="730" r:id="rId34"/>
    <p:sldId id="276" r:id="rId35"/>
    <p:sldId id="277" r:id="rId36"/>
    <p:sldId id="311" r:id="rId37"/>
    <p:sldId id="278" r:id="rId38"/>
    <p:sldId id="279" r:id="rId39"/>
    <p:sldId id="731" r:id="rId40"/>
    <p:sldId id="803" r:id="rId41"/>
    <p:sldId id="804" r:id="rId42"/>
    <p:sldId id="802" r:id="rId43"/>
    <p:sldId id="806" r:id="rId44"/>
    <p:sldId id="807" r:id="rId45"/>
    <p:sldId id="805" r:id="rId46"/>
    <p:sldId id="280" r:id="rId47"/>
    <p:sldId id="281" r:id="rId48"/>
    <p:sldId id="282" r:id="rId49"/>
    <p:sldId id="283" r:id="rId50"/>
    <p:sldId id="732" r:id="rId51"/>
    <p:sldId id="284" r:id="rId52"/>
    <p:sldId id="286" r:id="rId53"/>
    <p:sldId id="287" r:id="rId54"/>
    <p:sldId id="312" r:id="rId55"/>
    <p:sldId id="313" r:id="rId56"/>
    <p:sldId id="733" r:id="rId57"/>
    <p:sldId id="288" r:id="rId58"/>
    <p:sldId id="290" r:id="rId59"/>
    <p:sldId id="291" r:id="rId60"/>
    <p:sldId id="292" r:id="rId61"/>
    <p:sldId id="293" r:id="rId62"/>
    <p:sldId id="294" r:id="rId63"/>
    <p:sldId id="734" r:id="rId64"/>
    <p:sldId id="295" r:id="rId65"/>
    <p:sldId id="296" r:id="rId66"/>
    <p:sldId id="298" r:id="rId67"/>
    <p:sldId id="300" r:id="rId68"/>
    <p:sldId id="301" r:id="rId69"/>
    <p:sldId id="303" r:id="rId70"/>
    <p:sldId id="308" r:id="rId71"/>
    <p:sldId id="304" r:id="rId72"/>
    <p:sldId id="305" r:id="rId73"/>
    <p:sldId id="307" r:id="rId74"/>
    <p:sldId id="316" r:id="rId7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240" y="2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8B955-8536-4BAC-8F14-FFC29379D0B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BAB8E-9F72-444E-B07F-4C8282865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4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BAB8E-9F72-444E-B07F-4C82828652A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ephenElston/CSCI-E-83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extension.harvard.edu/enrolled-students/academic-integrity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wardtufte.com/book/the-visual-display-of-quantitative-information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users/explain/colors/colormaps.html" TargetMode="External"/><Relationship Id="rId2" Type="http://schemas.openxmlformats.org/officeDocument/2006/relationships/hyperlink" Target="https://seaborn.pydata.org/tutorial/color_palettes.html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matplotlib.org/stable/gallery/lines_bars_and_markers/linestyles.html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matplotlib.org/stable/api/markers_api.html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ower_transform" TargetMode="External"/><Relationship Id="rId2" Type="http://schemas.openxmlformats.org/officeDocument/2006/relationships/hyperlink" Target="https://scikit-learn.org/stable/modules/preprocessing.html#preprocessing-transform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b="1"/>
              <a:t>CSCI E-83</a:t>
            </a:r>
            <a:br>
              <a:rPr lang="en-US" b="1"/>
            </a:br>
            <a:r>
              <a:rPr b="1"/>
              <a:t>Perception </a:t>
            </a:r>
            <a:r>
              <a:rPr b="1" dirty="0"/>
              <a:t>for Scientific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38382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</a:t>
            </a:r>
            <a:r>
              <a:rPr lang="en-US" sz="1100"/>
              <a:t>2023 2024, 2025, </a:t>
            </a:r>
            <a:r>
              <a:rPr lang="en-US" sz="1100" dirty="0"/>
              <a:t>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Course?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21st Century datasets are large and complex</a:t>
            </a:r>
          </a:p>
          <a:p>
            <a:pPr lvl="0"/>
            <a:r>
              <a:rPr lang="en-US" dirty="0"/>
              <a:t>Complexity </a:t>
            </a:r>
            <a:r>
              <a:rPr dirty="0"/>
              <a:t>is harder to address than size</a:t>
            </a:r>
          </a:p>
          <a:p>
            <a:pPr lvl="0"/>
            <a:r>
              <a:rPr dirty="0"/>
              <a:t>Complexity makes understanding of relationships in data difficult</a:t>
            </a:r>
          </a:p>
          <a:p>
            <a:pPr lvl="0"/>
            <a:r>
              <a:rPr lang="en-US" dirty="0"/>
              <a:t>Understanding is addressed </a:t>
            </a:r>
            <a:r>
              <a:rPr dirty="0"/>
              <a:t>with </a:t>
            </a:r>
            <a:r>
              <a:rPr lang="en-US" dirty="0"/>
              <a:t>modern </a:t>
            </a:r>
            <a:r>
              <a:rPr dirty="0"/>
              <a:t>computer-intensive methods</a:t>
            </a:r>
          </a:p>
          <a:p>
            <a:pPr lvl="0"/>
            <a:r>
              <a:rPr dirty="0"/>
              <a:t>Our focus is on the big ideas of computer-intensive </a:t>
            </a:r>
            <a:r>
              <a:rPr lang="en-US" dirty="0"/>
              <a:t>statistical inference </a:t>
            </a:r>
            <a:r>
              <a:rPr dirty="0"/>
              <a:t>and data analysis arising in the late 20th and early 21st Centuries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This Course?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/>
              <a:t>Data science</a:t>
            </a:r>
            <a:r>
              <a:rPr dirty="0"/>
              <a:t> is the science of </a:t>
            </a:r>
            <a:r>
              <a:rPr b="1" dirty="0"/>
              <a:t>understanding data</a:t>
            </a:r>
          </a:p>
          <a:p>
            <a:pPr lvl="0"/>
            <a:r>
              <a:rPr b="1" dirty="0">
                <a:solidFill>
                  <a:schemeClr val="tx2"/>
                </a:solidFill>
              </a:rPr>
              <a:t>Complexity</a:t>
            </a:r>
            <a:r>
              <a:rPr dirty="0">
                <a:solidFill>
                  <a:schemeClr val="tx2"/>
                </a:solidFill>
              </a:rPr>
              <a:t> makes </a:t>
            </a:r>
            <a:r>
              <a:rPr b="1" dirty="0">
                <a:solidFill>
                  <a:schemeClr val="tx2"/>
                </a:solidFill>
              </a:rPr>
              <a:t>understanding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the </a:t>
            </a:r>
            <a:r>
              <a:rPr dirty="0">
                <a:solidFill>
                  <a:schemeClr val="tx2"/>
                </a:solidFill>
              </a:rPr>
              <a:t>difficult</a:t>
            </a:r>
            <a:r>
              <a:rPr lang="en-US" dirty="0">
                <a:solidFill>
                  <a:schemeClr val="tx2"/>
                </a:solidFill>
              </a:rPr>
              <a:t> part of data science! </a:t>
            </a:r>
            <a:endParaRPr dirty="0">
              <a:solidFill>
                <a:schemeClr val="tx2"/>
              </a:solidFill>
            </a:endParaRPr>
          </a:p>
          <a:p>
            <a:pPr lvl="0"/>
            <a:r>
              <a:rPr dirty="0"/>
              <a:t>Statistics is the science of making </a:t>
            </a:r>
            <a:r>
              <a:rPr b="1" dirty="0"/>
              <a:t>principled inferences</a:t>
            </a:r>
            <a:r>
              <a:rPr dirty="0"/>
              <a:t> from data</a:t>
            </a:r>
          </a:p>
          <a:p>
            <a:pPr lvl="1"/>
            <a:r>
              <a:rPr dirty="0"/>
              <a:t>Inference leads to </a:t>
            </a:r>
            <a:r>
              <a:rPr b="1" dirty="0"/>
              <a:t>understanding</a:t>
            </a:r>
            <a:endParaRPr lang="en-US" b="1" dirty="0"/>
          </a:p>
          <a:p>
            <a:pPr lvl="1"/>
            <a:r>
              <a:rPr lang="en-US" dirty="0"/>
              <a:t>Understanding is essential for </a:t>
            </a:r>
            <a:r>
              <a:rPr lang="en-US" b="1" dirty="0"/>
              <a:t>discovery</a:t>
            </a:r>
            <a:endParaRPr b="1" dirty="0"/>
          </a:p>
          <a:p>
            <a:pPr lvl="1"/>
            <a:r>
              <a:rPr dirty="0"/>
              <a:t>Inference is becoming harder </a:t>
            </a:r>
            <a:r>
              <a:rPr lang="en-US" dirty="0"/>
              <a:t>as </a:t>
            </a:r>
            <a:r>
              <a:rPr dirty="0"/>
              <a:t>dataset</a:t>
            </a:r>
            <a:r>
              <a:rPr lang="en-US" dirty="0"/>
              <a:t> complexity increases</a:t>
            </a:r>
            <a:endParaRPr dirty="0"/>
          </a:p>
          <a:p>
            <a:pPr lvl="0"/>
            <a:r>
              <a:rPr lang="en-US" dirty="0"/>
              <a:t>Can’t we just use an LLM?</a:t>
            </a:r>
          </a:p>
          <a:p>
            <a:pPr lvl="0"/>
            <a:r>
              <a:rPr lang="en-US" dirty="0"/>
              <a:t>No! </a:t>
            </a:r>
          </a:p>
          <a:p>
            <a:pPr lvl="0"/>
            <a:r>
              <a:rPr lang="en-US" dirty="0"/>
              <a:t>LLMs are generative models not inferential models</a:t>
            </a:r>
          </a:p>
          <a:p>
            <a:pPr lvl="0"/>
            <a:r>
              <a:rPr lang="en-US" dirty="0"/>
              <a:t>LLMs and other AI models cannot produce understanding!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Course?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30"/>
            <a:ext cx="8229600" cy="375667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What is the difference between </a:t>
            </a:r>
            <a:r>
              <a:rPr lang="en-US" b="1" dirty="0"/>
              <a:t>statistical inference </a:t>
            </a:r>
            <a:r>
              <a:rPr lang="en-US" dirty="0"/>
              <a:t>and </a:t>
            </a:r>
            <a:r>
              <a:rPr lang="en-US" b="1" dirty="0"/>
              <a:t>predictive analytics? </a:t>
            </a:r>
            <a:endParaRPr b="1" dirty="0"/>
          </a:p>
          <a:p>
            <a:pPr lvl="0"/>
            <a:r>
              <a:rPr lang="en-US" dirty="0"/>
              <a:t>Inference and prediction closely related   </a:t>
            </a:r>
          </a:p>
          <a:p>
            <a:pPr lvl="0"/>
            <a:r>
              <a:rPr lang="en-US" dirty="0"/>
              <a:t>Prediction is the domain of machine learning; the </a:t>
            </a:r>
            <a:r>
              <a:rPr lang="en-US" dirty="0">
                <a:solidFill>
                  <a:schemeClr val="tx2"/>
                </a:solidFill>
              </a:rPr>
              <a:t>easier part   </a:t>
            </a:r>
          </a:p>
          <a:p>
            <a:pPr lvl="1"/>
            <a:r>
              <a:rPr lang="en-US" dirty="0"/>
              <a:t>Goal is accurate predictions </a:t>
            </a:r>
          </a:p>
          <a:p>
            <a:pPr lvl="1"/>
            <a:r>
              <a:rPr lang="en-US" dirty="0"/>
              <a:t>Prediction is a form of inference</a:t>
            </a:r>
          </a:p>
          <a:p>
            <a:pPr lvl="1"/>
            <a:r>
              <a:rPr lang="en-US" dirty="0"/>
              <a:t>Predictive inference quantifies uncertainty   </a:t>
            </a:r>
          </a:p>
          <a:p>
            <a:pPr lvl="1"/>
            <a:r>
              <a:rPr lang="en-US" b="1" dirty="0"/>
              <a:t>Prediction does not require any particular understanding of the domain or features used  </a:t>
            </a:r>
          </a:p>
        </p:txBody>
      </p:sp>
    </p:spTree>
    <p:extLst>
      <p:ext uri="{BB962C8B-B14F-4D97-AF65-F5344CB8AC3E}">
        <p14:creationId xmlns:p14="http://schemas.microsoft.com/office/powerpoint/2010/main" val="166845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BF768-A0C5-DD48-BD6A-48C11118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6E00-326C-C53A-5472-7C2B1B4D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40340-B54E-CE85-8F8E-7C49BA40E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30"/>
            <a:ext cx="8229600" cy="375667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What is the difference between </a:t>
            </a:r>
            <a:r>
              <a:rPr lang="en-US" b="1" dirty="0"/>
              <a:t>statistical inference </a:t>
            </a:r>
            <a:r>
              <a:rPr lang="en-US" dirty="0"/>
              <a:t>and </a:t>
            </a:r>
            <a:r>
              <a:rPr lang="en-US" b="1" dirty="0"/>
              <a:t>predictive analytics? </a:t>
            </a:r>
            <a:endParaRPr b="1" dirty="0"/>
          </a:p>
          <a:p>
            <a:pPr lvl="0"/>
            <a:r>
              <a:rPr lang="en-US" b="1" dirty="0"/>
              <a:t>Statistical inference </a:t>
            </a:r>
            <a:r>
              <a:rPr lang="en-US" dirty="0"/>
              <a:t>seeks to </a:t>
            </a:r>
            <a:r>
              <a:rPr lang="en-US" b="1" dirty="0"/>
              <a:t>make discoveries </a:t>
            </a:r>
            <a:r>
              <a:rPr lang="en-US" dirty="0"/>
              <a:t>by applying statistical models     </a:t>
            </a:r>
          </a:p>
          <a:p>
            <a:pPr lvl="1"/>
            <a:r>
              <a:rPr lang="en-US" dirty="0"/>
              <a:t>Requires a combination of modeling and domain knowledge</a:t>
            </a:r>
          </a:p>
          <a:p>
            <a:pPr lvl="1"/>
            <a:r>
              <a:rPr lang="en-US" dirty="0"/>
              <a:t>Seek to </a:t>
            </a:r>
            <a:r>
              <a:rPr lang="en-US" b="1" dirty="0"/>
              <a:t>understand </a:t>
            </a:r>
            <a:r>
              <a:rPr lang="en-US" dirty="0"/>
              <a:t>changes in response to changes in independent variables   </a:t>
            </a:r>
            <a:r>
              <a:rPr lang="en-US" b="1" dirty="0"/>
              <a:t>  </a:t>
            </a:r>
          </a:p>
          <a:p>
            <a:pPr lvl="1"/>
            <a:r>
              <a:rPr lang="en-US" b="1" dirty="0"/>
              <a:t>Quantify uncertainty </a:t>
            </a:r>
            <a:r>
              <a:rPr lang="en-US" dirty="0"/>
              <a:t>in model parameter estimates </a:t>
            </a:r>
          </a:p>
          <a:p>
            <a:r>
              <a:rPr lang="en-US" dirty="0"/>
              <a:t>We focus on inference in this course </a:t>
            </a:r>
          </a:p>
          <a:p>
            <a:r>
              <a:rPr lang="en-US" dirty="0"/>
              <a:t>This is not machine learning and prediction course!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886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7D57-F7B3-5FCA-EB19-EE85E13DE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6D5D-1BF2-E6A6-043F-61C9663B1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Course?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4E4537-F00D-5ABC-320C-B3835EEC73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30"/>
                <a:ext cx="8229600" cy="3756674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What is the difference between </a:t>
                </a:r>
                <a:r>
                  <a:rPr lang="en-US" b="1" dirty="0"/>
                  <a:t>statistical inference </a:t>
                </a:r>
                <a:r>
                  <a:rPr lang="en-US" dirty="0"/>
                  <a:t>and </a:t>
                </a:r>
                <a:r>
                  <a:rPr lang="en-US" b="1" dirty="0"/>
                  <a:t>predictive analytics? </a:t>
                </a:r>
              </a:p>
              <a:p>
                <a:pPr lvl="0"/>
                <a:r>
                  <a:rPr lang="en-US" dirty="0"/>
                  <a:t>Machine learning learns a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using a set of features,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to predict an outcome,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such that we minimize error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machine learning we don’t really need to understand the features,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as long as the predictions are accurate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4E4537-F00D-5ABC-320C-B3835EEC73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30"/>
                <a:ext cx="8229600" cy="3756674"/>
              </a:xfrm>
              <a:blipFill>
                <a:blip r:embed="rId2"/>
                <a:stretch>
                  <a:fillRect l="-1111" t="-1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51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2BF4-54D6-62F5-97FC-1A231F68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BF6B-6415-E386-E373-23FC97B6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This Course?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8D0B56-3A23-BE97-332B-8A45FCA04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768"/>
                <a:ext cx="8229600" cy="3756674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What is the difference between </a:t>
                </a:r>
                <a:r>
                  <a:rPr lang="en-US" b="1" dirty="0"/>
                  <a:t>statistical inference </a:t>
                </a:r>
                <a:r>
                  <a:rPr lang="en-US" dirty="0"/>
                  <a:t>and </a:t>
                </a:r>
                <a:r>
                  <a:rPr lang="en-US" b="1" dirty="0"/>
                  <a:t>predictive analytics? </a:t>
                </a:r>
              </a:p>
              <a:p>
                <a:pPr lvl="0"/>
                <a:r>
                  <a:rPr lang="en-US" dirty="0"/>
                  <a:t>For statistical inference we </a:t>
                </a:r>
                <a:r>
                  <a:rPr lang="en-US" b="1" dirty="0"/>
                  <a:t>fit a model</a:t>
                </a:r>
                <a:r>
                  <a:rPr lang="en-US" dirty="0"/>
                  <a:t>,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using a set of variables,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such that we minimize error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b="0" i="0" dirty="0" smtClean="0"/>
                                <m:t>P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i="0" dirty="0"/>
                                <m:t>P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i="0" dirty="0"/>
                                <m:t>P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really care about the statistical properties of the variables,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!</a:t>
                </a:r>
              </a:p>
              <a:p>
                <a:pPr lvl="1"/>
                <a:r>
                  <a:rPr lang="en-US" dirty="0"/>
                  <a:t>How good is the model’s representation of the relationship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How good are our estimates of the model parameters? </a:t>
                </a:r>
              </a:p>
              <a:p>
                <a:pPr lvl="1"/>
                <a:r>
                  <a:rPr lang="en-US" dirty="0"/>
                  <a:t>Are the variables statistically significant? </a:t>
                </a:r>
              </a:p>
              <a:p>
                <a:pPr lvl="1"/>
                <a:r>
                  <a:rPr lang="en-US" dirty="0"/>
                  <a:t>How does each variable influence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8D0B56-3A23-BE97-332B-8A45FCA04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768"/>
                <a:ext cx="8229600" cy="3756674"/>
              </a:xfrm>
              <a:blipFill>
                <a:blip r:embed="rId2"/>
                <a:stretch>
                  <a:fillRect l="-963" t="-2760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40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We’ll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1878"/>
            <a:ext cx="8229600" cy="3845643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Our focus is on the big ideas of computer-intensive statistic</a:t>
            </a:r>
            <a:r>
              <a:rPr lang="en-US" dirty="0"/>
              <a:t>al</a:t>
            </a:r>
            <a:r>
              <a:rPr dirty="0"/>
              <a:t> </a:t>
            </a:r>
            <a:r>
              <a:rPr lang="en-US" dirty="0"/>
              <a:t>inference </a:t>
            </a:r>
            <a:r>
              <a:rPr dirty="0"/>
              <a:t>arising in the late 20th and early 21st Centuries</a:t>
            </a:r>
          </a:p>
          <a:p>
            <a:pPr lvl="0"/>
            <a:r>
              <a:rPr b="1" dirty="0"/>
              <a:t>Exploratory data analysis (EDA)</a:t>
            </a:r>
            <a:r>
              <a:rPr dirty="0"/>
              <a:t> to understand relationships in big complex data sets</a:t>
            </a:r>
          </a:p>
          <a:p>
            <a:pPr lvl="0"/>
            <a:r>
              <a:rPr lang="en-US" b="1" dirty="0"/>
              <a:t>Linear models </a:t>
            </a:r>
            <a:r>
              <a:rPr lang="en-US" dirty="0"/>
              <a:t>as a basis of inference </a:t>
            </a:r>
            <a:endParaRPr dirty="0"/>
          </a:p>
          <a:p>
            <a:pPr lvl="0"/>
            <a:r>
              <a:rPr b="1" dirty="0"/>
              <a:t>Non-Normal</a:t>
            </a:r>
            <a:r>
              <a:rPr dirty="0"/>
              <a:t> response models</a:t>
            </a:r>
            <a:endParaRPr lang="en-US" dirty="0"/>
          </a:p>
          <a:p>
            <a:r>
              <a:rPr lang="en-US" b="1" dirty="0"/>
              <a:t>Models for messy data</a:t>
            </a:r>
            <a:r>
              <a:rPr lang="en-US" dirty="0"/>
              <a:t>, zero-inflation, over-dispersion, missing data, outliers</a:t>
            </a:r>
          </a:p>
          <a:p>
            <a:r>
              <a:rPr lang="en-US" b="1" dirty="0"/>
              <a:t>Properties of time series </a:t>
            </a:r>
            <a:r>
              <a:rPr lang="en-US" dirty="0"/>
              <a:t>for data with serial correlation</a:t>
            </a:r>
            <a:endParaRPr dirty="0"/>
          </a:p>
          <a:p>
            <a:r>
              <a:rPr lang="en-US" b="1" dirty="0"/>
              <a:t>Computer intensive resampling methods</a:t>
            </a:r>
            <a:r>
              <a:rPr lang="en-US" dirty="0"/>
              <a:t> for building models and </a:t>
            </a:r>
            <a:r>
              <a:rPr lang="en-US" dirty="0" err="1"/>
              <a:t>perfoming</a:t>
            </a:r>
            <a:r>
              <a:rPr lang="en-US" dirty="0"/>
              <a:t> inference, </a:t>
            </a:r>
            <a:r>
              <a:rPr lang="en-US" b="1" dirty="0"/>
              <a:t>Bootstrapping</a:t>
            </a:r>
            <a:r>
              <a:rPr lang="en-US" dirty="0"/>
              <a:t> and </a:t>
            </a:r>
            <a:r>
              <a:rPr lang="en-US" b="1" dirty="0"/>
              <a:t>MCMC Bayes</a:t>
            </a:r>
            <a:endParaRPr lang="en-US" dirty="0"/>
          </a:p>
          <a:p>
            <a:pPr lvl="0"/>
            <a:r>
              <a:rPr b="1" dirty="0"/>
              <a:t>Bayesian hierarchical models</a:t>
            </a:r>
            <a:r>
              <a:rPr dirty="0"/>
              <a:t> for complex relationships</a:t>
            </a:r>
            <a:endParaRPr lang="en-US" dirty="0"/>
          </a:p>
          <a:p>
            <a:pPr lvl="0"/>
            <a:r>
              <a:rPr lang="en-US" b="1" dirty="0"/>
              <a:t>Causal inference </a:t>
            </a:r>
            <a:r>
              <a:rPr lang="en-US" dirty="0"/>
              <a:t>for discovery of key effects 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0CA8-F246-D25E-AEB4-FF2EAA59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756E-8F78-AACA-E637-4E5F98E3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40" y="187217"/>
            <a:ext cx="7886700" cy="496673"/>
          </a:xfrm>
        </p:spPr>
        <p:txBody>
          <a:bodyPr>
            <a:normAutofit fontScale="90000"/>
          </a:bodyPr>
          <a:lstStyle/>
          <a:p>
            <a:r>
              <a:rPr lang="en-US" sz="3675" dirty="0">
                <a:latin typeface="+mn-lt"/>
              </a:rPr>
              <a:t>Main topics in this course</a:t>
            </a:r>
            <a:br>
              <a:rPr lang="en-US" sz="3000" dirty="0">
                <a:latin typeface="+mn-lt"/>
              </a:rPr>
            </a:br>
            <a:endParaRPr lang="en-US" sz="3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9786F116-C61A-EF87-1D9A-3C1848FAD4BB}"/>
              </a:ext>
            </a:extLst>
          </p:cNvPr>
          <p:cNvSpPr/>
          <p:nvPr/>
        </p:nvSpPr>
        <p:spPr>
          <a:xfrm>
            <a:off x="567667" y="1473267"/>
            <a:ext cx="168907" cy="954946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1FC16-0D71-48D6-3153-B5B870F2D088}"/>
              </a:ext>
            </a:extLst>
          </p:cNvPr>
          <p:cNvSpPr txBox="1"/>
          <p:nvPr/>
        </p:nvSpPr>
        <p:spPr>
          <a:xfrm rot="16200000">
            <a:off x="-178671" y="1677283"/>
            <a:ext cx="1178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8A127-7421-03C2-E792-96131AA908D1}"/>
              </a:ext>
            </a:extLst>
          </p:cNvPr>
          <p:cNvSpPr/>
          <p:nvPr/>
        </p:nvSpPr>
        <p:spPr>
          <a:xfrm>
            <a:off x="4265017" y="2725592"/>
            <a:ext cx="1468052" cy="8426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1. EDA and Visualization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727B61-9452-BD73-E54B-C84CB425B143}"/>
              </a:ext>
            </a:extLst>
          </p:cNvPr>
          <p:cNvSpPr/>
          <p:nvPr/>
        </p:nvSpPr>
        <p:spPr>
          <a:xfrm>
            <a:off x="890833" y="1541930"/>
            <a:ext cx="1618070" cy="88367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2. Cis and Bootstrap resampling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FBF6A-FC8A-B135-25F7-875F755739D8}"/>
              </a:ext>
            </a:extLst>
          </p:cNvPr>
          <p:cNvSpPr/>
          <p:nvPr/>
        </p:nvSpPr>
        <p:spPr>
          <a:xfrm>
            <a:off x="2598584" y="1549494"/>
            <a:ext cx="1544104" cy="91000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3. Linear Models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87E0C-5A66-5719-01D3-420E2D78C0B7}"/>
              </a:ext>
            </a:extLst>
          </p:cNvPr>
          <p:cNvSpPr/>
          <p:nvPr/>
        </p:nvSpPr>
        <p:spPr>
          <a:xfrm>
            <a:off x="891386" y="2723314"/>
            <a:ext cx="1564487" cy="80568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4. Non-normal response models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E85F025-A246-CDCD-DD0C-9E612E9B26F4}"/>
              </a:ext>
            </a:extLst>
          </p:cNvPr>
          <p:cNvSpPr/>
          <p:nvPr/>
        </p:nvSpPr>
        <p:spPr>
          <a:xfrm>
            <a:off x="648817" y="2678652"/>
            <a:ext cx="129434" cy="820522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B15ED-5464-98E7-9051-875021799A74}"/>
              </a:ext>
            </a:extLst>
          </p:cNvPr>
          <p:cNvSpPr txBox="1"/>
          <p:nvPr/>
        </p:nvSpPr>
        <p:spPr>
          <a:xfrm rot="16200000">
            <a:off x="-215249" y="2897505"/>
            <a:ext cx="1178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9D265-DA24-3EC7-FE84-F48CCC1837A3}"/>
              </a:ext>
            </a:extLst>
          </p:cNvPr>
          <p:cNvSpPr/>
          <p:nvPr/>
        </p:nvSpPr>
        <p:spPr>
          <a:xfrm>
            <a:off x="928012" y="3865707"/>
            <a:ext cx="1471353" cy="94801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5. Methods for messy data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AB4D9DB2-E8B7-4F1D-E860-F2AD00D99130}"/>
              </a:ext>
            </a:extLst>
          </p:cNvPr>
          <p:cNvSpPr/>
          <p:nvPr/>
        </p:nvSpPr>
        <p:spPr>
          <a:xfrm>
            <a:off x="643923" y="3865706"/>
            <a:ext cx="123206" cy="94801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F52434-9868-798E-70EF-71A6EC9E5661}"/>
              </a:ext>
            </a:extLst>
          </p:cNvPr>
          <p:cNvSpPr txBox="1"/>
          <p:nvPr/>
        </p:nvSpPr>
        <p:spPr>
          <a:xfrm rot="16200000">
            <a:off x="-241642" y="4157734"/>
            <a:ext cx="1178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Analyses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27B5DF-8D47-1003-9138-36BB0ACC1DE9}"/>
              </a:ext>
            </a:extLst>
          </p:cNvPr>
          <p:cNvSpPr/>
          <p:nvPr/>
        </p:nvSpPr>
        <p:spPr>
          <a:xfrm>
            <a:off x="2578201" y="2731963"/>
            <a:ext cx="1564487" cy="82052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9. Serial correlation of errors and values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1CFD9D-CF7E-4959-5A17-17F2C919787A}"/>
              </a:ext>
            </a:extLst>
          </p:cNvPr>
          <p:cNvSpPr/>
          <p:nvPr/>
        </p:nvSpPr>
        <p:spPr>
          <a:xfrm>
            <a:off x="5855398" y="1562432"/>
            <a:ext cx="1529225" cy="92584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11. Graphical Models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6CDD49-8319-CF77-74A6-A001FD008EB5}"/>
              </a:ext>
            </a:extLst>
          </p:cNvPr>
          <p:cNvSpPr/>
          <p:nvPr/>
        </p:nvSpPr>
        <p:spPr>
          <a:xfrm>
            <a:off x="4210375" y="3884240"/>
            <a:ext cx="1529225" cy="94710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12. Causal inference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FA6190-3519-18D7-4DC6-3AE9F5323611}"/>
              </a:ext>
            </a:extLst>
          </p:cNvPr>
          <p:cNvSpPr/>
          <p:nvPr/>
        </p:nvSpPr>
        <p:spPr>
          <a:xfrm>
            <a:off x="5842611" y="3897080"/>
            <a:ext cx="1512625" cy="9342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10. Time series models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3853F-A8B1-FFC7-2974-7FB192052C02}"/>
              </a:ext>
            </a:extLst>
          </p:cNvPr>
          <p:cNvSpPr/>
          <p:nvPr/>
        </p:nvSpPr>
        <p:spPr>
          <a:xfrm>
            <a:off x="2533169" y="3879457"/>
            <a:ext cx="1564486" cy="9342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6. Models for seasonality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EB2E9B-27FA-6156-11FC-40562AA86991}"/>
              </a:ext>
            </a:extLst>
          </p:cNvPr>
          <p:cNvSpPr/>
          <p:nvPr/>
        </p:nvSpPr>
        <p:spPr>
          <a:xfrm>
            <a:off x="4296787" y="1543896"/>
            <a:ext cx="1463510" cy="92584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6. Bayesian Models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1EA1B2-7436-919A-611B-CD8EEA4B94F1}"/>
              </a:ext>
            </a:extLst>
          </p:cNvPr>
          <p:cNvSpPr/>
          <p:nvPr/>
        </p:nvSpPr>
        <p:spPr>
          <a:xfrm>
            <a:off x="5855398" y="2748335"/>
            <a:ext cx="1529225" cy="8426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7. MCMC algorithms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8BDE95-2FAA-23D4-1B89-2290367D491E}"/>
              </a:ext>
            </a:extLst>
          </p:cNvPr>
          <p:cNvSpPr/>
          <p:nvPr/>
        </p:nvSpPr>
        <p:spPr>
          <a:xfrm>
            <a:off x="7459675" y="3897080"/>
            <a:ext cx="1512625" cy="9342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8. Hierarchical Bayes Models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76E1A0-59A0-DFBE-2715-C7EF2B2EC32D}"/>
              </a:ext>
            </a:extLst>
          </p:cNvPr>
          <p:cNvSpPr txBox="1">
            <a:spLocks/>
          </p:cNvSpPr>
          <p:nvPr/>
        </p:nvSpPr>
        <p:spPr>
          <a:xfrm>
            <a:off x="509289" y="554650"/>
            <a:ext cx="8229600" cy="85725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/>
              <a:t>Our focus is on the big ideas of computer-intensive statistical inference arising in the late 20th and early 21st Centuries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6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4" grpId="0" animBg="1"/>
      <p:bldP spid="15" grpId="0"/>
      <p:bldP spid="16" grpId="0" animBg="1"/>
      <p:bldP spid="17" grpId="0" animBg="1"/>
      <p:bldP spid="18" grpId="0" animBg="1"/>
      <p:bldP spid="20" grpId="0" animBg="1"/>
      <p:bldP spid="21" grpId="0" animBg="1"/>
      <p:bldP spid="9" grpId="0" animBg="1"/>
      <p:bldP spid="13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Course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4820"/>
            <a:ext cx="8229600" cy="379823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This fast-moving survey course helps build your toolbox for modeling complex data</a:t>
            </a:r>
          </a:p>
          <a:p>
            <a:pPr lvl="0"/>
            <a:r>
              <a:rPr lang="en-US" dirty="0"/>
              <a:t>Apply a broad understanding of the theoretical and methodological basis of inference in data science</a:t>
            </a:r>
          </a:p>
          <a:p>
            <a:pPr lvl="1"/>
            <a:r>
              <a:rPr lang="en-US" dirty="0"/>
              <a:t>Understanding data relationships and </a:t>
            </a:r>
            <a:r>
              <a:rPr lang="en-US" b="1" dirty="0"/>
              <a:t>inference</a:t>
            </a:r>
          </a:p>
          <a:p>
            <a:pPr lvl="1"/>
            <a:r>
              <a:rPr lang="en-US" dirty="0"/>
              <a:t>Statistical evaluation of models and model parameters</a:t>
            </a:r>
          </a:p>
          <a:p>
            <a:pPr lvl="1"/>
            <a:r>
              <a:rPr lang="en-US" dirty="0"/>
              <a:t>What </a:t>
            </a:r>
            <a:r>
              <a:rPr lang="en-US" b="1" dirty="0"/>
              <a:t>confidence </a:t>
            </a:r>
            <a:r>
              <a:rPr lang="en-US" dirty="0"/>
              <a:t>should have in our inferences?</a:t>
            </a:r>
          </a:p>
          <a:p>
            <a:pPr lvl="0"/>
            <a:r>
              <a:rPr lang="en-US" dirty="0"/>
              <a:t>Develop skills to explore data and model results </a:t>
            </a:r>
          </a:p>
          <a:p>
            <a:pPr lvl="0"/>
            <a:r>
              <a:rPr lang="en-US" dirty="0"/>
              <a:t>Understand methods </a:t>
            </a:r>
            <a:r>
              <a:rPr lang="en-US"/>
              <a:t>to model </a:t>
            </a:r>
            <a:r>
              <a:rPr lang="en-US" dirty="0"/>
              <a:t>complex and messy datasets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5614528" cy="36493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About your Instructor: Steve Elston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81" y="971876"/>
            <a:ext cx="6126626" cy="4016829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225"/>
              </a:spcBef>
              <a:buNone/>
            </a:pPr>
            <a:r>
              <a:rPr lang="en-US" sz="2100" dirty="0">
                <a:cs typeface="Arial" panose="020B0604020202020204" pitchFamily="34" charset="0"/>
              </a:rPr>
              <a:t>Instructor for Harvard since 2017</a:t>
            </a:r>
          </a:p>
          <a:p>
            <a:pPr>
              <a:spcBef>
                <a:spcPts val="225"/>
              </a:spcBef>
            </a:pPr>
            <a:r>
              <a:rPr lang="en-US" sz="2100" dirty="0">
                <a:cs typeface="Arial" panose="020B0604020202020204" pitchFamily="34" charset="0"/>
              </a:rPr>
              <a:t>Data science consultant with several decades of experience</a:t>
            </a:r>
          </a:p>
          <a:p>
            <a:pPr>
              <a:spcBef>
                <a:spcPts val="225"/>
              </a:spcBef>
            </a:pPr>
            <a:r>
              <a:rPr lang="en-US" sz="2100" dirty="0">
                <a:cs typeface="Arial" panose="020B0604020202020204" pitchFamily="34" charset="0"/>
              </a:rPr>
              <a:t>Lead team that commercialized Bell Labs S, now opensource R</a:t>
            </a:r>
          </a:p>
          <a:p>
            <a:pPr>
              <a:spcBef>
                <a:spcPts val="225"/>
              </a:spcBef>
            </a:pPr>
            <a:r>
              <a:rPr lang="en-US" sz="2100" dirty="0">
                <a:cs typeface="Arial" panose="020B0604020202020204" pitchFamily="34" charset="0"/>
              </a:rPr>
              <a:t>Company co-founder and held executive positions in several industries </a:t>
            </a:r>
          </a:p>
          <a:p>
            <a:pPr>
              <a:spcBef>
                <a:spcPts val="225"/>
              </a:spcBef>
            </a:pPr>
            <a:r>
              <a:rPr lang="en-US" sz="2100" dirty="0">
                <a:cs typeface="Arial" panose="020B0604020202020204" pitchFamily="34" charset="0"/>
              </a:rPr>
              <a:t>Creator of multiple edX courses, author of books and articles </a:t>
            </a:r>
          </a:p>
          <a:p>
            <a:pPr>
              <a:spcBef>
                <a:spcPts val="225"/>
              </a:spcBef>
            </a:pPr>
            <a:r>
              <a:rPr lang="en-US" sz="2100" dirty="0">
                <a:cs typeface="Arial" panose="020B0604020202020204" pitchFamily="34" charset="0"/>
              </a:rPr>
              <a:t>Inventor on 5 patents</a:t>
            </a:r>
          </a:p>
          <a:p>
            <a:pPr>
              <a:spcBef>
                <a:spcPts val="225"/>
              </a:spcBef>
            </a:pPr>
            <a:r>
              <a:rPr lang="en-US" sz="2100" dirty="0">
                <a:cs typeface="Arial" panose="020B0604020202020204" pitchFamily="34" charset="0"/>
              </a:rPr>
              <a:t>BS, physics and math (minor), University of New Mexico</a:t>
            </a:r>
          </a:p>
          <a:p>
            <a:pPr>
              <a:spcBef>
                <a:spcPts val="225"/>
              </a:spcBef>
            </a:pPr>
            <a:r>
              <a:rPr lang="en-US" sz="2100" dirty="0">
                <a:cs typeface="Arial" panose="020B0604020202020204" pitchFamily="34" charset="0"/>
              </a:rPr>
              <a:t>MS and PhD, geophysics, Princeton University – John von Neuman Supercomputing Fellow</a:t>
            </a:r>
          </a:p>
          <a:p>
            <a:pPr>
              <a:spcBef>
                <a:spcPts val="225"/>
              </a:spcBef>
            </a:pPr>
            <a:r>
              <a:rPr lang="en-US" sz="2100" dirty="0">
                <a:cs typeface="Arial" panose="020B0604020202020204" pitchFamily="34" charset="0"/>
              </a:rPr>
              <a:t>I love anything to do with natural history and the outdoors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42CD4-C141-02EC-25C6-E3A437984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178" y="334513"/>
            <a:ext cx="2724014" cy="223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8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71C2B-BFA5-EF89-1A92-3DA71B09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4F75-2F69-E3F0-8214-F210D95A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7263962" cy="857250"/>
          </a:xfrm>
        </p:spPr>
        <p:txBody>
          <a:bodyPr>
            <a:normAutofit fontScale="90000"/>
          </a:bodyPr>
          <a:lstStyle/>
          <a:p>
            <a:r>
              <a:rPr lang="en-US" sz="3000" dirty="0">
                <a:solidFill>
                  <a:srgbClr val="000000"/>
                </a:solidFill>
                <a:latin typeface="+mn-lt"/>
              </a:rPr>
              <a:t>Teaching Assistant: Melahat Tayli</a:t>
            </a:r>
            <a:br>
              <a:rPr lang="en-US" sz="3000" b="1" dirty="0">
                <a:solidFill>
                  <a:srgbClr val="000000"/>
                </a:solidFill>
                <a:latin typeface="Gill Sans MT" panose="020B0502020104020203" pitchFamily="34" charset="0"/>
              </a:rPr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05C4C-D3AC-E3E5-6656-414D85CE7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369218"/>
            <a:ext cx="6051322" cy="3548947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Academic foundation in Chemistry (BSc, MSc)</a:t>
            </a:r>
          </a:p>
          <a:p>
            <a:r>
              <a:rPr 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PhD in Polymer Engineering &amp; Science</a:t>
            </a:r>
          </a:p>
          <a:p>
            <a:r>
              <a:rPr 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Transitioned into Data Science; completing ALM in Data Science at Harvard Extension School (Feb 2026)</a:t>
            </a:r>
          </a:p>
          <a:p>
            <a:r>
              <a:rPr 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6 years of research experience in academia &amp; industry</a:t>
            </a:r>
          </a:p>
          <a:p>
            <a:r>
              <a:rPr 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Enjoys creating supportive, engaging, and student-centered learning environments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0BADD-93E9-4D70-E14D-DB0181A32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972" y="114841"/>
            <a:ext cx="2354429" cy="276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3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7D24-DFF0-4128-2724-AA23D1E91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162" y="222335"/>
            <a:ext cx="7219336" cy="597310"/>
          </a:xfrm>
        </p:spPr>
        <p:txBody>
          <a:bodyPr>
            <a:normAutofit/>
          </a:bodyPr>
          <a:lstStyle/>
          <a:p>
            <a:pPr algn="l"/>
            <a:r>
              <a:rPr lang="en-US" sz="3000" dirty="0"/>
              <a:t>Teaching Assistant: Waree Protprommart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01460-3AF6-B73A-91A2-A0CB1EF58CE4}"/>
              </a:ext>
            </a:extLst>
          </p:cNvPr>
          <p:cNvSpPr txBox="1"/>
          <p:nvPr/>
        </p:nvSpPr>
        <p:spPr>
          <a:xfrm>
            <a:off x="256251" y="1009489"/>
            <a:ext cx="54237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Capstone Project: Bird Flu Early Detection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A.L.M. Student in Data Science at HES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B.S. in Biology from Mount Saint Mary’s University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Substitute teaching K-12 part-time for STEM subjects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Worked as a research technician at the California Institute of Technology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Interned at the UCLA School of Engineering, researching robotic arm hand signal detection, &amp; at the Valley Presbyterian Hospital Analyst Team.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Hobbies: Surfing, Hiking, Camping, Gardening, Zumba, &amp; Dance.</a:t>
            </a:r>
          </a:p>
        </p:txBody>
      </p:sp>
      <p:pic>
        <p:nvPicPr>
          <p:cNvPr id="6" name="Picture 5" descr="A person standing next to a sign&#10;&#10;AI-generated content may be incorrect.">
            <a:extLst>
              <a:ext uri="{FF2B5EF4-FFF2-40B4-BE49-F238E27FC236}">
                <a16:creationId xmlns:a16="http://schemas.microsoft.com/office/drawing/2014/main" id="{288C65B2-DBC8-4754-089E-6EDA50443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121" y="86647"/>
            <a:ext cx="1937293" cy="2571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74D986-0BB3-C71D-45DE-8E55BF29B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972" y="2560443"/>
            <a:ext cx="1937293" cy="258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74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Grading: Undergraduate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0217784"/>
              </p:ext>
            </p:extLst>
          </p:nvPr>
        </p:nvGraphicFramePr>
        <p:xfrm>
          <a:off x="802512" y="1243957"/>
          <a:ext cx="76026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6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 dirty="0"/>
                        <a:t>Grade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400" dirty="0"/>
                        <a:t>Participation (graded discussions)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400" dirty="0"/>
                        <a:t>Assignments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 dirty="0"/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Grading: Graduate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545537"/>
              </p:ext>
            </p:extLst>
          </p:nvPr>
        </p:nvGraphicFramePr>
        <p:xfrm>
          <a:off x="457200" y="11938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3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/>
                        <a:t>Grade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400" dirty="0"/>
                        <a:t>Participation (graded discussions)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400" dirty="0"/>
                        <a:t>Assignments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 dirty="0"/>
                        <a:t>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400" dirty="0"/>
                        <a:t>Independent project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400" dirty="0"/>
                        <a:t>Independent project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400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Hands-on assignments tie theory to practice applied to data examples</a:t>
            </a:r>
          </a:p>
          <a:p>
            <a:r>
              <a:rPr dirty="0"/>
              <a:t>Most of us only recall methods we actually use</a:t>
            </a:r>
          </a:p>
          <a:p>
            <a:r>
              <a:rPr dirty="0"/>
              <a:t>Lectures provide introduction only</a:t>
            </a:r>
          </a:p>
          <a:p>
            <a:r>
              <a:rPr dirty="0"/>
              <a:t>Expect to work out some details</a:t>
            </a:r>
          </a:p>
          <a:p>
            <a:r>
              <a:rPr dirty="0"/>
              <a:t>Do not hesitate to </a:t>
            </a:r>
            <a:r>
              <a:rPr b="1" dirty="0"/>
              <a:t>ask for help</a:t>
            </a:r>
            <a:r>
              <a:rPr dirty="0"/>
              <a:t> on concepts or coding!!</a:t>
            </a:r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It is okay to display code and exception messages in your public Ed Discussion posts! 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AE66C-95D6-4DB2-213E-997523FF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Assignments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Grading: Graduate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974284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Independent Graduate Project:</a:t>
            </a:r>
          </a:p>
          <a:p>
            <a:pPr lvl="0"/>
            <a:r>
              <a:rPr dirty="0"/>
              <a:t>An end-to-end project you will execute independently</a:t>
            </a:r>
          </a:p>
          <a:p>
            <a:pPr lvl="0"/>
            <a:r>
              <a:rPr dirty="0"/>
              <a:t>Pay careful attention to grading rubric in Canvas</a:t>
            </a:r>
          </a:p>
          <a:p>
            <a:pPr lvl="0"/>
            <a:r>
              <a:rPr dirty="0"/>
              <a:t>Can be great addition to your data science project portfolio</a:t>
            </a:r>
          </a:p>
          <a:p>
            <a:pPr lvl="0"/>
            <a:r>
              <a:rPr dirty="0"/>
              <a:t>Pick a problem of particular interest to you!</a:t>
            </a:r>
          </a:p>
          <a:p>
            <a:pPr lvl="1"/>
            <a:r>
              <a:rPr dirty="0"/>
              <a:t>Plan to spend about 80 hours on your analysis and report</a:t>
            </a:r>
          </a:p>
          <a:p>
            <a:pPr lvl="1"/>
            <a:r>
              <a:rPr dirty="0"/>
              <a:t>Sufficient data must be available</a:t>
            </a:r>
          </a:p>
          <a:p>
            <a:pPr lvl="1"/>
            <a:r>
              <a:rPr b="1" dirty="0"/>
              <a:t>Must use analytical methods within the scope of this course</a:t>
            </a:r>
            <a:r>
              <a:rPr dirty="0"/>
              <a:t> - e.g. </a:t>
            </a:r>
            <a:r>
              <a:rPr lang="en-US" dirty="0"/>
              <a:t>focus in EDA and inference, </a:t>
            </a:r>
            <a:r>
              <a:rPr b="1" dirty="0"/>
              <a:t>n</a:t>
            </a:r>
            <a:r>
              <a:rPr lang="en-US" b="1" dirty="0"/>
              <a:t>o predictive </a:t>
            </a:r>
            <a:r>
              <a:rPr b="1" dirty="0"/>
              <a:t>ML or deep learning</a:t>
            </a:r>
            <a:r>
              <a:rPr lang="en-US" b="1" dirty="0"/>
              <a:t>!</a:t>
            </a:r>
            <a:endParaRPr b="1" dirty="0"/>
          </a:p>
          <a:p>
            <a:pPr lvl="0"/>
            <a:r>
              <a:rPr dirty="0"/>
              <a:t>Start thinking about your project soon - don’t put it off</a:t>
            </a:r>
          </a:p>
          <a:p>
            <a:pPr lvl="0"/>
            <a:r>
              <a:rPr dirty="0"/>
              <a:t>Re</a:t>
            </a:r>
            <a:r>
              <a:rPr lang="en-US" dirty="0"/>
              <a:t>s</a:t>
            </a:r>
            <a:r>
              <a:rPr dirty="0"/>
              <a:t>ources to help you get started are under the </a:t>
            </a:r>
            <a:r>
              <a:rPr lang="en-US" b="1" dirty="0"/>
              <a:t>Project Module in Canvas</a:t>
            </a:r>
            <a:endParaRPr b="1" dirty="0"/>
          </a:p>
          <a:p>
            <a:pPr lvl="1"/>
            <a:r>
              <a:rPr dirty="0"/>
              <a:t>List of possible data sources: Far from comprehensive</a:t>
            </a:r>
          </a:p>
          <a:p>
            <a:pPr lvl="1"/>
            <a:r>
              <a:rPr dirty="0"/>
              <a:t>Example project proposals and reports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Late Assignment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Timely feedback is an important part of the learning process</a:t>
            </a:r>
          </a:p>
          <a:p>
            <a:pPr lvl="0"/>
            <a:r>
              <a:rPr dirty="0"/>
              <a:t>To allow the timely release of solutions for assignments this course applied a late assignment policy:</a:t>
            </a:r>
          </a:p>
          <a:p>
            <a:pPr lvl="1"/>
            <a:r>
              <a:rPr dirty="0"/>
              <a:t>Up to </a:t>
            </a:r>
            <a:r>
              <a:rPr lang="en-US" dirty="0"/>
              <a:t>1</a:t>
            </a:r>
            <a:r>
              <a:rPr dirty="0"/>
              <a:t> day late - no penalty</a:t>
            </a:r>
          </a:p>
          <a:p>
            <a:pPr lvl="1"/>
            <a:r>
              <a:rPr dirty="0"/>
              <a:t>Up to </a:t>
            </a:r>
            <a:r>
              <a:rPr lang="en-US" dirty="0"/>
              <a:t>2</a:t>
            </a:r>
            <a:r>
              <a:rPr dirty="0"/>
              <a:t> days late - less </a:t>
            </a:r>
            <a:r>
              <a:rPr lang="en-US" dirty="0"/>
              <a:t>1</a:t>
            </a:r>
            <a:r>
              <a:rPr dirty="0"/>
              <a:t>0%</a:t>
            </a:r>
            <a:endParaRPr lang="en-US" dirty="0"/>
          </a:p>
          <a:p>
            <a:pPr lvl="1"/>
            <a:r>
              <a:rPr lang="en-US" dirty="0"/>
              <a:t>Up to 3 days late - less 20%</a:t>
            </a:r>
          </a:p>
          <a:p>
            <a:pPr lvl="1"/>
            <a:r>
              <a:rPr lang="en-US" dirty="0"/>
              <a:t>Up to 4 days late - less 30%</a:t>
            </a:r>
          </a:p>
          <a:p>
            <a:pPr lvl="1"/>
            <a:r>
              <a:rPr lang="en-US" dirty="0"/>
              <a:t>Up to 5 days late - less 40%</a:t>
            </a:r>
            <a:endParaRPr dirty="0"/>
          </a:p>
          <a:p>
            <a:pPr lvl="1"/>
            <a:r>
              <a:rPr dirty="0"/>
              <a:t>More than </a:t>
            </a:r>
            <a:r>
              <a:rPr lang="en-US" dirty="0"/>
              <a:t>5</a:t>
            </a:r>
            <a:r>
              <a:rPr dirty="0"/>
              <a:t> days late - no credit</a:t>
            </a:r>
          </a:p>
          <a:p>
            <a:pPr marL="0" lvl="0" indent="0">
              <a:buNone/>
            </a:pPr>
            <a:r>
              <a:rPr b="1" dirty="0"/>
              <a:t>Advice:</a:t>
            </a:r>
            <a:r>
              <a:rPr dirty="0"/>
              <a:t> start assignments and your project as soon as you can so you have time to address problems and ask questions!</a:t>
            </a:r>
          </a:p>
          <a:p>
            <a:pPr marL="0" lvl="0" indent="0">
              <a:buNone/>
            </a:pPr>
            <a:r>
              <a:rPr b="1" dirty="0"/>
              <a:t>Note: No extension is possible for Graduate Independent Projects!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Class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dirty="0"/>
              <a:t>Class meeting </a:t>
            </a:r>
            <a:r>
              <a:rPr lang="en-US" b="1" dirty="0"/>
              <a:t>Thursdays</a:t>
            </a:r>
            <a:r>
              <a:rPr dirty="0"/>
              <a:t>, 6:00 pm US Eastern Time:</a:t>
            </a:r>
          </a:p>
          <a:p>
            <a:pPr lvl="1"/>
            <a:r>
              <a:rPr dirty="0"/>
              <a:t>Focus on theory to understand concepts</a:t>
            </a:r>
          </a:p>
          <a:p>
            <a:pPr lvl="1"/>
            <a:r>
              <a:rPr dirty="0"/>
              <a:t>Limited time for code discussions</a:t>
            </a:r>
          </a:p>
          <a:p>
            <a:pPr lvl="0"/>
            <a:r>
              <a:rPr dirty="0"/>
              <a:t>Section meetings </a:t>
            </a:r>
            <a:r>
              <a:rPr lang="en-US" b="1" dirty="0"/>
              <a:t>Tuesdays</a:t>
            </a:r>
            <a:r>
              <a:rPr dirty="0"/>
              <a:t>, 6:00 pm US Eastern Time:</a:t>
            </a:r>
          </a:p>
          <a:p>
            <a:pPr lvl="1"/>
            <a:r>
              <a:rPr dirty="0"/>
              <a:t>Focus on answer student questions - your questions!</a:t>
            </a:r>
          </a:p>
          <a:p>
            <a:pPr lvl="1"/>
            <a:r>
              <a:rPr lang="en-US" dirty="0"/>
              <a:t>Course concepts </a:t>
            </a:r>
          </a:p>
          <a:p>
            <a:pPr lvl="1"/>
            <a:r>
              <a:rPr dirty="0"/>
              <a:t>Discus code and coding problems</a:t>
            </a:r>
          </a:p>
          <a:p>
            <a:pPr lvl="1"/>
            <a:r>
              <a:rPr dirty="0"/>
              <a:t>Background and supplementary material as needed</a:t>
            </a:r>
          </a:p>
          <a:p>
            <a:pPr lvl="0"/>
            <a:r>
              <a:rPr dirty="0">
                <a:solidFill>
                  <a:srgbClr val="C00000"/>
                </a:solidFill>
              </a:rPr>
              <a:t>All class meetings are recorded for on-demand viewing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2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Communicating with your instructors and other students is a significant aspect of participation in this course!</a:t>
            </a:r>
          </a:p>
          <a:p>
            <a:pPr lvl="0"/>
            <a:r>
              <a:rPr dirty="0"/>
              <a:t>Ask questions about the course material, homework, etc.</a:t>
            </a:r>
          </a:p>
          <a:p>
            <a:pPr lvl="0"/>
            <a:r>
              <a:rPr dirty="0"/>
              <a:t>Ask questions in the public forum so others can answer and gain from the discussion: if you have a question others do as well!</a:t>
            </a:r>
          </a:p>
          <a:p>
            <a:pPr lvl="0"/>
            <a:r>
              <a:rPr dirty="0"/>
              <a:t>Answer other students’ questions</a:t>
            </a:r>
          </a:p>
          <a:p>
            <a:pPr lvl="0"/>
            <a:r>
              <a:rPr dirty="0"/>
              <a:t>Comment on weekly graded discussion topics</a:t>
            </a:r>
          </a:p>
          <a:p>
            <a:pPr marL="0" indent="0">
              <a:buNone/>
            </a:pPr>
            <a:r>
              <a:rPr b="1" dirty="0"/>
              <a:t>Ed is the primary communications method</a:t>
            </a:r>
            <a:endParaRPr lang="en-US" b="1" dirty="0"/>
          </a:p>
          <a:p>
            <a:r>
              <a:rPr dirty="0"/>
              <a:t>Generally</a:t>
            </a:r>
            <a:r>
              <a:rPr lang="en-US" dirty="0"/>
              <a:t>, </a:t>
            </a:r>
            <a:r>
              <a:rPr dirty="0"/>
              <a:t>use public posts - okay to include code</a:t>
            </a:r>
            <a:endParaRPr lang="en-US" dirty="0"/>
          </a:p>
          <a:p>
            <a:r>
              <a:rPr dirty="0"/>
              <a:t>Option to ask instructors private questions</a:t>
            </a:r>
          </a:p>
          <a:p>
            <a:pPr marL="0" lvl="0" indent="0">
              <a:buNone/>
            </a:pPr>
            <a:r>
              <a:rPr b="1" dirty="0"/>
              <a:t>Ask for the help you need!</a:t>
            </a:r>
          </a:p>
          <a:p>
            <a:r>
              <a:rPr dirty="0"/>
              <a:t>Any </a:t>
            </a:r>
            <a:r>
              <a:rPr b="1" dirty="0"/>
              <a:t>communications by Canvas will likely be delayed</a:t>
            </a:r>
            <a:r>
              <a:rPr lang="en-US" b="1" dirty="0"/>
              <a:t>!!</a:t>
            </a:r>
            <a:endParaRPr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For private matters, you can directly communicate with the instructional team:</a:t>
            </a:r>
            <a:endParaRPr lang="en-US" dirty="0"/>
          </a:p>
          <a:p>
            <a:pPr lvl="1"/>
            <a:r>
              <a:rPr lang="en-US" dirty="0"/>
              <a:t>Grades </a:t>
            </a:r>
          </a:p>
          <a:p>
            <a:pPr lvl="1"/>
            <a:r>
              <a:rPr lang="en-US" dirty="0"/>
              <a:t>Late assignments</a:t>
            </a:r>
          </a:p>
          <a:p>
            <a:pPr lvl="1"/>
            <a:r>
              <a:rPr lang="en-US" dirty="0"/>
              <a:t>Etc. </a:t>
            </a:r>
          </a:p>
          <a:p>
            <a:r>
              <a:rPr dirty="0"/>
              <a:t>Steve Elston</a:t>
            </a:r>
            <a:r>
              <a:rPr lang="en-US" dirty="0"/>
              <a:t>:</a:t>
            </a:r>
            <a:r>
              <a:rPr dirty="0"/>
              <a:t> </a:t>
            </a:r>
            <a:r>
              <a:rPr lang="en-US" dirty="0" err="1"/>
              <a:t>stephen_elston</a:t>
            </a:r>
            <a:r>
              <a:rPr lang="en-US" dirty="0"/>
              <a:t> at g dot </a:t>
            </a:r>
            <a:r>
              <a:rPr lang="en-US" dirty="0" err="1"/>
              <a:t>harvard</a:t>
            </a:r>
            <a:r>
              <a:rPr lang="en-US" dirty="0"/>
              <a:t> dot </a:t>
            </a:r>
            <a:r>
              <a:rPr lang="en-US" dirty="0" err="1"/>
              <a:t>edu</a:t>
            </a:r>
            <a:endParaRPr lang="en-US" dirty="0"/>
          </a:p>
          <a:p>
            <a:r>
              <a:rPr lang="en-US" dirty="0"/>
              <a:t>TAs, </a:t>
            </a:r>
            <a:r>
              <a:rPr lang="fi-FI" dirty="0"/>
              <a:t>Melahat Tayli, met130 at g dot harvard dot edu and </a:t>
            </a:r>
            <a:r>
              <a:rPr lang="en-US" dirty="0" err="1"/>
              <a:t>Waree</a:t>
            </a:r>
            <a:r>
              <a:rPr lang="en-US" dirty="0"/>
              <a:t> </a:t>
            </a:r>
            <a:r>
              <a:rPr lang="en-US" dirty="0" err="1"/>
              <a:t>Protprommart</a:t>
            </a:r>
            <a:r>
              <a:rPr lang="en-US" dirty="0"/>
              <a:t>, wap185 at g dot </a:t>
            </a:r>
            <a:r>
              <a:rPr lang="en-US" dirty="0" err="1"/>
              <a:t>harvard</a:t>
            </a:r>
            <a:r>
              <a:rPr lang="en-US" dirty="0"/>
              <a:t> dot </a:t>
            </a:r>
            <a:r>
              <a:rPr lang="en-US" dirty="0" err="1"/>
              <a:t>edu</a:t>
            </a:r>
            <a:endParaRPr lang="en-US" dirty="0"/>
          </a:p>
          <a:p>
            <a:r>
              <a:rPr b="1" dirty="0"/>
              <a:t>Office hours:</a:t>
            </a:r>
            <a:r>
              <a:rPr dirty="0"/>
              <a:t> If you need individual assistance,</a:t>
            </a:r>
            <a:r>
              <a:rPr lang="en-US" dirty="0"/>
              <a:t> </a:t>
            </a:r>
            <a:r>
              <a:rPr dirty="0"/>
              <a:t>please </a:t>
            </a:r>
            <a:r>
              <a:rPr b="1" dirty="0"/>
              <a:t>ask to schedule office hours</a:t>
            </a:r>
            <a:r>
              <a:rPr dirty="0"/>
              <a:t>. Don’t be shy!</a:t>
            </a:r>
          </a:p>
          <a:p>
            <a:r>
              <a:rPr dirty="0"/>
              <a:t>Communications by Canvas may be </a:t>
            </a:r>
            <a:r>
              <a:rPr b="1" dirty="0"/>
              <a:t>significantly delayed!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65502"/>
            <a:ext cx="7886700" cy="4185905"/>
          </a:xfrm>
        </p:spPr>
        <p:txBody>
          <a:bodyPr>
            <a:normAutofit fontScale="85000" lnSpcReduction="20000"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dirty="0"/>
              <a:t>Read and understand the Syllabus!  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Material specific to this course are in the </a:t>
            </a:r>
            <a:r>
              <a:rPr lang="en-US" dirty="0" err="1">
                <a:hlinkClick r:id="rId2"/>
              </a:rPr>
              <a:t>Github</a:t>
            </a:r>
            <a:r>
              <a:rPr lang="en-US" dirty="0">
                <a:hlinkClick r:id="rId2"/>
              </a:rPr>
              <a:t> repository</a:t>
            </a:r>
            <a:endParaRPr lang="en-US" dirty="0"/>
          </a:p>
          <a:p>
            <a:pPr lvl="1"/>
            <a:r>
              <a:rPr lang="en-US" dirty="0"/>
              <a:t>Slides</a:t>
            </a:r>
          </a:p>
          <a:p>
            <a:pPr lvl="1"/>
            <a:r>
              <a:rPr lang="en-US" dirty="0"/>
              <a:t>Notebooks for assignments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Supplementary materials for review  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Make sure you do your work in a branch or copy to another directory!</a:t>
            </a:r>
            <a:endParaRPr lang="en-US" dirty="0"/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Assignment due dates, submissions, and grading in </a:t>
            </a:r>
            <a:r>
              <a:rPr lang="en-US" b="1" dirty="0"/>
              <a:t>Canvas</a:t>
            </a:r>
          </a:p>
          <a:p>
            <a:pPr lvl="1"/>
            <a:r>
              <a:rPr lang="en-US" dirty="0"/>
              <a:t>Class assignments </a:t>
            </a:r>
          </a:p>
          <a:p>
            <a:pPr lvl="1"/>
            <a:r>
              <a:rPr lang="en-US" dirty="0"/>
              <a:t>Graduate independent projects   </a:t>
            </a:r>
          </a:p>
          <a:p>
            <a:pPr lvl="1"/>
            <a:r>
              <a:rPr lang="en-US" dirty="0"/>
              <a:t>Solutions and examples under </a:t>
            </a:r>
            <a:r>
              <a:rPr lang="en-US" b="1" dirty="0"/>
              <a:t>Modules</a:t>
            </a:r>
            <a:r>
              <a:rPr lang="en-US" dirty="0"/>
              <a:t> 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Assignments are being revised!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Do not start assignments before they are posted in Canvas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Do a pull on the GitHub repository to get updated notebooks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628650" y="-47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latin typeface="+mn-lt"/>
              </a:rPr>
              <a:t>Where can you find the course materials?</a:t>
            </a:r>
          </a:p>
        </p:txBody>
      </p:sp>
    </p:spTree>
    <p:extLst>
      <p:ext uri="{BB962C8B-B14F-4D97-AF65-F5344CB8AC3E}">
        <p14:creationId xmlns:p14="http://schemas.microsoft.com/office/powerpoint/2010/main" val="3387254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DAF8-980B-7B29-0690-8796ACCF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E616E-E896-5BED-42D6-6DD2314FF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44658"/>
            <a:ext cx="7886700" cy="41729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As AI (LLMs) is becoming a standard tool for professional data scientists, </a:t>
            </a:r>
            <a:r>
              <a:rPr lang="en-US" b="1" dirty="0"/>
              <a:t>limited use is allowed for this course  </a:t>
            </a:r>
          </a:p>
          <a:p>
            <a:pPr lvl="0"/>
            <a:r>
              <a:rPr lang="en-US" b="1" dirty="0"/>
              <a:t>Writing &amp; Analysis: </a:t>
            </a:r>
            <a:r>
              <a:rPr lang="en-US" dirty="0"/>
              <a:t>Your written reports, question responses and discussion post </a:t>
            </a:r>
            <a:r>
              <a:rPr lang="en-US" b="1" dirty="0"/>
              <a:t>must be your own original work!</a:t>
            </a:r>
            <a:endParaRPr lang="en-US" dirty="0"/>
          </a:p>
          <a:p>
            <a:pPr lvl="1"/>
            <a:r>
              <a:rPr lang="en-US" dirty="0"/>
              <a:t>LLMs are quite helpful with research and learning</a:t>
            </a:r>
          </a:p>
          <a:p>
            <a:pPr lvl="1"/>
            <a:r>
              <a:rPr lang="en-US" dirty="0"/>
              <a:t>LLMs cannot think or reason </a:t>
            </a:r>
          </a:p>
          <a:p>
            <a:pPr lvl="1"/>
            <a:r>
              <a:rPr lang="en-US" b="1" dirty="0"/>
              <a:t>Understanding of which problems are worth solving, determining the best approaches for solutions and interpreting results are skills you need to develop! </a:t>
            </a:r>
          </a:p>
          <a:p>
            <a:pPr lvl="0"/>
            <a:r>
              <a:rPr lang="en-US" b="1" dirty="0"/>
              <a:t>Code Generation: </a:t>
            </a:r>
            <a:r>
              <a:rPr lang="en-US" dirty="0"/>
              <a:t>You may use AI to generate discrete portions of code and to resolve exceptions </a:t>
            </a:r>
          </a:p>
          <a:p>
            <a:pPr lvl="1"/>
            <a:r>
              <a:rPr lang="en-US" dirty="0"/>
              <a:t>It’s the way we do things these days! </a:t>
            </a:r>
          </a:p>
          <a:p>
            <a:pPr lvl="1"/>
            <a:r>
              <a:rPr lang="en-US" dirty="0"/>
              <a:t>LLM generated code lets us test ideas quickly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B0F8B3-7D80-2256-9FF3-D6ACB1A238F2}"/>
              </a:ext>
            </a:extLst>
          </p:cNvPr>
          <p:cNvSpPr txBox="1">
            <a:spLocks/>
          </p:cNvSpPr>
          <p:nvPr/>
        </p:nvSpPr>
        <p:spPr>
          <a:xfrm>
            <a:off x="628650" y="-47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latin typeface="+mn-lt"/>
              </a:rPr>
              <a:t>Using AI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23834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7D7DD-7AF9-FA05-2177-A254C493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EEC0-807D-1936-07D1-132231394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44658"/>
            <a:ext cx="7886700" cy="41729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As AI (LLMs) is becoming a standard tool for professional data scientists, limited use is allowed for this course  </a:t>
            </a:r>
          </a:p>
          <a:p>
            <a:pPr lvl="0"/>
            <a:r>
              <a:rPr lang="en-US" b="1" dirty="0"/>
              <a:t>Validation of Results: </a:t>
            </a:r>
            <a:r>
              <a:rPr lang="en-US" dirty="0"/>
              <a:t>You are responsible for validating the correctness, efficiency, and security of any AI-generated code. </a:t>
            </a:r>
          </a:p>
          <a:p>
            <a:pPr lvl="1"/>
            <a:r>
              <a:rPr lang="en-US" dirty="0"/>
              <a:t>LLMs have no way to evaluate if a algorithm actually solves a problem or exhibits undesirable behavior </a:t>
            </a:r>
          </a:p>
          <a:p>
            <a:pPr lvl="1"/>
            <a:r>
              <a:rPr lang="en-US" dirty="0"/>
              <a:t>You need to </a:t>
            </a:r>
            <a:r>
              <a:rPr lang="en-US" b="1" dirty="0"/>
              <a:t>develop the skills to critically evaluate results </a:t>
            </a:r>
          </a:p>
          <a:p>
            <a:pPr lvl="1"/>
            <a:r>
              <a:rPr lang="en-US" dirty="0"/>
              <a:t>You must have the </a:t>
            </a:r>
            <a:r>
              <a:rPr lang="en-US" b="1" dirty="0"/>
              <a:t>skills to determine approaches to improve results and correct undesirable behavior</a:t>
            </a:r>
            <a:r>
              <a:rPr lang="en-US" dirty="0"/>
              <a:t> </a:t>
            </a: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Attribution &amp; Integrity:</a:t>
            </a:r>
            <a:r>
              <a:rPr lang="en-US" dirty="0">
                <a:solidFill>
                  <a:srgbClr val="C00000"/>
                </a:solidFill>
              </a:rPr>
              <a:t> Cite AI use per the </a:t>
            </a:r>
            <a:r>
              <a:rPr lang="en-US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Harvard Extension School Academic Integrity Policy</a:t>
            </a:r>
            <a:r>
              <a:rPr lang="en-US" dirty="0">
                <a:solidFill>
                  <a:srgbClr val="C00000"/>
                </a:solidFill>
              </a:rPr>
              <a:t>!</a:t>
            </a:r>
          </a:p>
          <a:p>
            <a:pPr lvl="0"/>
            <a:r>
              <a:rPr lang="en-US" dirty="0"/>
              <a:t>See course syllabus in Canvas for additional policy details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A07D1A-2593-EA96-9F4B-0D7D49DF3736}"/>
              </a:ext>
            </a:extLst>
          </p:cNvPr>
          <p:cNvSpPr txBox="1">
            <a:spLocks/>
          </p:cNvSpPr>
          <p:nvPr/>
        </p:nvSpPr>
        <p:spPr>
          <a:xfrm>
            <a:off x="628650" y="-47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latin typeface="+mn-lt"/>
              </a:rPr>
              <a:t>Using AI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36733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93CD-A46D-1C79-1BD4-BE2868FA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188A0-918D-95DB-6C34-8AF963A5E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Visualization and Exploration for Inference and Understanding</a:t>
            </a:r>
          </a:p>
        </p:txBody>
      </p:sp>
    </p:spTree>
    <p:extLst>
      <p:ext uri="{BB962C8B-B14F-4D97-AF65-F5344CB8AC3E}">
        <p14:creationId xmlns:p14="http://schemas.microsoft.com/office/powerpoint/2010/main" val="982831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Exploration and Visualization?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 dirty="0"/>
              <a:t>Exploratory data analysis (EDA)</a:t>
            </a:r>
            <a:r>
              <a:rPr dirty="0"/>
              <a:t> tools are essential to good data science</a:t>
            </a:r>
          </a:p>
          <a:p>
            <a:pPr lvl="0"/>
            <a:r>
              <a:rPr dirty="0"/>
              <a:t>Isn’t the goal of data science to build models?</a:t>
            </a:r>
          </a:p>
          <a:p>
            <a:pPr lvl="0"/>
            <a:r>
              <a:rPr dirty="0"/>
              <a:t>Not always!</a:t>
            </a:r>
          </a:p>
          <a:p>
            <a:pPr lvl="0"/>
            <a:r>
              <a:rPr dirty="0"/>
              <a:t>Often</a:t>
            </a:r>
            <a:r>
              <a:rPr lang="en-US" dirty="0"/>
              <a:t>,</a:t>
            </a:r>
            <a:r>
              <a:rPr dirty="0"/>
              <a:t> we need to </a:t>
            </a:r>
            <a:r>
              <a:rPr b="1" dirty="0"/>
              <a:t>understand relationships </a:t>
            </a:r>
            <a:r>
              <a:rPr dirty="0"/>
              <a:t>found in data</a:t>
            </a:r>
          </a:p>
          <a:p>
            <a:pPr lvl="1"/>
            <a:r>
              <a:rPr dirty="0"/>
              <a:t>Explain scientific or behavioral relationships</a:t>
            </a:r>
            <a:endParaRPr lang="en-US" dirty="0"/>
          </a:p>
          <a:p>
            <a:pPr lvl="1"/>
            <a:r>
              <a:rPr lang="en-US" dirty="0"/>
              <a:t>Show that a relationship is significant </a:t>
            </a:r>
            <a:endParaRPr dirty="0"/>
          </a:p>
          <a:p>
            <a:pPr lvl="1"/>
            <a:r>
              <a:rPr dirty="0"/>
              <a:t>Determine if a relationship is important</a:t>
            </a:r>
            <a:endParaRPr lang="en-US" dirty="0"/>
          </a:p>
          <a:p>
            <a:pPr lvl="1"/>
            <a:r>
              <a:rPr lang="en-US" dirty="0"/>
              <a:t>Provide interpretable and actionable results </a:t>
            </a:r>
            <a:endParaRPr dirty="0"/>
          </a:p>
          <a:p>
            <a:pPr lvl="0"/>
            <a:r>
              <a:rPr dirty="0"/>
              <a:t>Our goal is to gain deep understanding for complex problem</a:t>
            </a:r>
            <a:r>
              <a:rPr lang="en-US" dirty="0"/>
              <a:t>s</a:t>
            </a:r>
            <a:endParaRPr dirty="0"/>
          </a:p>
          <a:p>
            <a:pPr lvl="1"/>
            <a:r>
              <a:rPr dirty="0"/>
              <a:t>EDA methods</a:t>
            </a:r>
          </a:p>
          <a:p>
            <a:pPr lvl="1"/>
            <a:r>
              <a:rPr dirty="0"/>
              <a:t>Statistical inference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04DA0-5237-517D-07A9-DC6F6BC45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0EAD-7448-A9EA-1EC3-67D4B666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40" y="187217"/>
            <a:ext cx="7886700" cy="496673"/>
          </a:xfrm>
        </p:spPr>
        <p:txBody>
          <a:bodyPr>
            <a:normAutofit fontScale="90000"/>
          </a:bodyPr>
          <a:lstStyle/>
          <a:p>
            <a:r>
              <a:rPr lang="en-US" sz="3675" dirty="0">
                <a:latin typeface="+mn-lt"/>
              </a:rPr>
              <a:t>Main topics in this course</a:t>
            </a:r>
            <a:br>
              <a:rPr lang="en-US" sz="3000" dirty="0">
                <a:latin typeface="+mn-lt"/>
              </a:rPr>
            </a:br>
            <a:endParaRPr lang="en-US" sz="3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985D387E-38AE-0474-2ECE-3E43B5B4103D}"/>
              </a:ext>
            </a:extLst>
          </p:cNvPr>
          <p:cNvSpPr/>
          <p:nvPr/>
        </p:nvSpPr>
        <p:spPr>
          <a:xfrm>
            <a:off x="567667" y="1473267"/>
            <a:ext cx="168907" cy="954946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AC42A-F090-1A0C-D7E1-A28BC41389E4}"/>
              </a:ext>
            </a:extLst>
          </p:cNvPr>
          <p:cNvSpPr txBox="1"/>
          <p:nvPr/>
        </p:nvSpPr>
        <p:spPr>
          <a:xfrm rot="16200000">
            <a:off x="-178671" y="1677283"/>
            <a:ext cx="1178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4F91C0-9D16-88D3-EB27-74CA3C98679B}"/>
              </a:ext>
            </a:extLst>
          </p:cNvPr>
          <p:cNvSpPr/>
          <p:nvPr/>
        </p:nvSpPr>
        <p:spPr>
          <a:xfrm>
            <a:off x="4265017" y="2725592"/>
            <a:ext cx="1468052" cy="84267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1. EDA and Visualization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D33C9D-54F2-3C4F-0F70-DF86A1193E1D}"/>
              </a:ext>
            </a:extLst>
          </p:cNvPr>
          <p:cNvSpPr/>
          <p:nvPr/>
        </p:nvSpPr>
        <p:spPr>
          <a:xfrm>
            <a:off x="890833" y="1541930"/>
            <a:ext cx="1618070" cy="88367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2. Cis and Bootstrap resampling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43B7B7-45D8-F9FE-3784-7356FD0DF9E9}"/>
              </a:ext>
            </a:extLst>
          </p:cNvPr>
          <p:cNvSpPr/>
          <p:nvPr/>
        </p:nvSpPr>
        <p:spPr>
          <a:xfrm>
            <a:off x="2598584" y="1549494"/>
            <a:ext cx="1544104" cy="91000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3. Linear Models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599EE-8533-B197-600E-4CB88C66BDB5}"/>
              </a:ext>
            </a:extLst>
          </p:cNvPr>
          <p:cNvSpPr/>
          <p:nvPr/>
        </p:nvSpPr>
        <p:spPr>
          <a:xfrm>
            <a:off x="891386" y="2723314"/>
            <a:ext cx="1564487" cy="80568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4. Non-normal response models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9190C91-3526-304D-6B3A-9206EAFE3EB6}"/>
              </a:ext>
            </a:extLst>
          </p:cNvPr>
          <p:cNvSpPr/>
          <p:nvPr/>
        </p:nvSpPr>
        <p:spPr>
          <a:xfrm>
            <a:off x="648817" y="2678652"/>
            <a:ext cx="129434" cy="820522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A7C732-DDEC-88DF-B562-D0A1DB333EDB}"/>
              </a:ext>
            </a:extLst>
          </p:cNvPr>
          <p:cNvSpPr txBox="1"/>
          <p:nvPr/>
        </p:nvSpPr>
        <p:spPr>
          <a:xfrm rot="16200000">
            <a:off x="-215249" y="2897505"/>
            <a:ext cx="1178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ADC6F-9C92-873F-DB85-8D198B00F0C7}"/>
              </a:ext>
            </a:extLst>
          </p:cNvPr>
          <p:cNvSpPr/>
          <p:nvPr/>
        </p:nvSpPr>
        <p:spPr>
          <a:xfrm>
            <a:off x="928012" y="3865707"/>
            <a:ext cx="1471353" cy="94801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5. Methods for messy data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D8B4F9AC-1522-7DCB-D8FD-F1205CF425BE}"/>
              </a:ext>
            </a:extLst>
          </p:cNvPr>
          <p:cNvSpPr/>
          <p:nvPr/>
        </p:nvSpPr>
        <p:spPr>
          <a:xfrm>
            <a:off x="643923" y="3865706"/>
            <a:ext cx="123206" cy="94801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B6546E-A54E-2299-47EB-39A011378D86}"/>
              </a:ext>
            </a:extLst>
          </p:cNvPr>
          <p:cNvSpPr txBox="1"/>
          <p:nvPr/>
        </p:nvSpPr>
        <p:spPr>
          <a:xfrm rot="16200000">
            <a:off x="-241642" y="4157734"/>
            <a:ext cx="1178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Analyses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6FFFD6-F1E1-1B40-6DCD-83EF6109DDF7}"/>
              </a:ext>
            </a:extLst>
          </p:cNvPr>
          <p:cNvSpPr/>
          <p:nvPr/>
        </p:nvSpPr>
        <p:spPr>
          <a:xfrm>
            <a:off x="2578201" y="2731963"/>
            <a:ext cx="1564487" cy="82052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9. Serial correlation of errors and values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456055-2B43-EB6E-9BC9-6643F8DE129E}"/>
              </a:ext>
            </a:extLst>
          </p:cNvPr>
          <p:cNvSpPr/>
          <p:nvPr/>
        </p:nvSpPr>
        <p:spPr>
          <a:xfrm>
            <a:off x="4210375" y="3884240"/>
            <a:ext cx="1529225" cy="94710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12. Causal inference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740DD2-1E80-BDDF-FA8F-385BECE969BF}"/>
              </a:ext>
            </a:extLst>
          </p:cNvPr>
          <p:cNvSpPr/>
          <p:nvPr/>
        </p:nvSpPr>
        <p:spPr>
          <a:xfrm>
            <a:off x="5842611" y="3897080"/>
            <a:ext cx="1512625" cy="9342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10. Time series models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A67CE1-1F63-FC8B-B196-7E603AF4B2C9}"/>
              </a:ext>
            </a:extLst>
          </p:cNvPr>
          <p:cNvSpPr/>
          <p:nvPr/>
        </p:nvSpPr>
        <p:spPr>
          <a:xfrm>
            <a:off x="2533169" y="3879457"/>
            <a:ext cx="1564486" cy="9342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6. Models for seasonality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5ADF62-5DDD-FE3C-5201-CDAEDFA02DCF}"/>
              </a:ext>
            </a:extLst>
          </p:cNvPr>
          <p:cNvSpPr/>
          <p:nvPr/>
        </p:nvSpPr>
        <p:spPr>
          <a:xfrm>
            <a:off x="4296787" y="1543896"/>
            <a:ext cx="1463510" cy="92584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6. Bayesian Models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3B068D-1280-D9E9-B64E-DB5FF9C80869}"/>
              </a:ext>
            </a:extLst>
          </p:cNvPr>
          <p:cNvSpPr/>
          <p:nvPr/>
        </p:nvSpPr>
        <p:spPr>
          <a:xfrm>
            <a:off x="5855398" y="2748335"/>
            <a:ext cx="1529225" cy="8426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7. MCMC algorithms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1EC5FD-13B7-D28F-B19C-AA70F689ADC3}"/>
              </a:ext>
            </a:extLst>
          </p:cNvPr>
          <p:cNvSpPr/>
          <p:nvPr/>
        </p:nvSpPr>
        <p:spPr>
          <a:xfrm>
            <a:off x="7459675" y="3897080"/>
            <a:ext cx="1512625" cy="9342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8. Hierarchical Bayes Models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2D644BB-B82A-BA8D-759B-AA6DCD4FD6BF}"/>
              </a:ext>
            </a:extLst>
          </p:cNvPr>
          <p:cNvSpPr txBox="1">
            <a:spLocks/>
          </p:cNvSpPr>
          <p:nvPr/>
        </p:nvSpPr>
        <p:spPr>
          <a:xfrm>
            <a:off x="509289" y="554650"/>
            <a:ext cx="8229600" cy="85725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EDA and data visualization are essential methods for rigorous analysis and inference</a:t>
            </a:r>
          </a:p>
        </p:txBody>
      </p:sp>
    </p:spTree>
    <p:extLst>
      <p:ext uri="{BB962C8B-B14F-4D97-AF65-F5344CB8AC3E}">
        <p14:creationId xmlns:p14="http://schemas.microsoft.com/office/powerpoint/2010/main" val="346999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4" grpId="0" animBg="1"/>
      <p:bldP spid="15" grpId="0"/>
      <p:bldP spid="16" grpId="0" animBg="1"/>
      <p:bldP spid="18" grpId="0" animBg="1"/>
      <p:bldP spid="20" grpId="0" animBg="1"/>
      <p:bldP spid="21" grpId="0" animBg="1"/>
      <p:bldP spid="9" grpId="0" animBg="1"/>
      <p:bldP spid="13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C674-8162-488C-3278-D0DBE231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B233-B86E-2E9B-80FF-782B4C777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Exploration and Visualization?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2496F-7736-BB2D-91A7-FAC23DCC1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Exploratory data analysis (EDA)</a:t>
            </a:r>
            <a:r>
              <a:rPr dirty="0"/>
              <a:t> tools are essential to good data science</a:t>
            </a:r>
          </a:p>
          <a:p>
            <a:pPr lvl="0"/>
            <a:r>
              <a:rPr lang="en-US" dirty="0"/>
              <a:t>Actionable data science requires clear communications</a:t>
            </a:r>
          </a:p>
          <a:p>
            <a:r>
              <a:rPr lang="en-US" dirty="0"/>
              <a:t>Scientific visualization is a core data science </a:t>
            </a:r>
            <a:r>
              <a:rPr lang="en-US" dirty="0" err="1"/>
              <a:t>communctions</a:t>
            </a:r>
            <a:r>
              <a:rPr lang="en-US" dirty="0"/>
              <a:t> tool </a:t>
            </a:r>
          </a:p>
          <a:p>
            <a:pPr lvl="1"/>
            <a:r>
              <a:rPr lang="en-US" dirty="0"/>
              <a:t>Communicate with colleagues  </a:t>
            </a:r>
          </a:p>
          <a:p>
            <a:pPr lvl="1"/>
            <a:r>
              <a:rPr lang="en-US" dirty="0"/>
              <a:t>Communicate with management</a:t>
            </a:r>
          </a:p>
          <a:p>
            <a:pPr lvl="1"/>
            <a:r>
              <a:rPr lang="en-US" dirty="0"/>
              <a:t>Communicate with customers and sponsors</a:t>
            </a:r>
          </a:p>
          <a:p>
            <a:r>
              <a:rPr lang="en-US" b="1" dirty="0">
                <a:solidFill>
                  <a:srgbClr val="C00000"/>
                </a:solidFill>
              </a:rPr>
              <a:t>Poor visualization leave useful insights undiscovered! </a:t>
            </a:r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388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Exploration and Visualization?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Exploratory data analysis (EDA)</a:t>
            </a:r>
            <a:r>
              <a:rPr dirty="0"/>
              <a:t> tools are essential to good data science</a:t>
            </a:r>
          </a:p>
          <a:p>
            <a:r>
              <a:rPr dirty="0"/>
              <a:t>Why not just start building </a:t>
            </a:r>
            <a:r>
              <a:rPr lang="en-US" dirty="0"/>
              <a:t>ML </a:t>
            </a:r>
            <a:r>
              <a:rPr dirty="0"/>
              <a:t>models?</a:t>
            </a:r>
          </a:p>
          <a:p>
            <a:r>
              <a:rPr dirty="0"/>
              <a:t>Understanding relationships in data saves missteps and unexplained poor model performance</a:t>
            </a:r>
          </a:p>
          <a:p>
            <a:pPr lvl="1"/>
            <a:r>
              <a:rPr dirty="0"/>
              <a:t>Which variables are actually important?</a:t>
            </a:r>
          </a:p>
          <a:p>
            <a:pPr lvl="1"/>
            <a:r>
              <a:rPr dirty="0"/>
              <a:t>How do these variables behave?</a:t>
            </a:r>
          </a:p>
          <a:p>
            <a:pPr lvl="1"/>
            <a:r>
              <a:rPr dirty="0"/>
              <a:t>Are there errors and outliers in the data?</a:t>
            </a:r>
            <a:endParaRPr lang="en-US" dirty="0"/>
          </a:p>
          <a:p>
            <a:pPr lvl="1"/>
            <a:r>
              <a:rPr lang="en-US" dirty="0"/>
              <a:t>Do the variables require transformation or recoding?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2A7EA-EDC5-5590-5EC7-27B368B73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BB6F4-DA39-02E3-0D2E-2FB4979D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Exploration and Visualization?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00843-D25D-3958-9405-4D7F3869C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Exploratory data analysis (EDA)</a:t>
            </a:r>
            <a:r>
              <a:rPr dirty="0"/>
              <a:t> </a:t>
            </a:r>
            <a:r>
              <a:rPr lang="en-US" dirty="0"/>
              <a:t>uncovers basic properties of data</a:t>
            </a:r>
            <a:endParaRPr dirty="0"/>
          </a:p>
          <a:p>
            <a:pPr lvl="0"/>
            <a:r>
              <a:rPr lang="en-US" dirty="0"/>
              <a:t>Do we have sufficient data to answer the questions we are trying to answer?</a:t>
            </a:r>
          </a:p>
          <a:p>
            <a:pPr lvl="1"/>
            <a:r>
              <a:rPr lang="en-US" dirty="0"/>
              <a:t>Are the required variables in the dataset?</a:t>
            </a:r>
          </a:p>
          <a:p>
            <a:pPr lvl="1"/>
            <a:r>
              <a:rPr lang="en-US" dirty="0"/>
              <a:t>Are there missing data and how can we treat with them?</a:t>
            </a:r>
          </a:p>
          <a:p>
            <a:pPr lvl="0"/>
            <a:r>
              <a:rPr lang="en-US" dirty="0"/>
              <a:t>What strata (levels) are present in the dataset?   </a:t>
            </a:r>
          </a:p>
          <a:p>
            <a:pPr lvl="1"/>
            <a:r>
              <a:rPr lang="en-US" dirty="0"/>
              <a:t>Are the required combinations of categorical variables president? </a:t>
            </a:r>
          </a:p>
          <a:p>
            <a:pPr lvl="0"/>
            <a:r>
              <a:rPr lang="en-US" dirty="0"/>
              <a:t>Are there highly dependent (redundant) variables? </a:t>
            </a:r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673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9EDF-F68D-FC1B-E8F2-6F73FF3D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B7FDE-2E20-6217-A02F-B191A63D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Exploration and Visualization?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A12AD-99F9-8050-37A1-2B8D8E307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Exploratory data analysis (EDA)</a:t>
            </a:r>
            <a:r>
              <a:rPr dirty="0"/>
              <a:t> </a:t>
            </a:r>
            <a:r>
              <a:rPr lang="en-US" dirty="0"/>
              <a:t>uncovers basic properties of data</a:t>
            </a:r>
            <a:endParaRPr dirty="0"/>
          </a:p>
          <a:p>
            <a:pPr lvl="0"/>
            <a:r>
              <a:rPr lang="en-US" dirty="0"/>
              <a:t>How are the variables coded? </a:t>
            </a:r>
          </a:p>
          <a:p>
            <a:pPr lvl="1"/>
            <a:r>
              <a:rPr lang="en-US" dirty="0"/>
              <a:t>Are integer type variables actually categorical?</a:t>
            </a:r>
          </a:p>
          <a:p>
            <a:pPr lvl="1"/>
            <a:r>
              <a:rPr lang="en-US" dirty="0"/>
              <a:t>What is the cardinality of categorical variables and is recoding required? </a:t>
            </a:r>
          </a:p>
          <a:p>
            <a:pPr lvl="0"/>
            <a:r>
              <a:rPr lang="en-US" dirty="0"/>
              <a:t>What are the distributions of the variables?</a:t>
            </a:r>
          </a:p>
          <a:p>
            <a:pPr lvl="1"/>
            <a:r>
              <a:rPr lang="en-US" dirty="0"/>
              <a:t>Is transformation required?   </a:t>
            </a:r>
          </a:p>
          <a:p>
            <a:pPr lvl="0"/>
            <a:endParaRPr lang="en-US" dirty="0"/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6874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Exploration and Visualization?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/>
              <a:t>Exploratory data analysis (EDA)</a:t>
            </a:r>
            <a:r>
              <a:rPr dirty="0"/>
              <a:t> </a:t>
            </a:r>
            <a:r>
              <a:rPr lang="en-US" dirty="0"/>
              <a:t>is the </a:t>
            </a:r>
            <a:r>
              <a:rPr lang="en-US" b="1" dirty="0"/>
              <a:t>first, </a:t>
            </a:r>
            <a:r>
              <a:rPr lang="en-US" b="1" dirty="0" err="1"/>
              <a:t>midde</a:t>
            </a:r>
            <a:r>
              <a:rPr lang="en-US" b="1" dirty="0"/>
              <a:t> and last step </a:t>
            </a:r>
            <a:r>
              <a:rPr lang="en-US" dirty="0"/>
              <a:t>in modeling.</a:t>
            </a:r>
            <a:endParaRPr dirty="0"/>
          </a:p>
          <a:p>
            <a:pPr lvl="0"/>
            <a:r>
              <a:rPr dirty="0"/>
              <a:t>Why not just start building models?</a:t>
            </a:r>
          </a:p>
          <a:p>
            <a:pPr lvl="0"/>
            <a:r>
              <a:rPr dirty="0"/>
              <a:t>Communications is an important component of data science</a:t>
            </a:r>
          </a:p>
          <a:p>
            <a:pPr lvl="1"/>
            <a:r>
              <a:rPr dirty="0"/>
              <a:t>Analytic results are only useful if they are understood and trusted</a:t>
            </a:r>
            <a:endParaRPr lang="en-US" dirty="0"/>
          </a:p>
          <a:p>
            <a:pPr lvl="1"/>
            <a:r>
              <a:rPr lang="en-US" dirty="0"/>
              <a:t>Graphical results are easy  interpret </a:t>
            </a:r>
            <a:endParaRPr dirty="0"/>
          </a:p>
          <a:p>
            <a:pPr lvl="1"/>
            <a:r>
              <a:rPr dirty="0"/>
              <a:t>Graphical presentation greatly assists understanding by less technica</a:t>
            </a:r>
            <a:r>
              <a:rPr lang="en-US" dirty="0"/>
              <a:t>l</a:t>
            </a:r>
            <a:r>
              <a:rPr dirty="0"/>
              <a:t> colleagues</a:t>
            </a:r>
            <a:endParaRPr lang="en-US" dirty="0"/>
          </a:p>
          <a:p>
            <a:r>
              <a:rPr lang="en-US" dirty="0"/>
              <a:t>How good is a model fit?</a:t>
            </a:r>
          </a:p>
          <a:p>
            <a:pPr lvl="1"/>
            <a:r>
              <a:rPr lang="en-US" dirty="0"/>
              <a:t>Use EDA methods to explore model results </a:t>
            </a:r>
          </a:p>
          <a:p>
            <a:pPr lvl="1"/>
            <a:r>
              <a:rPr lang="en-US" dirty="0"/>
              <a:t>Compare model performance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197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FD5F-88FF-B5D2-3EBB-2856B474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2F955-85EE-6586-86FD-2D2A2E588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Human Perception for Scientific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282781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is Perception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Goal:</a:t>
            </a:r>
            <a:r>
              <a:rPr dirty="0"/>
              <a:t> Communicate information visually</a:t>
            </a:r>
          </a:p>
          <a:p>
            <a:pPr lvl="0"/>
            <a:r>
              <a:rPr dirty="0"/>
              <a:t>Visualization technique maximize the information a viewer perceives</a:t>
            </a:r>
          </a:p>
          <a:p>
            <a:pPr lvl="1"/>
            <a:r>
              <a:rPr dirty="0"/>
              <a:t>Gain insights when exploring relationships in data</a:t>
            </a:r>
          </a:p>
          <a:p>
            <a:pPr lvl="1"/>
            <a:r>
              <a:rPr dirty="0"/>
              <a:t>Communicate insights to others</a:t>
            </a:r>
          </a:p>
          <a:p>
            <a:pPr lvl="0"/>
            <a:r>
              <a:rPr dirty="0"/>
              <a:t>Limits o</a:t>
            </a:r>
            <a:r>
              <a:rPr lang="en-US" dirty="0"/>
              <a:t>f</a:t>
            </a:r>
            <a:r>
              <a:rPr dirty="0"/>
              <a:t> human perception are a significant factor in understanding complex relationships</a:t>
            </a:r>
          </a:p>
          <a:p>
            <a:pPr lvl="0"/>
            <a:r>
              <a:rPr dirty="0"/>
              <a:t>Can apply results of the considerable research on human perceptions for data visualization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Use Aesthetics to Improve Perception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Use </a:t>
            </a:r>
            <a:r>
              <a:rPr b="1" dirty="0"/>
              <a:t>aesthetics</a:t>
            </a:r>
            <a:r>
              <a:rPr dirty="0"/>
              <a:t> to improve perception</a:t>
            </a:r>
          </a:p>
          <a:p>
            <a:pPr lvl="0"/>
            <a:r>
              <a:rPr dirty="0"/>
              <a:t>We take a very broad view of the term ‘aesthetic’ here</a:t>
            </a:r>
          </a:p>
          <a:p>
            <a:pPr lvl="0"/>
            <a:r>
              <a:rPr dirty="0"/>
              <a:t>A plot aesthetics is any property of a visualization which highlight aspects of the data relationships</a:t>
            </a:r>
          </a:p>
          <a:p>
            <a:pPr lvl="0"/>
            <a:r>
              <a:rPr dirty="0"/>
              <a:t>Aesthetics are used to project additional dimensions of complex data</a:t>
            </a:r>
          </a:p>
          <a:p>
            <a:pPr lvl="1"/>
            <a:r>
              <a:rPr dirty="0"/>
              <a:t>Plots generally restricted to 2-dimensional surface</a:t>
            </a:r>
          </a:p>
          <a:p>
            <a:pPr lvl="1"/>
            <a:r>
              <a:rPr dirty="0"/>
              <a:t>Must project multiple dimensions of complex data on 2-d surface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Use Aesthetics to Improve Perception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Important note!! 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I expect you to use good perceptual methodology for creating plots for your project!!</a:t>
            </a:r>
            <a:endParaRPr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337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Organization of Plot Aesthetics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We can organize aesthetics by their effectiveness:</a:t>
            </a:r>
          </a:p>
          <a:p>
            <a:pPr marL="342900" lvl="0" indent="-342900">
              <a:buAutoNum type="arabicPeriod"/>
            </a:pPr>
            <a:r>
              <a:rPr b="1" dirty="0"/>
              <a:t>Easy to perceive plot aesthetics:</a:t>
            </a:r>
            <a:r>
              <a:rPr dirty="0"/>
              <a:t> help most people gain understanding of data relationships</a:t>
            </a:r>
          </a:p>
          <a:p>
            <a:pPr marL="342900" lvl="0" indent="-342900">
              <a:buAutoNum type="arabicPeriod"/>
            </a:pPr>
            <a:r>
              <a:rPr b="1" dirty="0"/>
              <a:t>Aesthetics with moderate perceptive power:</a:t>
            </a:r>
            <a:r>
              <a:rPr dirty="0"/>
              <a:t> useful properties to project data relationships when used sparingly</a:t>
            </a:r>
          </a:p>
          <a:p>
            <a:pPr marL="342900" lvl="0" indent="-342900">
              <a:buAutoNum type="arabicPeriod"/>
            </a:pPr>
            <a:r>
              <a:rPr b="1" dirty="0"/>
              <a:t>Aesthetics with limited perceptive power:</a:t>
            </a:r>
            <a:r>
              <a:rPr dirty="0"/>
              <a:t> useful within strict limits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76927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Properties of Common Aesthetics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852346"/>
              </p:ext>
            </p:extLst>
          </p:nvPr>
        </p:nvGraphicFramePr>
        <p:xfrm>
          <a:off x="337595" y="710298"/>
          <a:ext cx="86134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4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Property or Aesthetic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Perception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Data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Aspect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800" dirty="0"/>
                        <a:t>Any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Regression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Marker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  <a:r>
                        <a:rPr lang="en-US" sz="1800" dirty="0"/>
                        <a:t>, counts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Bar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Counts, 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Sequential color palette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Numeric, </a:t>
                      </a:r>
                      <a:r>
                        <a:rPr lang="en-US" sz="1800" dirty="0"/>
                        <a:t>counts, </a:t>
                      </a:r>
                      <a:r>
                        <a:rPr sz="1800" dirty="0"/>
                        <a:t>ordered 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Marker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Numeric, </a:t>
                      </a:r>
                      <a:r>
                        <a:rPr lang="en-US" sz="1800" dirty="0"/>
                        <a:t>counts, </a:t>
                      </a:r>
                      <a:r>
                        <a:rPr sz="1800" dirty="0"/>
                        <a:t>ordered 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Line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Qualitative color palette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Marker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800" dirty="0"/>
                        <a:t>poor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  <a:r>
                        <a:rPr lang="en-US" sz="1800" dirty="0"/>
                        <a:t>, counts,</a:t>
                      </a:r>
                      <a:r>
                        <a:rPr sz="1800" dirty="0"/>
                        <a:t> </a:t>
                      </a:r>
                      <a:r>
                        <a:rPr lang="en-US" sz="1800" dirty="0"/>
                        <a:t>ordered </a:t>
                      </a:r>
                      <a:r>
                        <a:rPr sz="1800" dirty="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5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800"/>
                        <a:t>poor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5A0B-DDCD-7194-CC90-CD3410B8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296D4-BF0A-FB53-E1FC-C6798B130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Clutter, The Enemy of </a:t>
            </a:r>
            <a:r>
              <a:rPr lang="en-US" sz="3200" dirty="0" err="1"/>
              <a:t>Preception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716473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1E2C-C170-075A-640D-9F15EC10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71446-CC95-4523-6854-1FC0CD52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Unnecessary Clutter Inhibits Perception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43761-BFB4-EBC8-B22D-0AF5C3AF1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Clutter can ruin an otherwise informative plot</a:t>
            </a:r>
          </a:p>
          <a:p>
            <a:r>
              <a:rPr lang="en-US" dirty="0"/>
              <a:t>The human brain can only take in so much detail at one time</a:t>
            </a:r>
          </a:p>
          <a:p>
            <a:r>
              <a:rPr lang="en-US" dirty="0"/>
              <a:t>Cluttered plots include unnecessary details </a:t>
            </a:r>
          </a:p>
          <a:p>
            <a:r>
              <a:rPr lang="en-US" dirty="0"/>
              <a:t>In the book </a:t>
            </a:r>
            <a:r>
              <a:rPr lang="en-US" dirty="0">
                <a:hlinkClick r:id="rId2"/>
              </a:rPr>
              <a:t>Visual Display of Quantitative Information, 2001</a:t>
            </a:r>
            <a:r>
              <a:rPr lang="en-US" dirty="0"/>
              <a:t>, Tufte points out that every unnecessary mark on a plot detracts from the viewer’s comprehension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88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6DD30-1987-9536-694F-163425CD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1002-ADEB-1645-2DF8-1E0D9F87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Unnecessary Clutter Inhibits Perception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F1BA2-04A3-3680-4115-70F0EE9CD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Clutter can often arises from attempts to show too much on one plot</a:t>
            </a:r>
          </a:p>
          <a:p>
            <a:r>
              <a:rPr lang="en-US" dirty="0"/>
              <a:t>Too many colors, shapes, line types, etc. lead to viewer confusion </a:t>
            </a:r>
          </a:p>
          <a:p>
            <a:r>
              <a:rPr lang="en-US" dirty="0"/>
              <a:t>Overplotting of markers and annotations render plots uninterpretable!  </a:t>
            </a:r>
          </a:p>
          <a:p>
            <a:r>
              <a:rPr lang="en-US" dirty="0"/>
              <a:t>More on methods to display complex data in the next lesson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31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F70E4-3CAD-9DF6-4DE3-BFC6BB21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9DB62-D261-D6FF-940A-0DFFF0DA6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Labels and Legends </a:t>
            </a:r>
          </a:p>
        </p:txBody>
      </p:sp>
    </p:spTree>
    <p:extLst>
      <p:ext uri="{BB962C8B-B14F-4D97-AF65-F5344CB8AC3E}">
        <p14:creationId xmlns:p14="http://schemas.microsoft.com/office/powerpoint/2010/main" val="38940914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1CF81-5D14-7A32-0B17-74DE7AA0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EB27-4EC6-AF01-BC8B-D575DA372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Proper Labels and Legends are Essential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D5CD3-DDF0-2653-0899-24B162B09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With labels and legends, a plot is uninterpretable!</a:t>
            </a:r>
          </a:p>
          <a:p>
            <a:r>
              <a:rPr lang="en-US" b="1" dirty="0"/>
              <a:t>Axes must be clearly labeled </a:t>
            </a:r>
          </a:p>
          <a:p>
            <a:r>
              <a:rPr lang="en-US" dirty="0"/>
              <a:t>Without clear axis labels the viewer has no idea what is being shown </a:t>
            </a:r>
          </a:p>
          <a:p>
            <a:r>
              <a:rPr lang="en-US" dirty="0"/>
              <a:t>Axis labels must include information on scale or transformations; e.g. is a log scale being shown? </a:t>
            </a:r>
          </a:p>
          <a:p>
            <a:r>
              <a:rPr lang="en-US" dirty="0"/>
              <a:t>Units of measurement on the axes must be clear   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794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566DC-1877-6382-D306-285F9F33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E94EF-3B88-614C-3B60-928465F4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Proper Labels and Legends are Essential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B9F4-C08F-B88D-3D48-889134FF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With labels and legends, a plot is uninterpretable!</a:t>
            </a:r>
          </a:p>
          <a:p>
            <a:r>
              <a:rPr lang="en-US" b="1" dirty="0"/>
              <a:t>Legends</a:t>
            </a:r>
            <a:r>
              <a:rPr lang="en-US" dirty="0"/>
              <a:t> are essential for interpreting a plot</a:t>
            </a:r>
          </a:p>
          <a:p>
            <a:r>
              <a:rPr lang="en-US" dirty="0"/>
              <a:t>What the properties of markers represent must be clear</a:t>
            </a:r>
          </a:p>
          <a:p>
            <a:pPr lvl="1"/>
            <a:r>
              <a:rPr lang="en-US" dirty="0"/>
              <a:t>Color</a:t>
            </a:r>
          </a:p>
          <a:p>
            <a:pPr lvl="1"/>
            <a:r>
              <a:rPr lang="en-US" dirty="0"/>
              <a:t>Shape</a:t>
            </a:r>
          </a:p>
          <a:p>
            <a:pPr lvl="1"/>
            <a:r>
              <a:rPr lang="en-US" dirty="0"/>
              <a:t>Size</a:t>
            </a:r>
          </a:p>
          <a:p>
            <a:r>
              <a:rPr lang="en-US" dirty="0"/>
              <a:t>What lines properties represent must be clear</a:t>
            </a:r>
          </a:p>
          <a:p>
            <a:pPr lvl="1"/>
            <a:r>
              <a:rPr lang="en-US" dirty="0"/>
              <a:t>Color </a:t>
            </a:r>
          </a:p>
          <a:p>
            <a:pPr lvl="1"/>
            <a:r>
              <a:rPr lang="en-US" dirty="0"/>
              <a:t>Line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615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49399-FF7B-8F83-A6A9-4FED8F8F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3DA8D-20A4-6F76-B394-871E9D768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Aspect Ratio</a:t>
            </a:r>
          </a:p>
        </p:txBody>
      </p:sp>
    </p:spTree>
    <p:extLst>
      <p:ext uri="{BB962C8B-B14F-4D97-AF65-F5344CB8AC3E}">
        <p14:creationId xmlns:p14="http://schemas.microsoft.com/office/powerpoint/2010/main" val="17975380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Aspect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Aspect ratio</a:t>
                </a:r>
                <a:r>
                  <a:rPr dirty="0"/>
                  <a:t> has a significant influence on how a viewer perceives a chart</a:t>
                </a:r>
              </a:p>
              <a:p>
                <a:pPr lvl="0"/>
                <a:r>
                  <a:rPr dirty="0"/>
                  <a:t>Correct aspect ratio can help highlight important relationships in complex data sets</a:t>
                </a:r>
              </a:p>
              <a:p>
                <a:pPr lvl="0"/>
                <a:r>
                  <a:rPr dirty="0"/>
                  <a:t>But, </a:t>
                </a:r>
                <a:r>
                  <a:rPr lang="en-US" dirty="0"/>
                  <a:t>poor choice of</a:t>
                </a:r>
                <a:r>
                  <a:rPr dirty="0"/>
                  <a:t> aspect ratio can hide or mislead!</a:t>
                </a:r>
              </a:p>
              <a:p>
                <a:pPr lvl="0"/>
                <a:r>
                  <a:rPr dirty="0"/>
                  <a:t>We express aspect ratio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𝑤𝑖𝑑𝑡ℎ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ℎ𝑒𝑖𝑔ℎ𝑡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 :1</m:t>
                    </m:r>
                  </m:oMath>
                </a14:m>
                <a:endParaRPr dirty="0"/>
              </a:p>
              <a:p>
                <a:pPr lvl="0"/>
                <a:r>
                  <a:rPr b="1" dirty="0"/>
                  <a:t>Banking angle</a:t>
                </a:r>
                <a:r>
                  <a:rPr dirty="0"/>
                  <a:t> is key to understanding how the aspect ratio affects perception</a:t>
                </a:r>
              </a:p>
              <a:p>
                <a:pPr lvl="1"/>
                <a:r>
                  <a:rPr dirty="0"/>
                  <a:t>Humans are most sensitive to changes</a:t>
                </a:r>
                <a:r>
                  <a:rPr lang="en-US" dirty="0"/>
                  <a:t> in slope near</a:t>
                </a:r>
                <a:r>
                  <a:rPr dirty="0"/>
                  <a:t> 45 degrees</a:t>
                </a:r>
              </a:p>
              <a:p>
                <a:pPr lvl="1"/>
                <a:r>
                  <a:rPr lang="en-US" dirty="0"/>
                  <a:t>B</a:t>
                </a:r>
                <a:r>
                  <a:rPr dirty="0"/>
                  <a:t>anking angle controlled by aspect ratio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of Changing Aspect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7824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Longest</a:t>
            </a:r>
            <a:r>
              <a:rPr lang="en-US" dirty="0"/>
              <a:t> directly measured</a:t>
            </a:r>
            <a:r>
              <a:rPr dirty="0"/>
              <a:t> scientific time series</a:t>
            </a:r>
            <a:r>
              <a:rPr lang="en-US" dirty="0"/>
              <a:t> in existence</a:t>
            </a:r>
            <a:r>
              <a:rPr dirty="0"/>
              <a:t> is the sunspot count:</a:t>
            </a:r>
          </a:p>
          <a:p>
            <a:pPr lvl="0" indent="0">
              <a:buNone/>
            </a:pPr>
            <a:r>
              <a:rPr sz="2000" dirty="0">
                <a:latin typeface="Courier"/>
              </a:rPr>
              <a:t>##      YEAR  SUNACTIVITY
## 0  1700.0          5.0
## 1  1701.0         11.0
## 2  1702.0         16.0
## 3  1703.0         23.0
## 4  1704.0         36.0</a:t>
            </a:r>
            <a:endParaRPr lang="en-US" sz="2000" dirty="0">
              <a:latin typeface="Courier"/>
            </a:endParaRPr>
          </a:p>
          <a:p>
            <a:pPr lvl="0" indent="0">
              <a:buNone/>
            </a:pPr>
            <a:endParaRPr lang="en-US" sz="2000" dirty="0">
              <a:latin typeface="Courier"/>
            </a:endParaRPr>
          </a:p>
          <a:p>
            <a:pPr lv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* Longest directly observed temperature series starts in 1772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4284561" cy="87153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3200" b="0" dirty="0"/>
              <a:t>Example of Changing Aspect Ratio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358096"/>
            <a:ext cx="3381735" cy="3236527"/>
          </a:xfrm>
        </p:spPr>
        <p:txBody>
          <a:bodyPr>
            <a:normAutofit lnSpcReduction="10000"/>
          </a:bodyPr>
          <a:lstStyle/>
          <a:p>
            <a:pPr lvl="0"/>
            <a:r>
              <a:rPr sz="2400" dirty="0"/>
              <a:t>Example uses data from 1700 to 1980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Aspect ratio is 1:1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Banking angle is near vertical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400" dirty="0"/>
              <a:t>Can you perceive the asymmetry in these sunspot cycles?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39BBEC-30B2-A9ED-EDDD-886AF31B1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854" y="896556"/>
            <a:ext cx="4941998" cy="3875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7880429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3200" b="0" dirty="0"/>
              <a:t>Example of Changing Aspect Ratio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026" y="1122745"/>
            <a:ext cx="8133143" cy="1634442"/>
          </a:xfrm>
        </p:spPr>
        <p:txBody>
          <a:bodyPr>
            <a:noAutofit/>
          </a:bodyPr>
          <a:lstStyle/>
          <a:p>
            <a:pPr lvl="0"/>
            <a:r>
              <a:rPr sz="2400" dirty="0"/>
              <a:t>Notice how changing aspect ratio change perception of the asymmetry?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Aspect ratio is now 20:1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Banking angle is about 45 degrees for most of the cycles</a:t>
            </a:r>
            <a:endParaRPr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Can you see the asymmetry in these cycles now? </a:t>
            </a: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E00F6-7AE1-3C16-2F84-6596C47C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44" y="4020755"/>
            <a:ext cx="8785775" cy="823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1F0D2-591F-2EED-2566-13AE6E7E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8C52D-35E2-D555-43FD-54E28F70C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Selection and Limitations of Color </a:t>
            </a:r>
            <a:r>
              <a:rPr lang="en-US" sz="3200" dirty="0" err="1"/>
              <a:t>Palletts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529237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Sequential and Divergent Color Palettes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39209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Use of </a:t>
            </a:r>
            <a:r>
              <a:rPr b="1" dirty="0"/>
              <a:t>color</a:t>
            </a:r>
            <a:r>
              <a:rPr dirty="0"/>
              <a:t> as an aesthetic in visualization is a complicated subject.</a:t>
            </a:r>
          </a:p>
          <a:p>
            <a:pPr lvl="0"/>
            <a:r>
              <a:rPr lang="en-US" dirty="0"/>
              <a:t>C</a:t>
            </a:r>
            <a:r>
              <a:rPr dirty="0"/>
              <a:t>olor is often used, also </a:t>
            </a:r>
            <a:r>
              <a:rPr b="1" dirty="0"/>
              <a:t>often abused</a:t>
            </a:r>
            <a:r>
              <a:rPr lang="en-US" b="1" dirty="0"/>
              <a:t>!</a:t>
            </a:r>
            <a:endParaRPr b="1" dirty="0"/>
          </a:p>
          <a:p>
            <a:pPr lvl="0"/>
            <a:r>
              <a:rPr dirty="0"/>
              <a:t>A </a:t>
            </a:r>
            <a:r>
              <a:rPr b="1" dirty="0"/>
              <a:t>qualitative palette</a:t>
            </a:r>
            <a:r>
              <a:rPr dirty="0"/>
              <a:t> is a palette of individual colors for categorical values</a:t>
            </a:r>
          </a:p>
          <a:p>
            <a:pPr lvl="0"/>
            <a:r>
              <a:rPr b="1" dirty="0"/>
              <a:t>Sequential palettes</a:t>
            </a:r>
            <a:r>
              <a:rPr dirty="0"/>
              <a:t> and </a:t>
            </a:r>
            <a:r>
              <a:rPr b="1" dirty="0"/>
              <a:t>divergent palettes</a:t>
            </a:r>
            <a:r>
              <a:rPr dirty="0"/>
              <a:t> are a sequence of colors</a:t>
            </a:r>
          </a:p>
          <a:p>
            <a:pPr lvl="1"/>
            <a:r>
              <a:rPr dirty="0"/>
              <a:t>Numeric variables</a:t>
            </a:r>
          </a:p>
          <a:p>
            <a:pPr lvl="1"/>
            <a:r>
              <a:rPr dirty="0"/>
              <a:t>Ord</a:t>
            </a:r>
            <a:r>
              <a:rPr lang="en-US" dirty="0"/>
              <a:t>inal or ord</a:t>
            </a:r>
            <a:r>
              <a:rPr dirty="0"/>
              <a:t>ered categorical variable</a:t>
            </a:r>
            <a:r>
              <a:rPr lang="en-US" dirty="0"/>
              <a:t>s</a:t>
            </a:r>
          </a:p>
          <a:p>
            <a:r>
              <a:rPr lang="en-US" dirty="0"/>
              <a:t>For examples of the foregoing palette types see the </a:t>
            </a:r>
            <a:r>
              <a:rPr lang="en-US" dirty="0">
                <a:hlinkClick r:id="rId2"/>
              </a:rPr>
              <a:t>Seaborn Choosing Color Palettes Tutorial</a:t>
            </a:r>
            <a:endParaRPr lang="en-US" dirty="0"/>
          </a:p>
          <a:p>
            <a:r>
              <a:rPr lang="en-US" dirty="0"/>
              <a:t>To examine the wide range of available color pallets see </a:t>
            </a:r>
            <a:r>
              <a:rPr lang="en-US" dirty="0">
                <a:hlinkClick r:id="rId3"/>
              </a:rPr>
              <a:t>Choosing Color Maps in Matplotlib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Auto Weight by Sequential Color Palette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63867E-4F60-5C5E-702B-A8ED6D298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912" y="963126"/>
            <a:ext cx="4062713" cy="4131417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BC4F043-E962-4014-CE75-99D8E08E0C5B}"/>
              </a:ext>
            </a:extLst>
          </p:cNvPr>
          <p:cNvSpPr txBox="1">
            <a:spLocks/>
          </p:cNvSpPr>
          <p:nvPr/>
        </p:nvSpPr>
        <p:spPr>
          <a:xfrm>
            <a:off x="457202" y="1358096"/>
            <a:ext cx="4114798" cy="323652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Sequential pallet shows relative auto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Darker colors lower higher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Lighter colors indicate higher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you see the pattern that emerges?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Limits of </a:t>
            </a:r>
            <a:r>
              <a:rPr lang="en-US" dirty="0"/>
              <a:t>C</a:t>
            </a:r>
            <a:r>
              <a:rPr dirty="0"/>
              <a:t>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Regardless of the approach there are some significant limitations</a:t>
            </a:r>
          </a:p>
          <a:p>
            <a:pPr lvl="0"/>
            <a:r>
              <a:rPr dirty="0"/>
              <a:t>A significant number of people are color blind </a:t>
            </a:r>
            <a:endParaRPr lang="en-US" dirty="0"/>
          </a:p>
          <a:p>
            <a:pPr lvl="1"/>
            <a:r>
              <a:rPr dirty="0"/>
              <a:t>Red-green color blindness is most common</a:t>
            </a:r>
            <a:r>
              <a:rPr lang="en-US" dirty="0"/>
              <a:t>, primarily affecting men</a:t>
            </a:r>
            <a:endParaRPr dirty="0"/>
          </a:p>
          <a:p>
            <a:pPr lvl="0"/>
            <a:r>
              <a:rPr dirty="0"/>
              <a:t>Even the best sequential or divergent palettes show only relative value of numeric variables</a:t>
            </a:r>
          </a:p>
          <a:p>
            <a:pPr lvl="1"/>
            <a:r>
              <a:rPr dirty="0"/>
              <a:t>Perception of exact numeric values is difficult, except in special cases</a:t>
            </a:r>
          </a:p>
          <a:p>
            <a:pPr lvl="0"/>
            <a:r>
              <a:rPr lang="en-US" dirty="0"/>
              <a:t>People </a:t>
            </a:r>
            <a:r>
              <a:rPr lang="en-US" b="1" dirty="0"/>
              <a:t>c</a:t>
            </a:r>
            <a:r>
              <a:rPr b="1" dirty="0"/>
              <a:t>annot perceive large number of colors </a:t>
            </a:r>
            <a:r>
              <a:rPr dirty="0"/>
              <a:t>for categories</a:t>
            </a:r>
            <a:endParaRPr lang="en-US" dirty="0"/>
          </a:p>
          <a:p>
            <a:pPr lvl="0"/>
            <a:r>
              <a:rPr lang="en-US" dirty="0">
                <a:solidFill>
                  <a:srgbClr val="C00000"/>
                </a:solidFill>
              </a:rPr>
              <a:t>Warning! Avoid using meaningless color in graphics</a:t>
            </a:r>
          </a:p>
          <a:p>
            <a:pPr lvl="1"/>
            <a:r>
              <a:rPr lang="en-US" b="1" dirty="0"/>
              <a:t>Using color for no reason is a distraction!</a:t>
            </a:r>
          </a:p>
          <a:p>
            <a:pPr lvl="1"/>
            <a:r>
              <a:rPr lang="en-US" dirty="0"/>
              <a:t>Example: meaningless color for bar plots </a:t>
            </a:r>
          </a:p>
          <a:p>
            <a:pPr lvl="1"/>
            <a:r>
              <a:rPr lang="en-US" dirty="0"/>
              <a:t>Example: meaningless color in box plots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Limits of Color</a:t>
            </a:r>
            <a:endParaRPr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BC4F043-E962-4014-CE75-99D8E08E0C5B}"/>
              </a:ext>
            </a:extLst>
          </p:cNvPr>
          <p:cNvSpPr txBox="1">
            <a:spLocks/>
          </p:cNvSpPr>
          <p:nvPr/>
        </p:nvSpPr>
        <p:spPr>
          <a:xfrm>
            <a:off x="457202" y="1358096"/>
            <a:ext cx="3663385" cy="3236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Large qualitative color pallet </a:t>
            </a:r>
            <a:r>
              <a:rPr lang="en-US" b="1" dirty="0"/>
              <a:t>reduces perception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plot includes too many similar colors for large number of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Virtually impossible to determine where autos from each make fall on the plot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B7D722-712E-6BDF-09E4-1BA64EF0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108" y="860385"/>
            <a:ext cx="4878892" cy="410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7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Limits of Color</a:t>
            </a:r>
            <a:endParaRPr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BC4F043-E962-4014-CE75-99D8E08E0C5B}"/>
              </a:ext>
            </a:extLst>
          </p:cNvPr>
          <p:cNvSpPr txBox="1">
            <a:spLocks/>
          </p:cNvSpPr>
          <p:nvPr/>
        </p:nvSpPr>
        <p:spPr>
          <a:xfrm>
            <a:off x="387754" y="910542"/>
            <a:ext cx="8513178" cy="120762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Ordered box plot is an alternative to qualitative color and shape for variables with too many categories   </a:t>
            </a:r>
          </a:p>
          <a:p>
            <a:r>
              <a:rPr lang="en-US" dirty="0"/>
              <a:t>Ordering improves perception, i.e. like ordered bar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F5102-101E-3820-1B91-98B8A85B9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954" y="1964889"/>
            <a:ext cx="4109655" cy="31424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3BB364-7770-0D6E-2F56-3A68DD328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89" y="2000389"/>
            <a:ext cx="4049208" cy="307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630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0E5F-1927-7962-7FC2-23D775282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9614A-84D9-6885-1E4A-E547CAC1E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Markers and Perception</a:t>
            </a:r>
          </a:p>
        </p:txBody>
      </p:sp>
    </p:spTree>
    <p:extLst>
      <p:ext uri="{BB962C8B-B14F-4D97-AF65-F5344CB8AC3E}">
        <p14:creationId xmlns:p14="http://schemas.microsoft.com/office/powerpoint/2010/main" val="4063662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Marker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/>
              <a:t>Marker size</a:t>
            </a:r>
            <a:r>
              <a:rPr dirty="0"/>
              <a:t> is moderately effective aesthetic</a:t>
            </a:r>
          </a:p>
          <a:p>
            <a:pPr lvl="0"/>
            <a:r>
              <a:rPr dirty="0"/>
              <a:t>Used properly, marker size can highlight important relationships in complex data sets</a:t>
            </a:r>
          </a:p>
          <a:p>
            <a:pPr lvl="1"/>
            <a:r>
              <a:rPr dirty="0"/>
              <a:t>Numeric values</a:t>
            </a:r>
          </a:p>
          <a:p>
            <a:pPr lvl="1"/>
            <a:r>
              <a:rPr dirty="0"/>
              <a:t>Ordinal variables</a:t>
            </a:r>
          </a:p>
          <a:p>
            <a:pPr lvl="0"/>
            <a:r>
              <a:rPr dirty="0"/>
              <a:t>Viewers can generally perceive relative differences, but not actual values</a:t>
            </a:r>
          </a:p>
          <a:p>
            <a:pPr lvl="0"/>
            <a:r>
              <a:rPr dirty="0"/>
              <a:t>Small size differences are not perceptible</a:t>
            </a:r>
          </a:p>
          <a:p>
            <a:pPr lvl="1"/>
            <a:r>
              <a:rPr dirty="0"/>
              <a:t>Only relative relationship in numeric variables</a:t>
            </a:r>
          </a:p>
          <a:p>
            <a:pPr lvl="1"/>
            <a:r>
              <a:rPr dirty="0"/>
              <a:t>Limited steps of </a:t>
            </a:r>
            <a:r>
              <a:rPr lang="en-US" dirty="0"/>
              <a:t>ordinal</a:t>
            </a:r>
            <a:r>
              <a:rPr dirty="0"/>
              <a:t> variables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Engine Size by Marker Size and Price by Sequential Color Palette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34609-BBC2-A19D-880C-BADCFEAC2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643" y="1108848"/>
            <a:ext cx="3933785" cy="4034652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7E3AB7E-43EF-6732-9DAC-40E0B6B49A48}"/>
              </a:ext>
            </a:extLst>
          </p:cNvPr>
          <p:cNvSpPr txBox="1">
            <a:spLocks/>
          </p:cNvSpPr>
          <p:nvPr/>
        </p:nvSpPr>
        <p:spPr>
          <a:xfrm>
            <a:off x="457202" y="1358096"/>
            <a:ext cx="4357866" cy="323652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Sequential color pallet for price, marker size for engine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Color pallet same as previous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Engine size by relative marker size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you see the patterns in this 4-dimensional projection?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Line Plots and Line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Line plots</a:t>
            </a:r>
            <a:r>
              <a:rPr dirty="0"/>
              <a:t> connect discrete, ordered, data points by a line</a:t>
            </a:r>
          </a:p>
          <a:p>
            <a:pPr lvl="0"/>
            <a:r>
              <a:rPr dirty="0"/>
              <a:t>Can use different colors and line pattern types to differentiate categories</a:t>
            </a:r>
          </a:p>
          <a:p>
            <a:pPr lvl="0"/>
            <a:r>
              <a:rPr dirty="0"/>
              <a:t>Only useful for a limited number of lines on one graph</a:t>
            </a:r>
          </a:p>
          <a:p>
            <a:pPr lvl="0"/>
            <a:r>
              <a:rPr dirty="0"/>
              <a:t>Too many similar colors and line patterns on one plot leads to viewer confusion and poor perception</a:t>
            </a:r>
            <a:endParaRPr lang="en-US" dirty="0"/>
          </a:p>
          <a:p>
            <a:pPr lvl="0"/>
            <a:r>
              <a:rPr lang="en-US" dirty="0"/>
              <a:t>You can see examples of line styles supported in Matplotlib in </a:t>
            </a:r>
            <a:r>
              <a:rPr lang="en-US" dirty="0">
                <a:hlinkClick r:id="rId2"/>
              </a:rPr>
              <a:t>this article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Limits of Line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63A8C-76CE-07D1-C49D-F35A34FB7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277" y="1266181"/>
            <a:ext cx="5608723" cy="3240230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92608D8-9052-3429-1009-E119939D1062}"/>
              </a:ext>
            </a:extLst>
          </p:cNvPr>
          <p:cNvSpPr txBox="1">
            <a:spLocks/>
          </p:cNvSpPr>
          <p:nvPr/>
        </p:nvSpPr>
        <p:spPr>
          <a:xfrm>
            <a:off x="457202" y="1415970"/>
            <a:ext cx="3078075" cy="352155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Line type indicates type of transformation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easy to perceive the 4 line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a </a:t>
            </a:r>
            <a:r>
              <a:rPr lang="en-US" b="1" dirty="0"/>
              <a:t>limited number of line types can be perceived!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Marker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Marker shape</a:t>
            </a:r>
            <a:r>
              <a:rPr dirty="0"/>
              <a:t> is useful for displaying categorical relationships</a:t>
            </a:r>
          </a:p>
          <a:p>
            <a:pPr lvl="0"/>
            <a:r>
              <a:rPr lang="en-US" dirty="0"/>
              <a:t>A</a:t>
            </a:r>
            <a:r>
              <a:rPr dirty="0"/>
              <a:t>esthetic is only useful when two conditions are met:</a:t>
            </a:r>
          </a:p>
          <a:p>
            <a:pPr lvl="1">
              <a:buAutoNum type="arabicPeriod"/>
            </a:pPr>
            <a:r>
              <a:rPr dirty="0"/>
              <a:t>The number of categories is small</a:t>
            </a:r>
          </a:p>
          <a:p>
            <a:pPr lvl="1">
              <a:buAutoNum type="arabicPeriod"/>
            </a:pPr>
            <a:r>
              <a:rPr dirty="0"/>
              <a:t>Distinctive shape are chosen for the markers</a:t>
            </a:r>
          </a:p>
          <a:p>
            <a:pPr lvl="0"/>
            <a:r>
              <a:rPr dirty="0"/>
              <a:t>Human perception limits the number of shapes humans can perceive well</a:t>
            </a:r>
            <a:endParaRPr lang="en-US" dirty="0"/>
          </a:p>
          <a:p>
            <a:pPr lvl="0"/>
            <a:r>
              <a:rPr lang="en-US" dirty="0"/>
              <a:t>You can find a list of Matplotlib marker shapes </a:t>
            </a:r>
            <a:r>
              <a:rPr lang="en-US" dirty="0">
                <a:hlinkClick r:id="rId2"/>
              </a:rPr>
              <a:t>here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Aspiration by Marker Shape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154E65-A52E-2F68-7EBF-15BA314E33B6}"/>
              </a:ext>
            </a:extLst>
          </p:cNvPr>
          <p:cNvSpPr txBox="1">
            <a:spLocks/>
          </p:cNvSpPr>
          <p:nvPr/>
        </p:nvSpPr>
        <p:spPr>
          <a:xfrm>
            <a:off x="457202" y="1358096"/>
            <a:ext cx="4462039" cy="323652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Limited use of qualitative color and marker shape projects 4 dimensions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color pallet for good perception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number of marker shapes for good perception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you see the pattern that emerges?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F7385-24D1-3996-4D0C-D48CE0F1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384" y="874784"/>
            <a:ext cx="3958884" cy="4206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11A0B-4D6D-4D3D-D257-30C12062C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6AF5D-05CE-8D2F-59C4-6A102DB4D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Regression Lines for Visual Perception</a:t>
            </a:r>
          </a:p>
        </p:txBody>
      </p:sp>
    </p:spTree>
    <p:extLst>
      <p:ext uri="{BB962C8B-B14F-4D97-AF65-F5344CB8AC3E}">
        <p14:creationId xmlns:p14="http://schemas.microsoft.com/office/powerpoint/2010/main" val="29869109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69979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Regression lines draw viewers attention</a:t>
            </a:r>
          </a:p>
          <a:p>
            <a:pPr lvl="0"/>
            <a:r>
              <a:rPr dirty="0"/>
              <a:t>Typically use a nonlinear regression line</a:t>
            </a:r>
          </a:p>
          <a:p>
            <a:pPr lvl="1"/>
            <a:r>
              <a:rPr dirty="0"/>
              <a:t>Polynomial</a:t>
            </a:r>
          </a:p>
          <a:p>
            <a:pPr lvl="1"/>
            <a:r>
              <a:rPr dirty="0"/>
              <a:t>Splines - piece wise model</a:t>
            </a:r>
          </a:p>
          <a:p>
            <a:pPr lvl="1"/>
            <a:r>
              <a:rPr dirty="0" err="1"/>
              <a:t>Lowess</a:t>
            </a:r>
            <a:r>
              <a:rPr dirty="0"/>
              <a:t> - local nonlinear regression</a:t>
            </a:r>
          </a:p>
          <a:p>
            <a:pPr lvl="0"/>
            <a:r>
              <a:rPr dirty="0"/>
              <a:t>Bootstrap confidence intervals show range of probable trends</a:t>
            </a:r>
          </a:p>
          <a:p>
            <a:pPr lvl="1"/>
            <a:r>
              <a:rPr dirty="0"/>
              <a:t>More about bootstrap resampling later</a:t>
            </a:r>
          </a:p>
          <a:p>
            <a:pPr lvl="0"/>
            <a:r>
              <a:rPr dirty="0"/>
              <a:t>Ideally want str</a:t>
            </a:r>
            <a:r>
              <a:rPr lang="en-US" dirty="0"/>
              <a:t>aight</a:t>
            </a:r>
            <a:r>
              <a:rPr dirty="0"/>
              <a:t> line relationship</a:t>
            </a:r>
          </a:p>
          <a:p>
            <a:pPr lvl="1"/>
            <a:r>
              <a:rPr dirty="0"/>
              <a:t>Nonlinear relationships often arise from non-Normal distributions</a:t>
            </a:r>
          </a:p>
          <a:p>
            <a:pPr lvl="1"/>
            <a:r>
              <a:rPr dirty="0"/>
              <a:t>Linear relationship is more intuitive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100348" cy="64402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3200" dirty="0"/>
              <a:t>Regression Line and Transformation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821" y="1871241"/>
            <a:ext cx="3420318" cy="214464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Regression lines highlight the trends for gas and diesel engines</a:t>
            </a:r>
            <a:endParaRPr lang="en-US" sz="2400" dirty="0"/>
          </a:p>
          <a:p>
            <a:r>
              <a:rPr lang="en-US" sz="2400" dirty="0"/>
              <a:t>Second order polynomial fit produces curved lines</a:t>
            </a:r>
          </a:p>
          <a:p>
            <a:pPr marL="0" lvl="0" indent="0">
              <a:buNone/>
            </a:pP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94DEF-0D2F-CB09-6DE1-A081639A1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758" y="1016000"/>
            <a:ext cx="5156242" cy="408159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177513" cy="57457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3200" b="0" dirty="0"/>
              <a:t>Regression Line and Transformation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7753108" cy="33192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400" dirty="0"/>
              <a:t>What are the distributions of these variables?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5F1663-9402-EF84-48A2-110F382FA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30" y="1535575"/>
            <a:ext cx="8376787" cy="300194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2FB93D-789E-48C3-F73E-0D1ECA8EF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152" y="4537517"/>
            <a:ext cx="5702462" cy="53605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Notice the right skew of these distributions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Line and Tramsformation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Can transform distribution of variables</a:t>
                </a:r>
              </a:p>
              <a:p>
                <a:pPr lvl="0"/>
                <a:r>
                  <a:rPr dirty="0"/>
                  <a:t>Want distribution closer to Normal</a:t>
                </a:r>
              </a:p>
              <a:p>
                <a:pPr lvl="0"/>
                <a:r>
                  <a:rPr dirty="0"/>
                  <a:t>Many possible transformations</a:t>
                </a:r>
              </a:p>
              <a:p>
                <a:pPr lvl="1"/>
                <a:r>
                  <a:rPr b="1" dirty="0"/>
                  <a:t>Logarithmic:</a:t>
                </a:r>
                <a:r>
                  <a:rPr dirty="0"/>
                  <a:t> Often good choice for variables with values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dirty="0"/>
              </a:p>
              <a:p>
                <a:pPr lvl="1"/>
                <a:r>
                  <a:rPr b="1" dirty="0"/>
                  <a:t>Square and square root:</a:t>
                </a:r>
                <a:r>
                  <a:rPr dirty="0"/>
                  <a:t> Good choice for many physical systems</a:t>
                </a:r>
              </a:p>
              <a:p>
                <a:pPr lvl="1"/>
                <a:r>
                  <a:rPr b="1" dirty="0"/>
                  <a:t>Power transformation:</a:t>
                </a:r>
                <a:r>
                  <a:rPr dirty="0"/>
                  <a:t> Find best fit transformation</a:t>
                </a:r>
              </a:p>
              <a:p>
                <a:pPr lvl="1"/>
                <a:r>
                  <a:rPr b="1" dirty="0"/>
                  <a:t>Fit to parametric distribution:</a:t>
                </a:r>
                <a:r>
                  <a:rPr dirty="0"/>
                  <a:t> Test if variable follows a known distribution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Line and Tramsformation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Can transform distribution of variables</a:t>
                </a:r>
              </a:p>
              <a:p>
                <a:pPr lvl="0"/>
                <a:r>
                  <a:rPr dirty="0"/>
                  <a:t>Multiple algorithms have been developed</a:t>
                </a:r>
              </a:p>
              <a:p>
                <a:pPr lvl="1"/>
                <a:r>
                  <a:rPr dirty="0"/>
                  <a:t>Box-Cox, the first and still widely used for values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dirty="0"/>
              </a:p>
              <a:p>
                <a:pPr lvl="1"/>
                <a:r>
                  <a:rPr dirty="0"/>
                  <a:t>Yeo-Johnson,</a:t>
                </a:r>
                <a:r>
                  <a:rPr lang="en-US" dirty="0"/>
                  <a:t> can</a:t>
                </a:r>
                <a:r>
                  <a:rPr dirty="0"/>
                  <a:t> </a:t>
                </a:r>
                <a:r>
                  <a:rPr lang="en-US" dirty="0"/>
                  <a:t>apply with positive values or </a:t>
                </a:r>
                <a:r>
                  <a:rPr dirty="0"/>
                  <a:t>values </a:t>
                </a:r>
                <a14:m>
                  <m:oMath xmlns:m="http://schemas.openxmlformats.org/officeDocument/2006/math">
                    <m:r>
                      <a:rPr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The Box-Cox transform fits a value for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dirty="0"/>
                  <a:t> that minimizes error with respect to a Normal distribution</a:t>
                </a:r>
              </a:p>
              <a:p>
                <a:pPr lvl="0"/>
                <a:r>
                  <a:rPr dirty="0"/>
                  <a:t>See the </a:t>
                </a:r>
                <a:r>
                  <a:rPr dirty="0">
                    <a:hlinkClick r:id="rId2"/>
                  </a:rPr>
                  <a:t>Scikit-Learn Users’ Guide</a:t>
                </a:r>
                <a:r>
                  <a:rPr dirty="0"/>
                  <a:t> for more details</a:t>
                </a:r>
                <a:endParaRPr lang="en-US" dirty="0"/>
              </a:p>
              <a:p>
                <a:pPr lvl="0"/>
                <a:r>
                  <a:rPr lang="en-US" dirty="0"/>
                  <a:t>Alternatively, you can see details in </a:t>
                </a:r>
                <a:r>
                  <a:rPr lang="en-US" dirty="0">
                    <a:hlinkClick r:id="rId3"/>
                  </a:rPr>
                  <a:t>the Wikipedia Power Transformation article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111" t="-2513" b="-3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Line and Tramsformation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515" y="934904"/>
            <a:ext cx="7682189" cy="537158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Transform</a:t>
            </a:r>
            <a:r>
              <a:rPr lang="en-US" dirty="0"/>
              <a:t>ed</a:t>
            </a:r>
            <a:r>
              <a:rPr dirty="0"/>
              <a:t> distributions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C27C7-D032-AD57-8671-7F5607A1E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5" y="1472062"/>
            <a:ext cx="8202797" cy="296449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1669FA-B2D8-4B84-ECB0-0D36101E5A3F}"/>
              </a:ext>
            </a:extLst>
          </p:cNvPr>
          <p:cNvSpPr txBox="1">
            <a:spLocks/>
          </p:cNvSpPr>
          <p:nvPr/>
        </p:nvSpPr>
        <p:spPr>
          <a:xfrm>
            <a:off x="742181" y="4469489"/>
            <a:ext cx="8300231" cy="481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Distribution of logarithm of the curb weight is nearly symmetric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Line and Tramsformation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0220"/>
            <a:ext cx="2772137" cy="3444403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Transform the distributions</a:t>
            </a:r>
          </a:p>
          <a:p>
            <a:pPr marL="0" lvl="0" indent="0">
              <a:buNone/>
            </a:pPr>
            <a:r>
              <a:rPr dirty="0"/>
              <a:t>Distribution of logarithm of the curb weight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The plots are fairly similar, log-log with less dispersion </a:t>
            </a:r>
            <a:endParaRPr dirty="0"/>
          </a:p>
          <a:p>
            <a:pPr marL="0" lv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D9806-A3ED-7D69-EEEC-DA0E47FB0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272" y="1194816"/>
            <a:ext cx="6205728" cy="371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840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Regression Line and Transformation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1924" y="1200151"/>
                <a:ext cx="2938041" cy="3394472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Transform the distributions</a:t>
                </a:r>
              </a:p>
              <a:p>
                <a:pPr marL="0" lvl="0" indent="0">
                  <a:buNone/>
                </a:pPr>
                <a:r>
                  <a:rPr dirty="0"/>
                  <a:t>Distribution of power transformed price,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  <m:r>
                      <a:rPr>
                        <a:latin typeface="Cambria Math" panose="02040503050406030204" pitchFamily="18" charset="0"/>
                      </a:rPr>
                      <m:t>=−0.64</m:t>
                    </m:r>
                  </m:oMath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Transformed distribution has minimal skew!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1924" y="1200151"/>
                <a:ext cx="2938041" cy="3394472"/>
              </a:xfrm>
              <a:blipFill>
                <a:blip r:embed="rId2"/>
                <a:stretch>
                  <a:fillRect l="-3320" t="-1436" r="-1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038BBCF-18E3-AE69-F74B-05D1B8132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349" y="1152594"/>
            <a:ext cx="5792651" cy="335438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Line and Tramsformation Example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007566-6100-A41C-BAE1-CF2410581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51030"/>
            <a:ext cx="3169534" cy="273737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Second order polynomial fit</a:t>
            </a:r>
            <a:r>
              <a:rPr lang="en-US" dirty="0"/>
              <a:t> to transformed variables     </a:t>
            </a:r>
          </a:p>
          <a:p>
            <a:pPr marL="0" lvl="0" indent="0">
              <a:buNone/>
            </a:pPr>
            <a:r>
              <a:rPr lang="en-US" dirty="0"/>
              <a:t>Regression lines are nearly strait!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C3B70-2ED9-A8BE-11F5-AD9637086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303" y="930472"/>
            <a:ext cx="5331331" cy="416172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5266"/>
            <a:ext cx="8229600" cy="393925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We have explored these key points</a:t>
            </a:r>
            <a:endParaRPr lang="en-US" dirty="0"/>
          </a:p>
          <a:p>
            <a:r>
              <a:rPr lang="en-US" dirty="0"/>
              <a:t>Visualization is a powerful EDA method</a:t>
            </a:r>
          </a:p>
          <a:p>
            <a:pPr lvl="1"/>
            <a:r>
              <a:rPr lang="en-US" dirty="0"/>
              <a:t>Understand relationships in data</a:t>
            </a:r>
          </a:p>
          <a:p>
            <a:pPr lvl="1"/>
            <a:r>
              <a:rPr lang="en-US" dirty="0"/>
              <a:t>Communicate data science insights</a:t>
            </a:r>
          </a:p>
          <a:p>
            <a:pPr lvl="0"/>
            <a:r>
              <a:rPr dirty="0"/>
              <a:t>Proper use of plot aesthetics enable projection of multiple dimensions of complex data onto the 2-dimensional plot surface.</a:t>
            </a:r>
          </a:p>
          <a:p>
            <a:pPr lvl="1"/>
            <a:r>
              <a:rPr dirty="0"/>
              <a:t>All plot aesthetics have limitations which must be understood to use them effectively</a:t>
            </a:r>
          </a:p>
          <a:p>
            <a:pPr lvl="1"/>
            <a:r>
              <a:rPr dirty="0"/>
              <a:t>The effectiveness of a plot aesthetic varies with the type and the application</a:t>
            </a:r>
          </a:p>
          <a:p>
            <a:pPr lvl="0"/>
            <a:r>
              <a:rPr dirty="0"/>
              <a:t>Regression lines help to focus viewer on trends</a:t>
            </a:r>
          </a:p>
          <a:p>
            <a:pPr lvl="1"/>
            <a:r>
              <a:rPr dirty="0"/>
              <a:t>Transformations to linear relationships can be informative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76927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Properties of Common Aesthetics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050608"/>
              </p:ext>
            </p:extLst>
          </p:nvPr>
        </p:nvGraphicFramePr>
        <p:xfrm>
          <a:off x="337595" y="710298"/>
          <a:ext cx="86134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4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Property or Aesthetic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Perception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Data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Aspect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800" dirty="0"/>
                        <a:t>Any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Regression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Numeric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Marker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  <a:r>
                        <a:rPr lang="en-US" sz="1800" dirty="0"/>
                        <a:t>, counts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Bar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Counts, 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Sequential color palette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Numeric, </a:t>
                      </a:r>
                      <a:r>
                        <a:rPr lang="en-US" sz="1800" dirty="0"/>
                        <a:t>counts, </a:t>
                      </a:r>
                      <a:r>
                        <a:rPr sz="1800" dirty="0"/>
                        <a:t>ordered 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Marker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Numeric, </a:t>
                      </a:r>
                      <a:r>
                        <a:rPr lang="en-US" sz="1800" dirty="0"/>
                        <a:t>counts, </a:t>
                      </a:r>
                      <a:r>
                        <a:rPr sz="1800" dirty="0"/>
                        <a:t>ordered 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Line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Qualitative color palette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Marker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  <a:r>
                        <a:rPr lang="en-US" sz="1800" dirty="0"/>
                        <a:t>, counts,</a:t>
                      </a:r>
                      <a:r>
                        <a:rPr sz="1800" dirty="0"/>
                        <a:t> </a:t>
                      </a:r>
                      <a:r>
                        <a:rPr lang="en-US" sz="1800" dirty="0"/>
                        <a:t>ordered </a:t>
                      </a:r>
                      <a:r>
                        <a:rPr sz="1800" dirty="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5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932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372FE0-27C5-4B92-A0A7-0D2DB491A27E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begin{document}\nx^{(\\lambda)}_i = \\begin{cases}      \\frac{x^{\\lambda}_i - 1}{\\lambda},\\ if \\lambda \\ne 0 \\\\      ln(x_i),\\ if \\lambda = 0\\end{cases} 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9220</TotalTime>
  <Words>4130</Words>
  <Application>Microsoft Office PowerPoint</Application>
  <PresentationFormat>On-screen Show (16:9)</PresentationFormat>
  <Paragraphs>572</Paragraphs>
  <Slides>74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Arial</vt:lpstr>
      <vt:lpstr>Calibri</vt:lpstr>
      <vt:lpstr>Cambria Math</vt:lpstr>
      <vt:lpstr>Courier</vt:lpstr>
      <vt:lpstr>Gill Sans MT</vt:lpstr>
      <vt:lpstr>Office Theme</vt:lpstr>
      <vt:lpstr>CSCI E-83 Perception for Scientific Visualization</vt:lpstr>
      <vt:lpstr>Why This Course?</vt:lpstr>
      <vt:lpstr>Why This Course?</vt:lpstr>
      <vt:lpstr>Why This Course?</vt:lpstr>
      <vt:lpstr>Why This Course?</vt:lpstr>
      <vt:lpstr>Why This Course?</vt:lpstr>
      <vt:lpstr>Why This Course?</vt:lpstr>
      <vt:lpstr>What We’ll Cover</vt:lpstr>
      <vt:lpstr>Main topics in this course </vt:lpstr>
      <vt:lpstr>Course Objectives</vt:lpstr>
      <vt:lpstr>About your Instructor: Steve Elston</vt:lpstr>
      <vt:lpstr>Teaching Assistant: Melahat Tayli </vt:lpstr>
      <vt:lpstr>Teaching Assistant: Waree Protprommart</vt:lpstr>
      <vt:lpstr>Grading: Undergraduate</vt:lpstr>
      <vt:lpstr>Grading: Graduate</vt:lpstr>
      <vt:lpstr>Assignments</vt:lpstr>
      <vt:lpstr>Grading: Graduate</vt:lpstr>
      <vt:lpstr>Late Assignment Policy</vt:lpstr>
      <vt:lpstr>Class Schedule</vt:lpstr>
      <vt:lpstr>Communications</vt:lpstr>
      <vt:lpstr>Communications</vt:lpstr>
      <vt:lpstr>PowerPoint Presentation</vt:lpstr>
      <vt:lpstr>PowerPoint Presentation</vt:lpstr>
      <vt:lpstr>PowerPoint Presentation</vt:lpstr>
      <vt:lpstr>PowerPoint Presentation</vt:lpstr>
      <vt:lpstr>Why Exploration and Visualization?</vt:lpstr>
      <vt:lpstr>Main topics in this course </vt:lpstr>
      <vt:lpstr>Why Exploration and Visualization?</vt:lpstr>
      <vt:lpstr>Why Exploration and Visualization?</vt:lpstr>
      <vt:lpstr>Why Exploration and Visualization?</vt:lpstr>
      <vt:lpstr>Why Exploration and Visualization?</vt:lpstr>
      <vt:lpstr>Why Exploration and Visualization?</vt:lpstr>
      <vt:lpstr>PowerPoint Presentation</vt:lpstr>
      <vt:lpstr>Why is Perception Important?</vt:lpstr>
      <vt:lpstr>Use Aesthetics to Improve Perception</vt:lpstr>
      <vt:lpstr>Use Aesthetics to Improve Perception</vt:lpstr>
      <vt:lpstr>Organization of Plot Aesthetics</vt:lpstr>
      <vt:lpstr>Properties of Common Aesthetics</vt:lpstr>
      <vt:lpstr>PowerPoint Presentation</vt:lpstr>
      <vt:lpstr>Unnecessary Clutter Inhibits Perception</vt:lpstr>
      <vt:lpstr>Unnecessary Clutter Inhibits Perception</vt:lpstr>
      <vt:lpstr>PowerPoint Presentation</vt:lpstr>
      <vt:lpstr>Proper Labels and Legends are Essential</vt:lpstr>
      <vt:lpstr>Proper Labels and Legends are Essential</vt:lpstr>
      <vt:lpstr>PowerPoint Presentation</vt:lpstr>
      <vt:lpstr>Aspect Ratio</vt:lpstr>
      <vt:lpstr>Example of Changing Aspect Ratio</vt:lpstr>
      <vt:lpstr>Example of Changing Aspect Ratio</vt:lpstr>
      <vt:lpstr>Example of Changing Aspect Ratio</vt:lpstr>
      <vt:lpstr>PowerPoint Presentation</vt:lpstr>
      <vt:lpstr>Sequential and Divergent Color Palettes</vt:lpstr>
      <vt:lpstr>Auto Weight by Sequential Color Palette</vt:lpstr>
      <vt:lpstr>Limits of Color</vt:lpstr>
      <vt:lpstr>Limits of Color</vt:lpstr>
      <vt:lpstr>Limits of Color</vt:lpstr>
      <vt:lpstr>PowerPoint Presentation</vt:lpstr>
      <vt:lpstr>Marker Size</vt:lpstr>
      <vt:lpstr>Engine Size by Marker Size and Price by Sequential Color Palette</vt:lpstr>
      <vt:lpstr>Line Plots and Line Type</vt:lpstr>
      <vt:lpstr>Limits of Line Type</vt:lpstr>
      <vt:lpstr>Marker Shape</vt:lpstr>
      <vt:lpstr>Aspiration by Marker Shape</vt:lpstr>
      <vt:lpstr>PowerPoint Presentation</vt:lpstr>
      <vt:lpstr>Regression Lines</vt:lpstr>
      <vt:lpstr>Regression Line and Transformation Example</vt:lpstr>
      <vt:lpstr>Regression Line and Transformation Example</vt:lpstr>
      <vt:lpstr>Regression Line and Tramsformation Example</vt:lpstr>
      <vt:lpstr>Regression Line and Tramsformation Example</vt:lpstr>
      <vt:lpstr>Regression Line and Tramsformation Example</vt:lpstr>
      <vt:lpstr>Regression Line and Tramsformation Example</vt:lpstr>
      <vt:lpstr>Regression Line and Transformation Example</vt:lpstr>
      <vt:lpstr>Regression Line and Tramsformation Example</vt:lpstr>
      <vt:lpstr>Summary</vt:lpstr>
      <vt:lpstr>Properties of Common Aesthetics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Perception for Scientific Visualization</dc:title>
  <dc:creator>Steve Elston</dc:creator>
  <cp:keywords/>
  <cp:lastModifiedBy>Stephen Elston</cp:lastModifiedBy>
  <cp:revision>172</cp:revision>
  <dcterms:created xsi:type="dcterms:W3CDTF">2024-08-02T01:47:37Z</dcterms:created>
  <dcterms:modified xsi:type="dcterms:W3CDTF">2026-09-02T21:35:09Z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09/04/2023</vt:lpwstr>
  </property>
  <property fmtid="{D5CDD505-2E9C-101B-9397-08002B2CF9AE}" pid="3" name="output">
    <vt:lpwstr/>
  </property>
</Properties>
</file>