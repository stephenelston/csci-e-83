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1"/>
  </p:notesMasterIdLst>
  <p:sldIdLst>
    <p:sldId id="338" r:id="rId2"/>
    <p:sldId id="260" r:id="rId3"/>
    <p:sldId id="261" r:id="rId4"/>
    <p:sldId id="262" r:id="rId5"/>
    <p:sldId id="263" r:id="rId6"/>
    <p:sldId id="265" r:id="rId7"/>
    <p:sldId id="266" r:id="rId8"/>
    <p:sldId id="339" r:id="rId9"/>
    <p:sldId id="267" r:id="rId10"/>
    <p:sldId id="308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307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3" r:id="rId47"/>
    <p:sldId id="304" r:id="rId48"/>
    <p:sldId id="305" r:id="rId49"/>
    <p:sldId id="306" r:id="rId50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 varScale="1">
        <p:scale>
          <a:sx n="97" d="100"/>
          <a:sy n="97" d="100"/>
        </p:scale>
        <p:origin x="94" y="3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E8413C-360A-45C8-86BB-6B0679E98A53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F17695-CDEB-44D7-A6F4-E768CC5999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1377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F17695-CDEB-44D7-A6F4-E768CC599972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282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8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517003"/>
            <a:ext cx="7772400" cy="1515861"/>
          </a:xfrm>
        </p:spPr>
        <p:txBody>
          <a:bodyPr/>
          <a:lstStyle/>
          <a:p>
            <a:pPr marL="0" lvl="0" indent="0">
              <a:buNone/>
            </a:pPr>
            <a:r>
              <a:rPr lang="en-US" dirty="0"/>
              <a:t>Introduction to Parametric Estimation and Likelihood</a:t>
            </a:r>
            <a:endParaRPr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878957"/>
            <a:ext cx="6400800" cy="563301"/>
          </a:xfrm>
        </p:spPr>
        <p:txBody>
          <a:bodyPr>
            <a:normAutofit fontScale="32500" lnSpcReduction="20000"/>
          </a:bodyPr>
          <a:lstStyle/>
          <a:p>
            <a:pPr marL="0" lvl="0" indent="0">
              <a:buNone/>
            </a:pPr>
            <a:br>
              <a:rPr dirty="0"/>
            </a:br>
            <a:br>
              <a:rPr dirty="0"/>
            </a:br>
            <a:r>
              <a:rPr sz="5900" b="1" dirty="0"/>
              <a:t>Steve Elston</a:t>
            </a:r>
          </a:p>
        </p:txBody>
      </p:sp>
      <p:pic>
        <p:nvPicPr>
          <p:cNvPr id="5" name="Picture 2" descr="Image result for harvard extension school logo">
            <a:extLst>
              <a:ext uri="{FF2B5EF4-FFF2-40B4-BE49-F238E27FC236}">
                <a16:creationId xmlns:a16="http://schemas.microsoft.com/office/drawing/2014/main" id="{4589CD93-89FF-3DF6-420D-DE6D671B6D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1067" y="3659436"/>
            <a:ext cx="2345803" cy="965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74191BF-5D24-EFDF-F46A-91EA7CBF856B}"/>
              </a:ext>
            </a:extLst>
          </p:cNvPr>
          <p:cNvSpPr txBox="1"/>
          <p:nvPr/>
        </p:nvSpPr>
        <p:spPr>
          <a:xfrm>
            <a:off x="1805276" y="4705706"/>
            <a:ext cx="5744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Copyright 2021, 2022, 2023 2024, Stephen F Elston. All rights reserved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33691"/>
            <a:ext cx="8229600" cy="3660932"/>
          </a:xfrm>
        </p:spPr>
        <p:txBody>
          <a:bodyPr>
            <a:normAutofit fontScale="92500" lnSpcReduction="20000"/>
          </a:bodyPr>
          <a:lstStyle/>
          <a:p>
            <a:pPr marL="0" lvl="0" indent="0">
              <a:buNone/>
            </a:pPr>
            <a:r>
              <a:rPr dirty="0"/>
              <a:t>The concept of </a:t>
            </a:r>
            <a:r>
              <a:rPr b="1" dirty="0"/>
              <a:t>likelihood</a:t>
            </a:r>
            <a:r>
              <a:rPr dirty="0"/>
              <a:t> and </a:t>
            </a:r>
            <a:r>
              <a:rPr b="1" dirty="0"/>
              <a:t>maximum likelihood estimation (MLE)</a:t>
            </a:r>
            <a:r>
              <a:rPr dirty="0"/>
              <a:t> have been at the core of much of statistical modeling for about 100 years</a:t>
            </a:r>
          </a:p>
          <a:p>
            <a:pPr lvl="0"/>
            <a:r>
              <a:rPr dirty="0"/>
              <a:t>In 21st Century, likelihood and MLE continue to be foundational</a:t>
            </a:r>
          </a:p>
          <a:p>
            <a:pPr lvl="0"/>
            <a:r>
              <a:rPr dirty="0"/>
              <a:t>Understanding the concept of likelihood and the use of MLE methods is key to understanding many parametric methods</a:t>
            </a:r>
          </a:p>
          <a:p>
            <a:pPr lvl="0"/>
            <a:r>
              <a:rPr dirty="0"/>
              <a:t>Likelihood is a measure of how likely a parametric model is to generate the observed data</a:t>
            </a:r>
          </a:p>
          <a:p>
            <a:pPr lvl="0"/>
            <a:r>
              <a:rPr dirty="0"/>
              <a:t>MLE is a generic method for parameter estimation</a:t>
            </a:r>
          </a:p>
          <a:p>
            <a:r>
              <a:rPr dirty="0"/>
              <a:t>MLE used widely for machine learning models, including </a:t>
            </a:r>
            <a:r>
              <a:rPr lang="en-US" dirty="0"/>
              <a:t>many </a:t>
            </a:r>
            <a:r>
              <a:rPr dirty="0"/>
              <a:t>deep</a:t>
            </a:r>
            <a:r>
              <a:rPr lang="en-US" dirty="0"/>
              <a:t> </a:t>
            </a:r>
            <a:r>
              <a:rPr dirty="0"/>
              <a:t>learning model</a:t>
            </a:r>
            <a:r>
              <a:rPr lang="en-US" dirty="0"/>
              <a:t>s</a:t>
            </a:r>
            <a:endParaRPr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EDBAC9-EFB0-6D32-EB91-84EC8AA64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lang="en-US" b="1" dirty="0"/>
              <a:t>Introduction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lvl="0" indent="0">
                  <a:buNone/>
                </a:pPr>
                <a:r>
                  <a:rPr dirty="0"/>
                  <a:t>Likelihood is a measure of how likely a </a:t>
                </a:r>
                <a:r>
                  <a:rPr b="1" dirty="0"/>
                  <a:t>parametric model</a:t>
                </a:r>
                <a:r>
                  <a:rPr dirty="0"/>
                  <a:t> is to </a:t>
                </a:r>
                <a:r>
                  <a:rPr b="1" dirty="0"/>
                  <a:t>generate the observed data</a:t>
                </a:r>
              </a:p>
              <a:p>
                <a:pPr lvl="0"/>
                <a:r>
                  <a:rPr dirty="0"/>
                  <a:t>Start with a data sample,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𝐗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dirty="0"/>
              </a:p>
              <a:p>
                <a:pPr lvl="0"/>
                <a:r>
                  <a:rPr dirty="0"/>
                  <a:t>Likelihood of sample from a </a:t>
                </a:r>
                <a:r>
                  <a:rPr b="1" dirty="0"/>
                  <a:t>data generating process</a:t>
                </a:r>
                <a:r>
                  <a:rPr dirty="0"/>
                  <a:t> with a </a:t>
                </a:r>
                <a:r>
                  <a:rPr b="1" dirty="0"/>
                  <a:t>parametric density function</a:t>
                </a:r>
                <a:r>
                  <a:rPr dirty="0"/>
                  <a:t>,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𝐗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endParaRPr dirty="0"/>
              </a:p>
              <a:p>
                <a:pPr lvl="1"/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𝐗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 | 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𝛉</m:t>
                        </m:r>
                      </m:e>
                    </m:d>
                  </m:oMath>
                </a14:m>
                <a:r>
                  <a:rPr dirty="0"/>
                  <a:t> can be either a probability density function (PDF), for continuous distributions, or a probability mass function (PMF)</a:t>
                </a:r>
                <a:r>
                  <a:rPr lang="en-US" dirty="0"/>
                  <a:t> of</a:t>
                </a:r>
                <a:r>
                  <a:rPr dirty="0"/>
                  <a:t> discrete distributions</a:t>
                </a:r>
              </a:p>
              <a:p>
                <a:pPr lvl="1"/>
                <a:r>
                  <a:rPr dirty="0"/>
                  <a:t>The distribution parameter vector,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𝛉</m:t>
                    </m:r>
                  </m:oMath>
                </a14:m>
                <a:r>
                  <a:rPr dirty="0"/>
                  <a:t>, is fixed</a:t>
                </a:r>
              </a:p>
              <a:p>
                <a:pPr lvl="0"/>
                <a:r>
                  <a:rPr lang="en-US" dirty="0"/>
                  <a:t>F</a:t>
                </a:r>
                <a:r>
                  <a:rPr dirty="0"/>
                  <a:t>or each observation,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dirty="0"/>
                  <a:t>, in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𝐗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dirty="0"/>
                  <a:t>, the density is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>
                            <a:latin typeface="Cambria Math" panose="02040503050406030204" pitchFamily="18" charset="0"/>
                          </a:rPr>
                          <m:t>| 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𝛉</m:t>
                        </m:r>
                      </m:e>
                    </m:d>
                  </m:oMath>
                </a14:m>
                <a:endParaRPr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3" t="-23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0EC04B81-38DA-224B-B5D5-ED705C030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lang="en-US" b="1" dirty="0"/>
              <a:t>Likelihood and Density Functions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11170"/>
                <a:ext cx="8229600" cy="3754055"/>
              </a:xfrm>
            </p:spPr>
            <p:txBody>
              <a:bodyPr>
                <a:normAutofit fontScale="77500" lnSpcReduction="20000"/>
              </a:bodyPr>
              <a:lstStyle/>
              <a:p>
                <a:pPr marL="0" lvl="0" indent="0">
                  <a:buNone/>
                </a:pPr>
                <a:r>
                  <a:rPr dirty="0"/>
                  <a:t>Likelihood is a measure of how likely a </a:t>
                </a:r>
                <a:r>
                  <a:rPr b="1" dirty="0"/>
                  <a:t>parametric model</a:t>
                </a:r>
                <a:r>
                  <a:rPr dirty="0"/>
                  <a:t> is to generate the observed data</a:t>
                </a:r>
              </a:p>
              <a:p>
                <a:pPr lvl="0"/>
                <a:r>
                  <a:rPr dirty="0"/>
                  <a:t>Likelihood of sample from a </a:t>
                </a:r>
                <a:r>
                  <a:rPr b="1" dirty="0"/>
                  <a:t>data generating process</a:t>
                </a:r>
                <a:r>
                  <a:rPr dirty="0"/>
                  <a:t> with a </a:t>
                </a:r>
                <a:r>
                  <a:rPr b="1" dirty="0"/>
                  <a:t>parametric probability density</a:t>
                </a:r>
                <a:r>
                  <a:rPr dirty="0"/>
                  <a:t>,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𝐗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endParaRPr dirty="0"/>
              </a:p>
              <a:p>
                <a:pPr lvl="0"/>
                <a:r>
                  <a:rPr dirty="0"/>
                  <a:t>For the set of observations,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𝐗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dirty="0"/>
                  <a:t>, the </a:t>
                </a:r>
                <a:r>
                  <a:rPr b="1" dirty="0"/>
                  <a:t>likelihood is the product of the densities</a:t>
                </a:r>
                <a:r>
                  <a:rPr lang="en-US" b="1" dirty="0"/>
                  <a:t> of each observation</a:t>
                </a:r>
                <a:r>
                  <a:rPr dirty="0"/>
                  <a:t>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>
                          <a:latin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| 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𝛉</m:t>
                          </m:r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limLoc m:val="undOvr"/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nary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𝛉</m:t>
                          </m:r>
                        </m:e>
                      </m:d>
                    </m:oMath>
                  </m:oMathPara>
                </a14:m>
                <a:endParaRPr dirty="0"/>
              </a:p>
              <a:p>
                <a:pPr lvl="0"/>
                <a:r>
                  <a:rPr dirty="0"/>
                  <a:t>In most practical cases, we work with the </a:t>
                </a:r>
                <a:r>
                  <a:rPr b="1" dirty="0"/>
                  <a:t>log likelihood</a:t>
                </a:r>
                <a:r>
                  <a:rPr dirty="0"/>
                  <a:t>, for observations,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𝐗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dirty="0"/>
                  <a:t>, the log likelihood is expressed: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>
                          <a:latin typeface="Cambria Math" panose="02040503050406030204" pitchFamily="18" charset="0"/>
                        </a:rPr>
                        <m:t>𝑙</m:t>
                      </m:r>
                      <m:d>
                        <m:d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| 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𝛉</m:t>
                          </m:r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𝑙𝑜𝑔</m:t>
                      </m:r>
                      <m:d>
                        <m:d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ℒ</m:t>
                          </m:r>
                          <m:d>
                            <m:d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𝐗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| 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𝛉</m:t>
                              </m:r>
                            </m:e>
                          </m:d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</m:nary>
                      <m:r>
                        <a:rPr>
                          <a:latin typeface="Cambria Math" panose="02040503050406030204" pitchFamily="18" charset="0"/>
                        </a:rPr>
                        <m:t>𝑜𝑔</m:t>
                      </m:r>
                      <m:d>
                        <m:d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 | 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𝛉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11170"/>
                <a:ext cx="8229600" cy="3754055"/>
              </a:xfrm>
              <a:blipFill>
                <a:blip r:embed="rId2"/>
                <a:stretch>
                  <a:fillRect l="-667" t="-21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23E2EAAC-BC98-3444-4C03-B2942D64B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lang="en-US" b="1" dirty="0"/>
              <a:t>Likelihood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00150"/>
                <a:ext cx="8229600" cy="3644137"/>
              </a:xfrm>
            </p:spPr>
            <p:txBody>
              <a:bodyPr>
                <a:normAutofit fontScale="92500" lnSpcReduction="20000"/>
              </a:bodyPr>
              <a:lstStyle/>
              <a:p>
                <a:pPr marL="0" lvl="0" indent="0">
                  <a:buNone/>
                </a:pPr>
                <a:r>
                  <a:rPr dirty="0"/>
                  <a:t>Likelihood is a measure of how likely a </a:t>
                </a:r>
                <a:r>
                  <a:rPr b="1" dirty="0"/>
                  <a:t>parametric model</a:t>
                </a:r>
                <a:r>
                  <a:rPr dirty="0"/>
                  <a:t> is to generate the observed data sample</a:t>
                </a:r>
              </a:p>
              <a:p>
                <a:pPr lvl="0"/>
                <a:r>
                  <a:rPr dirty="0"/>
                  <a:t>In most practical cases, we work with the </a:t>
                </a:r>
                <a:r>
                  <a:rPr b="1" dirty="0"/>
                  <a:t>log likelihood</a:t>
                </a:r>
                <a:r>
                  <a:rPr dirty="0"/>
                  <a:t>, for observations,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𝐗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dirty="0"/>
                  <a:t>, the log likelihood is expressed: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>
                          <a:latin typeface="Cambria Math" panose="02040503050406030204" pitchFamily="18" charset="0"/>
                        </a:rPr>
                        <m:t>𝑙</m:t>
                      </m:r>
                      <m:d>
                        <m:d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| 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𝛉</m:t>
                          </m:r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𝑙𝑜𝑔</m:t>
                      </m:r>
                      <m:d>
                        <m:d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ℒ</m:t>
                          </m:r>
                          <m:d>
                            <m:d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𝐗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| 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𝛉</m:t>
                              </m:r>
                            </m:e>
                          </m:d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</m:nary>
                      <m:r>
                        <a:rPr>
                          <a:latin typeface="Cambria Math" panose="02040503050406030204" pitchFamily="18" charset="0"/>
                        </a:rPr>
                        <m:t>𝑜𝑔</m:t>
                      </m:r>
                      <m:d>
                        <m:d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 | 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𝛉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dirty="0"/>
              </a:p>
              <a:p>
                <a:pPr lvl="0"/>
                <a:r>
                  <a:rPr dirty="0"/>
                  <a:t>Use log-likelihood to work with the sum of log probabilities rather than the product</a:t>
                </a:r>
              </a:p>
              <a:p>
                <a:pPr lvl="1"/>
                <a:r>
                  <a:rPr dirty="0"/>
                  <a:t>If the probabilities are small, the sum is numerically stable</a:t>
                </a:r>
              </a:p>
              <a:p>
                <a:pPr lvl="1"/>
                <a:r>
                  <a:rPr dirty="0"/>
                  <a:t>The product of many small numbers is a very small number, which can lead to numerical underflow even for 64 or 128 bit floating point arithmetic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00150"/>
                <a:ext cx="8229600" cy="3644137"/>
              </a:xfrm>
              <a:blipFill>
                <a:blip r:embed="rId2"/>
                <a:stretch>
                  <a:fillRect l="-963" t="-2843" r="-889" b="-8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3BE4B54A-567A-D08B-DA6B-6C7478196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lang="en-US" b="1" dirty="0"/>
              <a:t>Likelihood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63228"/>
                <a:ext cx="8507984" cy="3976131"/>
              </a:xfrm>
            </p:spPr>
            <p:txBody>
              <a:bodyPr>
                <a:normAutofit fontScale="77500" lnSpcReduction="20000"/>
              </a:bodyPr>
              <a:lstStyle/>
              <a:p>
                <a:pPr marL="0" lvl="0" indent="0">
                  <a:buNone/>
                </a:pPr>
                <a:r>
                  <a:rPr dirty="0"/>
                  <a:t>The univariate Normal probability density function with parameter vector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𝛉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</m:d>
                  </m:oMath>
                </a14:m>
                <a:r>
                  <a:rPr dirty="0"/>
                  <a:t> for a single observation,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dirty="0"/>
                  <a:t>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>
                              <a:latin typeface="Cambria Math" panose="02040503050406030204" pitchFamily="18" charset="0"/>
                            </a:rPr>
                            <m:t> | 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sSup>
                                    <m:sSupPr>
                                      <m:ctrlPr>
                                        <a:rPr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1/2</m:t>
                              </m:r>
                            </m:sup>
                          </m:sSup>
                        </m:den>
                      </m:f>
                      <m:r>
                        <a:rPr>
                          <a:latin typeface="Cambria Math" panose="02040503050406030204" pitchFamily="18" charset="0"/>
                        </a:rPr>
                        <m:t>𝑒𝑥𝑝</m:t>
                      </m:r>
                      <m:d>
                        <m:dPr>
                          <m:begChr m:val="["/>
                          <m:endChr m:val="]"/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sSup>
                            <m:sSup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</m:d>
                            </m:e>
                            <m:sup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dirty="0"/>
              </a:p>
              <a:p>
                <a:pPr marL="0" lvl="0" indent="0">
                  <a:buNone/>
                </a:pPr>
                <a:r>
                  <a:rPr dirty="0"/>
                  <a:t>For n observations,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𝐗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dirty="0"/>
                  <a:t>, the likelihood is the </a:t>
                </a:r>
                <a:r>
                  <a:rPr b="1" dirty="0"/>
                  <a:t>product of the densities</a:t>
                </a:r>
                <a:r>
                  <a:rPr dirty="0"/>
                  <a:t>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>
                          <a:latin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| 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𝛉</m:t>
                          </m:r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sSup>
                            <m:sSup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sSup>
                                    <m:sSupPr>
                                      <m:ctrlPr>
                                        <a:rPr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1/2</m:t>
                              </m:r>
                            </m:sup>
                          </m:sSup>
                        </m:den>
                      </m:f>
                      <m:r>
                        <a:rPr>
                          <a:latin typeface="Cambria Math" panose="02040503050406030204" pitchFamily="18" charset="0"/>
                        </a:rPr>
                        <m:t>𝑒𝑥𝑝</m:t>
                      </m:r>
                      <m:d>
                        <m:dPr>
                          <m:begChr m:val="["/>
                          <m:endChr m:val="]"/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nary>
                            <m:naryPr>
                              <m:chr m:val="∏"/>
                              <m:limLoc m:val="undOvr"/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d>
                    </m:oMath>
                  </m:oMathPara>
                </a14:m>
                <a:endParaRPr dirty="0"/>
              </a:p>
              <a:p>
                <a:pPr marL="0" lvl="0" indent="0">
                  <a:buNone/>
                </a:pPr>
                <a:r>
                  <a:rPr dirty="0"/>
                  <a:t>The log-likelihood (log of above) is a lot </a:t>
                </a:r>
                <a:r>
                  <a:rPr dirty="0" err="1"/>
                  <a:t>easiter</a:t>
                </a:r>
                <a:r>
                  <a:rPr dirty="0"/>
                  <a:t> to deal with: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>
                          <a:latin typeface="Cambria Math" panose="02040503050406030204" pitchFamily="18" charset="0"/>
                        </a:rPr>
                        <m:t>𝑙</m:t>
                      </m:r>
                      <m:d>
                        <m:d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 | 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>
                          <a:latin typeface="Cambria Math" panose="02040503050406030204" pitchFamily="18" charset="0"/>
                        </a:rPr>
                        <m:t>𝑙𝑜𝑔</m:t>
                      </m:r>
                      <m:d>
                        <m:d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</m:d>
                            </m:e>
                            <m:sup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dirty="0"/>
              </a:p>
              <a:p>
                <a:pPr marL="0" lvl="0" indent="0">
                  <a:buNone/>
                </a:pPr>
                <a:r>
                  <a:rPr dirty="0"/>
                  <a:t>- The log-likelihood is a function of the parameters, </a:t>
                </a:r>
                <a14:m>
                  <m:oMath xmlns:m="http://schemas.openxmlformats.org/officeDocument/2006/math">
                    <m:d>
                      <m:d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</m:d>
                  </m:oMath>
                </a14:m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63228"/>
                <a:ext cx="8507984" cy="3976131"/>
              </a:xfrm>
              <a:blipFill>
                <a:blip r:embed="rId2"/>
                <a:stretch>
                  <a:fillRect l="-645" t="-19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3E5DC88D-89C8-8A1F-DD1C-40E72C4AB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/>
          <a:p>
            <a:pPr marL="0" lvl="0" indent="0">
              <a:buNone/>
            </a:pPr>
            <a:r>
              <a:rPr lang="en-US" b="1" dirty="0"/>
              <a:t>Example: Normal Likelihood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1" y="1063230"/>
                <a:ext cx="4392592" cy="3922082"/>
              </a:xfrm>
            </p:spPr>
            <p:txBody>
              <a:bodyPr>
                <a:noAutofit/>
              </a:bodyPr>
              <a:lstStyle/>
              <a:p>
                <a:pPr marL="0" lvl="0" indent="0">
                  <a:buNone/>
                </a:pPr>
                <a:r>
                  <a:rPr sz="1700" dirty="0"/>
                  <a:t>An example to illustrate the foregoing concepts</a:t>
                </a:r>
              </a:p>
              <a:p>
                <a:pPr lvl="0"/>
                <a:r>
                  <a:rPr sz="1700" dirty="0"/>
                  <a:t>Plot the likelihood for 5, 10 and 20 samples from a standard Normal distribution</a:t>
                </a:r>
              </a:p>
              <a:p>
                <a:pPr lvl="0"/>
                <a:r>
                  <a:rPr sz="1700" dirty="0"/>
                  <a:t>Vary the parameter </a:t>
                </a:r>
                <a14:m>
                  <m:oMath xmlns:m="http://schemas.openxmlformats.org/officeDocument/2006/math">
                    <m:r>
                      <a:rPr sz="170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sz="1700" dirty="0"/>
                  <a:t>, </a:t>
                </a:r>
                <a:r>
                  <a:rPr lang="en-US" sz="1700" dirty="0"/>
                  <a:t>with</a:t>
                </a:r>
                <a:r>
                  <a:rPr sz="1700" dirty="0"/>
                  <a:t> </a:t>
                </a:r>
                <a14:m>
                  <m:oMath xmlns:m="http://schemas.openxmlformats.org/officeDocument/2006/math">
                    <m:r>
                      <a:rPr sz="170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sz="1700" dirty="0"/>
                  <a:t> fixed and known. The steps are:</a:t>
                </a:r>
              </a:p>
              <a:p>
                <a:pPr lvl="1"/>
                <a:r>
                  <a:rPr sz="1700" dirty="0"/>
                  <a:t>A random sample is drawn from a standard Normal distribution</a:t>
                </a:r>
              </a:p>
              <a:p>
                <a:pPr lvl="1"/>
                <a:r>
                  <a:rPr sz="1700" dirty="0"/>
                  <a:t>For the random sample the log-likelihood is computed at each parameter value</a:t>
                </a:r>
                <a:r>
                  <a:rPr lang="en-US" sz="1700" dirty="0"/>
                  <a:t>, </a:t>
                </a:r>
                <a14:m>
                  <m:oMath xmlns:m="http://schemas.openxmlformats.org/officeDocument/2006/math">
                    <m:r>
                      <a:rPr lang="en-US" sz="1700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endParaRPr sz="17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1" y="1063230"/>
                <a:ext cx="4392592" cy="3922082"/>
              </a:xfrm>
              <a:blipFill>
                <a:blip r:embed="rId2"/>
                <a:stretch>
                  <a:fillRect l="-832" t="-4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 descr="../images/NormalLikelihood.JP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807070" y="1130299"/>
            <a:ext cx="4253977" cy="3352961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5501833" y="4477312"/>
            <a:ext cx="3474333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rPr dirty="0"/>
              <a:t>Normal likelihood at different sample sizes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81468C7-3F6C-A4C5-2556-2E92940D5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/>
          <a:p>
            <a:pPr marL="0" lvl="0" indent="0">
              <a:buNone/>
            </a:pPr>
            <a:r>
              <a:rPr lang="en-US" b="1" dirty="0"/>
              <a:t>Example: Normal Likelihood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6FFED-F9EB-39B1-F2D5-A59FBAE67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C91010-0FE5-E111-B439-57D36CF1B0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1" y="1063230"/>
            <a:ext cx="4392592" cy="3922082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sz="1700" dirty="0"/>
              <a:t>An example to illustrate the foregoing concepts</a:t>
            </a:r>
          </a:p>
          <a:p>
            <a:pPr lvl="0"/>
            <a:r>
              <a:rPr sz="1700" dirty="0"/>
              <a:t>Plot the likelihood for 5, 10 and 20 samples from a standard Normal distribution</a:t>
            </a:r>
          </a:p>
          <a:p>
            <a:pPr lvl="0"/>
            <a:r>
              <a:rPr sz="1700" dirty="0"/>
              <a:t>Notice that as the number of observations increases so does the curvature of the likelihood.</a:t>
            </a:r>
            <a:endParaRPr lang="en-US" sz="1700" dirty="0"/>
          </a:p>
          <a:p>
            <a:pPr lvl="1"/>
            <a:r>
              <a:rPr lang="en-US" sz="1700" dirty="0"/>
              <a:t>Larger sample leads to less uncertainty in parameter estimate</a:t>
            </a:r>
          </a:p>
          <a:p>
            <a:pPr lvl="1"/>
            <a:r>
              <a:rPr lang="en-US" sz="1700" dirty="0"/>
              <a:t>Confidence interval decreases with increasing curvature!</a:t>
            </a:r>
          </a:p>
          <a:p>
            <a:pPr lvl="1"/>
            <a:r>
              <a:rPr lang="en-US" sz="1700" dirty="0"/>
              <a:t>A consequent of the law of large numbers</a:t>
            </a:r>
            <a:endParaRPr sz="1700" dirty="0"/>
          </a:p>
        </p:txBody>
      </p:sp>
      <p:pic>
        <p:nvPicPr>
          <p:cNvPr id="2" name="Picture 1" descr="../images/NormalLikelihood.JPG">
            <a:extLst>
              <a:ext uri="{FF2B5EF4-FFF2-40B4-BE49-F238E27FC236}">
                <a16:creationId xmlns:a16="http://schemas.microsoft.com/office/drawing/2014/main" id="{71008080-1148-5BDC-A657-3F4EDF9884ED}"/>
              </a:ext>
            </a:extLst>
          </p:cNvPr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807070" y="1130299"/>
            <a:ext cx="4253977" cy="3352961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BC89F02-FCC0-A694-F4F7-61492A7B6165}"/>
              </a:ext>
            </a:extLst>
          </p:cNvPr>
          <p:cNvSpPr txBox="1"/>
          <p:nvPr/>
        </p:nvSpPr>
        <p:spPr>
          <a:xfrm>
            <a:off x="5501833" y="4477312"/>
            <a:ext cx="3474333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rPr dirty="0"/>
              <a:t>Normal likelihood at different sample sizes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18F662A-AFE1-4714-E087-5C69CD39B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/>
          <a:p>
            <a:pPr marL="0" lvl="0" indent="0">
              <a:buNone/>
            </a:pPr>
            <a:r>
              <a:rPr lang="en-US" b="1" dirty="0"/>
              <a:t>Example: Normal Likelihood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677305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00151"/>
                <a:ext cx="8229600" cy="3737370"/>
              </a:xfrm>
            </p:spPr>
            <p:txBody>
              <a:bodyPr>
                <a:normAutofit fontScale="85000" lnSpcReduction="10000"/>
              </a:bodyPr>
              <a:lstStyle/>
              <a:p>
                <a:pPr marL="0" lvl="0" indent="0">
                  <a:buNone/>
                </a:pPr>
                <a:r>
                  <a:rPr lang="en-US" dirty="0"/>
                  <a:t>Example of log-likelihood for the Binomial distribution</a:t>
                </a:r>
              </a:p>
              <a:p>
                <a:pPr lvl="0"/>
                <a:r>
                  <a:rPr lang="en-US" dirty="0"/>
                  <a:t>Binomial distribution models </a:t>
                </a:r>
                <a:r>
                  <a:rPr lang="en-US" b="1" dirty="0"/>
                  <a:t>discrete events</a:t>
                </a:r>
              </a:p>
              <a:p>
                <a:pPr lvl="0"/>
                <a:r>
                  <a:rPr lang="en-US" dirty="0"/>
                  <a:t>Range of the single parameter,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dirty="0"/>
                  <a:t>, restricted to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0≤</m:t>
                    </m:r>
                    <m:r>
                      <a:rPr>
                        <a:latin typeface="Cambria Math" panose="02040503050406030204" pitchFamily="18" charset="0"/>
                      </a:rPr>
                      <m:t>𝜋</m:t>
                    </m:r>
                    <m:r>
                      <a:rPr>
                        <a:latin typeface="Cambria Math" panose="02040503050406030204" pitchFamily="18" charset="0"/>
                      </a:rPr>
                      <m:t>≤1</m:t>
                    </m:r>
                  </m:oMath>
                </a14:m>
                <a:endParaRPr lang="en-US" dirty="0"/>
              </a:p>
              <a:p>
                <a:pPr lvl="0"/>
                <a:r>
                  <a:rPr lang="en-US" dirty="0"/>
                  <a:t>Binomial distribution has the following probability mass function (PMF) for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successes in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trials: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 | 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sSup>
                        <m:sSup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d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lvl="0"/>
                <a:r>
                  <a:rPr lang="en-US" dirty="0"/>
                  <a:t>Log-likelihood is easily found: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>
                          <a:latin typeface="Cambria Math" panose="02040503050406030204" pitchFamily="18" charset="0"/>
                        </a:rPr>
                        <m:t>𝑙</m:t>
                      </m:r>
                      <m:d>
                        <m:d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 | 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𝑙𝑜𝑔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+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>
                          <a:latin typeface="Cambria Math" panose="02040503050406030204" pitchFamily="18" charset="0"/>
                        </a:rPr>
                        <m:t> 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𝑙𝑜𝑔</m:t>
                      </m:r>
                      <m:d>
                        <m:d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 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𝑙𝑜𝑔</m:t>
                      </m:r>
                      <m:d>
                        <m:d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lvl="0"/>
                <a:r>
                  <a:rPr lang="en-US" dirty="0"/>
                  <a:t>Binomial log-likelihood has a strong dependence on both the sample size,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and the number of successes,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00151"/>
                <a:ext cx="8229600" cy="3737370"/>
              </a:xfrm>
              <a:blipFill>
                <a:blip r:embed="rId2"/>
                <a:stretch>
                  <a:fillRect l="-741" t="-1794" r="-1259" b="-11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78F28DAE-3A00-FE6A-5496-D8DFB249D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/>
          <a:p>
            <a:pPr marL="0" lvl="0" indent="0">
              <a:buNone/>
            </a:pPr>
            <a:r>
              <a:rPr lang="en-US" b="1" dirty="0"/>
              <a:t>Example: Binomial Likelihood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00150"/>
                <a:ext cx="4199681" cy="3692083"/>
              </a:xfrm>
            </p:spPr>
            <p:txBody>
              <a:bodyPr>
                <a:normAutofit fontScale="92500" lnSpcReduction="20000"/>
              </a:bodyPr>
              <a:lstStyle/>
              <a:p>
                <a:pPr marL="0" lvl="0" indent="0">
                  <a:spcBef>
                    <a:spcPts val="3000"/>
                  </a:spcBef>
                  <a:buNone/>
                </a:pPr>
                <a:r>
                  <a:rPr lang="en-US" b="1" dirty="0"/>
                  <a:t>Example</a:t>
                </a:r>
              </a:p>
              <a:p>
                <a:pPr marL="0" lvl="0" indent="0">
                  <a:buNone/>
                </a:pPr>
                <a:r>
                  <a:rPr lang="en-US" dirty="0"/>
                  <a:t>Likelihood is a measure of how likely a </a:t>
                </a:r>
                <a:r>
                  <a:rPr lang="en-US" b="1" dirty="0"/>
                  <a:t>parametric model</a:t>
                </a:r>
                <a:r>
                  <a:rPr lang="en-US" dirty="0"/>
                  <a:t> is to generate the observed data sample</a:t>
                </a:r>
              </a:p>
              <a:p>
                <a:pPr lvl="0"/>
                <a:r>
                  <a:rPr lang="en-US" dirty="0"/>
                  <a:t>Binomial likelihood for sample sizes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25, 50, 100</m:t>
                        </m:r>
                      </m:e>
                    </m:d>
                  </m:oMath>
                </a14:m>
                <a:r>
                  <a:rPr lang="ar-AE" dirty="0"/>
                  <a:t> </a:t>
                </a:r>
                <a:r>
                  <a:rPr lang="en-US" dirty="0"/>
                  <a:t>with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lang="en-US" dirty="0"/>
              </a:p>
              <a:p>
                <a:pPr lvl="0"/>
                <a:r>
                  <a:rPr lang="en-US" dirty="0"/>
                  <a:t>Notice the variability in the likelihood curve for smaller samples</a:t>
                </a:r>
              </a:p>
              <a:p>
                <a:pPr lvl="0"/>
                <a:r>
                  <a:rPr lang="en-US" dirty="0"/>
                  <a:t>Likelihood has </a:t>
                </a:r>
                <a:r>
                  <a:rPr lang="en-US" b="1" dirty="0"/>
                  <a:t>stronger curvature for larger samples</a:t>
                </a:r>
                <a:r>
                  <a:rPr lang="en-US" dirty="0"/>
                  <a:t> - less uncertainty for maximum</a:t>
                </a:r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00150"/>
                <a:ext cx="4199681" cy="3692083"/>
              </a:xfrm>
              <a:blipFill>
                <a:blip r:embed="rId2"/>
                <a:stretch>
                  <a:fillRect l="-1887" t="-2805" r="-1742" b="-3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 descr="../images/BinomialLikelihood.PN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752057" y="1697023"/>
            <a:ext cx="4363649" cy="2381126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5031128" y="3943189"/>
            <a:ext cx="4134735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rPr dirty="0"/>
              <a:t>Binomial likelihood at different sample sizes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B499E3B-4A1A-0C9E-50AA-33AFAC969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/>
          <a:p>
            <a:pPr marL="0" lvl="0" indent="0">
              <a:buNone/>
            </a:pPr>
            <a:r>
              <a:rPr lang="en-US" b="1" dirty="0"/>
              <a:t>Example: Binomial Likelihood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773725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533895"/>
          </a:xfrm>
        </p:spPr>
        <p:txBody>
          <a:bodyPr>
            <a:normAutofit fontScale="92500" lnSpcReduction="20000"/>
          </a:bodyPr>
          <a:lstStyle/>
          <a:p>
            <a:pPr marL="0" lvl="0" indent="0">
              <a:buNone/>
            </a:pPr>
            <a:r>
              <a:rPr b="1" dirty="0"/>
              <a:t>Maximum likelihood estimator (MLE)</a:t>
            </a:r>
            <a:r>
              <a:rPr dirty="0"/>
              <a:t> is a foundational tool for much of statistical inference and machine learning</a:t>
            </a:r>
          </a:p>
          <a:p>
            <a:pPr lvl="0"/>
            <a:r>
              <a:rPr dirty="0"/>
              <a:t>Given a log-likelihood function, find the model parameters which maximize it</a:t>
            </a:r>
          </a:p>
          <a:p>
            <a:pPr lvl="0"/>
            <a:r>
              <a:rPr dirty="0"/>
              <a:t>Further, knowing the distribution allows us to quantify the uncertainty of the MLE parameter estimates</a:t>
            </a:r>
          </a:p>
          <a:p>
            <a:pPr lvl="0"/>
            <a:r>
              <a:rPr dirty="0"/>
              <a:t>The model parameter estimates found by MLE are Normal for large samples, a remarkable property</a:t>
            </a:r>
          </a:p>
          <a:p>
            <a:pPr lvl="0"/>
            <a:r>
              <a:rPr dirty="0"/>
              <a:t>The MLE is a </a:t>
            </a:r>
            <a:r>
              <a:rPr b="1" dirty="0"/>
              <a:t>point estimator</a:t>
            </a:r>
            <a:r>
              <a:rPr lang="en-US" dirty="0"/>
              <a:t>, computes a single real valued vector</a:t>
            </a:r>
            <a:endParaRPr b="1" dirty="0"/>
          </a:p>
          <a:p>
            <a:pPr lvl="0"/>
            <a:r>
              <a:rPr dirty="0"/>
              <a:t>An estimate of a single parameter value, or point value, with the highest likelihood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79849E-EC0F-B14C-A07F-EBD16D7C6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/>
          <a:p>
            <a:pPr marL="0" lvl="0" indent="0">
              <a:buNone/>
            </a:pPr>
            <a:r>
              <a:rPr lang="en-US" b="1" dirty="0"/>
              <a:t>Maximum Likelihood Estimator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63229"/>
                <a:ext cx="8229600" cy="3874292"/>
              </a:xfrm>
            </p:spPr>
            <p:txBody>
              <a:bodyPr>
                <a:noAutofit/>
              </a:bodyPr>
              <a:lstStyle/>
              <a:p>
                <a:pPr marL="0" lvl="0" indent="0">
                  <a:buNone/>
                </a:pPr>
                <a:r>
                  <a:rPr lang="en-US" sz="1600" dirty="0"/>
                  <a:t>The maximum likelihood for the model parameters is achieved when two conditions are met: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ar-AE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16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ar-AE" sz="16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ar-AE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den>
                      </m:f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1600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ar-AE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ar-AE" sz="16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16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2 </m:t>
                              </m:r>
                            </m:sup>
                          </m:s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p>
                            <m:sSupPr>
                              <m:ctrlPr>
                                <a:rPr lang="ar-AE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den>
                      </m:f>
                      <m:r>
                        <a:rPr lang="ar-AE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ar-AE" sz="1600" dirty="0"/>
              </a:p>
              <a:p>
                <a:pPr marL="0" lvl="0" indent="0">
                  <a:buNone/>
                </a:pPr>
                <a:r>
                  <a:rPr lang="en-US" sz="1600" dirty="0"/>
                  <a:t>Interpret these two conditions:</a:t>
                </a:r>
              </a:p>
              <a:p>
                <a:pPr lvl="0">
                  <a:spcBef>
                    <a:spcPts val="0"/>
                  </a:spcBef>
                </a:pPr>
                <a:r>
                  <a:rPr lang="en-US" sz="1600" dirty="0"/>
                  <a:t>First derivative of log-likelihood function, or slope, is </a:t>
                </a:r>
                <a:r>
                  <a:rPr lang="en-US" sz="1600" b="1" dirty="0"/>
                  <a:t>0 at either maximum or minimum point</a:t>
                </a:r>
                <a:r>
                  <a:rPr lang="en-US" sz="1600" dirty="0"/>
                  <a:t>:</a:t>
                </a:r>
              </a:p>
              <a:p>
                <a:pPr lvl="1">
                  <a:spcBef>
                    <a:spcPts val="0"/>
                  </a:spcBef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ar-AE" sz="160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sz="160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</m:oMath>
                </a14:m>
                <a:r>
                  <a:rPr lang="ar-AE" sz="1600" dirty="0"/>
                  <a:t> </a:t>
                </a:r>
                <a:r>
                  <a:rPr lang="en-US" sz="1600" dirty="0"/>
                  <a:t>is a vector of model parameters</a:t>
                </a:r>
              </a:p>
              <a:p>
                <a:pPr lvl="1">
                  <a:spcBef>
                    <a:spcPts val="0"/>
                  </a:spcBef>
                </a:pPr>
                <a:r>
                  <a:rPr lang="en-US" sz="1600" dirty="0"/>
                  <a:t>Partial derivatives of log-likelihood are a vector - the </a:t>
                </a:r>
                <a:r>
                  <a:rPr lang="en-US" sz="1600" b="1" dirty="0"/>
                  <a:t>gradient with respect to the model parameters</a:t>
                </a:r>
                <a:endParaRPr lang="en-US" sz="1600" dirty="0"/>
              </a:p>
              <a:p>
                <a:pPr lvl="1">
                  <a:spcBef>
                    <a:spcPts val="0"/>
                  </a:spcBef>
                </a:pPr>
                <a:r>
                  <a:rPr lang="en-US" sz="1600" dirty="0"/>
                  <a:t>Gradient of the log-likelihood are known as the </a:t>
                </a:r>
                <a:r>
                  <a:rPr lang="en-US" sz="1600" b="1" dirty="0"/>
                  <a:t>score function</a:t>
                </a:r>
              </a:p>
              <a:p>
                <a:pPr lvl="0">
                  <a:spcBef>
                    <a:spcPts val="0"/>
                  </a:spcBef>
                </a:pPr>
                <a:r>
                  <a:rPr lang="en-US" sz="1600" dirty="0"/>
                  <a:t>The second derivatives of the log-likelihood indicates the </a:t>
                </a:r>
                <a:r>
                  <a:rPr lang="en-US" sz="1600" b="1" dirty="0"/>
                  <a:t>curvature</a:t>
                </a:r>
              </a:p>
              <a:p>
                <a:pPr lvl="1">
                  <a:spcBef>
                    <a:spcPts val="0"/>
                  </a:spcBef>
                </a:pPr>
                <a:r>
                  <a:rPr lang="en-US" sz="1600" dirty="0"/>
                  <a:t>Maximum has negative curvature</a:t>
                </a:r>
              </a:p>
              <a:p>
                <a:pPr lvl="1">
                  <a:spcBef>
                    <a:spcPts val="0"/>
                  </a:spcBef>
                </a:pPr>
                <a:r>
                  <a:rPr lang="en-US" sz="1600" dirty="0"/>
                  <a:t>Minimum has positive curvature</a:t>
                </a:r>
                <a:endParaRPr sz="16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63229"/>
                <a:ext cx="8229600" cy="3874292"/>
              </a:xfrm>
              <a:blipFill>
                <a:blip r:embed="rId2"/>
                <a:stretch>
                  <a:fillRect l="-370" t="-472" b="-3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38EED360-22D7-4654-D5E6-5D4F52693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/>
          <a:p>
            <a:pPr marL="0" lvl="0" indent="0">
              <a:buNone/>
            </a:pPr>
            <a:r>
              <a:rPr lang="en-US" b="1" dirty="0"/>
              <a:t>Maximum Likelihood Estimator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987707"/>
                <a:ext cx="8229600" cy="4054996"/>
              </a:xfrm>
            </p:spPr>
            <p:txBody>
              <a:bodyPr>
                <a:noAutofit/>
              </a:bodyPr>
              <a:lstStyle/>
              <a:p>
                <a:pPr marL="0" lvl="0" indent="0">
                  <a:buNone/>
                </a:pPr>
                <a:r>
                  <a:rPr sz="1500" dirty="0"/>
                  <a:t>The maximum likelihood estimator has useful and desirable properties</a:t>
                </a:r>
              </a:p>
              <a:p>
                <a:pPr lvl="0"/>
                <a:r>
                  <a:rPr sz="1500" dirty="0"/>
                  <a:t>Start with a matrix of second partial derivatives of the log-likelihood function</a:t>
                </a:r>
              </a:p>
              <a:p>
                <a:pPr lvl="0"/>
                <a:r>
                  <a:rPr sz="1500" dirty="0"/>
                  <a:t>Matrix is the </a:t>
                </a:r>
                <a:r>
                  <a:rPr sz="1500" b="1" dirty="0"/>
                  <a:t>observed information matrix</a:t>
                </a:r>
                <a:r>
                  <a:rPr sz="1500" dirty="0"/>
                  <a:t> of the model, </a:t>
                </a:r>
                <a14:m>
                  <m:oMath xmlns:m="http://schemas.openxmlformats.org/officeDocument/2006/math">
                    <m:r>
                      <a:rPr sz="1500">
                        <a:latin typeface="Cambria Math" panose="02040503050406030204" pitchFamily="18" charset="0"/>
                      </a:rPr>
                      <m:t>ℐ</m:t>
                    </m:r>
                    <m:d>
                      <m:dPr>
                        <m:ctrlPr>
                          <a:rPr sz="15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sz="150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sz="150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</m:d>
                  </m:oMath>
                </a14:m>
                <a:r>
                  <a:rPr sz="1500" dirty="0"/>
                  <a:t>.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1500">
                          <a:latin typeface="Cambria Math" panose="02040503050406030204" pitchFamily="18" charset="0"/>
                        </a:rPr>
                        <m:t>ℐ</m:t>
                      </m:r>
                      <m:d>
                        <m:dPr>
                          <m:ctrlPr>
                            <a:rPr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sz="150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sz="150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</m:d>
                      <m:r>
                        <a:rPr sz="15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sz="15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sz="15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sz="150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sz="1500"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</m:e>
                                      <m:sup>
                                        <m:r>
                                          <a:rPr sz="150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sz="150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d>
                                      <m:dPr>
                                        <m:ctrlPr>
                                          <a:rPr sz="150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sz="1500">
                                            <a:latin typeface="Cambria Math" panose="02040503050406030204" pitchFamily="18" charset="0"/>
                                          </a:rPr>
                                          <m:t>𝐗</m:t>
                                        </m:r>
                                        <m:r>
                                          <a:rPr sz="1500">
                                            <a:latin typeface="Cambria Math" panose="02040503050406030204" pitchFamily="18" charset="0"/>
                                          </a:rPr>
                                          <m:t> | </m:t>
                                        </m:r>
                                        <m:r>
                                          <a:rPr sz="1500">
                                            <a:latin typeface="Cambria Math" panose="02040503050406030204" pitchFamily="18" charset="0"/>
                                          </a:rPr>
                                          <m:t>𝛉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sz="150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Sup>
                                      <m:sSubSupPr>
                                        <m:ctrlPr>
                                          <a:rPr sz="150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sz="1500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sz="150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r>
                                          <a:rPr sz="150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sz="15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sz="150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sz="1500"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</m:e>
                                      <m:sup>
                                        <m:r>
                                          <a:rPr sz="150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sz="150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d>
                                      <m:dPr>
                                        <m:ctrlPr>
                                          <a:rPr sz="150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sz="1500">
                                            <a:latin typeface="Cambria Math" panose="02040503050406030204" pitchFamily="18" charset="0"/>
                                          </a:rPr>
                                          <m:t>𝐗</m:t>
                                        </m:r>
                                        <m:r>
                                          <a:rPr sz="1500">
                                            <a:latin typeface="Cambria Math" panose="02040503050406030204" pitchFamily="18" charset="0"/>
                                          </a:rPr>
                                          <m:t> | </m:t>
                                        </m:r>
                                        <m:r>
                                          <a:rPr sz="1500">
                                            <a:latin typeface="Cambria Math" panose="02040503050406030204" pitchFamily="18" charset="0"/>
                                          </a:rPr>
                                          <m:t>𝛉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sz="150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sz="150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sz="1500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sz="150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sz="1500">
                                        <a:latin typeface="Cambria Math" panose="02040503050406030204" pitchFamily="18" charset="0"/>
                                      </a:rPr>
                                      <m:t> </m:t>
                                    </m:r>
                                    <m:r>
                                      <a:rPr sz="150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sz="150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sz="1500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sz="150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r>
                                  <a:rPr sz="150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sz="15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sz="150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sz="1500"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</m:e>
                                      <m:sup>
                                        <m:r>
                                          <a:rPr sz="150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sz="150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d>
                                      <m:dPr>
                                        <m:ctrlPr>
                                          <a:rPr sz="150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sz="1500">
                                            <a:latin typeface="Cambria Math" panose="02040503050406030204" pitchFamily="18" charset="0"/>
                                          </a:rPr>
                                          <m:t>𝐗</m:t>
                                        </m:r>
                                        <m:r>
                                          <a:rPr sz="1500">
                                            <a:latin typeface="Cambria Math" panose="02040503050406030204" pitchFamily="18" charset="0"/>
                                          </a:rPr>
                                          <m:t> | </m:t>
                                        </m:r>
                                        <m:r>
                                          <a:rPr sz="1500">
                                            <a:latin typeface="Cambria Math" panose="02040503050406030204" pitchFamily="18" charset="0"/>
                                          </a:rPr>
                                          <m:t>𝛉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sz="150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sz="150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sz="1500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sz="150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  <m:r>
                                      <a:rPr sz="1500">
                                        <a:latin typeface="Cambria Math" panose="02040503050406030204" pitchFamily="18" charset="0"/>
                                      </a:rPr>
                                      <m:t> </m:t>
                                    </m:r>
                                    <m:r>
                                      <a:rPr sz="150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sz="150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sz="1500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sz="150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sz="15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sz="150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sz="1500"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</m:e>
                                      <m:sup>
                                        <m:r>
                                          <a:rPr sz="150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sz="150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d>
                                      <m:dPr>
                                        <m:ctrlPr>
                                          <a:rPr sz="150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sz="1500">
                                            <a:latin typeface="Cambria Math" panose="02040503050406030204" pitchFamily="18" charset="0"/>
                                          </a:rPr>
                                          <m:t>𝐗</m:t>
                                        </m:r>
                                        <m:r>
                                          <a:rPr sz="1500">
                                            <a:latin typeface="Cambria Math" panose="02040503050406030204" pitchFamily="18" charset="0"/>
                                          </a:rPr>
                                          <m:t> | </m:t>
                                        </m:r>
                                        <m:r>
                                          <a:rPr sz="1500">
                                            <a:latin typeface="Cambria Math" panose="02040503050406030204" pitchFamily="18" charset="0"/>
                                          </a:rPr>
                                          <m:t>𝛉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sz="150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sz="150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sz="1500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sz="150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sz="1500">
                                        <a:latin typeface="Cambria Math" panose="02040503050406030204" pitchFamily="18" charset="0"/>
                                      </a:rPr>
                                      <m:t> </m:t>
                                    </m:r>
                                    <m:r>
                                      <a:rPr sz="150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sz="150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sz="1500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sz="150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sz="15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sz="150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sz="1500"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</m:e>
                                      <m:sup>
                                        <m:r>
                                          <a:rPr sz="150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sz="150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d>
                                      <m:dPr>
                                        <m:ctrlPr>
                                          <a:rPr sz="150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sz="1500">
                                            <a:latin typeface="Cambria Math" panose="02040503050406030204" pitchFamily="18" charset="0"/>
                                          </a:rPr>
                                          <m:t>𝐗</m:t>
                                        </m:r>
                                        <m:r>
                                          <a:rPr sz="1500">
                                            <a:latin typeface="Cambria Math" panose="02040503050406030204" pitchFamily="18" charset="0"/>
                                          </a:rPr>
                                          <m:t> | </m:t>
                                        </m:r>
                                        <m:r>
                                          <a:rPr sz="1500">
                                            <a:latin typeface="Cambria Math" panose="02040503050406030204" pitchFamily="18" charset="0"/>
                                          </a:rPr>
                                          <m:t>𝛉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sz="150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Sup>
                                      <m:sSubSupPr>
                                        <m:ctrlPr>
                                          <a:rPr sz="150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sz="1500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sz="150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  <m:sup>
                                        <m:r>
                                          <a:rPr sz="150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den>
                                </m:f>
                              </m:e>
                              <m:e>
                                <m:r>
                                  <a:rPr sz="150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sz="15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sz="150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sz="1500"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</m:e>
                                      <m:sup>
                                        <m:r>
                                          <a:rPr sz="150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sz="150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d>
                                      <m:dPr>
                                        <m:ctrlPr>
                                          <a:rPr sz="150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sz="1500">
                                            <a:latin typeface="Cambria Math" panose="02040503050406030204" pitchFamily="18" charset="0"/>
                                          </a:rPr>
                                          <m:t>𝐗</m:t>
                                        </m:r>
                                        <m:r>
                                          <a:rPr sz="1500">
                                            <a:latin typeface="Cambria Math" panose="02040503050406030204" pitchFamily="18" charset="0"/>
                                          </a:rPr>
                                          <m:t> | </m:t>
                                        </m:r>
                                        <m:r>
                                          <a:rPr sz="1500">
                                            <a:latin typeface="Cambria Math" panose="02040503050406030204" pitchFamily="18" charset="0"/>
                                          </a:rPr>
                                          <m:t>𝛉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sz="150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sz="150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sz="1500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sz="150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sz="1500">
                                        <a:latin typeface="Cambria Math" panose="02040503050406030204" pitchFamily="18" charset="0"/>
                                      </a:rPr>
                                      <m:t> </m:t>
                                    </m:r>
                                    <m:r>
                                      <a:rPr sz="150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sz="150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sz="1500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sz="150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sz="150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sz="150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sz="150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sz="150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sz="15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sz="150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sz="1500"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</m:e>
                                      <m:sup>
                                        <m:r>
                                          <a:rPr sz="150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sz="150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d>
                                      <m:dPr>
                                        <m:ctrlPr>
                                          <a:rPr sz="150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sz="1500">
                                            <a:latin typeface="Cambria Math" panose="02040503050406030204" pitchFamily="18" charset="0"/>
                                          </a:rPr>
                                          <m:t>𝐗</m:t>
                                        </m:r>
                                        <m:r>
                                          <a:rPr sz="1500">
                                            <a:latin typeface="Cambria Math" panose="02040503050406030204" pitchFamily="18" charset="0"/>
                                          </a:rPr>
                                          <m:t> | </m:t>
                                        </m:r>
                                        <m:r>
                                          <a:rPr sz="1500">
                                            <a:latin typeface="Cambria Math" panose="02040503050406030204" pitchFamily="18" charset="0"/>
                                          </a:rPr>
                                          <m:t>𝛉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sz="150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sz="150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sz="1500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sz="150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  <m:r>
                                      <a:rPr sz="1500">
                                        <a:latin typeface="Cambria Math" panose="02040503050406030204" pitchFamily="18" charset="0"/>
                                      </a:rPr>
                                      <m:t> </m:t>
                                    </m:r>
                                    <m:r>
                                      <a:rPr sz="150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sz="150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sz="1500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sz="150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sz="15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sz="150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sz="1500"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</m:e>
                                      <m:sup>
                                        <m:r>
                                          <a:rPr sz="150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sz="150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d>
                                      <m:dPr>
                                        <m:ctrlPr>
                                          <a:rPr sz="150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sz="1500">
                                            <a:latin typeface="Cambria Math" panose="02040503050406030204" pitchFamily="18" charset="0"/>
                                          </a:rPr>
                                          <m:t>𝐗</m:t>
                                        </m:r>
                                        <m:r>
                                          <a:rPr sz="1500">
                                            <a:latin typeface="Cambria Math" panose="02040503050406030204" pitchFamily="18" charset="0"/>
                                          </a:rPr>
                                          <m:t> | </m:t>
                                        </m:r>
                                        <m:r>
                                          <a:rPr sz="1500">
                                            <a:latin typeface="Cambria Math" panose="02040503050406030204" pitchFamily="18" charset="0"/>
                                          </a:rPr>
                                          <m:t>𝛉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sz="150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sz="150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sz="1500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sz="150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  <m:r>
                                      <a:rPr sz="1500">
                                        <a:latin typeface="Cambria Math" panose="02040503050406030204" pitchFamily="18" charset="0"/>
                                      </a:rPr>
                                      <m:t> </m:t>
                                    </m:r>
                                    <m:r>
                                      <a:rPr sz="150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sz="150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sz="1500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sz="150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r>
                                  <a:rPr sz="150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sz="15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sz="150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sz="1500"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</m:e>
                                      <m:sup>
                                        <m:r>
                                          <a:rPr sz="150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sz="150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d>
                                      <m:dPr>
                                        <m:ctrlPr>
                                          <a:rPr sz="150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sz="1500">
                                            <a:latin typeface="Cambria Math" panose="02040503050406030204" pitchFamily="18" charset="0"/>
                                          </a:rPr>
                                          <m:t>𝐗</m:t>
                                        </m:r>
                                        <m:r>
                                          <a:rPr sz="1500">
                                            <a:latin typeface="Cambria Math" panose="02040503050406030204" pitchFamily="18" charset="0"/>
                                          </a:rPr>
                                          <m:t> | </m:t>
                                        </m:r>
                                        <m:r>
                                          <a:rPr sz="1500">
                                            <a:latin typeface="Cambria Math" panose="02040503050406030204" pitchFamily="18" charset="0"/>
                                          </a:rPr>
                                          <m:t>𝛉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sz="150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Sup>
                                      <m:sSubSupPr>
                                        <m:ctrlPr>
                                          <a:rPr sz="150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sz="1500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sz="150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  <m:sup>
                                        <m:r>
                                          <a:rPr sz="150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sz="1500" dirty="0"/>
              </a:p>
              <a:p>
                <a:pPr marL="0" lvl="0" indent="0">
                  <a:buNone/>
                </a:pPr>
                <a:r>
                  <a:rPr sz="1500" dirty="0"/>
                  <a:t>Useful properties of the information matrix</a:t>
                </a:r>
              </a:p>
              <a:p>
                <a:pPr lvl="0"/>
                <a:r>
                  <a:rPr sz="1500" dirty="0"/>
                  <a:t>The more negative the values of the second partial derivatives, the greater the curvature of the log-likelihood</a:t>
                </a:r>
              </a:p>
              <a:p>
                <a:pPr lvl="1"/>
                <a:r>
                  <a:rPr sz="1500" dirty="0"/>
                  <a:t>Narrow peak implies that the information on parameter values is high</a:t>
                </a:r>
              </a:p>
              <a:p>
                <a:pPr lvl="1"/>
                <a:r>
                  <a:rPr sz="1500" dirty="0"/>
                  <a:t>The matrix is symmetric, or information is symmetric around the maximum likelihood point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87707"/>
                <a:ext cx="8229600" cy="4054996"/>
              </a:xfrm>
              <a:blipFill>
                <a:blip r:embed="rId2"/>
                <a:stretch>
                  <a:fillRect l="-296" t="-301" b="-3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5953BB9B-05E7-F945-3EB8-5B88C6B03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lang="en-US" b="1" dirty="0"/>
              <a:t>Fisher information and properties of MLE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lvl="0" indent="0">
                  <a:buNone/>
                </a:pPr>
                <a:r>
                  <a:rPr lang="en-US" dirty="0"/>
                  <a:t>Can one consider the information of the MLE before sampling data or performing an experiment?</a:t>
                </a:r>
              </a:p>
              <a:p>
                <a:pPr lvl="0"/>
                <a:r>
                  <a:rPr lang="en-US" dirty="0"/>
                  <a:t>Can use the </a:t>
                </a:r>
                <a:r>
                  <a:rPr lang="en-US" b="1" dirty="0"/>
                  <a:t>expected information</a:t>
                </a:r>
                <a:r>
                  <a:rPr lang="en-US" dirty="0"/>
                  <a:t> or </a:t>
                </a:r>
                <a:r>
                  <a:rPr lang="en-US" b="1" dirty="0"/>
                  <a:t>Fisher information</a:t>
                </a:r>
              </a:p>
              <a:p>
                <a:pPr lvl="0"/>
                <a:r>
                  <a:rPr lang="en-US" dirty="0"/>
                  <a:t>Fisher information is the expectation over the second derivative of the observed information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>
                          <a:latin typeface="Cambria Math" panose="02040503050406030204" pitchFamily="18" charset="0"/>
                        </a:rPr>
                        <m:t>𝒥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𝐄</m:t>
                      </m:r>
                      <m:d>
                        <m:dPr>
                          <m:begChr m:val="{"/>
                          <m:endChr m:val="}"/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ℐ</m:t>
                          </m:r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ar-AE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acc>
                            </m:e>
                          </m:d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𝐄</m:t>
                      </m:r>
                      <m:d>
                        <m:dPr>
                          <m:begChr m:val="{"/>
                          <m:endChr m:val="}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ar-AE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</m:e>
                                <m:sup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 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d>
                                <m:dPr>
                                  <m:ctrlPr>
                                    <a:rPr lang="ar-AE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𝐗</m:t>
                                  </m:r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 | </m:t>
                                  </m:r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𝛉</m:t>
                                  </m:r>
                                </m:e>
                              </m:d>
                            </m:num>
                            <m:den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p>
                                <m:sSupPr>
                                  <m:ctrlPr>
                                    <a:rPr lang="ar-AE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p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11" t="-14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EF196208-A607-D181-6435-41634D809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lang="en-US" b="1" dirty="0"/>
              <a:t>Fisher information and properties of MLE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 marL="0" lvl="0" indent="0">
                  <a:buNone/>
                </a:pPr>
                <a:r>
                  <a:rPr dirty="0"/>
                  <a:t>Fisher information leads to an important relationship</a:t>
                </a:r>
              </a:p>
              <a:p>
                <a:pPr lvl="0"/>
                <a:r>
                  <a:rPr dirty="0"/>
                  <a:t>The MLE parameter estimate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</m:oMath>
                </a14:m>
                <a:r>
                  <a:rPr dirty="0"/>
                  <a:t> is a Normally distributed random variable</a:t>
                </a:r>
              </a:p>
              <a:p>
                <a:pPr lvl="0"/>
                <a:r>
                  <a:rPr dirty="0"/>
                  <a:t>Arises from the Taylor expansion of the maximum likelihood estimator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>
                          <a:latin typeface="Cambria Math" panose="02040503050406030204" pitchFamily="18" charset="0"/>
                        </a:rPr>
                        <m:t>0=</m:t>
                      </m:r>
                      <m:f>
                        <m:f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 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𝑙</m:t>
                          </m:r>
                          <m:d>
                            <m:d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𝐗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 | 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𝛉</m:t>
                              </m:r>
                            </m:e>
                          </m:d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𝜕𝜃</m:t>
                          </m:r>
                        </m:den>
                      </m:f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 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𝑙</m:t>
                          </m:r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𝐗</m:t>
                              </m:r>
                            </m:sub>
                          </m:sSub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𝜕𝜃</m:t>
                          </m:r>
                        </m:den>
                      </m:f>
                      <m:r>
                        <a:rPr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>
                              <a:latin typeface="Cambria Math" panose="02040503050406030204" pitchFamily="18" charset="0"/>
                            </a:rPr>
                            <m:t> 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𝑙</m:t>
                          </m:r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𝐗</m:t>
                              </m:r>
                            </m:sub>
                          </m:sSub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  <m:r>
                            <a:rPr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</m:oMath>
                  </m:oMathPara>
                </a14:m>
                <a:endParaRPr dirty="0"/>
              </a:p>
              <a:p>
                <a:pPr marL="0" lvl="0" indent="0">
                  <a:buNone/>
                </a:pPr>
                <a:r>
                  <a:rPr dirty="0"/>
                  <a:t>or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>
                          <a:latin typeface="Cambria Math" panose="02040503050406030204" pitchFamily="18" charset="0"/>
                        </a:rPr>
                        <m:t>0=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>
                          <a:latin typeface="Cambria Math" panose="02040503050406030204" pitchFamily="18" charset="0"/>
                        </a:rPr>
                        <m:t>′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𝐗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+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>
                          <a:latin typeface="Cambria Math" panose="02040503050406030204" pitchFamily="18" charset="0"/>
                        </a:rPr>
                        <m:t>″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acc>
                            </m:e>
                          </m:d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𝐗</m:t>
                          </m:r>
                        </m:sub>
                      </m:sSub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  <m:r>
                            <a:rPr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</m:oMath>
                  </m:oMathPara>
                </a14:m>
                <a:endParaRPr dirty="0"/>
              </a:p>
              <a:p>
                <a:pPr lvl="0"/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𝑙</m:t>
                    </m:r>
                    <m:r>
                      <a:rPr>
                        <a:latin typeface="Cambria Math" panose="02040503050406030204" pitchFamily="18" charset="0"/>
                      </a:rPr>
                      <m:t>′</m:t>
                    </m:r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𝐗</m:t>
                        </m:r>
                      </m:sub>
                    </m:sSub>
                  </m:oMath>
                </a14:m>
                <a:r>
                  <a:rPr dirty="0"/>
                  <a:t>: first partial derivative given observations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𝐗</m:t>
                    </m:r>
                  </m:oMath>
                </a14:m>
                <a:endParaRPr dirty="0"/>
              </a:p>
              <a:p>
                <a:pPr lvl="0"/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𝑙</m:t>
                    </m:r>
                    <m:r>
                      <a:rPr>
                        <a:latin typeface="Cambria Math" panose="02040503050406030204" pitchFamily="18" charset="0"/>
                      </a:rPr>
                      <m:t>″</m:t>
                    </m:r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acc>
                          </m:e>
                        </m:d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𝐗</m:t>
                        </m:r>
                      </m:sub>
                    </m:sSub>
                  </m:oMath>
                </a14:m>
                <a:r>
                  <a:rPr dirty="0"/>
                  <a:t>: second partial derivative given observations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𝐗</m:t>
                    </m:r>
                  </m:oMath>
                </a14:m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41" t="-19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84CDC5F9-86B8-0D7C-5518-ACF3133C2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lang="en-US" b="1" dirty="0"/>
              <a:t>Fisher information and properties of MLE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00150"/>
                <a:ext cx="8229600" cy="3514603"/>
              </a:xfrm>
            </p:spPr>
            <p:txBody>
              <a:bodyPr>
                <a:normAutofit fontScale="85000" lnSpcReduction="20000"/>
              </a:bodyPr>
              <a:lstStyle/>
              <a:p>
                <a:pPr marL="0" lvl="0" indent="0">
                  <a:buNone/>
                </a:pPr>
                <a:r>
                  <a:rPr dirty="0"/>
                  <a:t>Continuing with the simplified notation, and solving for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</m:oMath>
                </a14:m>
                <a:r>
                  <a:rPr dirty="0"/>
                  <a:t>;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̂"/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acc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′</m:t>
                          </m:r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𝐗</m:t>
                              </m:r>
                            </m:sub>
                          </m:sSub>
                          <m:r>
                            <a:rPr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″</m:t>
                          </m:r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𝐗</m:t>
                              </m:r>
                            </m:sub>
                          </m:sSub>
                          <m:r>
                            <a:rPr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dirty="0"/>
              </a:p>
              <a:p>
                <a:pPr marL="0" lvl="0" indent="0">
                  <a:buNone/>
                </a:pPr>
                <a:r>
                  <a:rPr dirty="0"/>
                  <a:t>Fisher information relates to the </a:t>
                </a:r>
                <a:r>
                  <a:rPr b="1" dirty="0"/>
                  <a:t>score function</a:t>
                </a:r>
                <a:r>
                  <a:rPr dirty="0"/>
                  <a:t> as the inverse variance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f>
                        <m:f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 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𝑙</m:t>
                          </m:r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𝐗</m:t>
                              </m:r>
                            </m:sub>
                          </m:sSub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𝜕𝜃</m:t>
                          </m:r>
                        </m:den>
                      </m:f>
                      <m:r>
                        <a:rPr>
                          <a:latin typeface="Cambria Math" panose="02040503050406030204" pitchFamily="18" charset="0"/>
                        </a:rPr>
                        <m:t> </m:t>
                      </m:r>
                      <m:acc>
                        <m:accPr>
                          <m:chr m:val="̇"/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∼</m:t>
                          </m:r>
                        </m:e>
                      </m:acc>
                      <m:r>
                        <a:rPr>
                          <a:latin typeface="Cambria Math" panose="02040503050406030204" pitchFamily="18" charset="0"/>
                        </a:rPr>
                        <m:t> 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0,1/</m:t>
                          </m:r>
                          <m:sSub>
                            <m:sSub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ℐ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dirty="0"/>
              </a:p>
              <a:p>
                <a:pPr marL="0" lvl="0" indent="0">
                  <a:buNone/>
                </a:pPr>
                <a:r>
                  <a:rPr dirty="0"/>
                  <a:t>For </a:t>
                </a:r>
                <a:r>
                  <a:rPr b="1" dirty="0"/>
                  <a:t>large sample</a:t>
                </a:r>
                <a:r>
                  <a:rPr dirty="0"/>
                  <a:t>,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𝑛</m:t>
                    </m:r>
                    <m:r>
                      <a:rPr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dirty="0"/>
                  <a:t>, take the expectation over all samples,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𝐗</m:t>
                    </m:r>
                  </m:oMath>
                </a14:m>
                <a:r>
                  <a:rPr dirty="0"/>
                  <a:t>. Assuming first and second derivatives exist and continuous, then by the Central Limit Theorem: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̂"/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acc>
                      <m:acc>
                        <m:accPr>
                          <m:chr m:val="̇"/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∼</m:t>
                          </m:r>
                        </m:e>
                      </m:acc>
                      <m:r>
                        <a:rPr>
                          <a:latin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ℐ</m:t>
                              </m:r>
                              <m:d>
                                <m:dPr>
                                  <m:ctrlPr>
                                    <a:rPr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den>
                          </m:f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00150"/>
                <a:ext cx="8229600" cy="3514603"/>
              </a:xfrm>
              <a:blipFill>
                <a:blip r:embed="rId2"/>
                <a:stretch>
                  <a:fillRect l="-741" t="-24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17FD4C24-4B1A-9239-FD89-0632031C9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lang="en-US" b="1" dirty="0"/>
              <a:t>Fisher information and properties of MLE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f>
                        <m:f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 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𝑙</m:t>
                          </m:r>
                          <m:d>
                            <m:d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𝜕𝜃</m:t>
                          </m:r>
                        </m:den>
                      </m:f>
                      <m:r>
                        <a:rPr>
                          <a:latin typeface="Cambria Math" panose="02040503050406030204" pitchFamily="18" charset="0"/>
                        </a:rPr>
                        <m:t> </m:t>
                      </m:r>
                      <m:acc>
                        <m:accPr>
                          <m:chr m:val="̇"/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∼</m:t>
                          </m:r>
                        </m:e>
                      </m:acc>
                      <m:r>
                        <a:rPr>
                          <a:latin typeface="Cambria Math" panose="02040503050406030204" pitchFamily="18" charset="0"/>
                        </a:rPr>
                        <m:t> 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0,1/</m:t>
                          </m:r>
                          <m:sSub>
                            <m:sSub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ℐ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b="1" dirty="0"/>
              </a:p>
              <a:p>
                <a:pPr marL="0" lvl="0" indent="0">
                  <a:buNone/>
                </a:pPr>
                <a:r>
                  <a:rPr dirty="0"/>
                  <a:t>Relationship shows several important properties</a:t>
                </a:r>
              </a:p>
              <a:p>
                <a:pPr lvl="0"/>
                <a:r>
                  <a:rPr dirty="0"/>
                  <a:t>The maximum likelihood estimate of model parameters,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</m:oMath>
                </a14:m>
                <a:r>
                  <a:rPr dirty="0"/>
                  <a:t>, is Normally distributed</a:t>
                </a:r>
              </a:p>
              <a:p>
                <a:pPr lvl="0"/>
                <a:r>
                  <a:rPr dirty="0"/>
                  <a:t>The larger the Fisher information, the lower the variance of the parameter estimate</a:t>
                </a:r>
              </a:p>
              <a:p>
                <a:pPr lvl="1"/>
                <a:r>
                  <a:rPr dirty="0"/>
                  <a:t>Greater curvature of the log likelihood function gives more certain the parameter estimates</a:t>
                </a:r>
              </a:p>
              <a:p>
                <a:pPr lvl="1"/>
                <a:r>
                  <a:rPr dirty="0"/>
                  <a:t>The variance of the parameter estimate is inversely proportional to the number of samples,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3" b="-17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611E9AF7-E0A6-E36D-B60D-A1DBFA8E3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lang="en-US" b="1" dirty="0"/>
              <a:t>Fisher information and properties of MLE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00151"/>
                <a:ext cx="8229600" cy="3737370"/>
              </a:xfrm>
            </p:spPr>
            <p:txBody>
              <a:bodyPr>
                <a:normAutofit fontScale="70000" lnSpcReduction="20000"/>
              </a:bodyPr>
              <a:lstStyle/>
              <a:p>
                <a:pPr marL="0" lvl="0" indent="0">
                  <a:buNone/>
                </a:pPr>
                <a:r>
                  <a:rPr lang="en-US" dirty="0"/>
                  <a:t>MLE for the Normal distribution</a:t>
                </a:r>
              </a:p>
              <a:p>
                <a:pPr lvl="0"/>
                <a:r>
                  <a:rPr lang="en-US" dirty="0"/>
                  <a:t>Find derivatives of the log-likelihood function with respect to the model parameters,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ar-AE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num>
                                  <m:den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𝜕𝜇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ar-AE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num>
                                  <m:den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p>
                                      <m:sSupPr>
                                        <m:ctrlPr>
                                          <a:rPr lang="ar-AE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ar-AE"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p>
                                        <m:r>
                                          <a:rPr lang="ar-AE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</m:e>
                            </m:mr>
                          </m:m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ar-AE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ar-AE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ar-AE"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p>
                                        <m:r>
                                          <a:rPr lang="ar-AE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  <m:nary>
                                  <m:naryPr>
                                    <m:chr m:val="∑"/>
                                    <m:limLoc m:val="undOvr"/>
                                    <m:ctrlPr>
                                      <a:rPr lang="ar-AE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  <m:sup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​</m:t>
                                    </m:r>
                                  </m:sup>
                                  <m:e>
                                    <m:d>
                                      <m:dPr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ar-AE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ar-AE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ar-AE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  <m:r>
                                          <a:rPr lang="ar-AE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ar-AE">
                                            <a:latin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</m:d>
                                  </m:e>
                                </m:nary>
                              </m:e>
                            </m:m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ar-AE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num>
                                  <m:den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sSup>
                                      <m:sSupPr>
                                        <m:ctrlPr>
                                          <a:rPr lang="ar-AE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ar-AE"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p>
                                        <m:r>
                                          <a:rPr lang="ar-AE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ar-AE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sSup>
                                      <m:sSupPr>
                                        <m:ctrlPr>
                                          <a:rPr lang="ar-AE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ar-AE"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p>
                                        <m:r>
                                          <a:rPr lang="ar-AE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sup>
                                    </m:sSup>
                                  </m:den>
                                </m:f>
                                <m:nary>
                                  <m:naryPr>
                                    <m:chr m:val="∑"/>
                                    <m:limLoc m:val="undOvr"/>
                                    <m:ctrlPr>
                                      <a:rPr lang="ar-AE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  <m:sup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​</m:t>
                                    </m:r>
                                  </m:sup>
                                  <m:e>
                                    <m:sSup>
                                      <m:sSupPr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ar-AE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ar-AE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ar-AE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ar-AE">
                                                    <a:latin typeface="Cambria Math" panose="02040503050406030204" pitchFamily="18" charset="0"/>
                                                  </a:rPr>
                                                  <m:t>𝑗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ar-AE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r>
                                              <a:rPr lang="ar-AE">
                                                <a:latin typeface="Cambria Math" panose="02040503050406030204" pitchFamily="18" charset="0"/>
                                              </a:rPr>
                                              <m:t>𝜇</m:t>
                                            </m:r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ar-AE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nary>
                              </m:e>
                            </m:mr>
                          </m:m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AE" dirty="0"/>
              </a:p>
              <a:p>
                <a:r>
                  <a:rPr lang="en-US" dirty="0"/>
                  <a:t>Solving above for the estimate of the mean, </a:t>
                </a: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endParaRPr lang="ar-AE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nary>
                        <m:naryPr>
                          <m:chr m:val="∑"/>
                          <m:limLoc m:val="undOvr"/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​</m:t>
                          </m:r>
                        </m:sup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nary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ar-A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en-US" b="0" i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j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​</m:t>
                          </m:r>
                        </m:sup>
                        <m:e>
                          <m:sSub>
                            <m:sSubPr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</m:sub>
                          </m:sSub>
                        </m:e>
                      </m:nary>
                      <m:r>
                        <a:rPr lang="ar-AE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⟶</m:t>
                      </m:r>
                      <m:r>
                        <m:rPr>
                          <m:sty m:val="p"/>
                        </m:rPr>
                        <a:rPr lang="el-G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μ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ar-AE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⟶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∞  </m:t>
                      </m:r>
                    </m:oMath>
                  </m:oMathPara>
                </a14:m>
                <a:endParaRPr lang="ar-AE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00151"/>
                <a:ext cx="8229600" cy="3737370"/>
              </a:xfrm>
              <a:blipFill>
                <a:blip r:embed="rId2"/>
                <a:stretch>
                  <a:fillRect l="-444" t="-17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1A76E6C4-278B-8E31-0C91-7558F7784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lang="en-US" b="1" dirty="0"/>
              <a:t>Example of MLE for Normal distribution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983848"/>
                <a:ext cx="8229600" cy="4093579"/>
              </a:xfrm>
            </p:spPr>
            <p:txBody>
              <a:bodyPr>
                <a:normAutofit fontScale="55000" lnSpcReduction="20000"/>
              </a:bodyPr>
              <a:lstStyle/>
              <a:p>
                <a:pPr marL="0" lvl="0" indent="0">
                  <a:buNone/>
                </a:pPr>
                <a:r>
                  <a:rPr lang="en-US" dirty="0"/>
                  <a:t>MLE for the Normal distribution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ar-AE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num>
                                  <m:den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𝜕𝜇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ar-AE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num>
                                  <m:den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p>
                                      <m:sSupPr>
                                        <m:ctrlPr>
                                          <a:rPr lang="ar-AE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ar-AE"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p>
                                        <m:r>
                                          <a:rPr lang="ar-AE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</m:e>
                            </m:mr>
                          </m:m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ar-AE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ar-AE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ar-AE"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p>
                                        <m:r>
                                          <a:rPr lang="ar-AE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  <m:nary>
                                  <m:naryPr>
                                    <m:chr m:val="∑"/>
                                    <m:limLoc m:val="undOvr"/>
                                    <m:ctrlPr>
                                      <a:rPr lang="ar-AE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  <m:sup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​</m:t>
                                    </m:r>
                                  </m:sup>
                                  <m:e>
                                    <m:d>
                                      <m:dPr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ar-AE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ar-AE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ar-AE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  <m:r>
                                          <a:rPr lang="ar-AE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ar-AE">
                                            <a:latin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</m:d>
                                  </m:e>
                                </m:nary>
                              </m:e>
                            </m:m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ar-AE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num>
                                  <m:den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sSup>
                                      <m:sSupPr>
                                        <m:ctrlPr>
                                          <a:rPr lang="ar-AE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ar-AE"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p>
                                        <m:r>
                                          <a:rPr lang="ar-AE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ar-AE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sSup>
                                      <m:sSupPr>
                                        <m:ctrlPr>
                                          <a:rPr lang="ar-AE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ar-AE"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p>
                                        <m:r>
                                          <a:rPr lang="ar-AE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sup>
                                    </m:sSup>
                                  </m:den>
                                </m:f>
                                <m:nary>
                                  <m:naryPr>
                                    <m:chr m:val="∑"/>
                                    <m:limLoc m:val="undOvr"/>
                                    <m:ctrlPr>
                                      <a:rPr lang="ar-AE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  <m:sup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​</m:t>
                                    </m:r>
                                  </m:sup>
                                  <m:e>
                                    <m:sSup>
                                      <m:sSupPr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ar-AE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ar-AE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ar-AE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ar-AE">
                                                    <a:latin typeface="Cambria Math" panose="02040503050406030204" pitchFamily="18" charset="0"/>
                                                  </a:rPr>
                                                  <m:t>𝑗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ar-AE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r>
                                              <a:rPr lang="ar-AE">
                                                <a:latin typeface="Cambria Math" panose="02040503050406030204" pitchFamily="18" charset="0"/>
                                              </a:rPr>
                                              <m:t>𝜇</m:t>
                                            </m:r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ar-AE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nary>
                              </m:e>
                            </m:mr>
                          </m:m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AE" dirty="0"/>
              </a:p>
              <a:p>
                <a:pPr marL="0" lvl="0" indent="0">
                  <a:buNone/>
                </a:pPr>
                <a:r>
                  <a:rPr lang="en-US" dirty="0"/>
                  <a:t>Find the maximum likelihood estimate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ar-AE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f>
                        <m:f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​</m:t>
                          </m:r>
                        </m:sup>
                        <m:e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ar-AE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ar-AE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</m:d>
                            </m:e>
                            <m: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ar-AE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acc>
                        <m:accPr>
                          <m:chr m:val="̅"/>
                          <m:ctrlPr>
                            <a:rPr lang="ar-AE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ar-AE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en-US" b="0" i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j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​</m:t>
                          </m:r>
                        </m:sup>
                        <m:e>
                          <m:sSub>
                            <m:sSubPr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</m:sub>
                          </m:sSub>
                        </m:e>
                      </m:nary>
                      <m:r>
                        <a:rPr lang="ar-AE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⟶</m:t>
                      </m:r>
                      <m:r>
                        <m:rPr>
                          <m:sty m:val="p"/>
                        </m:rPr>
                        <a:rPr lang="el-G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μ</m:t>
                      </m:r>
                      <m:r>
                        <a:rPr lang="el-G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 </m:t>
                      </m:r>
                      <m:r>
                        <a:rPr lang="el-G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𝑎𝑠</m:t>
                      </m:r>
                      <m:r>
                        <a:rPr lang="el-G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  <m:r>
                        <a:rPr lang="el-G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l-GR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⟶</m:t>
                      </m:r>
                      <m:r>
                        <a:rPr lang="el-G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∞ </m:t>
                      </m:r>
                    </m:oMath>
                  </m:oMathPara>
                </a14:m>
                <a:endParaRPr lang="el-GR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​</m:t>
                          </m:r>
                        </m:sup>
                        <m:e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ar-AE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ar-AE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</m:d>
                            </m:e>
                            <m: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ar-AE" dirty="0"/>
              </a:p>
              <a:p>
                <a:pPr marL="0" lvl="0" indent="0">
                  <a:buNone/>
                </a:pPr>
                <a:r>
                  <a:rPr lang="en-US" dirty="0"/>
                  <a:t>Adding the bias correction of the 1 </a:t>
                </a:r>
                <a:r>
                  <a:rPr lang="en-US" dirty="0" err="1"/>
                  <a:t>DoF</a:t>
                </a:r>
                <a:r>
                  <a:rPr lang="en-US" dirty="0"/>
                  <a:t> used to compute </a:t>
                </a: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ar-AE" dirty="0"/>
                  <a:t>, </a:t>
                </a:r>
                <a:r>
                  <a:rPr lang="en-US" dirty="0"/>
                  <a:t>we finally get: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​</m:t>
                          </m:r>
                        </m:sup>
                        <m:e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ar-AE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ar-AE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</m:d>
                            </m:e>
                            <m: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83848"/>
                <a:ext cx="8229600" cy="4093579"/>
              </a:xfrm>
              <a:blipFill>
                <a:blip r:embed="rId2"/>
                <a:stretch>
                  <a:fillRect l="-74" t="-893" b="-127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595DD322-2F93-D22F-3BEE-22814FCDB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lang="en-US" b="1" dirty="0"/>
              <a:t>Example of MLE for Normal distribution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endParaRPr b="1" dirty="0"/>
          </a:p>
          <a:p>
            <a:pPr marL="0" lvl="0" indent="0">
              <a:buNone/>
            </a:pPr>
            <a:endParaRPr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F7CB5B-C77B-5148-B70E-C7D4CC657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750862"/>
          </a:xfrm>
        </p:spPr>
        <p:txBody>
          <a:bodyPr>
            <a:normAutofit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lang="en-US" b="1" dirty="0"/>
              <a:t>Example of MLE for Normal distribution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3D2640F-38FD-6EDA-B5CA-0868737DCBF8}"/>
                  </a:ext>
                </a:extLst>
              </p:cNvPr>
              <p:cNvSpPr txBox="1"/>
              <p:nvPr/>
            </p:nvSpPr>
            <p:spPr>
              <a:xfrm>
                <a:off x="295154" y="999282"/>
                <a:ext cx="8553691" cy="40340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ar-AE" smtClean="0">
                          <a:latin typeface="Cambria Math" panose="02040503050406030204" pitchFamily="18" charset="0"/>
                        </a:rPr>
                        <m:t>𝒥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ar-AE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</m:e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2 </m:t>
                                        </m:r>
                                      </m:sup>
                                    </m:s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ar-AE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</m:e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𝜇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ar-AE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</m:e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2 </m:t>
                                        </m:r>
                                      </m:sup>
                                    </m:s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ar-AE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</m:e>
                                      <m: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 </m:t>
                                        </m:r>
                                      </m:sup>
                                    </m:s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𝜇</m:t>
                                    </m:r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lang="ar-AE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</m:e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 </m:t>
                                        </m:r>
                                      </m:sup>
                                    </m:sSup>
                                    <m:sSup>
                                      <m:s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ar-AE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</m:e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2 </m:t>
                                        </m:r>
                                      </m:sup>
                                    </m:s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ar-AE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</m:e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 </m:t>
                                        </m:r>
                                      </m:sup>
                                    </m:s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𝜇</m:t>
                                    </m:r>
                                    <m:sSup>
                                      <m:s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lang="ar-AE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</m:e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 </m:t>
                                        </m:r>
                                      </m:sup>
                                    </m:sSup>
                                    <m:sSup>
                                      <m:s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ar-AE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</m:e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2 </m:t>
                                        </m:r>
                                      </m:sup>
                                    </m:s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ar-AE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</m:e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sSup>
                                      <m:s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ar-AE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sup>
                                    </m:sSup>
                                  </m:den>
                                </m:f>
                                <m:d>
                                  <m:d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ar-AE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ar-AE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ar-AE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</m:d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sup>
                                    </m:sSup>
                                  </m:den>
                                </m:f>
                                <m:d>
                                  <m:d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ar-AE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ar-AE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ar-AE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</m:d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sup>
                                    </m:sSup>
                                  </m:den>
                                </m:f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6</m:t>
                                        </m:r>
                                      </m:sup>
                                    </m:sSup>
                                  </m:den>
                                </m:f>
                                <m:nary>
                                  <m:naryPr>
                                    <m:chr m:val="∑"/>
                                    <m:limLoc m:val="undOvr"/>
                                    <m:ctrlPr>
                                      <a:rPr lang="ar-AE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  <m:sup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​</m:t>
                                    </m:r>
                                  </m:sup>
                                  <m:e>
                                    <m:sSup>
                                      <m:sSupPr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ar-AE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ar-AE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ar-AE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ar-AE">
                                                    <a:latin typeface="Cambria Math" panose="02040503050406030204" pitchFamily="18" charset="0"/>
                                                  </a:rPr>
                                                  <m:t>𝑗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ar-AE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r>
                                              <a:rPr lang="ar-AE">
                                                <a:latin typeface="Cambria Math" panose="02040503050406030204" pitchFamily="18" charset="0"/>
                                              </a:rPr>
                                              <m:t>𝜇</m:t>
                                            </m:r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ar-AE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nary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Now, by the law of large numbers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ar-AE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⟶</m:t>
                    </m:r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μ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ar-AE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⟶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US" dirty="0"/>
                  <a:t>, and the above simplifies: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ar-AE">
                          <a:latin typeface="Cambria Math" panose="02040503050406030204" pitchFamily="18" charset="0"/>
                        </a:rPr>
                        <m:t>𝒥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</m:d>
                      <m:r>
                        <a:rPr lang="ar-AE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sup>
                                    </m:sSup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3D2640F-38FD-6EDA-B5CA-0868737DCB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154" y="999282"/>
                <a:ext cx="8553691" cy="4034053"/>
              </a:xfrm>
              <a:prstGeom prst="rect">
                <a:avLst/>
              </a:prstGeom>
              <a:blipFill>
                <a:blip r:embed="rId2"/>
                <a:stretch>
                  <a:fillRect l="-5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Example of MLE for Normal distribution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00151"/>
                <a:ext cx="8229600" cy="3618776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The :</a:t>
                </a:r>
                <a:endParaRPr lang="en-US" dirty="0">
                  <a:latin typeface="Cambria Math" panose="02040503050406030204" pitchFamily="18" charset="0"/>
                </a:endParaRP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>
                          <a:latin typeface="Cambria Math" panose="02040503050406030204" pitchFamily="18" charset="0"/>
                        </a:rPr>
                        <m:t>𝒥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p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</m:e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num>
                                  <m:den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sSup>
                                      <m:sSupPr>
                                        <m:ctrlP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p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sup>
                                    </m:sSup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dirty="0"/>
              </a:p>
              <a:p>
                <a:pPr marL="0" lvl="0" indent="0">
                  <a:buNone/>
                </a:pPr>
                <a:r>
                  <a:rPr dirty="0"/>
                  <a:t>There are some aspects of these relationships which make the MLE method attractive:</a:t>
                </a:r>
              </a:p>
              <a:p>
                <a:pPr lvl="0"/>
                <a:r>
                  <a:rPr dirty="0"/>
                  <a:t>The curvature of the MLE for both parameters increases with the number of samples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dirty="0"/>
              </a:p>
              <a:p>
                <a:pPr lvl="0"/>
                <a:r>
                  <a:rPr dirty="0"/>
                  <a:t>The peak of the log-likelihood function becomes better defined as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dirty="0"/>
                  <a:t> increases.</a:t>
                </a:r>
              </a:p>
              <a:p>
                <a:pPr lvl="0"/>
                <a:r>
                  <a:rPr dirty="0"/>
                  <a:t>The maximum likelihood estimates of the parameters,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dirty="0"/>
                  <a:t> are independent. The off-diagonal terms are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00151"/>
                <a:ext cx="8229600" cy="3618776"/>
              </a:xfrm>
              <a:blipFill>
                <a:blip r:embed="rId2"/>
                <a:stretch>
                  <a:fillRect l="-667" t="-2189" r="-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0537"/>
            <a:ext cx="4415742" cy="3194086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dirty="0"/>
              <a:t>Example of Fisher Information for Normal distribution</a:t>
            </a:r>
          </a:p>
          <a:p>
            <a:pPr lvl="0"/>
            <a:r>
              <a:rPr dirty="0"/>
              <a:t>As sample size increases, Fisher Information </a:t>
            </a:r>
            <a:r>
              <a:rPr lang="en-US" dirty="0"/>
              <a:t>increases</a:t>
            </a:r>
            <a:endParaRPr dirty="0"/>
          </a:p>
          <a:p>
            <a:pPr lvl="0"/>
            <a:r>
              <a:rPr dirty="0"/>
              <a:t>Variance of MLE decreases with </a:t>
            </a:r>
            <a:r>
              <a:rPr lang="en-US" dirty="0"/>
              <a:t>increasing</a:t>
            </a:r>
            <a:r>
              <a:rPr dirty="0"/>
              <a:t> Fisher Information</a:t>
            </a:r>
          </a:p>
        </p:txBody>
      </p:sp>
      <p:pic>
        <p:nvPicPr>
          <p:cNvPr id="2" name="Picture 1" descr="../images/NormalFisherInformation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432385" y="914078"/>
            <a:ext cx="3667406" cy="3603901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5497974" y="4425938"/>
            <a:ext cx="3601817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rPr dirty="0"/>
              <a:t>Fisher Information for Normal distribution at different sample sizes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212805F-5460-0A3D-F15B-C42EBC153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lang="en-US" b="1" dirty="0"/>
              <a:t>Fisher information and properties of MLE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lvl="0" indent="0">
              <a:buNone/>
            </a:pPr>
            <a:r>
              <a:rPr dirty="0"/>
              <a:t>How do we generalize the MLE method beyond cases with a closed form solution</a:t>
            </a:r>
          </a:p>
          <a:p>
            <a:pPr lvl="0"/>
            <a:r>
              <a:rPr dirty="0"/>
              <a:t>For example, logistic regression has a nonlinear log likelihood function</a:t>
            </a:r>
          </a:p>
          <a:p>
            <a:pPr lvl="0"/>
            <a:r>
              <a:rPr dirty="0"/>
              <a:t>An approximate solution can be found by numerical </a:t>
            </a:r>
            <a:r>
              <a:rPr b="1" dirty="0"/>
              <a:t>optimization methods</a:t>
            </a:r>
            <a:r>
              <a:rPr dirty="0"/>
              <a:t> or </a:t>
            </a:r>
            <a:r>
              <a:rPr b="1" dirty="0"/>
              <a:t>root finding methods</a:t>
            </a:r>
          </a:p>
          <a:p>
            <a:pPr lvl="0"/>
            <a:r>
              <a:rPr dirty="0"/>
              <a:t>Two widely used methods</a:t>
            </a:r>
          </a:p>
          <a:p>
            <a:pPr lvl="1"/>
            <a:r>
              <a:rPr dirty="0"/>
              <a:t>Gradient descent, a first-order method</a:t>
            </a:r>
          </a:p>
          <a:p>
            <a:pPr lvl="1"/>
            <a:r>
              <a:rPr dirty="0"/>
              <a:t>Newton’s method, quadratic approximation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01156C-9C4C-7D38-4D7E-EA83DF16D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lang="en-US" b="1" dirty="0"/>
              <a:t>Finding Solutions Without a Closed Form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38177"/>
                <a:ext cx="8229600" cy="3896810"/>
              </a:xfrm>
            </p:spPr>
            <p:txBody>
              <a:bodyPr>
                <a:normAutofit fontScale="70000" lnSpcReduction="20000"/>
              </a:bodyPr>
              <a:lstStyle/>
              <a:p>
                <a:pPr marL="0" lvl="0" indent="0">
                  <a:buNone/>
                </a:pPr>
                <a:r>
                  <a:rPr dirty="0"/>
                  <a:t>The </a:t>
                </a:r>
                <a:r>
                  <a:rPr b="1" dirty="0"/>
                  <a:t>gradient descent </a:t>
                </a:r>
                <a:r>
                  <a:rPr dirty="0"/>
                  <a:t>method finds the maximum of the log-likelihood function by following the gradient ‘uphill’</a:t>
                </a:r>
              </a:p>
              <a:p>
                <a:pPr lvl="0"/>
                <a:r>
                  <a:rPr dirty="0"/>
                  <a:t>Start with the gradient of the log-likelihood function with respect to the parameters,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endParaRPr dirty="0"/>
              </a:p>
              <a:p>
                <a:pPr lvl="0"/>
                <a:r>
                  <a:rPr dirty="0"/>
                  <a:t>The gradient is the vector of partial derivatives with respect to each of the parameters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>
                          <a:latin typeface="Cambria Math" panose="02040503050406030204" pitchFamily="18" charset="0"/>
                        </a:rPr>
                        <m:t>𝑔𝑟𝑎𝑑</m:t>
                      </m:r>
                      <m:d>
                        <m:d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𝑙</m:t>
                          </m:r>
                          <m:d>
                            <m:d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acc>
                            </m:e>
                          </m:d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 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𝑙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d>
                                      <m:dPr>
                                        <m:ctrlP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𝐗</m:t>
                                        </m:r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 | </m:t>
                                        </m:r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𝛉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d>
                                      <m:dPr>
                                        <m:ctrlP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𝐗</m:t>
                                        </m:r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 | </m:t>
                                        </m:r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𝛉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d>
                                      <m:dPr>
                                        <m:ctrlP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𝐗</m:t>
                                        </m:r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 | </m:t>
                                        </m:r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𝛉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dirty="0"/>
              </a:p>
              <a:p>
                <a:pPr lvl="0"/>
                <a:r>
                  <a:rPr dirty="0"/>
                  <a:t>Given a current parameter estimate vector at step n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dirty="0"/>
                  <a:t>, the improved parameter estimate vector,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dirty="0"/>
                  <a:t>, is found: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+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>
                          <a:latin typeface="Cambria Math" panose="02040503050406030204" pitchFamily="18" charset="0"/>
                        </a:rPr>
                        <m:t> </m:t>
                      </m:r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 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𝑙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38177"/>
                <a:ext cx="8229600" cy="3896810"/>
              </a:xfrm>
              <a:blipFill>
                <a:blip r:embed="rId2"/>
                <a:stretch>
                  <a:fillRect l="-444" t="-17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CD8640CA-6EA7-D2E8-20F2-96523BAB6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781727"/>
          </a:xfrm>
        </p:spPr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lang="en-US" b="1" dirty="0"/>
              <a:t>Gradient descent methods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063229"/>
            <a:ext cx="4435033" cy="4001260"/>
          </a:xfrm>
        </p:spPr>
        <p:txBody>
          <a:bodyPr>
            <a:normAutofit fontScale="85000" lnSpcReduction="20000"/>
          </a:bodyPr>
          <a:lstStyle/>
          <a:p>
            <a:pPr marL="0" lvl="0" indent="0">
              <a:buNone/>
            </a:pPr>
            <a:r>
              <a:rPr dirty="0"/>
              <a:t>The gradient descent method finds the maximum of the log-likelihood function by following the gradient ‘uphill’</a:t>
            </a:r>
          </a:p>
          <a:p>
            <a:pPr lvl="0"/>
            <a:r>
              <a:rPr dirty="0"/>
              <a:t>Example: contour plot of Normal log-likelihood</a:t>
            </a:r>
          </a:p>
          <a:p>
            <a:pPr lvl="0"/>
            <a:r>
              <a:rPr dirty="0"/>
              <a:t>Gradient descent following negative (minus) gradient to maximum of log-likelihood</a:t>
            </a:r>
          </a:p>
          <a:p>
            <a:pPr lvl="0"/>
            <a:r>
              <a:rPr dirty="0"/>
              <a:t>Maximum gradient direction is perpendicular to contour lines - steepest uphill path</a:t>
            </a:r>
          </a:p>
          <a:p>
            <a:pPr lvl="0"/>
            <a:r>
              <a:rPr dirty="0"/>
              <a:t>Notice difference between gradients (and information) between location and scale!</a:t>
            </a:r>
          </a:p>
        </p:txBody>
      </p:sp>
      <p:pic>
        <p:nvPicPr>
          <p:cNvPr id="2" name="Picture 1" descr="../images/NormalLikelihoodCountours.JP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5157376" y="892857"/>
            <a:ext cx="3915409" cy="3864338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5505691" y="4722470"/>
            <a:ext cx="3567094" cy="350892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rPr dirty="0"/>
              <a:t>Contours of Normal Log-Likelihood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750BEA0-B16F-E293-53B2-8D41DF8C8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lang="en-US" b="1" dirty="0"/>
              <a:t>Gradient descent methods</a:t>
            </a:r>
          </a:p>
        </p:txBody>
      </p:sp>
      <p:sp>
        <p:nvSpPr>
          <p:cNvPr id="6" name="Cross 5">
            <a:extLst>
              <a:ext uri="{FF2B5EF4-FFF2-40B4-BE49-F238E27FC236}">
                <a16:creationId xmlns:a16="http://schemas.microsoft.com/office/drawing/2014/main" id="{3FF8E65D-87AC-00BF-A61E-CB92FFB28F28}"/>
              </a:ext>
            </a:extLst>
          </p:cNvPr>
          <p:cNvSpPr/>
          <p:nvPr/>
        </p:nvSpPr>
        <p:spPr>
          <a:xfrm>
            <a:off x="7184020" y="3460830"/>
            <a:ext cx="223777" cy="200628"/>
          </a:xfrm>
          <a:prstGeom prst="plus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E47BF6C-0C3A-4A25-C2A1-695912403C32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4662210" y="2685794"/>
            <a:ext cx="2521810" cy="8753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78246F2-8100-8FB7-EFE8-FDE30FF20BDC}"/>
              </a:ext>
            </a:extLst>
          </p:cNvPr>
          <p:cNvCxnSpPr>
            <a:cxnSpLocks/>
          </p:cNvCxnSpPr>
          <p:nvPr/>
        </p:nvCxnSpPr>
        <p:spPr>
          <a:xfrm flipV="1">
            <a:off x="7085575" y="3695797"/>
            <a:ext cx="98445" cy="84816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A73320A-75C5-EC32-B2B6-C5E8B4EFCB29}"/>
              </a:ext>
            </a:extLst>
          </p:cNvPr>
          <p:cNvCxnSpPr>
            <a:cxnSpLocks/>
          </p:cNvCxnSpPr>
          <p:nvPr/>
        </p:nvCxnSpPr>
        <p:spPr>
          <a:xfrm flipV="1">
            <a:off x="6991265" y="3796111"/>
            <a:ext cx="94310" cy="9521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9678E0F-188B-8488-7B46-EBD54C1DF070}"/>
              </a:ext>
            </a:extLst>
          </p:cNvPr>
          <p:cNvCxnSpPr>
            <a:cxnSpLocks/>
          </p:cNvCxnSpPr>
          <p:nvPr/>
        </p:nvCxnSpPr>
        <p:spPr>
          <a:xfrm flipV="1">
            <a:off x="6896955" y="3896425"/>
            <a:ext cx="94310" cy="146617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642F930-C488-CD20-D60F-E4327BA300FB}"/>
              </a:ext>
            </a:extLst>
          </p:cNvPr>
          <p:cNvCxnSpPr>
            <a:cxnSpLocks/>
          </p:cNvCxnSpPr>
          <p:nvPr/>
        </p:nvCxnSpPr>
        <p:spPr>
          <a:xfrm flipV="1">
            <a:off x="6840350" y="4070022"/>
            <a:ext cx="56605" cy="14606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5BEB1AD-FF0C-7E36-7E04-40274AB56B45}"/>
              </a:ext>
            </a:extLst>
          </p:cNvPr>
          <p:cNvCxnSpPr>
            <a:cxnSpLocks/>
          </p:cNvCxnSpPr>
          <p:nvPr/>
        </p:nvCxnSpPr>
        <p:spPr>
          <a:xfrm>
            <a:off x="4256265" y="3588124"/>
            <a:ext cx="2612387" cy="3503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787286"/>
                <a:ext cx="8229600" cy="4150235"/>
              </a:xfrm>
            </p:spPr>
            <p:txBody>
              <a:bodyPr>
                <a:normAutofit fontScale="85000" lnSpcReduction="20000"/>
              </a:bodyPr>
              <a:lstStyle/>
              <a:p>
                <a:pPr marL="0" lvl="0" indent="0">
                  <a:buNone/>
                </a:pPr>
                <a:r>
                  <a:rPr dirty="0"/>
                  <a:t>The gradient descent method finds the maximum of the log-likelihood function by following the gradient ‘uphill’</a:t>
                </a:r>
              </a:p>
              <a:p>
                <a:pPr lvl="0"/>
                <a:r>
                  <a:rPr dirty="0"/>
                  <a:t>Given a current parameter estimate vector at step n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dirty="0"/>
                  <a:t>, the improved parameter estimate vector,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dirty="0"/>
                  <a:t>, is found: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+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>
                          <a:latin typeface="Cambria Math" panose="02040503050406030204" pitchFamily="18" charset="0"/>
                        </a:rPr>
                        <m:t> </m:t>
                      </m:r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 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𝑙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dirty="0"/>
              </a:p>
              <a:p>
                <a:pPr lvl="0"/>
                <a:r>
                  <a:rPr dirty="0"/>
                  <a:t>The hyperparameter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dirty="0"/>
                  <a:t> is the </a:t>
                </a:r>
                <a:r>
                  <a:rPr b="1" dirty="0"/>
                  <a:t>learning rate</a:t>
                </a:r>
                <a:r>
                  <a:rPr dirty="0"/>
                  <a:t> or </a:t>
                </a:r>
                <a:r>
                  <a:rPr b="1" dirty="0"/>
                  <a:t>step size</a:t>
                </a:r>
              </a:p>
              <a:p>
                <a:pPr lvl="1"/>
                <a:r>
                  <a:rPr dirty="0"/>
                  <a:t>Determining a learning rate can have a significant effect on the performance of the gradient</a:t>
                </a:r>
              </a:p>
              <a:p>
                <a:pPr lvl="1"/>
                <a:r>
                  <a:rPr dirty="0"/>
                  <a:t>This hyperparameter can be chosen manually, often with by a search of the hyperparameter space</a:t>
                </a:r>
              </a:p>
              <a:p>
                <a:pPr lvl="0"/>
                <a:r>
                  <a:rPr dirty="0"/>
                  <a:t>Using a fixed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dirty="0"/>
                  <a:t> is far from optimal</a:t>
                </a:r>
              </a:p>
              <a:p>
                <a:pPr lvl="1"/>
                <a:r>
                  <a:rPr dirty="0"/>
                  <a:t>The gradient changes toward the maximum point the optimal step size changes</a:t>
                </a:r>
              </a:p>
              <a:p>
                <a:pPr lvl="1"/>
                <a:r>
                  <a:rPr dirty="0"/>
                  <a:t>More sophisticated algorithms use an adaptive method to determine an optimal step at each step</a:t>
                </a:r>
              </a:p>
              <a:p>
                <a:pPr lvl="1"/>
                <a:r>
                  <a:rPr dirty="0"/>
                  <a:t>Adaptive algorithm finds step size dynamically using a </a:t>
                </a:r>
                <a:r>
                  <a:rPr b="1" dirty="0"/>
                  <a:t>line search</a:t>
                </a:r>
                <a:r>
                  <a:rPr dirty="0"/>
                  <a:t> procedure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787286"/>
                <a:ext cx="8229600" cy="4150235"/>
              </a:xfrm>
              <a:blipFill>
                <a:blip r:embed="rId2"/>
                <a:stretch>
                  <a:fillRect l="-741" t="-2056" r="-815" b="-20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09B9D5EC-2EF6-8749-8B72-99907C662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478796"/>
          </a:xfrm>
        </p:spPr>
        <p:txBody>
          <a:bodyPr>
            <a:normAutofit fontScale="9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lang="en-US" b="1" dirty="0"/>
              <a:t>Gradient descent methods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 marL="0" lvl="0" indent="0">
                  <a:buNone/>
                </a:pPr>
                <a:r>
                  <a:rPr dirty="0"/>
                  <a:t>The gradient descent method finds the maximum of the log-likelihood function by following the gradient ‘uphill’</a:t>
                </a:r>
              </a:p>
              <a:p>
                <a:pPr lvl="0"/>
                <a:r>
                  <a:rPr dirty="0"/>
                  <a:t>Given a current parameter estimate vector at step n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dirty="0"/>
                  <a:t>, the improved parameter estimate vector,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dirty="0"/>
                  <a:t>, is found: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+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>
                          <a:latin typeface="Cambria Math" panose="02040503050406030204" pitchFamily="18" charset="0"/>
                        </a:rPr>
                        <m:t> </m:t>
                      </m:r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 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𝑙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dirty="0"/>
              </a:p>
              <a:p>
                <a:pPr lvl="0"/>
                <a:r>
                  <a:rPr dirty="0"/>
                  <a:t>Algorithm converges when the norm of the gradient is approximately 0</a:t>
                </a:r>
              </a:p>
              <a:p>
                <a:pPr lvl="0"/>
                <a:r>
                  <a:rPr dirty="0"/>
                  <a:t>This is the </a:t>
                </a:r>
                <a:r>
                  <a:rPr b="1" dirty="0"/>
                  <a:t>stopping condition</a:t>
                </a:r>
                <a:endParaRPr dirty="0"/>
              </a:p>
              <a:p>
                <a:pPr lvl="0"/>
                <a:r>
                  <a:rPr dirty="0"/>
                  <a:t>Express stopping condition as: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d>
                        <m:dPr>
                          <m:begChr m:val="|"/>
                          <m:endChr m:val="|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ar-AE"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 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𝑙</m:t>
                          </m:r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ar-AE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acc>
                            </m:e>
                          </m:d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𝑡𝑜𝑙𝑙𝑒𝑟𝑎𝑛𝑐𝑒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41" t="-19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92865382-2F24-DF52-355E-824049439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lang="en-US" b="1" dirty="0"/>
              <a:t>Gradient descent methods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784679"/>
          </a:xfrm>
        </p:spPr>
        <p:txBody>
          <a:bodyPr>
            <a:normAutofit fontScale="85000" lnSpcReduction="20000"/>
          </a:bodyPr>
          <a:lstStyle/>
          <a:p>
            <a:pPr marL="0" lvl="0" indent="0">
              <a:buNone/>
            </a:pPr>
            <a:r>
              <a:rPr b="1" dirty="0"/>
              <a:t>Gradient with respect to model parameters</a:t>
            </a:r>
            <a:r>
              <a:rPr dirty="0"/>
              <a:t> is computed for each dimension of the model parameter vector</a:t>
            </a:r>
          </a:p>
          <a:p>
            <a:pPr lvl="0" indent="0">
              <a:buNone/>
            </a:pPr>
            <a:r>
              <a:rPr dirty="0" err="1">
                <a:latin typeface="Courier"/>
              </a:rPr>
              <a:t>proceedure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compute_grad</a:t>
            </a:r>
            <a:r>
              <a:rPr dirty="0">
                <a:latin typeface="Courier"/>
              </a:rPr>
              <a:t>(theta, observations):   
  for each parameter:
      grad[</a:t>
            </a:r>
            <a:r>
              <a:rPr dirty="0" err="1">
                <a:latin typeface="Courier"/>
              </a:rPr>
              <a:t>theta_i</a:t>
            </a:r>
            <a:r>
              <a:rPr dirty="0">
                <a:latin typeface="Courier"/>
              </a:rPr>
              <a:t>] = grad(</a:t>
            </a:r>
            <a:r>
              <a:rPr dirty="0" err="1">
                <a:latin typeface="Courier"/>
              </a:rPr>
              <a:t>theta_i</a:t>
            </a:r>
            <a:r>
              <a:rPr dirty="0">
                <a:latin typeface="Courier"/>
              </a:rPr>
              <a:t>, observations)
  return grad
define </a:t>
            </a:r>
            <a:r>
              <a:rPr dirty="0" err="1">
                <a:latin typeface="Courier"/>
              </a:rPr>
              <a:t>learning_rate</a:t>
            </a:r>
            <a:r>
              <a:rPr dirty="0">
                <a:latin typeface="Courier"/>
              </a:rPr>
              <a:t>
</a:t>
            </a:r>
            <a:r>
              <a:rPr dirty="0" err="1">
                <a:latin typeface="Courier"/>
              </a:rPr>
              <a:t>proceedure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update_weights</a:t>
            </a:r>
            <a:r>
              <a:rPr dirty="0">
                <a:latin typeface="Courier"/>
              </a:rPr>
              <a:t>(theta, grad):  
   theta = theta + </a:t>
            </a:r>
            <a:r>
              <a:rPr dirty="0" err="1">
                <a:latin typeface="Courier"/>
              </a:rPr>
              <a:t>learning_rate</a:t>
            </a:r>
            <a:r>
              <a:rPr dirty="0">
                <a:latin typeface="Courier"/>
              </a:rPr>
              <a:t> * </a:t>
            </a:r>
            <a:r>
              <a:rPr dirty="0" err="1">
                <a:latin typeface="Courier"/>
              </a:rPr>
              <a:t>compute_grad</a:t>
            </a:r>
            <a:r>
              <a:rPr dirty="0">
                <a:latin typeface="Courier"/>
              </a:rPr>
              <a:t>(theta)
   return weights  </a:t>
            </a:r>
          </a:p>
          <a:p>
            <a:pPr marL="0" lvl="0" indent="0">
              <a:buNone/>
            </a:pPr>
            <a:r>
              <a:rPr dirty="0"/>
              <a:t>The forgoing procedure can be vectorized or parallelized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D8E12E-79A7-F579-CF88-6DAC931D8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lang="en-US" b="1" dirty="0"/>
              <a:t>Gradient descent methods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763210"/>
            <a:ext cx="4840147" cy="2714336"/>
          </a:xfrm>
        </p:spPr>
        <p:txBody>
          <a:bodyPr/>
          <a:lstStyle/>
          <a:p>
            <a:pPr marL="0" lvl="0" indent="0">
              <a:buNone/>
            </a:pPr>
            <a:r>
              <a:rPr dirty="0"/>
              <a:t>The gradient descent method finds the maximum of the log-likelihood function by following the gradient ‘uphill’</a:t>
            </a:r>
          </a:p>
          <a:p>
            <a:pPr marL="0" lvl="0" indent="0">
              <a:buNone/>
            </a:pPr>
            <a:r>
              <a:rPr dirty="0"/>
              <a:t>The gradient is always perpendicular to the contours</a:t>
            </a:r>
          </a:p>
        </p:txBody>
      </p:sp>
      <p:pic>
        <p:nvPicPr>
          <p:cNvPr id="2" name="Picture 1" descr="../images/GradientDescent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375760" y="865851"/>
            <a:ext cx="3720414" cy="3655991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5976797" y="4477545"/>
            <a:ext cx="3119377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rPr dirty="0"/>
              <a:t>Gradient descent on contour plot of log-likelihood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FF6FB01-7998-80EC-7748-8055AB063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lang="en-US" b="1" dirty="0"/>
              <a:t>Gradient descent methods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9576BDF-4605-15DB-5A57-87FA2B8DE7EB}"/>
              </a:ext>
            </a:extLst>
          </p:cNvPr>
          <p:cNvCxnSpPr>
            <a:cxnSpLocks/>
          </p:cNvCxnSpPr>
          <p:nvPr/>
        </p:nvCxnSpPr>
        <p:spPr>
          <a:xfrm flipV="1">
            <a:off x="5112152" y="2947686"/>
            <a:ext cx="2847372" cy="632749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3229"/>
            <a:ext cx="8229600" cy="3874291"/>
          </a:xfrm>
        </p:spPr>
        <p:txBody>
          <a:bodyPr>
            <a:normAutofit fontScale="70000" lnSpcReduction="20000"/>
          </a:bodyPr>
          <a:lstStyle/>
          <a:p>
            <a:pPr marL="0" lvl="0" indent="0">
              <a:buNone/>
            </a:pPr>
            <a:r>
              <a:rPr dirty="0"/>
              <a:t>The simple gradient descent algorithm and Newton’s method have limited scalability</a:t>
            </a:r>
          </a:p>
          <a:p>
            <a:pPr lvl="0"/>
            <a:r>
              <a:rPr dirty="0"/>
              <a:t>Basic algorithms require computing and summing the entire gradient vector</a:t>
            </a:r>
          </a:p>
          <a:p>
            <a:pPr lvl="1"/>
            <a:r>
              <a:rPr dirty="0"/>
              <a:t>Calculation must be done as a single batch in memory, or </a:t>
            </a:r>
            <a:r>
              <a:rPr b="1" dirty="0"/>
              <a:t>batch gradient descent</a:t>
            </a:r>
            <a:endParaRPr dirty="0"/>
          </a:p>
          <a:p>
            <a:pPr lvl="1"/>
            <a:r>
              <a:rPr dirty="0"/>
              <a:t>Computing the full gradient at each step limits scalability</a:t>
            </a:r>
          </a:p>
          <a:p>
            <a:pPr lvl="0"/>
            <a:r>
              <a:rPr b="1" dirty="0"/>
              <a:t>Stochastic gradient decent (SGD)</a:t>
            </a:r>
            <a:r>
              <a:rPr dirty="0"/>
              <a:t> algorithm computes the approximate expected gradient using a </a:t>
            </a:r>
            <a:r>
              <a:rPr b="1" dirty="0"/>
              <a:t>mini-batch</a:t>
            </a:r>
          </a:p>
          <a:p>
            <a:pPr lvl="1"/>
            <a:r>
              <a:rPr dirty="0"/>
              <a:t>The mini-batch is a limited-size Bernoulli sample from the full set of cases</a:t>
            </a:r>
          </a:p>
          <a:p>
            <a:pPr lvl="1"/>
            <a:r>
              <a:rPr dirty="0"/>
              <a:t>These gradient approximations are inherently noisy or stochastic, giving rise to the method’s name</a:t>
            </a:r>
          </a:p>
          <a:p>
            <a:pPr lvl="0"/>
            <a:r>
              <a:rPr dirty="0"/>
              <a:t>Using mini-batches greatly increases scalability</a:t>
            </a:r>
          </a:p>
          <a:p>
            <a:pPr lvl="1"/>
            <a:r>
              <a:rPr dirty="0"/>
              <a:t>While gradient estimates are less accurate, these estimates can be computed very quickly</a:t>
            </a:r>
          </a:p>
          <a:p>
            <a:pPr lvl="1"/>
            <a:r>
              <a:rPr dirty="0"/>
              <a:t>SGD is highly scalable and the workhorse of many large-scale statistical methods</a:t>
            </a:r>
          </a:p>
          <a:p>
            <a:pPr lvl="1"/>
            <a:r>
              <a:rPr dirty="0"/>
              <a:t>Mini-batch optimization is often referred to as </a:t>
            </a:r>
            <a:r>
              <a:rPr b="1" dirty="0"/>
              <a:t>online optimization</a:t>
            </a:r>
            <a:r>
              <a:rPr dirty="0"/>
              <a:t> since updates as cases arrive.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7506D3-C914-E60D-C8F5-0D26D31E4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lang="en-US" b="1" dirty="0"/>
              <a:t>Stochastic Gradient descent methods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lvl="0" indent="0">
                  <a:buNone/>
                </a:pPr>
                <a:r>
                  <a:rPr lang="en-US" dirty="0"/>
                  <a:t>The basic idea of stochastic optimization is using a Bernoulli random sample of the data to estimate the </a:t>
                </a:r>
                <a:r>
                  <a:rPr lang="en-US" b="1" dirty="0"/>
                  <a:t>expected update</a:t>
                </a:r>
                <a:r>
                  <a:rPr lang="en-US" dirty="0"/>
                  <a:t> of the model weights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 </m:t>
                      </m:r>
                      <m:sSub>
                        <m:sSub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acc>
                            <m:accPr>
                              <m:chr m:val="̂"/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𝑑𝑎𝑡𝑎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ar-AE"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𝐽</m:t>
                          </m:r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ar-AE" dirty="0"/>
              </a:p>
              <a:p>
                <a:pPr marL="0" lvl="0" indent="0">
                  <a:buNone/>
                </a:pPr>
                <a:r>
                  <a:rPr lang="en-US" dirty="0"/>
                  <a:t>where,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acc>
                          <m:accPr>
                            <m:chr m:val="̂"/>
                            <m:ctrlPr>
                              <a:rPr lang="ar-AE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  <m:r>
                          <a:rPr lang="ar-AE">
                            <a:latin typeface="Cambria Math" panose="02040503050406030204" pitchFamily="18" charset="0"/>
                          </a:rPr>
                          <m:t>𝑑𝑎𝑡𝑎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ar-A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ar-AE" dirty="0"/>
                  <a:t> </a:t>
                </a:r>
                <a:r>
                  <a:rPr lang="en-US" dirty="0"/>
                  <a:t>is the expected value of the gradient given the Bernoulli sample of the data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a:rPr lang="ar-AE">
                        <a:latin typeface="Cambria Math" panose="02040503050406030204" pitchFamily="18" charset="0"/>
                      </a:rPr>
                      <m:t>𝑑𝑎𝑡𝑎</m:t>
                    </m:r>
                  </m:oMath>
                </a14:m>
                <a:r>
                  <a:rPr lang="ar-AE" dirty="0"/>
                  <a:t>.</a:t>
                </a:r>
              </a:p>
              <a:p>
                <a:pPr lvl="0"/>
                <a:r>
                  <a:rPr lang="en-US" dirty="0"/>
                  <a:t>Choosing batch size can require some tuning</a:t>
                </a:r>
              </a:p>
              <a:p>
                <a:pPr lvl="1"/>
                <a:r>
                  <a:rPr lang="en-US" dirty="0"/>
                  <a:t>If the batch is too small, the gradient estimate will be and, hardware resources may not be fully utilized</a:t>
                </a:r>
              </a:p>
              <a:p>
                <a:pPr lvl="1"/>
                <a:r>
                  <a:rPr lang="en-US" dirty="0"/>
                  <a:t>Large batches require significant memory and slow the calculation</a:t>
                </a:r>
              </a:p>
              <a:p>
                <a:pPr lvl="0"/>
                <a:r>
                  <a:rPr lang="en-US" dirty="0"/>
                  <a:t>Empirically, SGD has good convergence properties</a:t>
                </a:r>
              </a:p>
              <a:p>
                <a:pPr lvl="1"/>
                <a:r>
                  <a:rPr lang="en-US" dirty="0"/>
                  <a:t>This behavior arises since stochastic gradient samples provide a better exploration of the loss function space</a:t>
                </a:r>
              </a:p>
              <a:p>
                <a:pPr lvl="1"/>
                <a:r>
                  <a:rPr lang="en-US" dirty="0"/>
                  <a:t>For very large data sets, the SGD algorithm often converges before the first pass through the data is completed</a:t>
                </a:r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44" t="-1975" r="-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932FD51D-2DD3-412C-2FB0-E731D5D96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lang="en-US" b="1" dirty="0"/>
              <a:t>Stochastic Gradient descent methods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3230"/>
            <a:ext cx="8229600" cy="3874292"/>
          </a:xfrm>
        </p:spPr>
        <p:txBody>
          <a:bodyPr>
            <a:normAutofit fontScale="55000" lnSpcReduction="20000"/>
          </a:bodyPr>
          <a:lstStyle/>
          <a:p>
            <a:pPr marL="0" lvl="0" indent="0">
              <a:buNone/>
            </a:pPr>
            <a:r>
              <a:rPr dirty="0"/>
              <a:t>The pseudo code for the SGD algorithm is:</a:t>
            </a:r>
          </a:p>
          <a:p>
            <a:pPr lvl="0" indent="0">
              <a:buNone/>
            </a:pPr>
            <a:r>
              <a:rPr dirty="0">
                <a:latin typeface="Courier"/>
              </a:rPr>
              <a:t>define </a:t>
            </a:r>
            <a:r>
              <a:rPr dirty="0" err="1">
                <a:latin typeface="Courier"/>
              </a:rPr>
              <a:t>learning_rate</a:t>
            </a:r>
            <a:r>
              <a:rPr dirty="0">
                <a:latin typeface="Courier"/>
              </a:rPr>
              <a:t>
procedure </a:t>
            </a:r>
            <a:r>
              <a:rPr dirty="0" err="1">
                <a:latin typeface="Courier"/>
              </a:rPr>
              <a:t>compute_expected_grad</a:t>
            </a:r>
            <a:r>
              <a:rPr dirty="0">
                <a:latin typeface="Courier"/>
              </a:rPr>
              <a:t>(theta, observations):   
  for each parameter:
      grad[</a:t>
            </a:r>
            <a:r>
              <a:rPr dirty="0" err="1">
                <a:latin typeface="Courier"/>
              </a:rPr>
              <a:t>theta_i</a:t>
            </a:r>
            <a:r>
              <a:rPr dirty="0">
                <a:latin typeface="Courier"/>
              </a:rPr>
              <a:t>] = grad(</a:t>
            </a:r>
            <a:r>
              <a:rPr dirty="0" err="1">
                <a:latin typeface="Courier"/>
              </a:rPr>
              <a:t>theta_i</a:t>
            </a:r>
            <a:r>
              <a:rPr dirty="0">
                <a:latin typeface="Courier"/>
              </a:rPr>
              <a:t>, observations)
  return grad
procedure </a:t>
            </a:r>
            <a:r>
              <a:rPr dirty="0" err="1">
                <a:latin typeface="Courier"/>
              </a:rPr>
              <a:t>update_weights</a:t>
            </a:r>
            <a:r>
              <a:rPr dirty="0">
                <a:latin typeface="Courier"/>
              </a:rPr>
              <a:t>(theta, grad):  
   theta = theta + </a:t>
            </a:r>
            <a:r>
              <a:rPr dirty="0" err="1">
                <a:latin typeface="Courier"/>
              </a:rPr>
              <a:t>learning_rate</a:t>
            </a:r>
            <a:r>
              <a:rPr dirty="0">
                <a:latin typeface="Courier"/>
              </a:rPr>
              <a:t> * grad(theta)
   return weights </a:t>
            </a:r>
            <a:endParaRPr lang="en-US" dirty="0">
              <a:latin typeface="Courier"/>
            </a:endParaRPr>
          </a:p>
          <a:p>
            <a:pPr lvl="0" indent="0">
              <a:buNone/>
            </a:pPr>
            <a:r>
              <a:rPr lang="en-US" dirty="0">
                <a:latin typeface="Courier"/>
              </a:rPr>
              <a:t>Procedure </a:t>
            </a:r>
            <a:r>
              <a:rPr lang="en-US" dirty="0" err="1">
                <a:latin typeface="Courier"/>
              </a:rPr>
              <a:t>gradient_descent</a:t>
            </a:r>
            <a:r>
              <a:rPr lang="en-US" dirty="0">
                <a:latin typeface="Courier"/>
              </a:rPr>
              <a:t>(cases, </a:t>
            </a:r>
            <a:r>
              <a:rPr lang="en-US" dirty="0" err="1">
                <a:latin typeface="Courier"/>
              </a:rPr>
              <a:t>initial_weights</a:t>
            </a:r>
            <a:r>
              <a:rPr lang="en-US" dirty="0">
                <a:latin typeface="Courier"/>
              </a:rPr>
              <a:t>)</a:t>
            </a:r>
            <a:r>
              <a:rPr dirty="0">
                <a:latin typeface="Courier"/>
              </a:rPr>
              <a:t> 
</a:t>
            </a:r>
            <a:r>
              <a:rPr lang="en-US" dirty="0">
                <a:latin typeface="Courier"/>
              </a:rPr>
              <a:t>   </a:t>
            </a:r>
            <a:r>
              <a:rPr dirty="0" err="1">
                <a:latin typeface="Courier"/>
              </a:rPr>
              <a:t>Random_sort</a:t>
            </a:r>
            <a:r>
              <a:rPr dirty="0">
                <a:latin typeface="Courier"/>
              </a:rPr>
              <a:t>(cases)     </a:t>
            </a:r>
            <a:endParaRPr lang="en-US" dirty="0">
              <a:latin typeface="Courier"/>
            </a:endParaRPr>
          </a:p>
          <a:p>
            <a:pPr lvl="0" indent="0">
              <a:buNone/>
            </a:pPr>
            <a:r>
              <a:rPr lang="en-US" dirty="0">
                <a:latin typeface="Courier"/>
              </a:rPr>
              <a:t>   weights = </a:t>
            </a:r>
            <a:r>
              <a:rPr lang="en-US" dirty="0" err="1">
                <a:latin typeface="Courier"/>
              </a:rPr>
              <a:t>intial_weights</a:t>
            </a:r>
            <a:r>
              <a:rPr dirty="0">
                <a:latin typeface="Courier"/>
              </a:rPr>
              <a:t>     
</a:t>
            </a:r>
            <a:r>
              <a:rPr lang="en-US" dirty="0">
                <a:latin typeface="Courier"/>
              </a:rPr>
              <a:t>   </a:t>
            </a:r>
            <a:r>
              <a:rPr dirty="0">
                <a:latin typeface="Courier"/>
              </a:rPr>
              <a:t>while(|grad| &gt; </a:t>
            </a:r>
            <a:r>
              <a:rPr dirty="0" err="1">
                <a:latin typeface="Courier"/>
              </a:rPr>
              <a:t>stopping_criteria</a:t>
            </a:r>
            <a:r>
              <a:rPr dirty="0">
                <a:latin typeface="Courier"/>
              </a:rPr>
              <a:t>):      
    </a:t>
            </a:r>
            <a:r>
              <a:rPr lang="en-US" dirty="0">
                <a:latin typeface="Courier"/>
              </a:rPr>
              <a:t>    </a:t>
            </a:r>
            <a:r>
              <a:rPr dirty="0">
                <a:latin typeface="Courier"/>
              </a:rPr>
              <a:t>mini-batch = </a:t>
            </a:r>
            <a:r>
              <a:rPr dirty="0" err="1">
                <a:latin typeface="Courier"/>
              </a:rPr>
              <a:t>sample_next_n</a:t>
            </a:r>
            <a:r>
              <a:rPr dirty="0">
                <a:latin typeface="Courier"/>
              </a:rPr>
              <a:t>(cases)     
    </a:t>
            </a:r>
            <a:r>
              <a:rPr lang="en-US" dirty="0">
                <a:latin typeface="Courier"/>
              </a:rPr>
              <a:t>    </a:t>
            </a:r>
            <a:r>
              <a:rPr dirty="0">
                <a:latin typeface="Courier"/>
              </a:rPr>
              <a:t>grad = </a:t>
            </a:r>
            <a:r>
              <a:rPr dirty="0" err="1">
                <a:latin typeface="Courier"/>
              </a:rPr>
              <a:t>compute_expected_grad</a:t>
            </a:r>
            <a:r>
              <a:rPr dirty="0">
                <a:latin typeface="Courier"/>
              </a:rPr>
              <a:t>(theta, </a:t>
            </a:r>
            <a:r>
              <a:rPr dirty="0" err="1">
                <a:latin typeface="Courier"/>
              </a:rPr>
              <a:t>mini_batch</a:t>
            </a:r>
            <a:r>
              <a:rPr dirty="0">
                <a:latin typeface="Courier"/>
              </a:rPr>
              <a:t>)      
    </a:t>
            </a:r>
            <a:r>
              <a:rPr lang="en-US" dirty="0">
                <a:latin typeface="Courier"/>
              </a:rPr>
              <a:t>    </a:t>
            </a:r>
            <a:r>
              <a:rPr dirty="0">
                <a:latin typeface="Courier"/>
              </a:rPr>
              <a:t>weights = </a:t>
            </a:r>
            <a:r>
              <a:rPr dirty="0" err="1">
                <a:latin typeface="Courier"/>
              </a:rPr>
              <a:t>update_weights</a:t>
            </a:r>
            <a:r>
              <a:rPr dirty="0">
                <a:latin typeface="Courier"/>
              </a:rPr>
              <a:t>(theta, grad)`   </a:t>
            </a:r>
          </a:p>
          <a:p>
            <a:pPr lvl="0"/>
            <a:r>
              <a:rPr dirty="0"/>
              <a:t>If the sampling continues for more than one cycle through the cases, the samples are biased</a:t>
            </a:r>
          </a:p>
          <a:p>
            <a:pPr lvl="0"/>
            <a:r>
              <a:rPr dirty="0"/>
              <a:t>In practice, this small bias does not seem to mater much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54FC87-9357-BDCB-D113-2DD104DE9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lang="en-US" b="1" dirty="0"/>
              <a:t>Stochastic gradient descent (SGD)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15028"/>
                <a:ext cx="8229600" cy="3877519"/>
              </a:xfrm>
            </p:spPr>
            <p:txBody>
              <a:bodyPr>
                <a:normAutofit fontScale="70000" lnSpcReduction="20000"/>
              </a:bodyPr>
              <a:lstStyle/>
              <a:p>
                <a:pPr marL="0" lvl="0" indent="0">
                  <a:buNone/>
                </a:pPr>
                <a:r>
                  <a:rPr lang="en-US" b="1" dirty="0"/>
                  <a:t>Newton’s method</a:t>
                </a:r>
                <a:r>
                  <a:rPr lang="en-US" dirty="0"/>
                  <a:t>, and related methods, employ a </a:t>
                </a:r>
                <a:r>
                  <a:rPr lang="en-US" b="1" dirty="0"/>
                  <a:t>quadratic approximation</a:t>
                </a:r>
                <a:r>
                  <a:rPr lang="en-US" dirty="0"/>
                  <a:t> to optimization. For MLE, Newton’s method uses both the first and second derivatives of the log-likelihood function.</a:t>
                </a:r>
              </a:p>
              <a:p>
                <a:pPr marL="0" lvl="0" indent="0">
                  <a:buNone/>
                </a:pPr>
                <a:r>
                  <a:rPr lang="en-US" dirty="0"/>
                  <a:t>Consider a nonlinear log-likelihood function,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𝑙</m:t>
                    </m:r>
                    <m:d>
                      <m:d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 |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𝐗</m:t>
                        </m:r>
                      </m:e>
                    </m:d>
                  </m:oMath>
                </a14:m>
                <a:r>
                  <a:rPr lang="ar-AE" dirty="0"/>
                  <a:t>. </a:t>
                </a:r>
                <a:r>
                  <a:rPr lang="en-US" dirty="0"/>
                  <a:t>We use a Taylor expansion to find the tangent point of the log-likelihood,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>
                        <a:latin typeface="Cambria Math" panose="02040503050406030204" pitchFamily="18" charset="0"/>
                      </a:rPr>
                      <m:t>𝛿𝜃</m:t>
                    </m:r>
                  </m:oMath>
                </a14:m>
                <a:r>
                  <a:rPr lang="ar-AE" dirty="0"/>
                  <a:t>. </a:t>
                </a:r>
                <a:r>
                  <a:rPr lang="en-US" dirty="0"/>
                  <a:t>The Taylor expansion is: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>
                          <a:latin typeface="Cambria Math" panose="02040503050406030204" pitchFamily="18" charset="0"/>
                        </a:rPr>
                        <m:t>𝑙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𝛿𝜃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𝑙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′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𝛿𝜃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ar-AE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″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𝛿</m:t>
                      </m:r>
                      <m:sSup>
                        <m:sSup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ar-AE" dirty="0"/>
              </a:p>
              <a:p>
                <a:pPr marL="0" lvl="0" indent="0">
                  <a:buNone/>
                </a:pPr>
                <a:r>
                  <a:rPr lang="en-US" dirty="0"/>
                  <a:t>Setting this expansion to 0, we have: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ar-A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𝛿𝜃</m:t>
                          </m:r>
                        </m:den>
                      </m:f>
                      <m:d>
                        <m:d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𝑙</m:t>
                          </m:r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  <m:r>
                            <a:rPr lang="ar-AE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′</m:t>
                          </m:r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  <m:r>
                            <a:rPr lang="ar-AE">
                              <a:latin typeface="Cambria Math" panose="02040503050406030204" pitchFamily="18" charset="0"/>
                            </a:rPr>
                            <m:t>𝛿𝜃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″</m:t>
                          </m:r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  <m:r>
                            <a:rPr lang="ar-AE">
                              <a:latin typeface="Cambria Math" panose="02040503050406030204" pitchFamily="18" charset="0"/>
                            </a:rPr>
                            <m:t>𝛿</m:t>
                          </m:r>
                          <m:sSup>
                            <m:sSupPr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ar-AE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p>
                          <m:r>
                            <a:rPr lang="ar-AE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p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″</m:t>
                          </m:r>
                        </m:sup>
                      </m:sSup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𝛿𝜃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ar-AE" dirty="0"/>
              </a:p>
              <a:p>
                <a:pPr marL="0" lvl="0" indent="0">
                  <a:buNone/>
                </a:pPr>
                <a:r>
                  <a:rPr lang="en-US" dirty="0"/>
                  <a:t>It is simple to solve for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𝛿𝜃</m:t>
                    </m:r>
                  </m:oMath>
                </a14:m>
                <a:r>
                  <a:rPr lang="en-US" dirty="0"/>
                  <a:t>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>
                          <a:latin typeface="Cambria Math" panose="02040503050406030204" pitchFamily="18" charset="0"/>
                        </a:rPr>
                        <m:t>𝛿𝜃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′</m:t>
                          </m:r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″</m:t>
                          </m:r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15028"/>
                <a:ext cx="8229600" cy="3877519"/>
              </a:xfrm>
              <a:blipFill>
                <a:blip r:embed="rId2"/>
                <a:stretch>
                  <a:fillRect l="-444" t="-1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F59111FB-B96D-730E-E449-90B7207D4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lang="en-US" b="1" dirty="0"/>
              <a:t>Newton’s method</a:t>
            </a:r>
          </a:p>
        </p:txBody>
      </p:sp>
    </p:spTree>
    <p:extLst>
      <p:ext uri="{BB962C8B-B14F-4D97-AF65-F5344CB8AC3E}">
        <p14:creationId xmlns:p14="http://schemas.microsoft.com/office/powerpoint/2010/main" val="317068234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lvl="0" indent="0">
                  <a:buNone/>
                </a:pPr>
                <a:r>
                  <a:rPr lang="en-US" dirty="0"/>
                  <a:t>At each step in the iteration, the update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ar-AE" dirty="0"/>
                  <a:t> </a:t>
                </a:r>
                <a:r>
                  <a:rPr lang="en-US" dirty="0"/>
                  <a:t>is given by the following relationship: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ar-AE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ar-AE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′</m:t>
                          </m:r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″</m:t>
                          </m:r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ar-AE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ar-AE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𝛿𝜃</m:t>
                      </m:r>
                    </m:oMath>
                  </m:oMathPara>
                </a14:m>
                <a:endParaRPr lang="ar-AE" dirty="0"/>
              </a:p>
              <a:p>
                <a:pPr lvl="0"/>
                <a:r>
                  <a:rPr lang="en-US" dirty="0"/>
                  <a:t>Newton’s method has a quadratic form</a:t>
                </a:r>
              </a:p>
              <a:p>
                <a:pPr lvl="1"/>
                <a:r>
                  <a:rPr lang="en-US" dirty="0"/>
                  <a:t>The quadratic form is not just a mathematical curiosity</a:t>
                </a:r>
              </a:p>
              <a:p>
                <a:pPr lvl="1"/>
                <a:r>
                  <a:rPr lang="en-US" dirty="0"/>
                  <a:t>Newton’s method exhibits convergence quadratic in the number of iterations</a:t>
                </a:r>
              </a:p>
              <a:p>
                <a:pPr lvl="1"/>
                <a:r>
                  <a:rPr lang="en-US" dirty="0"/>
                  <a:t>Compared to the approximate linear convergence for gradient descent methods</a:t>
                </a:r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3" t="-3232" r="-444" b="-17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1775A064-C15C-C092-1B60-7DBBF72DD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lang="en-US" b="1" dirty="0"/>
              <a:t>Newton’s method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63229"/>
                <a:ext cx="8229600" cy="3874291"/>
              </a:xfrm>
            </p:spPr>
            <p:txBody>
              <a:bodyPr>
                <a:normAutofit fontScale="77500" lnSpcReduction="20000"/>
              </a:bodyPr>
              <a:lstStyle/>
              <a:p>
                <a:pPr marL="0" lvl="0" indent="0">
                  <a:buNone/>
                </a:pPr>
                <a:r>
                  <a:rPr dirty="0"/>
                  <a:t>Newton’s method in higher dimensions</a:t>
                </a:r>
              </a:p>
              <a:p>
                <a:pPr lvl="0"/>
                <a:r>
                  <a:rPr dirty="0"/>
                  <a:t>Use the gradient,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>
                        <a:latin typeface="Cambria Math" panose="02040503050406030204" pitchFamily="18" charset="0"/>
                      </a:rPr>
                      <m:t>∇</m:t>
                    </m:r>
                    <m:r>
                      <a:rPr>
                        <a:latin typeface="Cambria Math" panose="02040503050406030204" pitchFamily="18" charset="0"/>
                      </a:rPr>
                      <m:t>𝑙</m:t>
                    </m:r>
                    <m:d>
                      <m:d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</m:d>
                  </m:oMath>
                </a14:m>
                <a:r>
                  <a:rPr dirty="0"/>
                  <a:t> for the first derivatives of the likelihood</a:t>
                </a:r>
              </a:p>
              <a:p>
                <a:pPr lvl="0"/>
                <a:r>
                  <a:rPr dirty="0"/>
                  <a:t>Second derivative is represented as a matrix,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>
                        <a:latin typeface="Cambria Math" panose="02040503050406030204" pitchFamily="18" charset="0"/>
                      </a:rPr>
                      <m:t>𝑙</m:t>
                    </m:r>
                    <m:d>
                      <m:d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</m:d>
                  </m:oMath>
                </a14:m>
                <a:r>
                  <a:rPr dirty="0"/>
                  <a:t>, known as the </a:t>
                </a:r>
                <a:r>
                  <a:rPr b="1" dirty="0"/>
                  <a:t>Hessian</a:t>
                </a:r>
              </a:p>
              <a:p>
                <a:pPr lvl="0"/>
                <a:r>
                  <a:rPr dirty="0"/>
                  <a:t>The quadratic update is: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+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𝛾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>
                                      <a:latin typeface="Cambria Math" panose="02040503050406030204" pitchFamily="18" charset="0"/>
                                    </a:rPr>
                                    <m:t>∇</m:t>
                                  </m:r>
                                </m:e>
                                <m:sub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  <m:sup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d>
                                <m:dPr>
                                  <m:ctrlPr>
                                    <a:rPr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acc>
                                </m:e>
                              </m:d>
                            </m:e>
                          </m:d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𝑙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dirty="0"/>
              </a:p>
              <a:p>
                <a:pPr lvl="0"/>
                <a:r>
                  <a:rPr dirty="0"/>
                  <a:t>Requires computing the </a:t>
                </a:r>
                <a:r>
                  <a:rPr b="1" dirty="0"/>
                  <a:t>inverse Hessian</a:t>
                </a:r>
                <a:r>
                  <a:rPr dirty="0"/>
                  <a:t> matrix with practical difficulties</a:t>
                </a:r>
              </a:p>
              <a:p>
                <a:pPr lvl="0"/>
                <a:r>
                  <a:rPr dirty="0"/>
                  <a:t>The inverse of the Hessian may not exist as this matrix may be singular</a:t>
                </a:r>
              </a:p>
              <a:p>
                <a:pPr lvl="0"/>
                <a:r>
                  <a:rPr dirty="0"/>
                  <a:t>With large number of model parameters, the Hessian will have high dimensionality and computing inverse is computationally intensive</a:t>
                </a:r>
              </a:p>
              <a:p>
                <a:pPr lvl="1"/>
                <a:r>
                  <a:rPr dirty="0"/>
                  <a:t>Computing the full gradient and Hessian requires summing over all observations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63229"/>
                <a:ext cx="8229600" cy="3874291"/>
              </a:xfrm>
              <a:blipFill>
                <a:blip r:embed="rId2"/>
                <a:stretch>
                  <a:fillRect l="-667" t="-20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268620D1-4CC7-1E8F-442B-863B86149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lang="en-US" b="1" dirty="0"/>
              <a:t>Newton’s method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lvl="0" indent="0">
                  <a:buNone/>
                </a:pPr>
                <a:r>
                  <a:rPr sz="2200" dirty="0"/>
                  <a:t>Newton’s method in higher dimensions</a:t>
                </a:r>
              </a:p>
              <a:p>
                <a:pPr lvl="0"/>
                <a:r>
                  <a:rPr sz="2200" dirty="0"/>
                  <a:t>The quadratic update is: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sz="22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20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220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sz="220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sz="22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sz="22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20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220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sz="22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sz="2200">
                          <a:latin typeface="Cambria Math" panose="02040503050406030204" pitchFamily="18" charset="0"/>
                        </a:rPr>
                        <m:t>𝛾</m:t>
                      </m:r>
                      <m:sSup>
                        <m:sSupPr>
                          <m:ctrlPr>
                            <a:rPr sz="2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sz="220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sz="2200">
                                      <a:latin typeface="Cambria Math" panose="02040503050406030204" pitchFamily="18" charset="0"/>
                                    </a:rPr>
                                    <m:t>∇</m:t>
                                  </m:r>
                                </m:e>
                                <m:sub>
                                  <m:r>
                                    <a:rPr sz="220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  <m:sup>
                                  <m:r>
                                    <a:rPr sz="22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sz="220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d>
                                <m:dPr>
                                  <m:ctrlPr>
                                    <a:rPr sz="2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sz="220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sz="220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acc>
                                </m:e>
                              </m:d>
                            </m:e>
                          </m:d>
                        </m:e>
                        <m:sup>
                          <m:r>
                            <a:rPr sz="220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b>
                        <m:sSubPr>
                          <m:ctrlPr>
                            <a:rPr sz="22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sz="2200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sz="220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sz="2200">
                          <a:latin typeface="Cambria Math" panose="02040503050406030204" pitchFamily="18" charset="0"/>
                        </a:rPr>
                        <m:t>𝑙</m:t>
                      </m:r>
                      <m:d>
                        <m:dPr>
                          <m:ctrlPr>
                            <a:rPr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sz="220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sz="220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sz="2200" dirty="0"/>
              </a:p>
              <a:p>
                <a:pPr lvl="0"/>
                <a:r>
                  <a:rPr sz="2200" dirty="0"/>
                  <a:t>For large scale problems </a:t>
                </a:r>
                <a:r>
                  <a:rPr sz="2200" b="1" dirty="0"/>
                  <a:t>quasi-Newton</a:t>
                </a:r>
                <a:r>
                  <a:rPr sz="2200" dirty="0"/>
                  <a:t> methods are used</a:t>
                </a:r>
              </a:p>
              <a:p>
                <a:pPr lvl="0"/>
                <a:r>
                  <a:rPr sz="2200" dirty="0"/>
                  <a:t>Use an approximation to avoid computing the full inverse Hessian</a:t>
                </a:r>
              </a:p>
              <a:p>
                <a:pPr lvl="0"/>
                <a:r>
                  <a:rPr sz="2200" b="1" dirty="0"/>
                  <a:t>Limited-memory </a:t>
                </a:r>
                <a:r>
                  <a:rPr sz="2200" b="1" dirty="0" err="1"/>
                  <a:t>Broyden</a:t>
                </a:r>
                <a:r>
                  <a:rPr sz="2200" b="1" dirty="0"/>
                  <a:t>–Fletcher–Goldfarb–</a:t>
                </a:r>
                <a:r>
                  <a:rPr sz="2200" b="1" dirty="0" err="1"/>
                  <a:t>Shanno</a:t>
                </a:r>
                <a:r>
                  <a:rPr sz="2200" b="1" dirty="0"/>
                  <a:t> (L-BFGS)</a:t>
                </a:r>
                <a:r>
                  <a:rPr sz="2200" dirty="0"/>
                  <a:t> algorithm the most widely used quasi-Newton method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3" t="-12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5FF4A609-C511-B11B-4BAD-3ABC8846A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lang="en-US" b="1" dirty="0"/>
              <a:t>Newton’s method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sz="2200" dirty="0"/>
              <a:t>The maximum likelihood estimator has a number of important limitations, including</a:t>
            </a:r>
          </a:p>
          <a:p>
            <a:pPr lvl="0"/>
            <a:r>
              <a:rPr sz="2200" dirty="0"/>
              <a:t>Incorrect model for complex distributions</a:t>
            </a:r>
          </a:p>
          <a:p>
            <a:pPr lvl="0"/>
            <a:r>
              <a:rPr sz="2200" dirty="0"/>
              <a:t>Parameter near limits</a:t>
            </a:r>
          </a:p>
          <a:p>
            <a:pPr lvl="0"/>
            <a:r>
              <a:rPr sz="2200" dirty="0"/>
              <a:t>High dimensional problems</a:t>
            </a:r>
          </a:p>
          <a:p>
            <a:pPr lvl="0"/>
            <a:r>
              <a:rPr sz="2200" dirty="0"/>
              <a:t>Correlated features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B2BD23-B9D0-583A-F456-0AFE5F6E2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lang="en-US" b="1" dirty="0"/>
              <a:t>Limitations of MLE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737370"/>
          </a:xfrm>
        </p:spPr>
        <p:txBody>
          <a:bodyPr>
            <a:normAutofit fontScale="85000" lnSpcReduction="20000"/>
          </a:bodyPr>
          <a:lstStyle/>
          <a:p>
            <a:pPr marL="0" lvl="0" indent="0">
              <a:buNone/>
            </a:pPr>
            <a:r>
              <a:rPr dirty="0"/>
              <a:t>In many real-world problems the distribution are not simple</a:t>
            </a:r>
          </a:p>
          <a:p>
            <a:pPr lvl="0"/>
            <a:r>
              <a:rPr dirty="0"/>
              <a:t>Problematic for maximum likelihood methods</a:t>
            </a:r>
          </a:p>
          <a:p>
            <a:pPr lvl="0"/>
            <a:r>
              <a:rPr dirty="0"/>
              <a:t>Consider a likelihood function that is only approximately correct</a:t>
            </a:r>
          </a:p>
          <a:p>
            <a:pPr lvl="1"/>
            <a:r>
              <a:rPr dirty="0"/>
              <a:t>Population being modeled has a different distribution</a:t>
            </a:r>
          </a:p>
          <a:p>
            <a:pPr lvl="1"/>
            <a:r>
              <a:rPr dirty="0"/>
              <a:t>Outliers in the form of erroneous samples</a:t>
            </a:r>
          </a:p>
          <a:p>
            <a:pPr lvl="0"/>
            <a:r>
              <a:rPr dirty="0"/>
              <a:t>Example; maximum likelihood estimator for population with a mixture of simple distributions</a:t>
            </a:r>
          </a:p>
          <a:p>
            <a:pPr lvl="1"/>
            <a:r>
              <a:rPr dirty="0"/>
              <a:t>Mixture has multiple modes</a:t>
            </a:r>
          </a:p>
          <a:p>
            <a:pPr lvl="1"/>
            <a:r>
              <a:rPr dirty="0"/>
              <a:t>One mode is the maximum</a:t>
            </a:r>
          </a:p>
          <a:p>
            <a:pPr lvl="0"/>
            <a:r>
              <a:rPr dirty="0"/>
              <a:t>Mode found by any gradient-based algorithm is dependent on the starting point</a:t>
            </a:r>
          </a:p>
          <a:p>
            <a:pPr lvl="1"/>
            <a:r>
              <a:rPr dirty="0"/>
              <a:t>MLE algorithm will find the nearest </a:t>
            </a:r>
            <a:r>
              <a:rPr b="1" dirty="0"/>
              <a:t>local maximum</a:t>
            </a:r>
            <a:endParaRPr dirty="0"/>
          </a:p>
          <a:p>
            <a:pPr lvl="1"/>
            <a:r>
              <a:rPr dirty="0"/>
              <a:t>No guarantee of finding the actual maximum likelihood point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4CD631-A812-54AF-6843-97EC1F85B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lang="en-US" b="1" dirty="0"/>
              <a:t>Incorrect model and complex distributions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967695"/>
            <a:ext cx="4203181" cy="2392101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sz="2200" dirty="0"/>
              <a:t>Example; univariate Normal maximum likelihood estimator for mixture of 3 Normal distributions</a:t>
            </a:r>
            <a:endParaRPr lang="en-US" sz="2200" dirty="0"/>
          </a:p>
          <a:p>
            <a:pPr marL="0" lvl="0" indent="0">
              <a:buNone/>
            </a:pPr>
            <a:endParaRPr lang="en-US" sz="1000" dirty="0"/>
          </a:p>
          <a:p>
            <a:pPr marL="0" lvl="0" indent="0">
              <a:buNone/>
            </a:pPr>
            <a:r>
              <a:rPr lang="en-US" sz="2200" dirty="0"/>
              <a:t>Maximum likelihood is not a maximum of distribution</a:t>
            </a:r>
            <a:endParaRPr sz="2200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A954A0E-1962-1D5D-2B65-40E291267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8"/>
            <a:ext cx="4114800" cy="1391327"/>
          </a:xfrm>
        </p:spPr>
        <p:txBody>
          <a:bodyPr>
            <a:normAutofit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lang="en-US" sz="3200" b="1" dirty="0"/>
              <a:t>Incorrect model and complex distributions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B154418-8E4A-767E-AFD1-2EFB65B6FA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8222" y="86856"/>
            <a:ext cx="4203181" cy="5056644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lvl="0" indent="0">
                  <a:buNone/>
                </a:pPr>
                <a:r>
                  <a:rPr dirty="0"/>
                  <a:t>For many distributions, parameter values have limits</a:t>
                </a:r>
              </a:p>
              <a:p>
                <a:pPr lvl="0"/>
                <a:r>
                  <a:rPr dirty="0"/>
                  <a:t>The log-likelihood function may have an extremely high gradient near the limit</a:t>
                </a:r>
              </a:p>
              <a:p>
                <a:pPr lvl="1"/>
                <a:r>
                  <a:rPr dirty="0"/>
                  <a:t>Results can be poorly determined parameter estimates and slow convergence</a:t>
                </a:r>
              </a:p>
              <a:p>
                <a:pPr lvl="1"/>
                <a:r>
                  <a:rPr dirty="0"/>
                  <a:t>Fisher information drops rapidly near these limits, indicating poorly determined gradient</a:t>
                </a:r>
              </a:p>
              <a:p>
                <a:pPr lvl="0"/>
                <a:r>
                  <a:rPr dirty="0"/>
                  <a:t>Examples:</a:t>
                </a:r>
              </a:p>
              <a:p>
                <a:pPr lvl="1"/>
                <a:r>
                  <a:rPr dirty="0"/>
                  <a:t>Variance estimates near 0; variables with low variance</a:t>
                </a:r>
              </a:p>
              <a:p>
                <a:pPr lvl="1"/>
                <a:r>
                  <a:rPr dirty="0"/>
                  <a:t>Binomial parameter estimates near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𝑝</m:t>
                    </m:r>
                    <m:r>
                      <a:rPr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dirty="0"/>
                  <a:t> and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𝑝</m:t>
                    </m:r>
                    <m:r>
                      <a:rPr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dirty="0"/>
                  <a:t>; case with either very few successes or failure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3" t="-3052" r="-7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3C72D914-B33B-6D9A-A6D6-8316F8CDD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lang="en-US" b="1" dirty="0"/>
              <a:t>Parameter near limits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3"/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457201" y="1076327"/>
                <a:ext cx="8262394" cy="860503"/>
              </a:xfrm>
            </p:spPr>
            <p:txBody>
              <a:bodyPr>
                <a:normAutofit/>
              </a:bodyPr>
              <a:lstStyle/>
              <a:p>
                <a:pPr marL="0" lvl="0" indent="0">
                  <a:buNone/>
                </a:pPr>
                <a:r>
                  <a:rPr sz="2000" dirty="0"/>
                  <a:t>Example; Binomial likelihood and Fisher information with </a:t>
                </a:r>
                <a14:m>
                  <m:oMath xmlns:m="http://schemas.openxmlformats.org/officeDocument/2006/math">
                    <m:r>
                      <a:rPr sz="2000">
                        <a:latin typeface="Cambria Math" panose="02040503050406030204" pitchFamily="18" charset="0"/>
                      </a:rPr>
                      <m:t>𝑝</m:t>
                    </m:r>
                    <m:r>
                      <a:rPr sz="200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br>
                  <a:rPr sz="2000" dirty="0"/>
                </a:br>
                <a:r>
                  <a:rPr sz="2000" dirty="0"/>
                  <a:t>Extreme gradients and low information near limits, </a:t>
                </a:r>
                <a14:m>
                  <m:oMath xmlns:m="http://schemas.openxmlformats.org/officeDocument/2006/math">
                    <m:r>
                      <a:rPr sz="2000">
                        <a:latin typeface="Cambria Math" panose="02040503050406030204" pitchFamily="18" charset="0"/>
                      </a:rPr>
                      <m:t>𝑝</m:t>
                    </m:r>
                    <m:r>
                      <a:rPr sz="200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sz="2000" dirty="0"/>
                  <a:t> and </a:t>
                </a:r>
                <a14:m>
                  <m:oMath xmlns:m="http://schemas.openxmlformats.org/officeDocument/2006/math">
                    <m:r>
                      <a:rPr sz="2000">
                        <a:latin typeface="Cambria Math" panose="02040503050406030204" pitchFamily="18" charset="0"/>
                      </a:rPr>
                      <m:t>𝑝</m:t>
                    </m:r>
                    <m:r>
                      <a:rPr sz="200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sz="2000" dirty="0"/>
              </a:p>
            </p:txBody>
          </p:sp>
        </mc:Choice>
        <mc:Fallback xmlns="">
          <p:sp>
            <p:nvSpPr>
              <p:cNvPr id="4" name="Tex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457201" y="1076327"/>
                <a:ext cx="8262394" cy="860503"/>
              </a:xfrm>
              <a:blipFill>
                <a:blip r:embed="rId2"/>
                <a:stretch>
                  <a:fillRect l="-738" t="-42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1">
            <a:extLst>
              <a:ext uri="{FF2B5EF4-FFF2-40B4-BE49-F238E27FC236}">
                <a16:creationId xmlns:a16="http://schemas.microsoft.com/office/drawing/2014/main" id="{0504055F-C267-6DD8-6D23-E306EF39E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774011"/>
          </a:xfrm>
        </p:spPr>
        <p:txBody>
          <a:bodyPr>
            <a:normAutofit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lang="en-US" sz="3200" b="1" dirty="0"/>
              <a:t>Parameter near limits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E3A751-8D9B-B3EF-7EA6-B8F61DABAF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4" y="2033168"/>
            <a:ext cx="7632407" cy="3028828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lvl="0" indent="0">
              <a:buNone/>
            </a:pPr>
            <a:r>
              <a:rPr dirty="0"/>
              <a:t>The MLE method often finds poor solutions to problems in high dimensions</a:t>
            </a:r>
          </a:p>
          <a:p>
            <a:pPr lvl="0"/>
            <a:r>
              <a:rPr dirty="0"/>
              <a:t>High dimensions means a large numbers of parameters</a:t>
            </a:r>
          </a:p>
          <a:p>
            <a:pPr lvl="1"/>
            <a:r>
              <a:rPr dirty="0"/>
              <a:t>The likelihood function has corresponding high dimensionality; one dimension for each parameter</a:t>
            </a:r>
          </a:p>
          <a:p>
            <a:pPr lvl="0"/>
            <a:r>
              <a:rPr dirty="0"/>
              <a:t>For high dimensional problems, it is often the case that the gradient and Hessian are not well determined</a:t>
            </a:r>
          </a:p>
          <a:p>
            <a:pPr lvl="1"/>
            <a:r>
              <a:rPr dirty="0"/>
              <a:t>Uncertainty in the variables can lead to considerable uncertainty in determining the gradient in high dimensions</a:t>
            </a:r>
          </a:p>
          <a:p>
            <a:pPr lvl="1"/>
            <a:r>
              <a:rPr dirty="0"/>
              <a:t>MLE algorithms may not converge or converge to results with a large uncertainty</a:t>
            </a:r>
          </a:p>
          <a:p>
            <a:pPr lvl="0"/>
            <a:r>
              <a:rPr dirty="0"/>
              <a:t>Even with few parameters, MLE methods can have convergence problems</a:t>
            </a:r>
          </a:p>
          <a:p>
            <a:pPr lvl="1"/>
            <a:r>
              <a:rPr dirty="0"/>
              <a:t>Example; difficulties fitting the variance parameter while fitting the location parameter for a univariate Normal distribution</a:t>
            </a:r>
          </a:p>
          <a:p>
            <a:pPr lvl="0"/>
            <a:r>
              <a:rPr dirty="0"/>
              <a:t>We will discuss this problem later in the course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A0F5B5-8D76-8EC3-8233-FB5B45D38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lang="en-US" b="1" dirty="0"/>
              <a:t>High dimensional problems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Theory assumes that the variables used for MLE are independent</a:t>
            </a:r>
          </a:p>
          <a:p>
            <a:pPr lvl="0"/>
            <a:r>
              <a:rPr dirty="0"/>
              <a:t>In reality, never truly the case</a:t>
            </a:r>
          </a:p>
          <a:p>
            <a:pPr lvl="0"/>
            <a:r>
              <a:rPr dirty="0"/>
              <a:t>Some variables have a high correlation to each other</a:t>
            </a:r>
          </a:p>
          <a:p>
            <a:pPr lvl="0"/>
            <a:r>
              <a:rPr dirty="0"/>
              <a:t>MLE algorithm can breakdown since gradients will not be well determined</a:t>
            </a:r>
          </a:p>
          <a:p>
            <a:pPr lvl="0"/>
            <a:r>
              <a:rPr dirty="0"/>
              <a:t>We will discuss this problem later in the course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A83F0B-E2BF-75D6-906B-1430A86DA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lang="en-US" b="1" dirty="0"/>
              <a:t>Correlated features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lvl="0" indent="0">
                  <a:buNone/>
                </a:pPr>
                <a:r>
                  <a:rPr sz="2200" dirty="0"/>
                  <a:t>Likelihood is a measure of how well a </a:t>
                </a:r>
                <a:r>
                  <a:rPr sz="2200" b="1" dirty="0"/>
                  <a:t>parametric model</a:t>
                </a:r>
                <a:r>
                  <a:rPr sz="2200" dirty="0"/>
                  <a:t> fits a data sample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200">
                          <a:latin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sz="220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sz="2200"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 sz="2200">
                              <a:latin typeface="Cambria Math" panose="02040503050406030204" pitchFamily="18" charset="0"/>
                            </a:rPr>
                            <m:t>| </m:t>
                          </m:r>
                          <m:r>
                            <a:rPr sz="2200">
                              <a:latin typeface="Cambria Math" panose="02040503050406030204" pitchFamily="18" charset="0"/>
                            </a:rPr>
                            <m:t>𝛉</m:t>
                          </m:r>
                        </m:e>
                      </m:d>
                      <m:r>
                        <a:rPr sz="220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limLoc m:val="undOvr"/>
                          <m:ctrlPr>
                            <a:rPr sz="220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sz="220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sz="220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sz="220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sz="220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nary>
                      <m:d>
                        <m:dPr>
                          <m:ctrlPr>
                            <a:rPr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sz="220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220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sz="220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sz="220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sz="2200">
                              <a:latin typeface="Cambria Math" panose="02040503050406030204" pitchFamily="18" charset="0"/>
                            </a:rPr>
                            <m:t>𝛉</m:t>
                          </m:r>
                        </m:e>
                      </m:d>
                    </m:oMath>
                  </m:oMathPara>
                </a14:m>
                <a:endParaRPr sz="2200" dirty="0"/>
              </a:p>
              <a:p>
                <a:pPr marL="0" lvl="0" indent="0">
                  <a:buNone/>
                </a:pPr>
                <a:r>
                  <a:rPr sz="2200" dirty="0"/>
                  <a:t>In most practical cases, we work with the </a:t>
                </a:r>
                <a:r>
                  <a:rPr sz="2200" b="1" dirty="0"/>
                  <a:t>log likelihood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200">
                          <a:latin typeface="Cambria Math" panose="02040503050406030204" pitchFamily="18" charset="0"/>
                        </a:rPr>
                        <m:t>𝑙</m:t>
                      </m:r>
                      <m:d>
                        <m:dPr>
                          <m:ctrlPr>
                            <a:rPr sz="220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sz="2200"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 sz="2200">
                              <a:latin typeface="Cambria Math" panose="02040503050406030204" pitchFamily="18" charset="0"/>
                            </a:rPr>
                            <m:t>| </m:t>
                          </m:r>
                          <m:r>
                            <a:rPr sz="2200">
                              <a:latin typeface="Cambria Math" panose="02040503050406030204" pitchFamily="18" charset="0"/>
                            </a:rPr>
                            <m:t>𝛉</m:t>
                          </m:r>
                        </m:e>
                      </m:d>
                      <m:r>
                        <a:rPr sz="22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sz="2200">
                          <a:latin typeface="Cambria Math" panose="02040503050406030204" pitchFamily="18" charset="0"/>
                        </a:rPr>
                        <m:t>𝑙𝑜𝑔</m:t>
                      </m:r>
                      <m:d>
                        <m:dPr>
                          <m:ctrlPr>
                            <a:rPr sz="220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sz="2200">
                              <a:latin typeface="Cambria Math" panose="02040503050406030204" pitchFamily="18" charset="0"/>
                            </a:rPr>
                            <m:t>ℒ</m:t>
                          </m:r>
                          <m:d>
                            <m:dPr>
                              <m:ctrlPr>
                                <a:rPr sz="220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sz="2200">
                                  <a:latin typeface="Cambria Math" panose="02040503050406030204" pitchFamily="18" charset="0"/>
                                </a:rPr>
                                <m:t>𝐗</m:t>
                              </m:r>
                              <m:r>
                                <a:rPr sz="2200">
                                  <a:latin typeface="Cambria Math" panose="02040503050406030204" pitchFamily="18" charset="0"/>
                                </a:rPr>
                                <m:t>| </m:t>
                              </m:r>
                              <m:r>
                                <a:rPr sz="2200">
                                  <a:latin typeface="Cambria Math" panose="02040503050406030204" pitchFamily="18" charset="0"/>
                                </a:rPr>
                                <m:t>𝛉</m:t>
                              </m:r>
                            </m:e>
                          </m:d>
                        </m:e>
                      </m:d>
                      <m:r>
                        <a:rPr sz="220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sz="220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sz="220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sz="2200">
                              <a:latin typeface="Cambria Math" panose="02040503050406030204" pitchFamily="18" charset="0"/>
                            </a:rPr>
                            <m:t>​</m:t>
                          </m:r>
                        </m:sup>
                        <m:e>
                          <m:r>
                            <a:rPr sz="220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</m:nary>
                      <m:r>
                        <a:rPr sz="2200">
                          <a:latin typeface="Cambria Math" panose="02040503050406030204" pitchFamily="18" charset="0"/>
                        </a:rPr>
                        <m:t>𝑜𝑔</m:t>
                      </m:r>
                      <m:d>
                        <m:dPr>
                          <m:ctrlPr>
                            <a:rPr sz="220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sz="220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sz="220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sz="220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sz="220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sz="2200">
                                  <a:latin typeface="Cambria Math" panose="02040503050406030204" pitchFamily="18" charset="0"/>
                                </a:rPr>
                                <m:t> | </m:t>
                              </m:r>
                              <m:r>
                                <a:rPr sz="220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sz="2200" b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3" t="-12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3BEFABC6-BAF0-2A9D-465F-E505E2333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lang="en-US" b="1" dirty="0"/>
              <a:t>Summary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95738"/>
                <a:ext cx="8229600" cy="3889092"/>
              </a:xfrm>
            </p:spPr>
            <p:txBody>
              <a:bodyPr>
                <a:normAutofit fontScale="55000" lnSpcReduction="20000"/>
              </a:bodyPr>
              <a:lstStyle/>
              <a:p>
                <a:pPr marL="0" lvl="0" indent="0">
                  <a:buNone/>
                </a:pPr>
                <a:r>
                  <a:rPr dirty="0"/>
                  <a:t>Matrix is the </a:t>
                </a:r>
                <a:r>
                  <a:rPr b="1" dirty="0"/>
                  <a:t>observed information matrix</a:t>
                </a:r>
                <a:r>
                  <a:rPr dirty="0"/>
                  <a:t> of the model,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ℐ</m:t>
                    </m:r>
                    <m:d>
                      <m:d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</m:d>
                  </m:oMath>
                </a14:m>
                <a:r>
                  <a:rPr dirty="0"/>
                  <a:t>.</a:t>
                </a:r>
              </a:p>
              <a:p>
                <a:pPr lvl="0"/>
                <a:r>
                  <a:rPr dirty="0"/>
                  <a:t>The more negative the values of the second partial derivatives, the greater the curvature of the log-</a:t>
                </a:r>
                <a:r>
                  <a:rPr dirty="0" err="1"/>
                  <a:t>likehihood</a:t>
                </a:r>
                <a:endParaRPr dirty="0"/>
              </a:p>
              <a:p>
                <a:pPr lvl="0"/>
                <a:r>
                  <a:rPr dirty="0"/>
                  <a:t>Fisher information or </a:t>
                </a:r>
                <a:r>
                  <a:rPr b="1" dirty="0"/>
                  <a:t>expected information</a:t>
                </a:r>
                <a:r>
                  <a:rPr dirty="0"/>
                  <a:t> is the expectation over the second derivative of the observed information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>
                          <a:latin typeface="Cambria Math" panose="02040503050406030204" pitchFamily="18" charset="0"/>
                        </a:rPr>
                        <m:t>𝒥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𝐄</m:t>
                      </m:r>
                      <m:d>
                        <m:dPr>
                          <m:begChr m:val="{"/>
                          <m:endChr m:val="}"/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ℐ</m:t>
                          </m:r>
                          <m:d>
                            <m:d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acc>
                            </m:e>
                          </m:d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𝐄</m:t>
                      </m:r>
                      <m:d>
                        <m:dPr>
                          <m:begChr m:val="{"/>
                          <m:endChr m:val="}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</m:e>
                                <m:sup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 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d>
                                <m:dPr>
                                  <m:ctrlPr>
                                    <a:rPr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𝐗</m:t>
                                  </m:r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num>
                            <m:den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p>
                                <m:sSupPr>
                                  <m:ctrlPr>
                                    <a:rPr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p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</m:oMath>
                  </m:oMathPara>
                </a14:m>
                <a:endParaRPr dirty="0"/>
              </a:p>
              <a:p>
                <a:pPr lvl="0"/>
                <a:r>
                  <a:rPr dirty="0"/>
                  <a:t>Fisher information relates to the score function as its variance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f>
                        <m:f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 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𝑙</m:t>
                          </m:r>
                          <m:d>
                            <m:d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𝜕𝜃</m:t>
                          </m:r>
                        </m:den>
                      </m:f>
                      <m:r>
                        <a:rPr>
                          <a:latin typeface="Cambria Math" panose="02040503050406030204" pitchFamily="18" charset="0"/>
                        </a:rPr>
                        <m:t> </m:t>
                      </m:r>
                      <m:acc>
                        <m:accPr>
                          <m:chr m:val="̇"/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∼</m:t>
                          </m:r>
                        </m:e>
                      </m:acc>
                      <m:r>
                        <a:rPr>
                          <a:latin typeface="Cambria Math" panose="02040503050406030204" pitchFamily="18" charset="0"/>
                        </a:rPr>
                        <m:t> 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0,1/</m:t>
                          </m:r>
                          <m:sSub>
                            <m:sSub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ℐ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dirty="0"/>
              </a:p>
              <a:p>
                <a:pPr lvl="0"/>
                <a:r>
                  <a:rPr dirty="0"/>
                  <a:t>For </a:t>
                </a:r>
                <a:r>
                  <a:rPr b="1" dirty="0"/>
                  <a:t>large sample</a:t>
                </a:r>
                <a:r>
                  <a:rPr dirty="0"/>
                  <a:t>,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𝑛</m:t>
                    </m:r>
                    <m:r>
                      <a:rPr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dirty="0"/>
                  <a:t>, take the expectation over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𝐗</m:t>
                    </m:r>
                  </m:oMath>
                </a14:m>
                <a:r>
                  <a:rPr dirty="0"/>
                  <a:t>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̂"/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acc>
                      <m:acc>
                        <m:accPr>
                          <m:chr m:val="̇"/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∼</m:t>
                          </m:r>
                        </m:e>
                      </m:acc>
                      <m:r>
                        <a:rPr>
                          <a:latin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ℐ</m:t>
                              </m:r>
                              <m:d>
                                <m:dPr>
                                  <m:ctrlPr>
                                    <a:rPr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den>
                          </m:f>
                        </m:e>
                      </m:d>
                    </m:oMath>
                  </m:oMathPara>
                </a14:m>
                <a:endParaRPr dirty="0"/>
              </a:p>
              <a:p>
                <a:pPr lvl="0"/>
                <a:r>
                  <a:rPr dirty="0"/>
                  <a:t>The maximum likelihood estimate of model parameters,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</m:oMath>
                </a14:m>
                <a:r>
                  <a:rPr dirty="0"/>
                  <a:t>, is Normally distributed</a:t>
                </a:r>
              </a:p>
              <a:p>
                <a:pPr lvl="0"/>
                <a:r>
                  <a:rPr dirty="0"/>
                  <a:t>The larger the Fisher information, the lower the variance of the parameter estimate</a:t>
                </a:r>
              </a:p>
              <a:p>
                <a:pPr lvl="1"/>
                <a:r>
                  <a:rPr dirty="0"/>
                  <a:t>Greater curvature of the log likelihood function gives more certain the parameter estimates</a:t>
                </a:r>
              </a:p>
              <a:p>
                <a:pPr lvl="1"/>
                <a:r>
                  <a:rPr dirty="0"/>
                  <a:t>The variance of the parameter estimate is inversely proportional to the number of samples,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95738"/>
                <a:ext cx="8229600" cy="3889092"/>
              </a:xfrm>
              <a:blipFill>
                <a:blip r:embed="rId2"/>
                <a:stretch>
                  <a:fillRect l="-74" t="-14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B0378780-0421-150A-A2A6-5B5F1DD2D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lang="en-US" b="1" dirty="0"/>
              <a:t>Summary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00151"/>
                <a:ext cx="8229600" cy="3800112"/>
              </a:xfrm>
            </p:spPr>
            <p:txBody>
              <a:bodyPr>
                <a:normAutofit fontScale="55000" lnSpcReduction="20000"/>
              </a:bodyPr>
              <a:lstStyle/>
              <a:p>
                <a:pPr marL="0" lvl="0" indent="0">
                  <a:buNone/>
                </a:pPr>
                <a:r>
                  <a:rPr lang="en-US" dirty="0"/>
                  <a:t>The gradient descent method finds the maximum of the log-likelihood function by following the gradient ‘uphill’</a:t>
                </a:r>
              </a:p>
              <a:p>
                <a:pPr lvl="0"/>
                <a:r>
                  <a:rPr lang="en-US" dirty="0"/>
                  <a:t>The maximum likelihood for the model parameters is achieved when two conditions are met:</a:t>
                </a:r>
              </a:p>
              <a:p>
                <a:pPr marL="0" lv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</m:s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 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𝑙</m:t>
                          </m:r>
                          <m:d>
                            <m:dPr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𝐗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</m:sSup>
                        </m:den>
                      </m:f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 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𝑙</m:t>
                          </m:r>
                          <m:d>
                            <m:dPr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𝐗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&lt;0</m:t>
                      </m:r>
                    </m:oMath>
                  </m:oMathPara>
                </a14:m>
                <a:endParaRPr lang="en-US" dirty="0"/>
              </a:p>
              <a:p>
                <a:pPr marL="0" lvl="0" indent="0">
                  <a:buNone/>
                </a:pPr>
                <a:endParaRPr lang="ar-AE" dirty="0"/>
              </a:p>
              <a:p>
                <a:pPr marL="0" lvl="0" indent="0">
                  <a:buNone/>
                </a:pPr>
                <a:r>
                  <a:rPr lang="en-US" dirty="0"/>
                  <a:t>Gradient of the log-likelihood is known as the score function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>
                          <a:latin typeface="Cambria Math" panose="02040503050406030204" pitchFamily="18" charset="0"/>
                        </a:rPr>
                        <m:t>𝑔𝑟𝑎𝑑</m:t>
                      </m:r>
                      <m:d>
                        <m:d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𝑙</m:t>
                          </m:r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ar-AE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acc>
                            </m:e>
                          </m:d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ar-AE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 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𝑙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ar-AE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d>
                                      <m:dPr>
                                        <m:ctrlPr>
                                          <a:rPr lang="ar-AE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ar-AE">
                                            <a:latin typeface="Cambria Math" panose="02040503050406030204" pitchFamily="18" charset="0"/>
                                          </a:rPr>
                                          <m:t>𝐗</m:t>
                                        </m:r>
                                        <m:r>
                                          <a:rPr lang="ar-AE">
                                            <a:latin typeface="Cambria Math" panose="02040503050406030204" pitchFamily="18" charset="0"/>
                                          </a:rPr>
                                          <m:t> | </m:t>
                                        </m:r>
                                        <m:r>
                                          <a:rPr lang="ar-AE">
                                            <a:latin typeface="Cambria Math" panose="02040503050406030204" pitchFamily="18" charset="0"/>
                                          </a:rPr>
                                          <m:t>𝛉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ar-AE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ar-AE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ar-AE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ar-AE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d>
                                      <m:dPr>
                                        <m:ctrlPr>
                                          <a:rPr lang="ar-AE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ar-AE">
                                            <a:latin typeface="Cambria Math" panose="02040503050406030204" pitchFamily="18" charset="0"/>
                                          </a:rPr>
                                          <m:t>𝐗</m:t>
                                        </m:r>
                                        <m:r>
                                          <a:rPr lang="ar-AE">
                                            <a:latin typeface="Cambria Math" panose="02040503050406030204" pitchFamily="18" charset="0"/>
                                          </a:rPr>
                                          <m:t> | </m:t>
                                        </m:r>
                                        <m:r>
                                          <a:rPr lang="ar-AE">
                                            <a:latin typeface="Cambria Math" panose="02040503050406030204" pitchFamily="18" charset="0"/>
                                          </a:rPr>
                                          <m:t>𝛉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ar-AE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ar-AE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ar-AE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ar-AE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d>
                                      <m:dPr>
                                        <m:ctrlPr>
                                          <a:rPr lang="ar-AE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ar-AE">
                                            <a:latin typeface="Cambria Math" panose="02040503050406030204" pitchFamily="18" charset="0"/>
                                          </a:rPr>
                                          <m:t>𝐗</m:t>
                                        </m:r>
                                        <m:r>
                                          <a:rPr lang="ar-AE">
                                            <a:latin typeface="Cambria Math" panose="02040503050406030204" pitchFamily="18" charset="0"/>
                                          </a:rPr>
                                          <m:t> | </m:t>
                                        </m:r>
                                        <m:r>
                                          <a:rPr lang="ar-AE">
                                            <a:latin typeface="Cambria Math" panose="02040503050406030204" pitchFamily="18" charset="0"/>
                                          </a:rPr>
                                          <m:t>𝛉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ar-AE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ar-AE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ar-AE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00151"/>
                <a:ext cx="8229600" cy="3800112"/>
              </a:xfrm>
              <a:blipFill>
                <a:blip r:embed="rId2"/>
                <a:stretch>
                  <a:fillRect l="-74" t="-9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8CD4889F-82BA-63C6-A28D-A6F9983F4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lang="en-US" b="1" dirty="0"/>
              <a:t>Summary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 marL="0" lvl="0" indent="0">
                  <a:buNone/>
                </a:pPr>
                <a:r>
                  <a:rPr dirty="0"/>
                  <a:t>The gradient descent method finds the maximum of the log-likelihood function by following the gradient ‘uphill’</a:t>
                </a:r>
              </a:p>
              <a:p>
                <a:pPr lvl="0"/>
                <a:r>
                  <a:rPr dirty="0"/>
                  <a:t>Given a current parameter estimate vector at step n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dirty="0"/>
                  <a:t>, the improved parameter estimate vector,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dirty="0"/>
                  <a:t>, is found: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+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>
                          <a:latin typeface="Cambria Math" panose="02040503050406030204" pitchFamily="18" charset="0"/>
                        </a:rPr>
                        <m:t> </m:t>
                      </m:r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 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𝑙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dirty="0"/>
              </a:p>
              <a:p>
                <a:pPr lvl="0"/>
                <a:r>
                  <a:rPr dirty="0"/>
                  <a:t>The hyperparameter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dirty="0"/>
                  <a:t> is the </a:t>
                </a:r>
                <a:r>
                  <a:rPr b="1" dirty="0"/>
                  <a:t>learning rate</a:t>
                </a:r>
                <a:r>
                  <a:rPr dirty="0"/>
                  <a:t> or </a:t>
                </a:r>
                <a:r>
                  <a:rPr b="1" dirty="0"/>
                  <a:t>step size</a:t>
                </a:r>
              </a:p>
              <a:p>
                <a:pPr lvl="0"/>
                <a:r>
                  <a:rPr dirty="0"/>
                  <a:t>Stochastic optimization uses a Bernoulli random sample of the data to estimate the </a:t>
                </a:r>
                <a:r>
                  <a:rPr b="1" dirty="0"/>
                  <a:t>expected update</a:t>
                </a:r>
                <a:r>
                  <a:rPr dirty="0"/>
                  <a:t> of the model weights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+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>
                          <a:latin typeface="Cambria Math" panose="02040503050406030204" pitchFamily="18" charset="0"/>
                        </a:rPr>
                        <m:t> </m:t>
                      </m:r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acc>
                            <m:accPr>
                              <m:chr m:val="̂"/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  <m:r>
                            <a:rPr>
                              <a:latin typeface="Cambria Math" panose="02040503050406030204" pitchFamily="18" charset="0"/>
                            </a:rPr>
                            <m:t>𝑑𝑎𝑡𝑎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r>
                            <a:rPr>
                              <a:latin typeface="Cambria Math" panose="02040503050406030204" pitchFamily="18" charset="0"/>
                            </a:rPr>
                            <m:t>𝐽</m:t>
                          </m:r>
                          <m:d>
                            <m:d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dirty="0"/>
              </a:p>
              <a:p>
                <a:pPr lvl="0"/>
                <a:r>
                  <a:rPr dirty="0"/>
                  <a:t>Where,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acc>
                          <m:accPr>
                            <m:chr m:val="̂"/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  <m:r>
                          <a:rPr>
                            <a:latin typeface="Cambria Math" panose="02040503050406030204" pitchFamily="18" charset="0"/>
                          </a:rPr>
                          <m:t>𝑑𝑎𝑡𝑎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dPr>
                      <m:e/>
                    </m:d>
                  </m:oMath>
                </a14:m>
                <a:r>
                  <a:rPr dirty="0"/>
                  <a:t> is the expected value of the gradient given the Bernoulli sample of the data,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a:rPr>
                        <a:latin typeface="Cambria Math" panose="02040503050406030204" pitchFamily="18" charset="0"/>
                      </a:rPr>
                      <m:t>𝑑𝑎𝑡𝑎</m:t>
                    </m:r>
                  </m:oMath>
                </a14:m>
                <a:r>
                  <a:rPr dirty="0"/>
                  <a:t>.</a:t>
                </a:r>
              </a:p>
              <a:p>
                <a:pPr lvl="0"/>
                <a:r>
                  <a:rPr dirty="0"/>
                  <a:t>Empirically, SGD has good convergence properties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67" t="-2334" r="-889" b="-28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4E72AE2B-1C7F-862F-A2FA-425002AD1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lang="en-US" b="1" dirty="0"/>
              <a:t>Summary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10856"/>
                <a:ext cx="8229600" cy="4020273"/>
              </a:xfrm>
            </p:spPr>
            <p:txBody>
              <a:bodyPr>
                <a:normAutofit fontScale="70000" lnSpcReduction="20000"/>
              </a:bodyPr>
              <a:lstStyle/>
              <a:p>
                <a:pPr lvl="0"/>
                <a:r>
                  <a:rPr b="1" dirty="0"/>
                  <a:t>Newton’s method</a:t>
                </a:r>
                <a:r>
                  <a:rPr dirty="0"/>
                  <a:t>, and related methods, employ a </a:t>
                </a:r>
                <a:r>
                  <a:rPr b="1" dirty="0"/>
                  <a:t>quadratic approximation</a:t>
                </a:r>
                <a:r>
                  <a:rPr dirty="0"/>
                  <a:t> to optimization.</a:t>
                </a:r>
              </a:p>
              <a:p>
                <a:pPr lvl="0"/>
                <a:r>
                  <a:rPr dirty="0"/>
                  <a:t>Newton’s method exhibits convergence quadratic in the number of iterations</a:t>
                </a:r>
              </a:p>
              <a:p>
                <a:pPr lvl="1"/>
                <a:r>
                  <a:rPr dirty="0"/>
                  <a:t>Compared to the approximate linear convergence for gradient descent methods</a:t>
                </a:r>
              </a:p>
              <a:p>
                <a:pPr lvl="0"/>
                <a:r>
                  <a:rPr dirty="0"/>
                  <a:t>The quadratic update is: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+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𝛾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>
                                      <a:latin typeface="Cambria Math" panose="02040503050406030204" pitchFamily="18" charset="0"/>
                                    </a:rPr>
                                    <m:t>∇</m:t>
                                  </m:r>
                                </m:e>
                                <m:sub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  <m:sup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d>
                                <m:dPr>
                                  <m:ctrlPr>
                                    <a:rPr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acc>
                                </m:e>
                              </m:d>
                            </m:e>
                          </m:d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𝑙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dirty="0"/>
              </a:p>
              <a:p>
                <a:pPr marL="342900" lvl="1" indent="0">
                  <a:buNone/>
                </a:pP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dirty="0"/>
                  <a:t> is a learning rate of step size</a:t>
                </a:r>
              </a:p>
              <a:p>
                <a:pPr lvl="0"/>
                <a:r>
                  <a:rPr dirty="0"/>
                  <a:t>Requires computing the </a:t>
                </a:r>
                <a:r>
                  <a:rPr b="1" dirty="0"/>
                  <a:t>inverse Hessian</a:t>
                </a:r>
                <a:r>
                  <a:rPr dirty="0"/>
                  <a:t> matrix with practical difficulties</a:t>
                </a:r>
              </a:p>
              <a:p>
                <a:pPr lvl="1"/>
                <a:r>
                  <a:rPr dirty="0"/>
                  <a:t>The inverse of the Hessian may not exist as this matrix may be singular</a:t>
                </a:r>
              </a:p>
              <a:p>
                <a:pPr lvl="1"/>
                <a:r>
                  <a:rPr dirty="0"/>
                  <a:t>With large number of model parameters, the Hessian will have high dimensionality and computing inverse is computationally intensive</a:t>
                </a:r>
              </a:p>
              <a:p>
                <a:pPr lvl="0"/>
                <a:r>
                  <a:rPr dirty="0"/>
                  <a:t>For large scale problems </a:t>
                </a:r>
                <a:r>
                  <a:rPr b="1" dirty="0"/>
                  <a:t>quasi-Newton</a:t>
                </a:r>
                <a:r>
                  <a:rPr dirty="0"/>
                  <a:t> methods are used</a:t>
                </a:r>
              </a:p>
              <a:p>
                <a:pPr lvl="1"/>
                <a:r>
                  <a:rPr dirty="0"/>
                  <a:t>Use an approximation to avoid computing the full inverse Hessian</a:t>
                </a:r>
              </a:p>
              <a:p>
                <a:pPr lvl="1"/>
                <a:r>
                  <a:rPr b="1" dirty="0"/>
                  <a:t>Limited-memory </a:t>
                </a:r>
                <a:r>
                  <a:rPr b="1" dirty="0" err="1"/>
                  <a:t>Broyden</a:t>
                </a:r>
                <a:r>
                  <a:rPr b="1" dirty="0"/>
                  <a:t>–Fletcher–Goldfarb–</a:t>
                </a:r>
                <a:r>
                  <a:rPr b="1" dirty="0" err="1"/>
                  <a:t>Shanno</a:t>
                </a:r>
                <a:r>
                  <a:rPr b="1" dirty="0"/>
                  <a:t> (L-BFGS)</a:t>
                </a:r>
                <a:r>
                  <a:rPr dirty="0"/>
                  <a:t> algorithm the most widely used quasi-Newton method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10856"/>
                <a:ext cx="8229600" cy="4020273"/>
              </a:xfrm>
              <a:blipFill>
                <a:blip r:embed="rId2"/>
                <a:stretch>
                  <a:fillRect l="-370" t="-16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9201580C-D53C-F5ED-4661-A8918104B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lang="en-US" b="1" dirty="0"/>
              <a:t>Summary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sz="2200" dirty="0"/>
              <a:t>The maximum likelihood estimator has a number of important limitations, including</a:t>
            </a:r>
          </a:p>
          <a:p>
            <a:pPr lvl="0"/>
            <a:r>
              <a:rPr sz="2200" dirty="0"/>
              <a:t>Incorrect model and complex distributions</a:t>
            </a:r>
          </a:p>
          <a:p>
            <a:pPr lvl="0"/>
            <a:r>
              <a:rPr sz="2200" dirty="0"/>
              <a:t>Parameter near limits</a:t>
            </a:r>
          </a:p>
          <a:p>
            <a:pPr lvl="0"/>
            <a:r>
              <a:rPr sz="2200" dirty="0"/>
              <a:t>High dimensional problems</a:t>
            </a:r>
          </a:p>
          <a:p>
            <a:pPr lvl="0"/>
            <a:r>
              <a:rPr sz="2200" dirty="0"/>
              <a:t>Correlated features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A78828-FD7C-16A2-65B8-BDCAA7A89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lang="en-US" b="1" dirty="0"/>
              <a:t>Summary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1086</TotalTime>
  <Words>3964</Words>
  <Application>Microsoft Office PowerPoint</Application>
  <PresentationFormat>On-screen Show (16:9)</PresentationFormat>
  <Paragraphs>374</Paragraphs>
  <Slides>49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4" baseType="lpstr">
      <vt:lpstr>Arial</vt:lpstr>
      <vt:lpstr>Calibri</vt:lpstr>
      <vt:lpstr>Cambria Math</vt:lpstr>
      <vt:lpstr>Courier</vt:lpstr>
      <vt:lpstr>Office Theme</vt:lpstr>
      <vt:lpstr>Introduction to Parametric Estimation and Likelihood</vt:lpstr>
      <vt:lpstr>Introduction</vt:lpstr>
      <vt:lpstr>Likelihood and Density Functions</vt:lpstr>
      <vt:lpstr>Likelihood</vt:lpstr>
      <vt:lpstr>Likelihood</vt:lpstr>
      <vt:lpstr>Example: Normal Likelihood</vt:lpstr>
      <vt:lpstr>Example: Normal Likelihood</vt:lpstr>
      <vt:lpstr>Example: Normal Likelihood</vt:lpstr>
      <vt:lpstr>Example: Binomial Likelihood</vt:lpstr>
      <vt:lpstr>Example: Binomial Likelihood</vt:lpstr>
      <vt:lpstr>Maximum Likelihood Estimator</vt:lpstr>
      <vt:lpstr>Maximum Likelihood Estimator</vt:lpstr>
      <vt:lpstr>Fisher information and properties of MLE</vt:lpstr>
      <vt:lpstr>Fisher information and properties of MLE</vt:lpstr>
      <vt:lpstr>Fisher information and properties of MLE</vt:lpstr>
      <vt:lpstr>Fisher information and properties of MLE</vt:lpstr>
      <vt:lpstr>Fisher information and properties of MLE</vt:lpstr>
      <vt:lpstr>Example of MLE for Normal distribution</vt:lpstr>
      <vt:lpstr>Example of MLE for Normal distribution</vt:lpstr>
      <vt:lpstr>Example of MLE for Normal distribution</vt:lpstr>
      <vt:lpstr>Example of MLE for Normal distribution</vt:lpstr>
      <vt:lpstr>Fisher information and properties of MLE</vt:lpstr>
      <vt:lpstr>Finding Solutions Without a Closed Form</vt:lpstr>
      <vt:lpstr>Gradient descent methods</vt:lpstr>
      <vt:lpstr>Gradient descent methods</vt:lpstr>
      <vt:lpstr>Gradient descent methods</vt:lpstr>
      <vt:lpstr>Gradient descent methods</vt:lpstr>
      <vt:lpstr>Gradient descent methods</vt:lpstr>
      <vt:lpstr>Gradient descent methods</vt:lpstr>
      <vt:lpstr>Stochastic Gradient descent methods</vt:lpstr>
      <vt:lpstr>Stochastic Gradient descent methods</vt:lpstr>
      <vt:lpstr>Stochastic gradient descent (SGD)</vt:lpstr>
      <vt:lpstr>Newton’s method</vt:lpstr>
      <vt:lpstr>Newton’s method</vt:lpstr>
      <vt:lpstr>Newton’s method</vt:lpstr>
      <vt:lpstr>Newton’s method</vt:lpstr>
      <vt:lpstr>Limitations of MLE</vt:lpstr>
      <vt:lpstr>Incorrect model and complex distributions</vt:lpstr>
      <vt:lpstr>Incorrect model and complex distributions</vt:lpstr>
      <vt:lpstr>Parameter near limits</vt:lpstr>
      <vt:lpstr>Parameter near limits</vt:lpstr>
      <vt:lpstr>High dimensional problems</vt:lpstr>
      <vt:lpstr>Correlated features</vt:lpstr>
      <vt:lpstr>Summary</vt:lpstr>
      <vt:lpstr>Summary</vt:lpstr>
      <vt:lpstr>Summary</vt:lpstr>
      <vt:lpstr>Summary</vt:lpstr>
      <vt:lpstr>Summary</vt:lpstr>
      <vt:lpstr>Summary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Parameter Estimation and Likelihood</dc:title>
  <dc:creator>Steve Elston</dc:creator>
  <cp:keywords/>
  <cp:lastModifiedBy>Stephen Elston</cp:lastModifiedBy>
  <cp:revision>67</cp:revision>
  <dcterms:created xsi:type="dcterms:W3CDTF">2024-08-14T00:48:25Z</dcterms:created>
  <dcterms:modified xsi:type="dcterms:W3CDTF">2026-10-20T23:09:02Z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10/02/2023”</vt:lpwstr>
  </property>
  <property fmtid="{D5CDD505-2E9C-101B-9397-08002B2CF9AE}" pid="3" name="output">
    <vt:lpwstr/>
  </property>
</Properties>
</file>