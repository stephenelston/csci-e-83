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99" r:id="rId2"/>
    <p:sldId id="257" r:id="rId3"/>
    <p:sldId id="258" r:id="rId4"/>
    <p:sldId id="259" r:id="rId5"/>
    <p:sldId id="260" r:id="rId6"/>
    <p:sldId id="304" r:id="rId7"/>
    <p:sldId id="261" r:id="rId8"/>
    <p:sldId id="262" r:id="rId9"/>
    <p:sldId id="263" r:id="rId10"/>
    <p:sldId id="264" r:id="rId11"/>
    <p:sldId id="265" r:id="rId12"/>
    <p:sldId id="308" r:id="rId13"/>
    <p:sldId id="305" r:id="rId14"/>
    <p:sldId id="266" r:id="rId15"/>
    <p:sldId id="256" r:id="rId16"/>
    <p:sldId id="267" r:id="rId17"/>
    <p:sldId id="269" r:id="rId18"/>
    <p:sldId id="270" r:id="rId19"/>
    <p:sldId id="271" r:id="rId20"/>
    <p:sldId id="272" r:id="rId21"/>
    <p:sldId id="273" r:id="rId22"/>
    <p:sldId id="274" r:id="rId23"/>
    <p:sldId id="276" r:id="rId24"/>
    <p:sldId id="275" r:id="rId25"/>
    <p:sldId id="301" r:id="rId26"/>
    <p:sldId id="306" r:id="rId27"/>
    <p:sldId id="302" r:id="rId28"/>
    <p:sldId id="277" r:id="rId29"/>
    <p:sldId id="278" r:id="rId30"/>
    <p:sldId id="279" r:id="rId31"/>
    <p:sldId id="280" r:id="rId32"/>
    <p:sldId id="300" r:id="rId33"/>
    <p:sldId id="303" r:id="rId34"/>
    <p:sldId id="307" r:id="rId35"/>
    <p:sldId id="281" r:id="rId36"/>
    <p:sldId id="282" r:id="rId37"/>
    <p:sldId id="283" r:id="rId38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94" d="100"/>
          <a:sy n="94" d="100"/>
        </p:scale>
        <p:origin x="43" y="82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109FAC-1BEC-4087-B676-5D9DDF25C61E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90234C-2B15-41C7-8B44-0762390C23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8800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90234C-2B15-41C7-8B44-0762390C23D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04784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openintro.org/data/index.php?data=hsb2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www.cambridge.org/highereducation/books/computer-age-statistical-inference-student-edition/D9E017E05F047BE6A1702D847CB38DB9#overview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cambridge.org/highereducation/books/computer-age-statistical-inference-student-edition/D9E017E05F047BE6A1702D847CB38DB9#overview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Introduction to Nonparametric Bootstrap Methods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1878957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805276" y="4705706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2023 2024, 2025, 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i="1" dirty="0"/>
              <a:t>“There were others who had forced their way to the top from the lowest rung by the aid of their bootstraps.”</a:t>
            </a:r>
            <a:br>
              <a:rPr dirty="0"/>
            </a:br>
            <a:r>
              <a:rPr i="1" dirty="0"/>
              <a:t>James Joyce, ‘Ulysses’ 1922</a:t>
            </a:r>
          </a:p>
          <a:p>
            <a:pPr marL="0" lvl="0" indent="0">
              <a:buNone/>
            </a:pPr>
            <a:r>
              <a:rPr dirty="0"/>
              <a:t>Bootstrap and re-sampling methods are widely applicable statistical </a:t>
            </a:r>
            <a:r>
              <a:rPr lang="en-US" dirty="0"/>
              <a:t>inference </a:t>
            </a:r>
            <a:r>
              <a:rPr dirty="0"/>
              <a:t>methods</a:t>
            </a:r>
          </a:p>
          <a:p>
            <a:pPr lvl="0"/>
            <a:r>
              <a:rPr dirty="0"/>
              <a:t>Resampling methods are products of the computer age</a:t>
            </a:r>
          </a:p>
          <a:p>
            <a:pPr lvl="0"/>
            <a:r>
              <a:rPr dirty="0"/>
              <a:t>Use computational resources un</a:t>
            </a:r>
            <a:r>
              <a:rPr lang="en-US" dirty="0"/>
              <a:t>availa</a:t>
            </a:r>
            <a:r>
              <a:rPr dirty="0"/>
              <a:t>ble </a:t>
            </a:r>
            <a:r>
              <a:rPr lang="en-US" dirty="0"/>
              <a:t>until late </a:t>
            </a:r>
            <a:r>
              <a:rPr dirty="0"/>
              <a:t>20th Century</a:t>
            </a:r>
          </a:p>
          <a:p>
            <a:pPr lvl="0"/>
            <a:r>
              <a:rPr dirty="0"/>
              <a:t>Repeatedly re-sampling the data </a:t>
            </a:r>
            <a:r>
              <a:rPr lang="en-US" dirty="0"/>
              <a:t>using</a:t>
            </a:r>
            <a:r>
              <a:rPr dirty="0"/>
              <a:t> nonparametric model relax</a:t>
            </a:r>
            <a:r>
              <a:rPr lang="en-US" dirty="0"/>
              <a:t>es</a:t>
            </a:r>
            <a:r>
              <a:rPr dirty="0"/>
              <a:t> some assumptions of classical statistical methods</a:t>
            </a:r>
          </a:p>
          <a:p>
            <a:pPr lvl="0"/>
            <a:r>
              <a:rPr dirty="0"/>
              <a:t>Re-sampling methods draw heavily on the law of large number</a:t>
            </a:r>
            <a:r>
              <a:rPr lang="en-US" dirty="0"/>
              <a:t>s</a:t>
            </a:r>
            <a:r>
              <a:rPr dirty="0"/>
              <a:t> and the central limit theorem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Types of Resampling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39371"/>
            <a:ext cx="8229600" cy="3715658"/>
          </a:xfrm>
        </p:spPr>
        <p:txBody>
          <a:bodyPr>
            <a:normAutofit fontScale="70000" lnSpcReduction="20000"/>
          </a:bodyPr>
          <a:lstStyle/>
          <a:p>
            <a:pPr marL="0" lvl="0" indent="0">
              <a:buNone/>
            </a:pPr>
            <a:r>
              <a:rPr dirty="0"/>
              <a:t>Commonly used re-sampling methods include:</a:t>
            </a:r>
          </a:p>
          <a:p>
            <a:pPr lvl="0"/>
            <a:r>
              <a:rPr b="1" dirty="0"/>
              <a:t>Randomization or Permutation methods:</a:t>
            </a:r>
            <a:r>
              <a:rPr dirty="0"/>
              <a:t> aka exact tests</a:t>
            </a:r>
          </a:p>
          <a:p>
            <a:pPr lvl="1"/>
            <a:r>
              <a:rPr dirty="0"/>
              <a:t>Have a long history; e.g. Fisher’s exact test (1922)</a:t>
            </a:r>
          </a:p>
          <a:p>
            <a:pPr lvl="1"/>
            <a:r>
              <a:rPr dirty="0"/>
              <a:t>Practical approximate algorithms for </a:t>
            </a:r>
            <a:r>
              <a:rPr lang="en-US" dirty="0"/>
              <a:t>medium-sized</a:t>
            </a:r>
            <a:r>
              <a:rPr dirty="0"/>
              <a:t> data sets in computer era</a:t>
            </a:r>
          </a:p>
          <a:p>
            <a:pPr lvl="0"/>
            <a:r>
              <a:rPr b="1" dirty="0"/>
              <a:t>Cross validation:</a:t>
            </a:r>
            <a:r>
              <a:rPr dirty="0"/>
              <a:t> resample into multiple folds without replacement</a:t>
            </a:r>
          </a:p>
          <a:p>
            <a:pPr lvl="1"/>
            <a:r>
              <a:rPr dirty="0"/>
              <a:t>Leave n out method</a:t>
            </a:r>
          </a:p>
          <a:p>
            <a:pPr lvl="1"/>
            <a:r>
              <a:rPr dirty="0"/>
              <a:t>Has origins in the 1950s</a:t>
            </a:r>
          </a:p>
          <a:p>
            <a:pPr lvl="1"/>
            <a:r>
              <a:rPr dirty="0"/>
              <a:t>Widely used to evaluate machine learning (ML) models</a:t>
            </a:r>
          </a:p>
          <a:p>
            <a:pPr lvl="0"/>
            <a:r>
              <a:rPr b="1" dirty="0"/>
              <a:t>Jackknife:</a:t>
            </a:r>
            <a:r>
              <a:rPr dirty="0"/>
              <a:t> leave one out re-sampling</a:t>
            </a:r>
          </a:p>
          <a:p>
            <a:pPr lvl="1"/>
            <a:r>
              <a:rPr dirty="0"/>
              <a:t>Leave one out method</a:t>
            </a:r>
          </a:p>
          <a:p>
            <a:pPr lvl="1"/>
            <a:r>
              <a:rPr dirty="0"/>
              <a:t>Early general purpose resampling method</a:t>
            </a:r>
          </a:p>
          <a:p>
            <a:pPr lvl="1"/>
            <a:r>
              <a:rPr lang="en-US" dirty="0"/>
              <a:t>Proposed by John Tukey</a:t>
            </a:r>
            <a:r>
              <a:rPr dirty="0"/>
              <a:t> in the 1950s</a:t>
            </a:r>
          </a:p>
          <a:p>
            <a:pPr lvl="0"/>
            <a:r>
              <a:rPr b="1" dirty="0"/>
              <a:t>Nonparametric Bootstrap:</a:t>
            </a:r>
            <a:r>
              <a:rPr dirty="0"/>
              <a:t> resample with equivalent size and replacement - our focus here</a:t>
            </a:r>
          </a:p>
          <a:p>
            <a:pPr lvl="1"/>
            <a:r>
              <a:rPr dirty="0"/>
              <a:t>Published by Prof Brad Efron in 1979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Nonparametric vs. Parametric Statistical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dirty="0"/>
              <a:t>Many familiar statistic models are </a:t>
            </a:r>
            <a:r>
              <a:rPr b="1" dirty="0"/>
              <a:t>parametric</a:t>
            </a:r>
            <a:r>
              <a:rPr dirty="0"/>
              <a:t>, being based on a assumed </a:t>
            </a:r>
            <a:r>
              <a:rPr b="1" dirty="0"/>
              <a:t>likelihood</a:t>
            </a:r>
            <a:r>
              <a:rPr lang="en-US" b="1" dirty="0"/>
              <a:t> model</a:t>
            </a:r>
            <a:endParaRPr b="1" dirty="0"/>
          </a:p>
          <a:p>
            <a:pPr lvl="0"/>
            <a:r>
              <a:rPr dirty="0"/>
              <a:t>Likelihood models based on a parametric </a:t>
            </a:r>
            <a:r>
              <a:rPr lang="en-US" dirty="0"/>
              <a:t>probability </a:t>
            </a:r>
            <a:r>
              <a:rPr dirty="0"/>
              <a:t>distribution</a:t>
            </a:r>
          </a:p>
          <a:p>
            <a:pPr lvl="0"/>
            <a:r>
              <a:rPr dirty="0"/>
              <a:t>Parametric models </a:t>
            </a:r>
            <a:r>
              <a:rPr lang="en-US" dirty="0"/>
              <a:t>provide</a:t>
            </a:r>
            <a:r>
              <a:rPr dirty="0"/>
              <a:t> low</a:t>
            </a:r>
            <a:r>
              <a:rPr lang="en-US" dirty="0"/>
              <a:t>er</a:t>
            </a:r>
            <a:r>
              <a:rPr dirty="0"/>
              <a:t> variance estimates </a:t>
            </a:r>
            <a:r>
              <a:rPr lang="en-US" dirty="0"/>
              <a:t>of</a:t>
            </a:r>
            <a:r>
              <a:rPr dirty="0"/>
              <a:t> statistics</a:t>
            </a:r>
          </a:p>
          <a:p>
            <a:pPr lvl="1"/>
            <a:r>
              <a:rPr dirty="0"/>
              <a:t>But susceptible to poor choice of likelihood model</a:t>
            </a:r>
          </a:p>
          <a:p>
            <a:pPr lvl="0"/>
            <a:r>
              <a:rPr dirty="0"/>
              <a:t>Example, least-squares error model uses a Normal likelihood</a:t>
            </a:r>
          </a:p>
          <a:p>
            <a:pPr lvl="1"/>
            <a:r>
              <a:rPr dirty="0"/>
              <a:t>Parameters must be estimated</a:t>
            </a:r>
          </a:p>
          <a:p>
            <a:pPr lvl="1"/>
            <a:r>
              <a:rPr dirty="0"/>
              <a:t>Location and scale in one-dimension</a:t>
            </a:r>
          </a:p>
          <a:p>
            <a:pPr lvl="1"/>
            <a:r>
              <a:rPr dirty="0"/>
              <a:t>Betas and covariance in higher dimensions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Nonparametric vs. Parametric Statistical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b="1" dirty="0"/>
              <a:t>Nonparametric model</a:t>
            </a:r>
            <a:r>
              <a:rPr dirty="0"/>
              <a:t> not based on a parametric likelihood</a:t>
            </a:r>
          </a:p>
          <a:p>
            <a:pPr lvl="0"/>
            <a:r>
              <a:rPr dirty="0"/>
              <a:t>Use an </a:t>
            </a:r>
            <a:r>
              <a:rPr b="1" dirty="0"/>
              <a:t>empirical distribution</a:t>
            </a:r>
            <a:r>
              <a:rPr dirty="0"/>
              <a:t> estimated from observations</a:t>
            </a:r>
          </a:p>
          <a:p>
            <a:pPr lvl="0"/>
            <a:r>
              <a:rPr dirty="0"/>
              <a:t>Statistical properties estimated from empirical distribution</a:t>
            </a:r>
          </a:p>
          <a:p>
            <a:pPr lvl="1"/>
            <a:r>
              <a:rPr lang="en-US" dirty="0"/>
              <a:t>Example, mean, variance, correlation, and ratio estimates</a:t>
            </a:r>
          </a:p>
          <a:p>
            <a:pPr lvl="1"/>
            <a:r>
              <a:rPr dirty="0"/>
              <a:t>Potentially high variance estimates</a:t>
            </a:r>
          </a:p>
          <a:p>
            <a:pPr lvl="1"/>
            <a:r>
              <a:rPr dirty="0"/>
              <a:t>Need sufficient sample size</a:t>
            </a:r>
          </a:p>
          <a:p>
            <a:pPr lvl="0"/>
            <a:r>
              <a:rPr dirty="0"/>
              <a:t>Examples of nonparametric statistical estimators:</a:t>
            </a:r>
          </a:p>
          <a:p>
            <a:pPr lvl="1"/>
            <a:r>
              <a:rPr dirty="0"/>
              <a:t>Permutation tests</a:t>
            </a:r>
          </a:p>
          <a:p>
            <a:pPr lvl="1"/>
            <a:r>
              <a:rPr dirty="0"/>
              <a:t>Jackknife estimates</a:t>
            </a:r>
          </a:p>
          <a:p>
            <a:pPr lvl="1"/>
            <a:r>
              <a:rPr b="1" dirty="0"/>
              <a:t>Nonparametric bootstrap</a:t>
            </a:r>
            <a:r>
              <a:rPr lang="en-US" dirty="0"/>
              <a:t> – today’s topic</a:t>
            </a:r>
            <a:endParaRPr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41574F-0B0C-7AE8-882D-CBE480D8D6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Resampling and the Bootstrap Distribution</a:t>
            </a:r>
          </a:p>
        </p:txBody>
      </p:sp>
    </p:spTree>
    <p:extLst>
      <p:ext uri="{BB962C8B-B14F-4D97-AF65-F5344CB8AC3E}">
        <p14:creationId xmlns:p14="http://schemas.microsoft.com/office/powerpoint/2010/main" val="34916663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General Characteristics of Nonparametric Resampling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Compute</a:t>
            </a:r>
            <a:r>
              <a:rPr dirty="0"/>
              <a:t> statistics</a:t>
            </a:r>
            <a:r>
              <a:rPr lang="en-US" dirty="0"/>
              <a:t> with </a:t>
            </a:r>
            <a:r>
              <a:rPr lang="en-US" b="1" dirty="0"/>
              <a:t>continuous derivatives</a:t>
            </a:r>
            <a:r>
              <a:rPr b="1" dirty="0"/>
              <a:t> </a:t>
            </a:r>
            <a:r>
              <a:rPr dirty="0"/>
              <a:t>from data samples</a:t>
            </a:r>
          </a:p>
          <a:p>
            <a:pPr lvl="0"/>
            <a:r>
              <a:rPr dirty="0"/>
              <a:t>Repeatedly compute statistics from </a:t>
            </a:r>
            <a:r>
              <a:rPr b="1" dirty="0"/>
              <a:t>multiple resamples </a:t>
            </a:r>
            <a:r>
              <a:rPr dirty="0"/>
              <a:t>of dataset</a:t>
            </a:r>
          </a:p>
          <a:p>
            <a:pPr lvl="0"/>
            <a:r>
              <a:rPr dirty="0"/>
              <a:t>The result converges to the </a:t>
            </a:r>
            <a:r>
              <a:rPr b="1" dirty="0"/>
              <a:t>sample distribution </a:t>
            </a:r>
            <a:r>
              <a:rPr dirty="0"/>
              <a:t>of the statistic being computed</a:t>
            </a:r>
          </a:p>
          <a:p>
            <a:pPr lvl="0"/>
            <a:r>
              <a:rPr dirty="0"/>
              <a:t>Make minimal distributional assumptions, when compared to classical frequentist statistics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Pitfalls of Resampling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691163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Re-sampling methods are general and powerful but, there is no magic</a:t>
                </a:r>
                <a:r>
                  <a:rPr lang="en-US" dirty="0"/>
                  <a:t> and t</a:t>
                </a:r>
                <a:r>
                  <a:rPr dirty="0"/>
                  <a:t>here are pitfalls!</a:t>
                </a:r>
              </a:p>
              <a:p>
                <a:pPr lvl="0"/>
                <a:r>
                  <a:rPr dirty="0"/>
                  <a:t>If a sample is biased, the resampled statistic estimate will be biased</a:t>
                </a:r>
              </a:p>
              <a:p>
                <a:pPr lvl="1"/>
                <a:r>
                  <a:rPr dirty="0"/>
                  <a:t>Results can be no better than the sample you start with</a:t>
                </a:r>
              </a:p>
              <a:p>
                <a:pPr lvl="1"/>
                <a:r>
                  <a:rPr dirty="0"/>
                  <a:t>Example; the bootstrap estimate of mean is </a:t>
                </a:r>
                <a:r>
                  <a:rPr lang="en-US" dirty="0"/>
                  <a:t>the</a:t>
                </a:r>
                <a:r>
                  <a:rPr dirty="0"/>
                  <a:t> sample</a:t>
                </a:r>
                <a:r>
                  <a:rPr lang="en-US" dirty="0"/>
                  <a:t> </a:t>
                </a:r>
                <a:r>
                  <a:rPr lang="en-US" dirty="0" err="1"/>
                  <a:t>estiamte</a:t>
                </a:r>
                <a:r>
                  <a:rPr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‾"/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dirty="0"/>
                  <a:t>, not the population parameter,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The sample variance and CIs can be no better than the sample distribution allows</a:t>
                </a:r>
              </a:p>
              <a:p>
                <a:pPr lvl="1"/>
                <a:r>
                  <a:rPr dirty="0"/>
                  <a:t>Often higher variance than parametric models</a:t>
                </a:r>
              </a:p>
              <a:p>
                <a:pPr lvl="1"/>
                <a:r>
                  <a:rPr dirty="0"/>
                  <a:t>Be suspicious of overly optimistic confidence intervals</a:t>
                </a:r>
              </a:p>
              <a:p>
                <a:pPr lvl="1"/>
                <a:r>
                  <a:rPr lang="en-US" dirty="0"/>
                  <a:t>Nonparametric bootstrap </a:t>
                </a:r>
                <a:r>
                  <a:rPr dirty="0"/>
                  <a:t>CIs can be optimistically biased</a:t>
                </a:r>
              </a:p>
              <a:p>
                <a:pPr lvl="0"/>
                <a:r>
                  <a:rPr dirty="0"/>
                  <a:t>Are computationally intensive, but often highly parallelizable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691163"/>
              </a:xfrm>
              <a:blipFill>
                <a:blip r:embed="rId2"/>
                <a:stretch>
                  <a:fillRect l="-963" t="-2810" r="-74" b="-6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Point Estimates vs. Distribution Estimates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The goal of frequentist statistics is to compute a point estimate and confidence interval</a:t>
            </a:r>
          </a:p>
          <a:p>
            <a:pPr lvl="0"/>
            <a:r>
              <a:rPr b="1" dirty="0"/>
              <a:t>Point estimate </a:t>
            </a:r>
            <a:r>
              <a:rPr dirty="0"/>
              <a:t>is the single most likely value for a statistic</a:t>
            </a:r>
          </a:p>
          <a:p>
            <a:pPr lvl="1"/>
            <a:r>
              <a:rPr dirty="0"/>
              <a:t>Confidence interval expresses the uncertainty of the point estimate</a:t>
            </a:r>
            <a:r>
              <a:rPr lang="en-US" dirty="0"/>
              <a:t> given the sampling distribution</a:t>
            </a:r>
            <a:endParaRPr dirty="0"/>
          </a:p>
          <a:p>
            <a:pPr lvl="0"/>
            <a:r>
              <a:rPr b="1" dirty="0"/>
              <a:t>Parametric confidence interval</a:t>
            </a:r>
            <a:r>
              <a:rPr lang="en-US" b="1" dirty="0"/>
              <a:t>s</a:t>
            </a:r>
            <a:r>
              <a:rPr b="1" dirty="0"/>
              <a:t> </a:t>
            </a:r>
            <a:r>
              <a:rPr lang="en-US" dirty="0"/>
              <a:t>are </a:t>
            </a:r>
            <a:r>
              <a:rPr dirty="0"/>
              <a:t>based on the properties of some assumed </a:t>
            </a:r>
            <a:r>
              <a:rPr lang="en-US" dirty="0"/>
              <a:t>sampling</a:t>
            </a:r>
            <a:r>
              <a:rPr dirty="0"/>
              <a:t> distribution</a:t>
            </a:r>
          </a:p>
          <a:p>
            <a:r>
              <a:rPr lang="en-US" b="1" dirty="0"/>
              <a:t>Nonparametric </a:t>
            </a:r>
            <a:r>
              <a:rPr b="1" dirty="0"/>
              <a:t>bootstrap </a:t>
            </a:r>
            <a:r>
              <a:rPr dirty="0"/>
              <a:t>methods which </a:t>
            </a:r>
            <a:r>
              <a:rPr lang="en-US" dirty="0"/>
              <a:t>have no</a:t>
            </a:r>
            <a:r>
              <a:rPr dirty="0"/>
              <a:t> explicit probability model</a:t>
            </a:r>
            <a:r>
              <a:rPr lang="en-US" dirty="0"/>
              <a:t> are an alterative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Bootstrap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560535"/>
          </a:xfrm>
        </p:spPr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dirty="0"/>
              <a:t>Rather than computing a point estimate directly, bootstrap methods compute a bootstrap distribution of </a:t>
            </a:r>
            <a:r>
              <a:rPr lang="en-US" dirty="0"/>
              <a:t>a</a:t>
            </a:r>
            <a:r>
              <a:rPr dirty="0"/>
              <a:t> statistic</a:t>
            </a:r>
          </a:p>
          <a:p>
            <a:pPr lvl="0"/>
            <a:r>
              <a:rPr b="1" dirty="0"/>
              <a:t>Bootstrap distribution </a:t>
            </a:r>
            <a:r>
              <a:rPr dirty="0"/>
              <a:t>comprise</a:t>
            </a:r>
            <a:r>
              <a:rPr lang="en-US" dirty="0"/>
              <a:t>s</a:t>
            </a:r>
            <a:r>
              <a:rPr dirty="0"/>
              <a:t> values of </a:t>
            </a:r>
            <a:r>
              <a:rPr lang="en-US" dirty="0"/>
              <a:t>a</a:t>
            </a:r>
            <a:r>
              <a:rPr dirty="0"/>
              <a:t> statistic computed from bootstrap resamples of the original observations </a:t>
            </a:r>
            <a:endParaRPr lang="en-US" dirty="0"/>
          </a:p>
          <a:p>
            <a:pPr lvl="0"/>
            <a:r>
              <a:rPr dirty="0"/>
              <a:t>Computing bootstrap distribution requires </a:t>
            </a:r>
            <a:r>
              <a:rPr b="1" dirty="0"/>
              <a:t>no assumptions about </a:t>
            </a:r>
            <a:r>
              <a:rPr lang="en-US" b="1" dirty="0"/>
              <a:t>sample</a:t>
            </a:r>
            <a:r>
              <a:rPr b="1" dirty="0"/>
              <a:t> distribution!</a:t>
            </a:r>
          </a:p>
          <a:p>
            <a:pPr lvl="1"/>
            <a:r>
              <a:rPr dirty="0"/>
              <a:t>Bootstrap resampling substitutes computer power for paper and pencil statistician power</a:t>
            </a:r>
          </a:p>
          <a:p>
            <a:pPr lvl="0"/>
            <a:r>
              <a:rPr dirty="0"/>
              <a:t>Bootstrap resampling estimates the </a:t>
            </a:r>
            <a:r>
              <a:rPr b="1" dirty="0"/>
              <a:t>bootstrap distribution</a:t>
            </a:r>
            <a:r>
              <a:rPr dirty="0"/>
              <a:t> of a statistic</a:t>
            </a:r>
          </a:p>
          <a:p>
            <a:pPr lvl="1"/>
            <a:r>
              <a:rPr dirty="0"/>
              <a:t>Compute mostly likely point estimate of the statistic, or </a:t>
            </a:r>
            <a:r>
              <a:rPr b="1" dirty="0"/>
              <a:t>bootstrap estimate</a:t>
            </a:r>
          </a:p>
          <a:p>
            <a:pPr lvl="1"/>
            <a:r>
              <a:rPr dirty="0"/>
              <a:t>The </a:t>
            </a:r>
            <a:r>
              <a:rPr b="1" dirty="0"/>
              <a:t>bootstrap confidence interval </a:t>
            </a:r>
            <a:r>
              <a:rPr dirty="0"/>
              <a:t>is computed from the bootstrap distribution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Bootstrap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49784"/>
            <a:ext cx="8229600" cy="632278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Rather than repeatedly resample the population, bootstrapping repeatedly resamples an original sample</a:t>
            </a:r>
          </a:p>
        </p:txBody>
      </p:sp>
      <p:pic>
        <p:nvPicPr>
          <p:cNvPr id="4" name="Picture 1" descr="../images/BootstrapDistribution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8744" y="1711404"/>
            <a:ext cx="4898749" cy="268602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3752193" y="4497113"/>
            <a:ext cx="5356334" cy="593885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sz="1600" dirty="0"/>
              <a:t>Resampling estimate</a:t>
            </a:r>
            <a:r>
              <a:rPr lang="en-US" sz="1600" dirty="0"/>
              <a:t>s</a:t>
            </a:r>
            <a:r>
              <a:rPr sz="1600" dirty="0"/>
              <a:t> the bootstrap distribution of a statistic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6CD372E0-DC1E-6CBE-B568-6ADB4D3FC8E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02658" y="1749290"/>
                <a:ext cx="3516086" cy="331608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20000"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Draw a </a:t>
                </a:r>
                <a:r>
                  <a:rPr lang="en-US" b="1" dirty="0"/>
                  <a:t>single random sample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̂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ℱ</m:t>
                        </m:r>
                      </m:e>
                    </m:acc>
                  </m:oMath>
                </a14:m>
                <a:r>
                  <a:rPr lang="en-US" b="1" dirty="0"/>
                  <a:t>, </a:t>
                </a:r>
                <a:r>
                  <a:rPr lang="en-US" dirty="0"/>
                  <a:t>from the population</a:t>
                </a:r>
                <a:endParaRPr lang="ar-AE" dirty="0"/>
              </a:p>
              <a:p>
                <a:r>
                  <a:rPr lang="en-US" dirty="0"/>
                  <a:t>Draw </a:t>
                </a:r>
                <a:r>
                  <a:rPr lang="en-US" b="1" dirty="0"/>
                  <a:t>multiple resamples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ℱ</m:t>
                            </m:r>
                          </m:e>
                        </m:acc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, from the sample</a:t>
                </a:r>
                <a:endParaRPr lang="ar-AE" dirty="0"/>
              </a:p>
              <a:p>
                <a:r>
                  <a:rPr lang="en-US" dirty="0"/>
                  <a:t>Compute a statistic,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̂"/>
                                <m:ctrlPr>
                                  <a:rPr lang="ar-AE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ℱ</m:t>
                                </m:r>
                              </m:e>
                            </m:acc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,</a:t>
                </a:r>
                <a:r>
                  <a:rPr lang="ar-AE" dirty="0"/>
                  <a:t> </a:t>
                </a:r>
                <a:r>
                  <a:rPr lang="en-US" dirty="0"/>
                  <a:t>from each resample</a:t>
                </a:r>
              </a:p>
              <a:p>
                <a:r>
                  <a:rPr lang="en-US" dirty="0"/>
                  <a:t>The distribution of the statistic values is the </a:t>
                </a:r>
                <a:r>
                  <a:rPr lang="en-US" b="1" dirty="0"/>
                  <a:t>bootstrap distribution</a:t>
                </a: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6CD372E0-DC1E-6CBE-B568-6ADB4D3FC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658" y="1749290"/>
                <a:ext cx="3516086" cy="3316081"/>
              </a:xfrm>
              <a:prstGeom prst="rect">
                <a:avLst/>
              </a:prstGeom>
              <a:blipFill>
                <a:blip r:embed="rId3"/>
                <a:stretch>
                  <a:fillRect l="-1906" t="-3125" r="-2600" b="-3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2E56D28-26A6-98BD-77BC-6BE68FE9D245}"/>
              </a:ext>
            </a:extLst>
          </p:cNvPr>
          <p:cNvCxnSpPr>
            <a:cxnSpLocks/>
          </p:cNvCxnSpPr>
          <p:nvPr/>
        </p:nvCxnSpPr>
        <p:spPr>
          <a:xfrm>
            <a:off x="3267456" y="2173006"/>
            <a:ext cx="1479111" cy="17067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2DE64A8-F52C-0E2D-E4FD-1A9C0F2C638E}"/>
              </a:ext>
            </a:extLst>
          </p:cNvPr>
          <p:cNvCxnSpPr>
            <a:cxnSpLocks/>
          </p:cNvCxnSpPr>
          <p:nvPr/>
        </p:nvCxnSpPr>
        <p:spPr>
          <a:xfrm>
            <a:off x="3812032" y="2877312"/>
            <a:ext cx="286143" cy="1137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30A8D37-039F-4787-3606-07CA315AE51A}"/>
              </a:ext>
            </a:extLst>
          </p:cNvPr>
          <p:cNvCxnSpPr>
            <a:cxnSpLocks/>
          </p:cNvCxnSpPr>
          <p:nvPr/>
        </p:nvCxnSpPr>
        <p:spPr>
          <a:xfrm flipV="1">
            <a:off x="2915160" y="3361439"/>
            <a:ext cx="1894379" cy="3164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DC87C76-3203-1891-BAA5-E03A8E94ED3E}"/>
              </a:ext>
            </a:extLst>
          </p:cNvPr>
          <p:cNvCxnSpPr>
            <a:cxnSpLocks/>
          </p:cNvCxnSpPr>
          <p:nvPr/>
        </p:nvCxnSpPr>
        <p:spPr>
          <a:xfrm flipV="1">
            <a:off x="3466407" y="4139520"/>
            <a:ext cx="1758851" cy="18657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CBBB3-FD2B-882C-A24C-F4647C703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7158D-5DB8-6A34-149A-0ADAB75E5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Bootstrap Distribution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36743C-D3A9-DAD9-C860-A3030A819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9784"/>
            <a:ext cx="8229600" cy="632278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Rather than repeatedly resample the population, bootstrapping repeatedly resamples an original sample</a:t>
            </a:r>
          </a:p>
        </p:txBody>
      </p:sp>
      <p:pic>
        <p:nvPicPr>
          <p:cNvPr id="4" name="Picture 1" descr="../images/BootstrapDistribution.png">
            <a:extLst>
              <a:ext uri="{FF2B5EF4-FFF2-40B4-BE49-F238E27FC236}">
                <a16:creationId xmlns:a16="http://schemas.microsoft.com/office/drawing/2014/main" id="{BBA9B431-428F-D881-0A62-EA08AED6DF08}"/>
              </a:ext>
            </a:extLst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8744" y="1711404"/>
            <a:ext cx="4898749" cy="268602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>
            <a:extLst>
              <a:ext uri="{FF2B5EF4-FFF2-40B4-BE49-F238E27FC236}">
                <a16:creationId xmlns:a16="http://schemas.microsoft.com/office/drawing/2014/main" id="{63F2BDD2-9000-3C1C-50C9-6972527C4482}"/>
              </a:ext>
            </a:extLst>
          </p:cNvPr>
          <p:cNvSpPr txBox="1"/>
          <p:nvPr/>
        </p:nvSpPr>
        <p:spPr>
          <a:xfrm>
            <a:off x="3911483" y="4637214"/>
            <a:ext cx="5193725" cy="390695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sz="1600" dirty="0"/>
              <a:t>Resampling estimate</a:t>
            </a:r>
            <a:r>
              <a:rPr lang="en-US" sz="1600" dirty="0"/>
              <a:t>s</a:t>
            </a:r>
            <a:r>
              <a:rPr sz="1600" dirty="0"/>
              <a:t> the bootstrap distribution of a statistic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F485ED5-55FE-FE99-B556-0F4FE4B9271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02658" y="1749290"/>
                <a:ext cx="3516086" cy="331608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70000" lnSpcReduction="20000"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lvl="0"/>
                <a:r>
                  <a:rPr lang="en-US" dirty="0"/>
                  <a:t>Confidence intervals are with respect to the </a:t>
                </a:r>
                <a:r>
                  <a:rPr lang="en-US" b="1" dirty="0"/>
                  <a:t>bootstrap distribution</a:t>
                </a:r>
                <a:r>
                  <a:rPr lang="en-US" dirty="0"/>
                  <a:t> of a statistic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ar-A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̂"/>
                                <m:ctrlPr>
                                  <a:rPr lang="ar-AE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ℱ</m:t>
                                </m:r>
                              </m:e>
                            </m:acc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CIs are a </a:t>
                </a:r>
                <a:r>
                  <a:rPr lang="en-US" b="1" dirty="0"/>
                  <a:t>measure of variation from resampling alone!</a:t>
                </a:r>
                <a:r>
                  <a:rPr lang="en-US" dirty="0"/>
                  <a:t> </a:t>
                </a:r>
              </a:p>
              <a:p>
                <a:pPr lvl="0"/>
                <a:r>
                  <a:rPr lang="en-US" dirty="0"/>
                  <a:t>With probability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the sample statistic values computed from resamples of the population,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ℱ</m:t>
                            </m:r>
                          </m:e>
                        </m:acc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ar-AE" dirty="0"/>
                  <a:t> </a:t>
                </a:r>
                <a:r>
                  <a:rPr lang="en-US" dirty="0"/>
                  <a:t>,are within the CI</a:t>
                </a:r>
              </a:p>
              <a:p>
                <a:pPr lvl="0"/>
                <a:r>
                  <a:rPr lang="en-US" dirty="0"/>
                  <a:t>Confidence intervals </a:t>
                </a:r>
                <a:r>
                  <a:rPr lang="en-US" b="1" dirty="0"/>
                  <a:t>do not indicate the probability the population parameter is within a range!</a:t>
                </a:r>
              </a:p>
              <a:p>
                <a:endParaRPr lang="en-US" b="1" dirty="0"/>
              </a:p>
            </p:txBody>
          </p:sp>
        </mc:Choice>
        <mc:Fallback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F485ED5-55FE-FE99-B556-0F4FE4B927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658" y="1749290"/>
                <a:ext cx="3516086" cy="3316081"/>
              </a:xfrm>
              <a:prstGeom prst="rect">
                <a:avLst/>
              </a:prstGeom>
              <a:blipFill>
                <a:blip r:embed="rId3"/>
                <a:stretch>
                  <a:fillRect l="-867" t="-2022" r="-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8ACC6EF-6B22-67D8-E7F6-A15F71AF7CA8}"/>
              </a:ext>
            </a:extLst>
          </p:cNvPr>
          <p:cNvCxnSpPr>
            <a:cxnSpLocks/>
          </p:cNvCxnSpPr>
          <p:nvPr/>
        </p:nvCxnSpPr>
        <p:spPr>
          <a:xfrm>
            <a:off x="3789635" y="3677918"/>
            <a:ext cx="1661293" cy="4408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3">
            <a:extLst>
              <a:ext uri="{FF2B5EF4-FFF2-40B4-BE49-F238E27FC236}">
                <a16:creationId xmlns:a16="http://schemas.microsoft.com/office/drawing/2014/main" id="{338A61D8-0B02-17EC-0D9F-7F8EF74D2844}"/>
              </a:ext>
            </a:extLst>
          </p:cNvPr>
          <p:cNvSpPr txBox="1"/>
          <p:nvPr/>
        </p:nvSpPr>
        <p:spPr>
          <a:xfrm>
            <a:off x="6101308" y="4330869"/>
            <a:ext cx="407038" cy="336607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b="1" dirty="0"/>
              <a:t>CI</a:t>
            </a:r>
            <a:endParaRPr b="1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5A8A891-E170-9A93-6B64-0FB3F22C02B1}"/>
              </a:ext>
            </a:extLst>
          </p:cNvPr>
          <p:cNvCxnSpPr>
            <a:cxnSpLocks/>
            <a:stCxn id="16" idx="3"/>
          </p:cNvCxnSpPr>
          <p:nvPr/>
        </p:nvCxnSpPr>
        <p:spPr>
          <a:xfrm flipH="1" flipV="1">
            <a:off x="5636590" y="3707356"/>
            <a:ext cx="12129" cy="81243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CB36E2A-1CE9-1FF9-B341-DEE34D1ADF57}"/>
              </a:ext>
            </a:extLst>
          </p:cNvPr>
          <p:cNvCxnSpPr>
            <a:cxnSpLocks/>
            <a:stCxn id="15" idx="3"/>
          </p:cNvCxnSpPr>
          <p:nvPr/>
        </p:nvCxnSpPr>
        <p:spPr>
          <a:xfrm flipV="1">
            <a:off x="6970537" y="3703664"/>
            <a:ext cx="0" cy="82921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AECD0555-C5A6-AB33-31E3-EF77FE85636D}"/>
              </a:ext>
            </a:extLst>
          </p:cNvPr>
          <p:cNvSpPr/>
          <p:nvPr/>
        </p:nvSpPr>
        <p:spPr>
          <a:xfrm>
            <a:off x="6446839" y="4453335"/>
            <a:ext cx="523698" cy="159079"/>
          </a:xfrm>
          <a:prstGeom prst="rightArrow">
            <a:avLst/>
          </a:prstGeom>
          <a:noFill/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37168800-11A2-6173-4C67-8EF9B0B09CEF}"/>
              </a:ext>
            </a:extLst>
          </p:cNvPr>
          <p:cNvSpPr/>
          <p:nvPr/>
        </p:nvSpPr>
        <p:spPr>
          <a:xfrm rot="10800000">
            <a:off x="5648719" y="4440248"/>
            <a:ext cx="523698" cy="159079"/>
          </a:xfrm>
          <a:prstGeom prst="rightArrow">
            <a:avLst/>
          </a:prstGeom>
          <a:noFill/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215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 animBg="1"/>
      <p:bldP spid="1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41574F-0B0C-7AE8-882D-CBE480D8D6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One Sample Bootstrap Algorithm</a:t>
            </a:r>
          </a:p>
        </p:txBody>
      </p:sp>
    </p:spTree>
    <p:extLst>
      <p:ext uri="{BB962C8B-B14F-4D97-AF65-F5344CB8AC3E}">
        <p14:creationId xmlns:p14="http://schemas.microsoft.com/office/powerpoint/2010/main" val="1725372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One Sample </a:t>
            </a:r>
            <a:r>
              <a:rPr dirty="0"/>
              <a:t>Bootstrap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lang="en-US" dirty="0"/>
              <a:t>The bootstrap distribution is </a:t>
            </a:r>
            <a:r>
              <a:rPr dirty="0"/>
              <a:t>accumulated</a:t>
            </a:r>
            <a:r>
              <a:rPr lang="en-US" dirty="0"/>
              <a:t> by this simple algorithm</a:t>
            </a:r>
            <a:r>
              <a:rPr dirty="0"/>
              <a:t>:</a:t>
            </a:r>
          </a:p>
          <a:p>
            <a:pPr marL="342900" lvl="0" indent="-342900">
              <a:buAutoNum type="arabicPeriod"/>
            </a:pPr>
            <a:r>
              <a:rPr lang="en-US" dirty="0"/>
              <a:t>From the n original observations, </a:t>
            </a:r>
            <a:r>
              <a:rPr b="1" dirty="0"/>
              <a:t>Bernoulli sample</a:t>
            </a:r>
            <a:r>
              <a:rPr lang="en-US" b="1" dirty="0"/>
              <a:t> with replacement</a:t>
            </a:r>
            <a:r>
              <a:rPr b="1" dirty="0"/>
              <a:t> </a:t>
            </a:r>
            <a:r>
              <a:rPr lang="en-US" b="1" dirty="0"/>
              <a:t>and sample </a:t>
            </a:r>
            <a:r>
              <a:rPr b="1" dirty="0"/>
              <a:t>size n</a:t>
            </a:r>
            <a:endParaRPr lang="en-US" b="1" dirty="0"/>
          </a:p>
          <a:p>
            <a:pPr lvl="1"/>
            <a:r>
              <a:rPr b="1" dirty="0"/>
              <a:t>Resample is the same size as the original data sample</a:t>
            </a:r>
            <a:r>
              <a:rPr lang="en-US" b="1" dirty="0"/>
              <a:t>!</a:t>
            </a:r>
            <a:endParaRPr b="1" dirty="0"/>
          </a:p>
          <a:p>
            <a:pPr marL="342900" lvl="0" indent="-342900">
              <a:buAutoNum type="arabicPeriod"/>
            </a:pPr>
            <a:r>
              <a:rPr lang="en-US" dirty="0"/>
              <a:t>C</a:t>
            </a:r>
            <a:r>
              <a:rPr dirty="0"/>
              <a:t>ompute the statistic </a:t>
            </a:r>
            <a:r>
              <a:rPr lang="en-US" dirty="0"/>
              <a:t>from</a:t>
            </a:r>
            <a:r>
              <a:rPr dirty="0"/>
              <a:t> </a:t>
            </a:r>
            <a:r>
              <a:rPr lang="en-US" dirty="0"/>
              <a:t>the</a:t>
            </a:r>
            <a:r>
              <a:rPr dirty="0"/>
              <a:t> resample</a:t>
            </a:r>
          </a:p>
          <a:p>
            <a:pPr marL="342900" lvl="0" indent="-342900">
              <a:buAutoNum type="arabicPeriod"/>
            </a:pPr>
            <a:r>
              <a:rPr dirty="0"/>
              <a:t>Repeat steps 1 and 2 to accumulate the required number of bootstrap samples</a:t>
            </a:r>
            <a:r>
              <a:rPr lang="en-US" dirty="0"/>
              <a:t> of the statistic</a:t>
            </a:r>
            <a:endParaRPr dirty="0"/>
          </a:p>
          <a:p>
            <a:pPr marL="342900" lvl="0" indent="-342900">
              <a:buAutoNum type="arabicPeriod"/>
            </a:pPr>
            <a:r>
              <a:rPr dirty="0"/>
              <a:t>The mean of the </a:t>
            </a:r>
            <a:r>
              <a:rPr lang="en-US" dirty="0"/>
              <a:t>bootstrap distribution</a:t>
            </a:r>
            <a:r>
              <a:rPr dirty="0"/>
              <a:t> is the bootstrap point estimate of the statistic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3D0B258A-9C65-4552-A7FC-F35801AA52B7}"/>
              </a:ext>
            </a:extLst>
          </p:cNvPr>
          <p:cNvSpPr/>
          <p:nvPr/>
        </p:nvSpPr>
        <p:spPr>
          <a:xfrm>
            <a:off x="6427470" y="715010"/>
            <a:ext cx="35814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11ACB8-4BBD-42CD-AE23-B486F34B9532}"/>
              </a:ext>
            </a:extLst>
          </p:cNvPr>
          <p:cNvSpPr/>
          <p:nvPr/>
        </p:nvSpPr>
        <p:spPr>
          <a:xfrm>
            <a:off x="3272790" y="71501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7635CB6-C66D-41D6-9A5C-C8A719C5FE7B}"/>
              </a:ext>
            </a:extLst>
          </p:cNvPr>
          <p:cNvSpPr/>
          <p:nvPr/>
        </p:nvSpPr>
        <p:spPr>
          <a:xfrm>
            <a:off x="3623310" y="71501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D119053-C88B-403C-B6B7-214BC7C96AC3}"/>
              </a:ext>
            </a:extLst>
          </p:cNvPr>
          <p:cNvSpPr/>
          <p:nvPr/>
        </p:nvSpPr>
        <p:spPr>
          <a:xfrm>
            <a:off x="3973830" y="71501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041DE35-10EA-415D-9EE6-FE4523A8CD65}"/>
              </a:ext>
            </a:extLst>
          </p:cNvPr>
          <p:cNvSpPr/>
          <p:nvPr/>
        </p:nvSpPr>
        <p:spPr>
          <a:xfrm>
            <a:off x="4324350" y="71501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B2AE916-A022-45BD-940A-0E09E65A0837}"/>
              </a:ext>
            </a:extLst>
          </p:cNvPr>
          <p:cNvSpPr/>
          <p:nvPr/>
        </p:nvSpPr>
        <p:spPr>
          <a:xfrm>
            <a:off x="4674870" y="71501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1CA27E7-5B7D-4FD5-88FC-99C7B30FA308}"/>
              </a:ext>
            </a:extLst>
          </p:cNvPr>
          <p:cNvSpPr/>
          <p:nvPr/>
        </p:nvSpPr>
        <p:spPr>
          <a:xfrm>
            <a:off x="5025390" y="71501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0400B7B-1A9F-4E83-83AA-053A67F1372A}"/>
              </a:ext>
            </a:extLst>
          </p:cNvPr>
          <p:cNvSpPr/>
          <p:nvPr/>
        </p:nvSpPr>
        <p:spPr>
          <a:xfrm>
            <a:off x="5375910" y="71501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16D4A64-9A7D-444E-B202-218C576A42D5}"/>
              </a:ext>
            </a:extLst>
          </p:cNvPr>
          <p:cNvSpPr/>
          <p:nvPr/>
        </p:nvSpPr>
        <p:spPr>
          <a:xfrm>
            <a:off x="5726430" y="71501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55703B9-FB5C-4A03-8FA9-D4FB73A115CA}"/>
              </a:ext>
            </a:extLst>
          </p:cNvPr>
          <p:cNvSpPr/>
          <p:nvPr/>
        </p:nvSpPr>
        <p:spPr>
          <a:xfrm>
            <a:off x="6076950" y="71501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3A5B78C-A979-49DC-9910-6E9DD08B766C}"/>
              </a:ext>
            </a:extLst>
          </p:cNvPr>
          <p:cNvSpPr/>
          <p:nvPr/>
        </p:nvSpPr>
        <p:spPr>
          <a:xfrm>
            <a:off x="6431280" y="130937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E30C1F5-BC60-4158-BAC4-4CA93202E435}"/>
              </a:ext>
            </a:extLst>
          </p:cNvPr>
          <p:cNvSpPr/>
          <p:nvPr/>
        </p:nvSpPr>
        <p:spPr>
          <a:xfrm>
            <a:off x="3276600" y="130937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B1F84E6-9E93-42B8-A2D9-CA0CD2CEE513}"/>
              </a:ext>
            </a:extLst>
          </p:cNvPr>
          <p:cNvSpPr/>
          <p:nvPr/>
        </p:nvSpPr>
        <p:spPr>
          <a:xfrm>
            <a:off x="3627120" y="130937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A815593-695A-411A-832C-0C217918F4DF}"/>
              </a:ext>
            </a:extLst>
          </p:cNvPr>
          <p:cNvSpPr/>
          <p:nvPr/>
        </p:nvSpPr>
        <p:spPr>
          <a:xfrm>
            <a:off x="3977640" y="130937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84F1C4-41CD-4110-BC1C-85D363EDE975}"/>
              </a:ext>
            </a:extLst>
          </p:cNvPr>
          <p:cNvSpPr/>
          <p:nvPr/>
        </p:nvSpPr>
        <p:spPr>
          <a:xfrm>
            <a:off x="4328160" y="130937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59B55EA-85A2-4BFC-9685-F122B7266600}"/>
              </a:ext>
            </a:extLst>
          </p:cNvPr>
          <p:cNvSpPr/>
          <p:nvPr/>
        </p:nvSpPr>
        <p:spPr>
          <a:xfrm>
            <a:off x="4678680" y="130937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61B735A-8DE7-4971-A415-22BFFCDA3BDD}"/>
              </a:ext>
            </a:extLst>
          </p:cNvPr>
          <p:cNvSpPr/>
          <p:nvPr/>
        </p:nvSpPr>
        <p:spPr>
          <a:xfrm>
            <a:off x="5029200" y="130937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D0554A8-72EB-4F1F-875C-384A68DC7B18}"/>
              </a:ext>
            </a:extLst>
          </p:cNvPr>
          <p:cNvSpPr/>
          <p:nvPr/>
        </p:nvSpPr>
        <p:spPr>
          <a:xfrm>
            <a:off x="5379720" y="130937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189C693-0C0D-4B31-A154-4DBC163E1D79}"/>
              </a:ext>
            </a:extLst>
          </p:cNvPr>
          <p:cNvSpPr/>
          <p:nvPr/>
        </p:nvSpPr>
        <p:spPr>
          <a:xfrm>
            <a:off x="5730240" y="130937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B34E348-75E5-4387-84B4-C92119FD56CC}"/>
              </a:ext>
            </a:extLst>
          </p:cNvPr>
          <p:cNvSpPr/>
          <p:nvPr/>
        </p:nvSpPr>
        <p:spPr>
          <a:xfrm>
            <a:off x="6080760" y="130937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6B2448E-4EE8-4D49-8865-C9D2F172E71A}"/>
              </a:ext>
            </a:extLst>
          </p:cNvPr>
          <p:cNvSpPr/>
          <p:nvPr/>
        </p:nvSpPr>
        <p:spPr>
          <a:xfrm>
            <a:off x="6435090" y="190373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028B385-D56B-4A12-85ED-3368D96B109C}"/>
              </a:ext>
            </a:extLst>
          </p:cNvPr>
          <p:cNvSpPr/>
          <p:nvPr/>
        </p:nvSpPr>
        <p:spPr>
          <a:xfrm>
            <a:off x="3280410" y="190373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1F2E6A6-CE74-4ED7-9C00-9C12DCCD64F8}"/>
              </a:ext>
            </a:extLst>
          </p:cNvPr>
          <p:cNvSpPr/>
          <p:nvPr/>
        </p:nvSpPr>
        <p:spPr>
          <a:xfrm>
            <a:off x="3630930" y="190373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8B1C684-DBC9-4688-93F0-D500CCA5FC59}"/>
              </a:ext>
            </a:extLst>
          </p:cNvPr>
          <p:cNvSpPr/>
          <p:nvPr/>
        </p:nvSpPr>
        <p:spPr>
          <a:xfrm>
            <a:off x="3981450" y="190373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A4EA758-3DF4-4331-B39A-4A52086A9939}"/>
              </a:ext>
            </a:extLst>
          </p:cNvPr>
          <p:cNvSpPr/>
          <p:nvPr/>
        </p:nvSpPr>
        <p:spPr>
          <a:xfrm>
            <a:off x="4331970" y="190373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B582C3C-C9E6-4196-B0F6-8564DAD14F8A}"/>
              </a:ext>
            </a:extLst>
          </p:cNvPr>
          <p:cNvSpPr/>
          <p:nvPr/>
        </p:nvSpPr>
        <p:spPr>
          <a:xfrm>
            <a:off x="4682490" y="190373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A2157F1-8F20-4AEC-989A-BFCC4A9AF95E}"/>
              </a:ext>
            </a:extLst>
          </p:cNvPr>
          <p:cNvSpPr/>
          <p:nvPr/>
        </p:nvSpPr>
        <p:spPr>
          <a:xfrm>
            <a:off x="5033010" y="190373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91D1051-6111-4A55-B64A-A01CC1E5B15B}"/>
              </a:ext>
            </a:extLst>
          </p:cNvPr>
          <p:cNvSpPr/>
          <p:nvPr/>
        </p:nvSpPr>
        <p:spPr>
          <a:xfrm>
            <a:off x="5383530" y="190373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6E5913E-2B6B-40C7-8DFD-D988F72F4BCD}"/>
              </a:ext>
            </a:extLst>
          </p:cNvPr>
          <p:cNvSpPr/>
          <p:nvPr/>
        </p:nvSpPr>
        <p:spPr>
          <a:xfrm>
            <a:off x="5734050" y="190373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700CA6C-C5A7-4CB1-8631-E74CB5A83F89}"/>
              </a:ext>
            </a:extLst>
          </p:cNvPr>
          <p:cNvSpPr/>
          <p:nvPr/>
        </p:nvSpPr>
        <p:spPr>
          <a:xfrm>
            <a:off x="6084570" y="190373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806A1D4-544F-4051-97E5-5FC2321AEADA}"/>
              </a:ext>
            </a:extLst>
          </p:cNvPr>
          <p:cNvSpPr/>
          <p:nvPr/>
        </p:nvSpPr>
        <p:spPr>
          <a:xfrm>
            <a:off x="6438900" y="249809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C11D59B-3F05-4D21-88E9-8C7CE78B5B57}"/>
              </a:ext>
            </a:extLst>
          </p:cNvPr>
          <p:cNvSpPr/>
          <p:nvPr/>
        </p:nvSpPr>
        <p:spPr>
          <a:xfrm>
            <a:off x="3284220" y="249809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0B96A8A-880B-4759-A679-094A94D3D0B7}"/>
              </a:ext>
            </a:extLst>
          </p:cNvPr>
          <p:cNvSpPr/>
          <p:nvPr/>
        </p:nvSpPr>
        <p:spPr>
          <a:xfrm>
            <a:off x="3634740" y="249809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37D22A9-1B74-493A-8EBB-279C7E56CC71}"/>
              </a:ext>
            </a:extLst>
          </p:cNvPr>
          <p:cNvSpPr/>
          <p:nvPr/>
        </p:nvSpPr>
        <p:spPr>
          <a:xfrm>
            <a:off x="3985260" y="249809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EED5D9B-B302-4CDF-9343-0FA9EC923F2C}"/>
              </a:ext>
            </a:extLst>
          </p:cNvPr>
          <p:cNvSpPr/>
          <p:nvPr/>
        </p:nvSpPr>
        <p:spPr>
          <a:xfrm>
            <a:off x="4335780" y="249809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C6C8B99-5774-4C65-AFE0-07C287B423C3}"/>
              </a:ext>
            </a:extLst>
          </p:cNvPr>
          <p:cNvSpPr/>
          <p:nvPr/>
        </p:nvSpPr>
        <p:spPr>
          <a:xfrm>
            <a:off x="4668110" y="2498090"/>
            <a:ext cx="36871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7B02F84-6C93-43B7-816E-5F660567874C}"/>
              </a:ext>
            </a:extLst>
          </p:cNvPr>
          <p:cNvSpPr/>
          <p:nvPr/>
        </p:nvSpPr>
        <p:spPr>
          <a:xfrm>
            <a:off x="5025390" y="2498090"/>
            <a:ext cx="38014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EC2358D-73EA-424C-82C8-E54BAE672955}"/>
              </a:ext>
            </a:extLst>
          </p:cNvPr>
          <p:cNvSpPr/>
          <p:nvPr/>
        </p:nvSpPr>
        <p:spPr>
          <a:xfrm>
            <a:off x="5387340" y="249809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B6C419A-68A4-4C11-A8FD-7134C42FC221}"/>
              </a:ext>
            </a:extLst>
          </p:cNvPr>
          <p:cNvSpPr/>
          <p:nvPr/>
        </p:nvSpPr>
        <p:spPr>
          <a:xfrm>
            <a:off x="5737860" y="249809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D61859E-556B-438E-A1CA-FCC1F8B07E85}"/>
              </a:ext>
            </a:extLst>
          </p:cNvPr>
          <p:cNvSpPr/>
          <p:nvPr/>
        </p:nvSpPr>
        <p:spPr>
          <a:xfrm>
            <a:off x="6088380" y="249809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BC149A9-A923-47DA-B5F8-2F9B27A49507}"/>
              </a:ext>
            </a:extLst>
          </p:cNvPr>
          <p:cNvSpPr/>
          <p:nvPr/>
        </p:nvSpPr>
        <p:spPr>
          <a:xfrm>
            <a:off x="6435090" y="352298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1CA9430A-B28B-4ACA-A1BB-9F5791D6FA16}"/>
              </a:ext>
            </a:extLst>
          </p:cNvPr>
          <p:cNvSpPr/>
          <p:nvPr/>
        </p:nvSpPr>
        <p:spPr>
          <a:xfrm>
            <a:off x="3280409" y="3522980"/>
            <a:ext cx="366395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8B60E113-1E09-4010-AE73-7FD057113A4B}"/>
              </a:ext>
            </a:extLst>
          </p:cNvPr>
          <p:cNvSpPr/>
          <p:nvPr/>
        </p:nvSpPr>
        <p:spPr>
          <a:xfrm>
            <a:off x="3630930" y="352298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1D937FFE-4DDD-4BA1-B0D2-462444F3DAD2}"/>
              </a:ext>
            </a:extLst>
          </p:cNvPr>
          <p:cNvSpPr/>
          <p:nvPr/>
        </p:nvSpPr>
        <p:spPr>
          <a:xfrm>
            <a:off x="3981450" y="352298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CF5EE00-40C5-4082-A4C1-9A1011E7B9AA}"/>
              </a:ext>
            </a:extLst>
          </p:cNvPr>
          <p:cNvSpPr/>
          <p:nvPr/>
        </p:nvSpPr>
        <p:spPr>
          <a:xfrm>
            <a:off x="4331970" y="352298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2DFD25C-8333-4191-8C07-AC89DB565A45}"/>
              </a:ext>
            </a:extLst>
          </p:cNvPr>
          <p:cNvSpPr/>
          <p:nvPr/>
        </p:nvSpPr>
        <p:spPr>
          <a:xfrm>
            <a:off x="4682490" y="352298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18A65E0-F0B8-47D2-B9B5-F729159D91A6}"/>
              </a:ext>
            </a:extLst>
          </p:cNvPr>
          <p:cNvSpPr/>
          <p:nvPr/>
        </p:nvSpPr>
        <p:spPr>
          <a:xfrm>
            <a:off x="5033010" y="352298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E19E278-0BFD-43AE-939C-CB314A8BDA79}"/>
              </a:ext>
            </a:extLst>
          </p:cNvPr>
          <p:cNvSpPr/>
          <p:nvPr/>
        </p:nvSpPr>
        <p:spPr>
          <a:xfrm>
            <a:off x="5383530" y="352298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9AAE566-3BA5-475C-AC14-5B4B53923598}"/>
              </a:ext>
            </a:extLst>
          </p:cNvPr>
          <p:cNvSpPr/>
          <p:nvPr/>
        </p:nvSpPr>
        <p:spPr>
          <a:xfrm>
            <a:off x="5734050" y="3522980"/>
            <a:ext cx="35052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6281C10-BBDE-4F79-8A8B-B7891C060486}"/>
              </a:ext>
            </a:extLst>
          </p:cNvPr>
          <p:cNvSpPr/>
          <p:nvPr/>
        </p:nvSpPr>
        <p:spPr>
          <a:xfrm>
            <a:off x="6076950" y="3522980"/>
            <a:ext cx="358140" cy="2628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82E8152-59F7-4CB7-9CC4-961C9A01A668}"/>
              </a:ext>
            </a:extLst>
          </p:cNvPr>
          <p:cNvSpPr txBox="1"/>
          <p:nvPr/>
        </p:nvSpPr>
        <p:spPr>
          <a:xfrm>
            <a:off x="7075172" y="715010"/>
            <a:ext cx="1416052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b="1" dirty="0"/>
              <a:t>Data sample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AB22AD04-9D80-4711-A446-93F9FC4E54EB}"/>
                  </a:ext>
                </a:extLst>
              </p:cNvPr>
              <p:cNvSpPr txBox="1"/>
              <p:nvPr/>
            </p:nvSpPr>
            <p:spPr>
              <a:xfrm>
                <a:off x="6789420" y="1295261"/>
                <a:ext cx="848721" cy="3000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pos m:val="bot"/>
                        <m:vertJc m:val="bot"/>
                        <m:ctrlPr>
                          <a:rPr lang="en-US" sz="1350" b="1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350" b="1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groupChr>
                  </m:oMath>
                </a14:m>
                <a:r>
                  <a:rPr lang="en-US" sz="135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350" b="1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350" b="1" i="1" dirty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</m:e>
                      <m:sub>
                        <m:r>
                          <a:rPr lang="en-US" sz="1350" b="1" i="1" dirty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endParaRPr lang="en-US" sz="1350" b="1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AB22AD04-9D80-4711-A446-93F9FC4E54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9420" y="1295261"/>
                <a:ext cx="848721" cy="300082"/>
              </a:xfrm>
              <a:prstGeom prst="rect">
                <a:avLst/>
              </a:prstGeom>
              <a:blipFill>
                <a:blip r:embed="rId2"/>
                <a:stretch>
                  <a:fillRect l="-7194" t="-22000" b="-4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6E7B1244-E8EA-4E83-A6A2-482E4B36BB00}"/>
                  </a:ext>
                </a:extLst>
              </p:cNvPr>
              <p:cNvSpPr txBox="1"/>
              <p:nvPr/>
            </p:nvSpPr>
            <p:spPr>
              <a:xfrm>
                <a:off x="6835861" y="1903730"/>
                <a:ext cx="773345" cy="3000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pos m:val="bot"/>
                        <m:vertJc m:val="bot"/>
                        <m:ctrlPr>
                          <a:rPr lang="en-US" sz="1350" b="1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350" b="1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groupChr>
                  </m:oMath>
                </a14:m>
                <a:r>
                  <a:rPr lang="en-US" sz="135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350" b="1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350" b="1" i="1" dirty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</m:e>
                      <m:sub>
                        <m:r>
                          <a:rPr lang="en-US" sz="1350" b="1" i="1" dirty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endParaRPr lang="en-US" sz="1350" b="1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6E7B1244-E8EA-4E83-A6A2-482E4B36BB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861" y="1903730"/>
                <a:ext cx="773345" cy="300082"/>
              </a:xfrm>
              <a:prstGeom prst="rect">
                <a:avLst/>
              </a:prstGeom>
              <a:blipFill>
                <a:blip r:embed="rId3"/>
                <a:stretch>
                  <a:fillRect l="-7087" t="-22000" b="-4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8616BD90-8884-4E86-A135-B4371B12ADD2}"/>
                  </a:ext>
                </a:extLst>
              </p:cNvPr>
              <p:cNvSpPr txBox="1"/>
              <p:nvPr/>
            </p:nvSpPr>
            <p:spPr>
              <a:xfrm>
                <a:off x="6789420" y="2482850"/>
                <a:ext cx="848721" cy="3000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pos m:val="bot"/>
                        <m:vertJc m:val="bot"/>
                        <m:ctrlPr>
                          <a:rPr lang="en-US" sz="1350" b="1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350" b="1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groupChr>
                  </m:oMath>
                </a14:m>
                <a:r>
                  <a:rPr lang="en-US" sz="135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350" b="1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350" b="1" i="1" dirty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</m:e>
                      <m:sub>
                        <m:r>
                          <a:rPr lang="en-US" sz="1350" b="1" i="1" dirty="0"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</m:oMath>
                </a14:m>
                <a:endParaRPr lang="en-US" sz="1350" b="1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8616BD90-8884-4E86-A135-B4371B12AD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9420" y="2482850"/>
                <a:ext cx="848721" cy="300082"/>
              </a:xfrm>
              <a:prstGeom prst="rect">
                <a:avLst/>
              </a:prstGeom>
              <a:blipFill>
                <a:blip r:embed="rId4"/>
                <a:stretch>
                  <a:fillRect l="-7194" t="-22000" b="-4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22FCDB9B-A6BC-4E7E-A92F-D99DC7E49E98}"/>
                  </a:ext>
                </a:extLst>
              </p:cNvPr>
              <p:cNvSpPr txBox="1"/>
              <p:nvPr/>
            </p:nvSpPr>
            <p:spPr>
              <a:xfrm>
                <a:off x="6817082" y="3508871"/>
                <a:ext cx="792124" cy="3000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pos m:val="bot"/>
                        <m:vertJc m:val="bot"/>
                        <m:ctrlPr>
                          <a:rPr lang="en-US" sz="1350" b="1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350" b="1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groupChr>
                  </m:oMath>
                </a14:m>
                <a:r>
                  <a:rPr lang="en-US" sz="135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350" b="1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350" b="1" i="1" dirty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</m:e>
                      <m:sub>
                        <m:r>
                          <a:rPr lang="en-US" sz="1350" b="1" i="1" dirty="0">
                            <a:latin typeface="Cambria Math" panose="02040503050406030204" pitchFamily="18" charset="0"/>
                          </a:rPr>
                          <m:t>𝒃</m:t>
                        </m:r>
                      </m:sub>
                    </m:sSub>
                  </m:oMath>
                </a14:m>
                <a:endParaRPr lang="en-US" sz="1350" b="1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22FCDB9B-A6BC-4E7E-A92F-D99DC7E49E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7082" y="3508871"/>
                <a:ext cx="792124" cy="300082"/>
              </a:xfrm>
              <a:prstGeom prst="rect">
                <a:avLst/>
              </a:prstGeom>
              <a:blipFill>
                <a:blip r:embed="rId5"/>
                <a:stretch>
                  <a:fillRect l="-6923" t="-22449" b="-51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268D568D-04F8-4887-93B1-0001DB744903}"/>
                  </a:ext>
                </a:extLst>
              </p:cNvPr>
              <p:cNvSpPr txBox="1"/>
              <p:nvPr/>
            </p:nvSpPr>
            <p:spPr>
              <a:xfrm>
                <a:off x="4873624" y="3912152"/>
                <a:ext cx="1493520" cy="8265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600" b="1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1600" b="1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1" i="1" dirty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acc>
                          <m:r>
                            <a:rPr lang="en-US" sz="1600" b="1" i="1" dirty="0">
                              <a:latin typeface="Cambria Math" panose="02040503050406030204" pitchFamily="18" charset="0"/>
                            </a:rPr>
                            <m:t>= </m:t>
                          </m:r>
                          <m:f>
                            <m:fPr>
                              <m:ctrlPr>
                                <a:rPr lang="en-US" sz="1600" b="1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 b="1" i="1" dirty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sz="1600" b="1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num>
                            <m:den>
                              <m:r>
                                <a:rPr lang="en-US" sz="1600" b="1" i="1" dirty="0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den>
                          </m:f>
                          <m:r>
                            <a:rPr lang="en-US" sz="1600" b="1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nary>
                            <m:naryPr>
                              <m:chr m:val="∑"/>
                              <m:ctrlPr>
                                <a:rPr lang="en-US" sz="1600" b="1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600" b="1" i="1" dirty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US" sz="1600" b="1" i="1" dirty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600" b="1" i="1" dirty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  <m:sup>
                              <m:r>
                                <a:rPr lang="en-US" sz="1600" b="1" i="1" dirty="0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600" b="1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en-US" sz="1600" b="1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600" b="1" i="1" dirty="0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600" b="1" i="1" dirty="0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e>
                          </m:nary>
                        </m:e>
                        <m:sub>
                          <m:r>
                            <a:rPr lang="en-US" sz="1600" b="1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1600" b="1" dirty="0"/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268D568D-04F8-4887-93B1-0001DB7449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3624" y="3912152"/>
                <a:ext cx="1493520" cy="82650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70896E1-7002-463C-BAC6-16B2746AD944}"/>
              </a:ext>
            </a:extLst>
          </p:cNvPr>
          <p:cNvSpPr/>
          <p:nvPr/>
        </p:nvSpPr>
        <p:spPr>
          <a:xfrm>
            <a:off x="1690011" y="852171"/>
            <a:ext cx="1606274" cy="2813050"/>
          </a:xfrm>
          <a:custGeom>
            <a:avLst/>
            <a:gdLst>
              <a:gd name="connsiteX0" fmla="*/ 2108679 w 2117146"/>
              <a:gd name="connsiteY0" fmla="*/ 0 h 3750733"/>
              <a:gd name="connsiteX1" fmla="*/ 694746 w 2117146"/>
              <a:gd name="connsiteY1" fmla="*/ 173567 h 3750733"/>
              <a:gd name="connsiteX2" fmla="*/ 123246 w 2117146"/>
              <a:gd name="connsiteY2" fmla="*/ 715433 h 3750733"/>
              <a:gd name="connsiteX3" fmla="*/ 55512 w 2117146"/>
              <a:gd name="connsiteY3" fmla="*/ 3031067 h 3750733"/>
              <a:gd name="connsiteX4" fmla="*/ 787879 w 2117146"/>
              <a:gd name="connsiteY4" fmla="*/ 3585633 h 3750733"/>
              <a:gd name="connsiteX5" fmla="*/ 2117146 w 2117146"/>
              <a:gd name="connsiteY5" fmla="*/ 3750733 h 3750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17146" h="3750733">
                <a:moveTo>
                  <a:pt x="2108679" y="0"/>
                </a:moveTo>
                <a:cubicBezTo>
                  <a:pt x="1567165" y="27164"/>
                  <a:pt x="1025651" y="54328"/>
                  <a:pt x="694746" y="173567"/>
                </a:cubicBezTo>
                <a:cubicBezTo>
                  <a:pt x="363841" y="292806"/>
                  <a:pt x="229785" y="239183"/>
                  <a:pt x="123246" y="715433"/>
                </a:cubicBezTo>
                <a:cubicBezTo>
                  <a:pt x="16707" y="1191683"/>
                  <a:pt x="-55260" y="2552700"/>
                  <a:pt x="55512" y="3031067"/>
                </a:cubicBezTo>
                <a:cubicBezTo>
                  <a:pt x="166284" y="3509434"/>
                  <a:pt x="444273" y="3465689"/>
                  <a:pt x="787879" y="3585633"/>
                </a:cubicBezTo>
                <a:cubicBezTo>
                  <a:pt x="1131485" y="3705577"/>
                  <a:pt x="1624315" y="3728155"/>
                  <a:pt x="2117146" y="3750733"/>
                </a:cubicBezTo>
              </a:path>
            </a:pathLst>
          </a:custGeom>
          <a:noFill/>
          <a:ln w="31750"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A28B02F-B08D-40A4-80E0-EDE473EE4AF3}"/>
              </a:ext>
            </a:extLst>
          </p:cNvPr>
          <p:cNvSpPr/>
          <p:nvPr/>
        </p:nvSpPr>
        <p:spPr>
          <a:xfrm>
            <a:off x="2106931" y="855980"/>
            <a:ext cx="1162685" cy="1786890"/>
          </a:xfrm>
          <a:custGeom>
            <a:avLst/>
            <a:gdLst>
              <a:gd name="connsiteX0" fmla="*/ 2108679 w 2117146"/>
              <a:gd name="connsiteY0" fmla="*/ 0 h 3750733"/>
              <a:gd name="connsiteX1" fmla="*/ 694746 w 2117146"/>
              <a:gd name="connsiteY1" fmla="*/ 173567 h 3750733"/>
              <a:gd name="connsiteX2" fmla="*/ 123246 w 2117146"/>
              <a:gd name="connsiteY2" fmla="*/ 715433 h 3750733"/>
              <a:gd name="connsiteX3" fmla="*/ 55512 w 2117146"/>
              <a:gd name="connsiteY3" fmla="*/ 3031067 h 3750733"/>
              <a:gd name="connsiteX4" fmla="*/ 787879 w 2117146"/>
              <a:gd name="connsiteY4" fmla="*/ 3585633 h 3750733"/>
              <a:gd name="connsiteX5" fmla="*/ 2117146 w 2117146"/>
              <a:gd name="connsiteY5" fmla="*/ 3750733 h 3750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17146" h="3750733">
                <a:moveTo>
                  <a:pt x="2108679" y="0"/>
                </a:moveTo>
                <a:cubicBezTo>
                  <a:pt x="1567165" y="27164"/>
                  <a:pt x="1025651" y="54328"/>
                  <a:pt x="694746" y="173567"/>
                </a:cubicBezTo>
                <a:cubicBezTo>
                  <a:pt x="363841" y="292806"/>
                  <a:pt x="229785" y="239183"/>
                  <a:pt x="123246" y="715433"/>
                </a:cubicBezTo>
                <a:cubicBezTo>
                  <a:pt x="16707" y="1191683"/>
                  <a:pt x="-55260" y="2552700"/>
                  <a:pt x="55512" y="3031067"/>
                </a:cubicBezTo>
                <a:cubicBezTo>
                  <a:pt x="166284" y="3509434"/>
                  <a:pt x="444273" y="3465689"/>
                  <a:pt x="787879" y="3585633"/>
                </a:cubicBezTo>
                <a:cubicBezTo>
                  <a:pt x="1131485" y="3705577"/>
                  <a:pt x="1624315" y="3728155"/>
                  <a:pt x="2117146" y="3750733"/>
                </a:cubicBezTo>
              </a:path>
            </a:pathLst>
          </a:custGeom>
          <a:noFill/>
          <a:ln w="31750"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4E106079-7E28-47A4-9677-BCC2B349DC33}"/>
              </a:ext>
            </a:extLst>
          </p:cNvPr>
          <p:cNvSpPr/>
          <p:nvPr/>
        </p:nvSpPr>
        <p:spPr>
          <a:xfrm>
            <a:off x="2433076" y="855980"/>
            <a:ext cx="847334" cy="1173480"/>
          </a:xfrm>
          <a:custGeom>
            <a:avLst/>
            <a:gdLst>
              <a:gd name="connsiteX0" fmla="*/ 2108679 w 2117146"/>
              <a:gd name="connsiteY0" fmla="*/ 0 h 3750733"/>
              <a:gd name="connsiteX1" fmla="*/ 694746 w 2117146"/>
              <a:gd name="connsiteY1" fmla="*/ 173567 h 3750733"/>
              <a:gd name="connsiteX2" fmla="*/ 123246 w 2117146"/>
              <a:gd name="connsiteY2" fmla="*/ 715433 h 3750733"/>
              <a:gd name="connsiteX3" fmla="*/ 55512 w 2117146"/>
              <a:gd name="connsiteY3" fmla="*/ 3031067 h 3750733"/>
              <a:gd name="connsiteX4" fmla="*/ 787879 w 2117146"/>
              <a:gd name="connsiteY4" fmla="*/ 3585633 h 3750733"/>
              <a:gd name="connsiteX5" fmla="*/ 2117146 w 2117146"/>
              <a:gd name="connsiteY5" fmla="*/ 3750733 h 3750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17146" h="3750733">
                <a:moveTo>
                  <a:pt x="2108679" y="0"/>
                </a:moveTo>
                <a:cubicBezTo>
                  <a:pt x="1567165" y="27164"/>
                  <a:pt x="1025651" y="54328"/>
                  <a:pt x="694746" y="173567"/>
                </a:cubicBezTo>
                <a:cubicBezTo>
                  <a:pt x="363841" y="292806"/>
                  <a:pt x="229785" y="239183"/>
                  <a:pt x="123246" y="715433"/>
                </a:cubicBezTo>
                <a:cubicBezTo>
                  <a:pt x="16707" y="1191683"/>
                  <a:pt x="-55260" y="2552700"/>
                  <a:pt x="55512" y="3031067"/>
                </a:cubicBezTo>
                <a:cubicBezTo>
                  <a:pt x="166284" y="3509434"/>
                  <a:pt x="444273" y="3465689"/>
                  <a:pt x="787879" y="3585633"/>
                </a:cubicBezTo>
                <a:cubicBezTo>
                  <a:pt x="1131485" y="3705577"/>
                  <a:pt x="1624315" y="3728155"/>
                  <a:pt x="2117146" y="3750733"/>
                </a:cubicBezTo>
              </a:path>
            </a:pathLst>
          </a:custGeom>
          <a:noFill/>
          <a:ln w="31750"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1" name="Freeform: Shape 70">
            <a:extLst>
              <a:ext uri="{FF2B5EF4-FFF2-40B4-BE49-F238E27FC236}">
                <a16:creationId xmlns:a16="http://schemas.microsoft.com/office/drawing/2014/main" id="{0815CB88-60C6-4500-BFBB-AA4E88D3E5DB}"/>
              </a:ext>
            </a:extLst>
          </p:cNvPr>
          <p:cNvSpPr/>
          <p:nvPr/>
        </p:nvSpPr>
        <p:spPr>
          <a:xfrm>
            <a:off x="2787406" y="855980"/>
            <a:ext cx="478400" cy="579120"/>
          </a:xfrm>
          <a:custGeom>
            <a:avLst/>
            <a:gdLst>
              <a:gd name="connsiteX0" fmla="*/ 2108679 w 2117146"/>
              <a:gd name="connsiteY0" fmla="*/ 0 h 3750733"/>
              <a:gd name="connsiteX1" fmla="*/ 694746 w 2117146"/>
              <a:gd name="connsiteY1" fmla="*/ 173567 h 3750733"/>
              <a:gd name="connsiteX2" fmla="*/ 123246 w 2117146"/>
              <a:gd name="connsiteY2" fmla="*/ 715433 h 3750733"/>
              <a:gd name="connsiteX3" fmla="*/ 55512 w 2117146"/>
              <a:gd name="connsiteY3" fmla="*/ 3031067 h 3750733"/>
              <a:gd name="connsiteX4" fmla="*/ 787879 w 2117146"/>
              <a:gd name="connsiteY4" fmla="*/ 3585633 h 3750733"/>
              <a:gd name="connsiteX5" fmla="*/ 2117146 w 2117146"/>
              <a:gd name="connsiteY5" fmla="*/ 3750733 h 3750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17146" h="3750733">
                <a:moveTo>
                  <a:pt x="2108679" y="0"/>
                </a:moveTo>
                <a:cubicBezTo>
                  <a:pt x="1567165" y="27164"/>
                  <a:pt x="1025651" y="54328"/>
                  <a:pt x="694746" y="173567"/>
                </a:cubicBezTo>
                <a:cubicBezTo>
                  <a:pt x="363841" y="292806"/>
                  <a:pt x="229785" y="239183"/>
                  <a:pt x="123246" y="715433"/>
                </a:cubicBezTo>
                <a:cubicBezTo>
                  <a:pt x="16707" y="1191683"/>
                  <a:pt x="-55260" y="2552700"/>
                  <a:pt x="55512" y="3031067"/>
                </a:cubicBezTo>
                <a:cubicBezTo>
                  <a:pt x="166284" y="3509434"/>
                  <a:pt x="444273" y="3465689"/>
                  <a:pt x="787879" y="3585633"/>
                </a:cubicBezTo>
                <a:cubicBezTo>
                  <a:pt x="1131485" y="3705577"/>
                  <a:pt x="1624315" y="3728155"/>
                  <a:pt x="2117146" y="3750733"/>
                </a:cubicBezTo>
              </a:path>
            </a:pathLst>
          </a:custGeom>
          <a:noFill/>
          <a:ln w="31750"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808ADB-2C45-4FE1-AC83-37C96760BE33}"/>
              </a:ext>
            </a:extLst>
          </p:cNvPr>
          <p:cNvSpPr txBox="1"/>
          <p:nvPr/>
        </p:nvSpPr>
        <p:spPr>
          <a:xfrm>
            <a:off x="2802572" y="992009"/>
            <a:ext cx="331470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b="1" dirty="0"/>
              <a:t>s</a:t>
            </a:r>
            <a:r>
              <a:rPr lang="en-US" sz="1350" b="1" baseline="-250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3F6D3A7-4FA1-427A-8D09-2B49EA05253F}"/>
              </a:ext>
            </a:extLst>
          </p:cNvPr>
          <p:cNvSpPr txBox="1"/>
          <p:nvPr/>
        </p:nvSpPr>
        <p:spPr>
          <a:xfrm>
            <a:off x="2413212" y="1302316"/>
            <a:ext cx="331470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b="1" dirty="0"/>
              <a:t>s</a:t>
            </a:r>
            <a:r>
              <a:rPr lang="en-US" sz="1350" b="1" baseline="-250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152A0A3-64FF-4E11-8896-355837A6B8B5}"/>
              </a:ext>
            </a:extLst>
          </p:cNvPr>
          <p:cNvSpPr txBox="1"/>
          <p:nvPr/>
        </p:nvSpPr>
        <p:spPr>
          <a:xfrm>
            <a:off x="2074937" y="1665962"/>
            <a:ext cx="331470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b="1" dirty="0"/>
              <a:t>s</a:t>
            </a:r>
            <a:r>
              <a:rPr lang="en-US" sz="1350" b="1" baseline="-25000" dirty="0"/>
              <a:t>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D953CD0-61E7-4949-99E7-25FA6650F121}"/>
              </a:ext>
            </a:extLst>
          </p:cNvPr>
          <p:cNvSpPr txBox="1"/>
          <p:nvPr/>
        </p:nvSpPr>
        <p:spPr>
          <a:xfrm>
            <a:off x="1679923" y="2120195"/>
            <a:ext cx="331470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b="1" dirty="0"/>
              <a:t>s</a:t>
            </a:r>
            <a:r>
              <a:rPr lang="en-US" sz="1350" b="1" baseline="-25000" dirty="0"/>
              <a:t>b</a:t>
            </a:r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E178D8A6-3CFA-48E1-8F1D-620454ACF21A}"/>
              </a:ext>
            </a:extLst>
          </p:cNvPr>
          <p:cNvSpPr/>
          <p:nvPr/>
        </p:nvSpPr>
        <p:spPr>
          <a:xfrm>
            <a:off x="1388864" y="852170"/>
            <a:ext cx="361951" cy="2987040"/>
          </a:xfrm>
          <a:prstGeom prst="leftBrac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667568C-2F80-4FB8-A4A8-3AAB5565430B}"/>
              </a:ext>
            </a:extLst>
          </p:cNvPr>
          <p:cNvSpPr txBox="1"/>
          <p:nvPr/>
        </p:nvSpPr>
        <p:spPr>
          <a:xfrm>
            <a:off x="7681405" y="1910030"/>
            <a:ext cx="141605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b Mean</a:t>
            </a:r>
          </a:p>
          <a:p>
            <a:r>
              <a:rPr lang="en-US" sz="1600" b="1" dirty="0"/>
              <a:t>Estimates, x</a:t>
            </a:r>
            <a:r>
              <a:rPr lang="en-US" sz="1600" b="1" baseline="-25000" dirty="0"/>
              <a:t>i</a:t>
            </a:r>
            <a:r>
              <a:rPr lang="en-US" sz="1600" b="1" dirty="0"/>
              <a:t>, form bootstrap distribution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A284035-BAA5-4DA2-9BAF-BDFAE6545430}"/>
              </a:ext>
            </a:extLst>
          </p:cNvPr>
          <p:cNvSpPr txBox="1"/>
          <p:nvPr/>
        </p:nvSpPr>
        <p:spPr>
          <a:xfrm>
            <a:off x="132648" y="1665962"/>
            <a:ext cx="131132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b Bootstrap</a:t>
            </a:r>
          </a:p>
          <a:p>
            <a:r>
              <a:rPr lang="en-US" sz="1600" b="1" dirty="0"/>
              <a:t>Resamples with replacement, </a:t>
            </a:r>
            <a:r>
              <a:rPr lang="en-US" sz="1600" b="1" dirty="0" err="1"/>
              <a:t>s</a:t>
            </a:r>
            <a:r>
              <a:rPr lang="en-US" sz="1600" b="1" baseline="-25000" dirty="0" err="1"/>
              <a:t>i</a:t>
            </a:r>
            <a:endParaRPr lang="en-US" sz="1600" b="1" baseline="-25000" dirty="0"/>
          </a:p>
        </p:txBody>
      </p:sp>
      <p:sp>
        <p:nvSpPr>
          <p:cNvPr id="77" name="Left Brace 76">
            <a:extLst>
              <a:ext uri="{FF2B5EF4-FFF2-40B4-BE49-F238E27FC236}">
                <a16:creationId xmlns:a16="http://schemas.microsoft.com/office/drawing/2014/main" id="{F1BF909A-F5B2-4195-97A7-F034BCAFD0A9}"/>
              </a:ext>
            </a:extLst>
          </p:cNvPr>
          <p:cNvSpPr/>
          <p:nvPr/>
        </p:nvSpPr>
        <p:spPr>
          <a:xfrm flipH="1">
            <a:off x="7172557" y="1214901"/>
            <a:ext cx="479936" cy="2697480"/>
          </a:xfrm>
          <a:prstGeom prst="leftBrac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6A7F4E5-AB58-46C8-9890-D9B8011C7312}"/>
              </a:ext>
            </a:extLst>
          </p:cNvPr>
          <p:cNvSpPr txBox="1"/>
          <p:nvPr/>
        </p:nvSpPr>
        <p:spPr>
          <a:xfrm>
            <a:off x="3646804" y="4022986"/>
            <a:ext cx="14935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Bootstrap Mean Point Estimate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C1756C-9BF9-9602-9575-36D18A6B2676}"/>
              </a:ext>
            </a:extLst>
          </p:cNvPr>
          <p:cNvSpPr txBox="1">
            <a:spLocks/>
          </p:cNvSpPr>
          <p:nvPr/>
        </p:nvSpPr>
        <p:spPr>
          <a:xfrm>
            <a:off x="457200" y="52571"/>
            <a:ext cx="8229600" cy="615277"/>
          </a:xfrm>
          <a:prstGeom prst="rect">
            <a:avLst/>
          </a:prstGeom>
        </p:spPr>
        <p:txBody>
          <a:bodyPr/>
          <a:lstStyle>
            <a:lvl1pPr algn="ctr" defTabSz="342900" rtl="0" eaLnBrk="1" latinLnBrk="0" hangingPunct="1"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One Sample Bootstrap Algorithm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D1ED38-93C5-1256-812E-5C40067FF7D0}"/>
              </a:ext>
            </a:extLst>
          </p:cNvPr>
          <p:cNvSpPr txBox="1"/>
          <p:nvPr/>
        </p:nvSpPr>
        <p:spPr>
          <a:xfrm>
            <a:off x="595086" y="4765040"/>
            <a:ext cx="8229600" cy="37846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Outline of bootstrap resampling algorithm to compute mean</a:t>
            </a:r>
          </a:p>
        </p:txBody>
      </p:sp>
    </p:spTree>
    <p:extLst>
      <p:ext uri="{BB962C8B-B14F-4D97-AF65-F5344CB8AC3E}">
        <p14:creationId xmlns:p14="http://schemas.microsoft.com/office/powerpoint/2010/main" val="41222268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/>
      <p:bldP spid="65" grpId="0"/>
      <p:bldP spid="66" grpId="0"/>
      <p:bldP spid="67" grpId="0"/>
      <p:bldP spid="68" grpId="0"/>
      <p:bldP spid="69" grpId="0"/>
      <p:bldP spid="5" grpId="0" animBg="1"/>
      <p:bldP spid="64" grpId="0" animBg="1"/>
      <p:bldP spid="70" grpId="0" animBg="1"/>
      <p:bldP spid="71" grpId="0" animBg="1"/>
      <p:bldP spid="6" grpId="0"/>
      <p:bldP spid="72" grpId="0"/>
      <p:bldP spid="73" grpId="0"/>
      <p:bldP spid="74" grpId="0"/>
      <p:bldP spid="7" grpId="0" animBg="1"/>
      <p:bldP spid="75" grpId="0"/>
      <p:bldP spid="76" grpId="0"/>
      <p:bldP spid="77" grpId="0" animBg="1"/>
      <p:bldP spid="7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Properties</a:t>
            </a:r>
            <a:r>
              <a:rPr dirty="0"/>
              <a:t> of the Bootstrap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dirty="0"/>
              <a:t>Properties of the nonparametric bootstrap</a:t>
            </a:r>
          </a:p>
          <a:p>
            <a:pPr lvl="0"/>
            <a:r>
              <a:rPr dirty="0"/>
              <a:t>By </a:t>
            </a:r>
            <a:r>
              <a:rPr b="1" dirty="0"/>
              <a:t>law of large numbers</a:t>
            </a:r>
            <a:r>
              <a:rPr dirty="0"/>
              <a:t>, bootstrap point estimate</a:t>
            </a:r>
            <a:r>
              <a:rPr lang="en-US" dirty="0"/>
              <a:t> of a statistic from an unbiased sample </a:t>
            </a:r>
            <a:r>
              <a:rPr dirty="0"/>
              <a:t>converges</a:t>
            </a:r>
            <a:r>
              <a:rPr lang="en-US" dirty="0"/>
              <a:t> to the population value</a:t>
            </a:r>
            <a:endParaRPr dirty="0"/>
          </a:p>
          <a:p>
            <a:pPr lvl="0"/>
            <a:r>
              <a:rPr dirty="0"/>
              <a:t>Larger number of resamples </a:t>
            </a:r>
            <a:r>
              <a:rPr lang="en-US" dirty="0"/>
              <a:t>gives better estimate of bootstrap distribution</a:t>
            </a:r>
            <a:endParaRPr dirty="0"/>
          </a:p>
          <a:p>
            <a:pPr lvl="0"/>
            <a:r>
              <a:rPr dirty="0" err="1"/>
              <a:t>Efrom</a:t>
            </a:r>
            <a:r>
              <a:rPr dirty="0"/>
              <a:t> and </a:t>
            </a:r>
            <a:r>
              <a:rPr dirty="0" err="1"/>
              <a:t>Tibshirani</a:t>
            </a:r>
            <a:r>
              <a:rPr dirty="0"/>
              <a:t> (1993) and Efron and </a:t>
            </a:r>
            <a:r>
              <a:rPr dirty="0" err="1"/>
              <a:t>Hasti</a:t>
            </a:r>
            <a:r>
              <a:rPr dirty="0"/>
              <a:t> (2016) recommend using at least 200 bootstrap samples for point estimates</a:t>
            </a:r>
          </a:p>
          <a:p>
            <a:pPr lvl="0"/>
            <a:r>
              <a:rPr lang="en-US" dirty="0"/>
              <a:t>More recently</a:t>
            </a:r>
            <a:r>
              <a:rPr dirty="0"/>
              <a:t> authors recommend a larger number (e.g. 1,000-</a:t>
            </a:r>
            <a:r>
              <a:rPr lang="en-US" dirty="0"/>
              <a:t>10</a:t>
            </a:r>
            <a:r>
              <a:rPr dirty="0"/>
              <a:t>,000) of resamples given low computer cost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Example; One Sample Bootstrap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200150"/>
            <a:ext cx="8581571" cy="3778250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1600" dirty="0"/>
              <a:t>Use sample of standardized scores of high school students </a:t>
            </a:r>
            <a:endParaRPr lang="en-US" sz="1600" dirty="0"/>
          </a:p>
          <a:p>
            <a:pPr marL="0" lvl="0" indent="0">
              <a:buNone/>
            </a:pPr>
            <a:r>
              <a:rPr lang="en-US" sz="1600" dirty="0">
                <a:hlinkClick r:id="rId2"/>
              </a:rPr>
              <a:t>Dataset HSB2 is from the </a:t>
            </a:r>
            <a:r>
              <a:rPr lang="en-US" sz="1600" b="0" i="0" dirty="0">
                <a:solidFill>
                  <a:srgbClr val="3C4858"/>
                </a:solidFill>
                <a:effectLst/>
                <a:hlinkClick r:id="rId2"/>
              </a:rPr>
              <a:t>UCLA Institute for Digital Research &amp; Education - Statistical Consulting</a:t>
            </a:r>
            <a:r>
              <a:rPr sz="1400" dirty="0">
                <a:latin typeface="Courier"/>
              </a:rPr>
              <a:t>
## id </a:t>
            </a:r>
            <a:r>
              <a:rPr lang="en-US" sz="1400" dirty="0">
                <a:latin typeface="Courier"/>
              </a:rPr>
              <a:t>   female  race  </a:t>
            </a:r>
            <a:r>
              <a:rPr lang="en-US" sz="1400" dirty="0" err="1">
                <a:latin typeface="Courier"/>
              </a:rPr>
              <a:t>ses</a:t>
            </a:r>
            <a:r>
              <a:rPr lang="en-US" sz="1400" dirty="0">
                <a:latin typeface="Courier"/>
              </a:rPr>
              <a:t>  </a:t>
            </a:r>
            <a:r>
              <a:rPr lang="en-US" sz="1400" dirty="0" err="1">
                <a:latin typeface="Courier"/>
              </a:rPr>
              <a:t>schtyp</a:t>
            </a:r>
            <a:r>
              <a:rPr lang="en-US" sz="1400" dirty="0">
                <a:latin typeface="Courier"/>
              </a:rPr>
              <a:t>  prog  read  write  math  science  </a:t>
            </a:r>
            <a:r>
              <a:rPr lang="en-US" sz="1400" dirty="0" err="1">
                <a:latin typeface="Courier"/>
              </a:rPr>
              <a:t>socst</a:t>
            </a:r>
            <a:r>
              <a:rPr sz="1400" dirty="0">
                <a:latin typeface="Courier"/>
              </a:rPr>
              <a:t>                                                                
## 70        0     4    1       1     1    57     52    41       47     57
## 121       1     4    2       1     3    68     59    53       63     61
## 86        0     4    3       1     1    44     33    54       58     31
## 141       0     4    3       1     3    63     44    47       53     56
## 172       0     4    2       1     2    47     52    57       53     61
## 113       0     4    2       1     2    44     52    51       63     61
## 50        0     3    2       1     1    50     59    42       53     61
## 11        0     1    2       1     2    34     46    45       39     36
## 84        0     4    2       1     1    63     57    54       58     51
## 48        0     3    2       1     2    57     55    52       50     51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04143" y="4720772"/>
            <a:ext cx="5275944" cy="307919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sz="2000" dirty="0"/>
              <a:t>Histogram of the math scores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09237DC-10F1-62B7-1EF8-600ABC3A33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21335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Example; One Sample Bootstrap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8D8748F-FBBE-5882-F545-170CF77723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3858" y="995387"/>
            <a:ext cx="5408318" cy="368017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Example; One Sample Bootstrap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46167" y="1023258"/>
            <a:ext cx="7597833" cy="3823062"/>
          </a:xfrm>
        </p:spPr>
        <p:txBody>
          <a:bodyPr>
            <a:normAutofit fontScale="55000" lnSpcReduction="20000"/>
          </a:bodyPr>
          <a:lstStyle/>
          <a:p>
            <a:pPr marL="0" lvl="0" indent="0">
              <a:buNone/>
            </a:pPr>
            <a:r>
              <a:rPr sz="3300" dirty="0"/>
              <a:t>Function to compute single sample bootstrap estimate of statistic</a:t>
            </a:r>
          </a:p>
          <a:p>
            <a:pPr lvl="0" indent="0">
              <a:buNone/>
            </a:pPr>
            <a:r>
              <a:rPr sz="2500" b="1" dirty="0">
                <a:solidFill>
                  <a:srgbClr val="007020"/>
                </a:solidFill>
                <a:latin typeface="Courier"/>
              </a:rPr>
              <a:t>def</a:t>
            </a:r>
            <a:r>
              <a:rPr sz="2500" dirty="0">
                <a:latin typeface="Courier"/>
              </a:rPr>
              <a:t> </a:t>
            </a:r>
            <a:r>
              <a:rPr sz="2500" dirty="0" err="1">
                <a:latin typeface="Courier"/>
              </a:rPr>
              <a:t>bootstrap_statistic</a:t>
            </a:r>
            <a:r>
              <a:rPr sz="2500" dirty="0">
                <a:latin typeface="Courier"/>
              </a:rPr>
              <a:t>(x, b, statistic):</a:t>
            </a:r>
            <a:br>
              <a:rPr sz="2500" dirty="0"/>
            </a:br>
            <a:r>
              <a:rPr sz="2500" dirty="0">
                <a:latin typeface="Courier"/>
              </a:rPr>
              <a:t>    </a:t>
            </a:r>
            <a:r>
              <a:rPr sz="2500" i="1" dirty="0">
                <a:solidFill>
                  <a:srgbClr val="60A0B0"/>
                </a:solidFill>
                <a:latin typeface="Courier"/>
              </a:rPr>
              <a:t>'''</a:t>
            </a:r>
            <a:br>
              <a:rPr sz="2500" dirty="0"/>
            </a:br>
            <a:r>
              <a:rPr sz="2500" i="1" dirty="0">
                <a:solidFill>
                  <a:srgbClr val="60A0B0"/>
                </a:solidFill>
                <a:latin typeface="Courier"/>
              </a:rPr>
              <a:t>    Function Computes b one-sample bootstrap estimates of data x</a:t>
            </a:r>
            <a:br>
              <a:rPr sz="2500" dirty="0"/>
            </a:br>
            <a:r>
              <a:rPr sz="2500" i="1" dirty="0">
                <a:solidFill>
                  <a:srgbClr val="60A0B0"/>
                </a:solidFill>
                <a:latin typeface="Courier"/>
              </a:rPr>
              <a:t>    using statistic function.  </a:t>
            </a:r>
            <a:br>
              <a:rPr sz="2500" dirty="0"/>
            </a:br>
            <a:r>
              <a:rPr sz="2500" i="1" dirty="0">
                <a:solidFill>
                  <a:srgbClr val="60A0B0"/>
                </a:solidFill>
                <a:latin typeface="Courier"/>
              </a:rPr>
              <a:t>    '''</a:t>
            </a:r>
            <a:br>
              <a:rPr sz="2500" dirty="0"/>
            </a:br>
            <a:r>
              <a:rPr sz="2500" dirty="0">
                <a:latin typeface="Courier"/>
              </a:rPr>
              <a:t>    </a:t>
            </a:r>
            <a:r>
              <a:rPr sz="2500" dirty="0" err="1">
                <a:latin typeface="Courier"/>
              </a:rPr>
              <a:t>n_samps</a:t>
            </a:r>
            <a:r>
              <a:rPr sz="2500" dirty="0">
                <a:latin typeface="Courier"/>
              </a:rPr>
              <a:t> </a:t>
            </a:r>
            <a:r>
              <a:rPr sz="2500" dirty="0">
                <a:solidFill>
                  <a:srgbClr val="666666"/>
                </a:solidFill>
                <a:latin typeface="Courier"/>
              </a:rPr>
              <a:t>=</a:t>
            </a:r>
            <a:r>
              <a:rPr sz="2500" dirty="0">
                <a:latin typeface="Courier"/>
              </a:rPr>
              <a:t> </a:t>
            </a:r>
            <a:r>
              <a:rPr sz="2500" dirty="0" err="1">
                <a:solidFill>
                  <a:srgbClr val="008000"/>
                </a:solidFill>
                <a:latin typeface="Courier"/>
              </a:rPr>
              <a:t>len</a:t>
            </a:r>
            <a:r>
              <a:rPr sz="2500" dirty="0">
                <a:latin typeface="Courier"/>
              </a:rPr>
              <a:t>(x)</a:t>
            </a:r>
            <a:br>
              <a:rPr sz="2500" dirty="0"/>
            </a:br>
            <a:r>
              <a:rPr sz="2500" dirty="0">
                <a:latin typeface="Courier"/>
              </a:rPr>
              <a:t>    </a:t>
            </a:r>
            <a:r>
              <a:rPr sz="2500" dirty="0" err="1">
                <a:latin typeface="Courier"/>
              </a:rPr>
              <a:t>boot_vals</a:t>
            </a:r>
            <a:r>
              <a:rPr sz="2500" dirty="0">
                <a:latin typeface="Courier"/>
              </a:rPr>
              <a:t> </a:t>
            </a:r>
            <a:r>
              <a:rPr sz="2500" dirty="0">
                <a:solidFill>
                  <a:srgbClr val="666666"/>
                </a:solidFill>
                <a:latin typeface="Courier"/>
              </a:rPr>
              <a:t>=</a:t>
            </a:r>
            <a:r>
              <a:rPr sz="2500" dirty="0">
                <a:latin typeface="Courier"/>
              </a:rPr>
              <a:t> []</a:t>
            </a:r>
            <a:br>
              <a:rPr sz="2500" dirty="0"/>
            </a:br>
            <a:r>
              <a:rPr sz="2500" dirty="0">
                <a:latin typeface="Courier"/>
              </a:rPr>
              <a:t>    </a:t>
            </a:r>
            <a:r>
              <a:rPr sz="2500" b="1" dirty="0">
                <a:solidFill>
                  <a:srgbClr val="007020"/>
                </a:solidFill>
                <a:latin typeface="Courier"/>
              </a:rPr>
              <a:t>for</a:t>
            </a:r>
            <a:r>
              <a:rPr sz="2500" dirty="0">
                <a:latin typeface="Courier"/>
              </a:rPr>
              <a:t> _ </a:t>
            </a:r>
            <a:r>
              <a:rPr sz="2500" b="1" dirty="0">
                <a:solidFill>
                  <a:srgbClr val="007020"/>
                </a:solidFill>
                <a:latin typeface="Courier"/>
              </a:rPr>
              <a:t>in</a:t>
            </a:r>
            <a:r>
              <a:rPr sz="2500" dirty="0">
                <a:latin typeface="Courier"/>
              </a:rPr>
              <a:t> </a:t>
            </a:r>
            <a:r>
              <a:rPr sz="2500" dirty="0">
                <a:solidFill>
                  <a:srgbClr val="008000"/>
                </a:solidFill>
                <a:latin typeface="Courier"/>
              </a:rPr>
              <a:t>range</a:t>
            </a:r>
            <a:r>
              <a:rPr sz="2500" dirty="0">
                <a:latin typeface="Courier"/>
              </a:rPr>
              <a:t>(b):</a:t>
            </a:r>
            <a:br>
              <a:rPr sz="2500" dirty="0"/>
            </a:br>
            <a:r>
              <a:rPr sz="2500" dirty="0">
                <a:latin typeface="Courier"/>
              </a:rPr>
              <a:t>        </a:t>
            </a:r>
            <a:r>
              <a:rPr sz="2500" i="1" dirty="0">
                <a:solidFill>
                  <a:srgbClr val="60A0B0"/>
                </a:solidFill>
                <a:latin typeface="Courier"/>
              </a:rPr>
              <a:t>## The heavy work is done here. The statistic is computed </a:t>
            </a:r>
            <a:br>
              <a:rPr sz="2500" dirty="0"/>
            </a:br>
            <a:r>
              <a:rPr sz="2500" dirty="0">
                <a:latin typeface="Courier"/>
              </a:rPr>
              <a:t>        </a:t>
            </a:r>
            <a:r>
              <a:rPr sz="2500" i="1" dirty="0">
                <a:solidFill>
                  <a:srgbClr val="60A0B0"/>
                </a:solidFill>
                <a:latin typeface="Courier"/>
              </a:rPr>
              <a:t>## using the bootstrap sample of the observations </a:t>
            </a:r>
            <a:br>
              <a:rPr sz="2500" dirty="0"/>
            </a:br>
            <a:r>
              <a:rPr sz="2500" dirty="0">
                <a:latin typeface="Courier"/>
              </a:rPr>
              <a:t>        </a:t>
            </a:r>
            <a:r>
              <a:rPr sz="2500" dirty="0" err="1">
                <a:latin typeface="Courier"/>
              </a:rPr>
              <a:t>boot_vals.append</a:t>
            </a:r>
            <a:r>
              <a:rPr sz="2500" dirty="0">
                <a:latin typeface="Courier"/>
              </a:rPr>
              <a:t>(statistic(</a:t>
            </a:r>
            <a:r>
              <a:rPr sz="2500" dirty="0" err="1">
                <a:latin typeface="Courier"/>
              </a:rPr>
              <a:t>nr.choice</a:t>
            </a:r>
            <a:r>
              <a:rPr sz="2500" dirty="0">
                <a:latin typeface="Courier"/>
              </a:rPr>
              <a:t>(x, size</a:t>
            </a:r>
            <a:r>
              <a:rPr sz="2500" dirty="0">
                <a:solidFill>
                  <a:srgbClr val="666666"/>
                </a:solidFill>
                <a:latin typeface="Courier"/>
              </a:rPr>
              <a:t>=</a:t>
            </a:r>
            <a:r>
              <a:rPr sz="2500" dirty="0" err="1">
                <a:latin typeface="Courier"/>
              </a:rPr>
              <a:t>n_samps</a:t>
            </a:r>
            <a:r>
              <a:rPr sz="2500" dirty="0">
                <a:latin typeface="Courier"/>
              </a:rPr>
              <a:t>, replace</a:t>
            </a:r>
            <a:r>
              <a:rPr sz="2500" dirty="0">
                <a:solidFill>
                  <a:srgbClr val="666666"/>
                </a:solidFill>
                <a:latin typeface="Courier"/>
              </a:rPr>
              <a:t>=</a:t>
            </a:r>
            <a:r>
              <a:rPr sz="2500" dirty="0">
                <a:solidFill>
                  <a:srgbClr val="19177C"/>
                </a:solidFill>
                <a:latin typeface="Courier"/>
              </a:rPr>
              <a:t>True</a:t>
            </a:r>
            <a:r>
              <a:rPr sz="2500" dirty="0">
                <a:latin typeface="Courier"/>
              </a:rPr>
              <a:t>)))</a:t>
            </a:r>
            <a:br>
              <a:rPr sz="2500" dirty="0"/>
            </a:br>
            <a:r>
              <a:rPr sz="2500" dirty="0">
                <a:latin typeface="Courier"/>
              </a:rPr>
              <a:t>    </a:t>
            </a:r>
            <a:r>
              <a:rPr sz="2500" dirty="0" err="1">
                <a:latin typeface="Courier"/>
              </a:rPr>
              <a:t>boot_estimate</a:t>
            </a:r>
            <a:r>
              <a:rPr sz="2500" dirty="0">
                <a:latin typeface="Courier"/>
              </a:rPr>
              <a:t> </a:t>
            </a:r>
            <a:r>
              <a:rPr sz="2500" dirty="0">
                <a:solidFill>
                  <a:srgbClr val="666666"/>
                </a:solidFill>
                <a:latin typeface="Courier"/>
              </a:rPr>
              <a:t>=</a:t>
            </a:r>
            <a:r>
              <a:rPr sz="2500" dirty="0">
                <a:latin typeface="Courier"/>
              </a:rPr>
              <a:t> </a:t>
            </a:r>
            <a:r>
              <a:rPr sz="2500" dirty="0" err="1">
                <a:latin typeface="Courier"/>
              </a:rPr>
              <a:t>np.mean</a:t>
            </a:r>
            <a:r>
              <a:rPr sz="2500" dirty="0">
                <a:latin typeface="Courier"/>
              </a:rPr>
              <a:t>(</a:t>
            </a:r>
            <a:r>
              <a:rPr sz="2500" dirty="0" err="1">
                <a:latin typeface="Courier"/>
              </a:rPr>
              <a:t>boot_vals</a:t>
            </a:r>
            <a:r>
              <a:rPr sz="2500" dirty="0">
                <a:latin typeface="Courier"/>
              </a:rPr>
              <a:t>)</a:t>
            </a:r>
            <a:br>
              <a:rPr sz="2500" dirty="0"/>
            </a:br>
            <a:r>
              <a:rPr sz="2500" dirty="0">
                <a:latin typeface="Courier"/>
              </a:rPr>
              <a:t>    </a:t>
            </a:r>
            <a:r>
              <a:rPr sz="2500" dirty="0">
                <a:solidFill>
                  <a:srgbClr val="008000"/>
                </a:solidFill>
                <a:latin typeface="Courier"/>
              </a:rPr>
              <a:t>print</a:t>
            </a:r>
            <a:r>
              <a:rPr sz="2500" dirty="0">
                <a:latin typeface="Courier"/>
              </a:rPr>
              <a:t>(</a:t>
            </a:r>
            <a:r>
              <a:rPr sz="2500" dirty="0">
                <a:solidFill>
                  <a:srgbClr val="4070A0"/>
                </a:solidFill>
                <a:latin typeface="Courier"/>
              </a:rPr>
              <a:t>'Bootstrap point estimate = {:6.2f}'</a:t>
            </a:r>
            <a:r>
              <a:rPr sz="2500" dirty="0">
                <a:latin typeface="Courier"/>
              </a:rPr>
              <a:t>.</a:t>
            </a:r>
            <a:r>
              <a:rPr sz="2500" dirty="0">
                <a:solidFill>
                  <a:srgbClr val="008000"/>
                </a:solidFill>
                <a:latin typeface="Courier"/>
              </a:rPr>
              <a:t>format</a:t>
            </a:r>
            <a:r>
              <a:rPr sz="2500" dirty="0">
                <a:latin typeface="Courier"/>
              </a:rPr>
              <a:t>(</a:t>
            </a:r>
            <a:r>
              <a:rPr sz="2500" dirty="0" err="1">
                <a:latin typeface="Courier"/>
              </a:rPr>
              <a:t>boot_estimate</a:t>
            </a:r>
            <a:r>
              <a:rPr sz="2500" dirty="0">
                <a:latin typeface="Courier"/>
              </a:rPr>
              <a:t>))</a:t>
            </a:r>
            <a:br>
              <a:rPr sz="2500" dirty="0"/>
            </a:br>
            <a:r>
              <a:rPr sz="2500" dirty="0">
                <a:latin typeface="Courier"/>
              </a:rPr>
              <a:t>    </a:t>
            </a:r>
            <a:r>
              <a:rPr sz="2500" b="1" dirty="0">
                <a:solidFill>
                  <a:srgbClr val="007020"/>
                </a:solidFill>
                <a:latin typeface="Courier"/>
              </a:rPr>
              <a:t>return</a:t>
            </a:r>
            <a:r>
              <a:rPr sz="2500" dirty="0">
                <a:latin typeface="Courier"/>
              </a:rPr>
              <a:t>(</a:t>
            </a:r>
            <a:r>
              <a:rPr sz="2500" dirty="0" err="1">
                <a:latin typeface="Courier"/>
              </a:rPr>
              <a:t>boot_estimate</a:t>
            </a:r>
            <a:r>
              <a:rPr sz="2500" dirty="0">
                <a:latin typeface="Courier"/>
              </a:rPr>
              <a:t>, </a:t>
            </a:r>
            <a:r>
              <a:rPr sz="2500" dirty="0" err="1">
                <a:latin typeface="Courier"/>
              </a:rPr>
              <a:t>boot_vals</a:t>
            </a:r>
            <a:r>
              <a:rPr sz="2500" dirty="0">
                <a:latin typeface="Courier"/>
              </a:rPr>
              <a:t>)      </a:t>
            </a:r>
            <a:br>
              <a:rPr sz="2500" dirty="0"/>
            </a:br>
            <a:r>
              <a:rPr sz="2500" dirty="0">
                <a:latin typeface="Courier"/>
              </a:rPr>
              <a:t>    </a:t>
            </a:r>
            <a:br>
              <a:rPr sz="2500" dirty="0"/>
            </a:br>
            <a:r>
              <a:rPr sz="2500" dirty="0" err="1">
                <a:latin typeface="Courier"/>
              </a:rPr>
              <a:t>bootstrap_mean_estimate</a:t>
            </a:r>
            <a:r>
              <a:rPr sz="2500" dirty="0">
                <a:latin typeface="Courier"/>
              </a:rPr>
              <a:t>, </a:t>
            </a:r>
            <a:r>
              <a:rPr sz="2500" dirty="0" err="1">
                <a:latin typeface="Courier"/>
              </a:rPr>
              <a:t>boot_means</a:t>
            </a:r>
            <a:r>
              <a:rPr sz="2500" dirty="0">
                <a:latin typeface="Courier"/>
              </a:rPr>
              <a:t> </a:t>
            </a:r>
            <a:r>
              <a:rPr sz="2500" dirty="0">
                <a:solidFill>
                  <a:srgbClr val="666666"/>
                </a:solidFill>
                <a:latin typeface="Courier"/>
              </a:rPr>
              <a:t>=</a:t>
            </a:r>
            <a:r>
              <a:rPr sz="2500" dirty="0">
                <a:latin typeface="Courier"/>
              </a:rPr>
              <a:t> </a:t>
            </a:r>
            <a:r>
              <a:rPr sz="2500" dirty="0" err="1">
                <a:latin typeface="Courier"/>
              </a:rPr>
              <a:t>bootstrap_statistic</a:t>
            </a:r>
            <a:r>
              <a:rPr sz="2500" dirty="0">
                <a:latin typeface="Courier"/>
              </a:rPr>
              <a:t>(math, </a:t>
            </a:r>
            <a:r>
              <a:rPr sz="2500" dirty="0">
                <a:solidFill>
                  <a:srgbClr val="40A070"/>
                </a:solidFill>
                <a:latin typeface="Courier"/>
              </a:rPr>
              <a:t>200</a:t>
            </a:r>
            <a:r>
              <a:rPr sz="2500" dirty="0">
                <a:latin typeface="Courier"/>
              </a:rPr>
              <a:t>, </a:t>
            </a:r>
            <a:r>
              <a:rPr sz="2500" dirty="0" err="1">
                <a:latin typeface="Courier"/>
              </a:rPr>
              <a:t>np.mean</a:t>
            </a:r>
            <a:r>
              <a:rPr sz="2500" dirty="0"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500" dirty="0">
                <a:latin typeface="Courier"/>
              </a:rPr>
              <a:t>## Bootstrap point estimate =  52.63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4A58D1-802F-34A5-1E0E-71826D0016BC}"/>
              </a:ext>
            </a:extLst>
          </p:cNvPr>
          <p:cNvSpPr txBox="1"/>
          <p:nvPr/>
        </p:nvSpPr>
        <p:spPr>
          <a:xfrm>
            <a:off x="91439" y="1359923"/>
            <a:ext cx="172489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Iterate over number of bootstrap resamples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Append statistic to list of bootstrap resamples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Compute bootstrap statistic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86AFF5A-CD55-D518-A940-5765C9FA66BD}"/>
              </a:ext>
            </a:extLst>
          </p:cNvPr>
          <p:cNvCxnSpPr>
            <a:cxnSpLocks/>
          </p:cNvCxnSpPr>
          <p:nvPr/>
        </p:nvCxnSpPr>
        <p:spPr>
          <a:xfrm>
            <a:off x="1483822" y="2173006"/>
            <a:ext cx="885305" cy="3987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00CC93C-353D-DB3E-CBCC-BF12A9BAA7FD}"/>
              </a:ext>
            </a:extLst>
          </p:cNvPr>
          <p:cNvCxnSpPr>
            <a:cxnSpLocks/>
          </p:cNvCxnSpPr>
          <p:nvPr/>
        </p:nvCxnSpPr>
        <p:spPr>
          <a:xfrm>
            <a:off x="1483822" y="3133898"/>
            <a:ext cx="1197033" cy="2909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A7B044F-625E-6DE4-AF45-B12C437C1B21}"/>
              </a:ext>
            </a:extLst>
          </p:cNvPr>
          <p:cNvCxnSpPr>
            <a:cxnSpLocks/>
          </p:cNvCxnSpPr>
          <p:nvPr/>
        </p:nvCxnSpPr>
        <p:spPr>
          <a:xfrm flipV="1">
            <a:off x="1483822" y="3487189"/>
            <a:ext cx="785553" cy="5652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35465" y="4234542"/>
            <a:ext cx="8719457" cy="522515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sz="1800" dirty="0"/>
              <a:t>Distribution of 200</a:t>
            </a:r>
            <a:r>
              <a:rPr lang="en-US" sz="1800" dirty="0"/>
              <a:t>0</a:t>
            </a:r>
            <a:r>
              <a:rPr sz="1800" dirty="0"/>
              <a:t> bootstrap samples of mean estimate</a:t>
            </a:r>
            <a:r>
              <a:rPr lang="en-US" sz="1800" dirty="0"/>
              <a:t> of math scores</a:t>
            </a:r>
            <a:endParaRPr sz="1800" dirty="0"/>
          </a:p>
          <a:p>
            <a:pPr lvl="0" indent="0" algn="ctr">
              <a:buNone/>
            </a:pPr>
            <a:r>
              <a:rPr sz="1800" dirty="0">
                <a:latin typeface="Courier"/>
              </a:rPr>
              <a:t>## bootstrap point estimate =  52.6</a:t>
            </a:r>
            <a:r>
              <a:rPr lang="en-US" sz="1800" dirty="0">
                <a:latin typeface="Courier"/>
              </a:rPr>
              <a:t>4</a:t>
            </a:r>
            <a:endParaRPr sz="1800" dirty="0">
              <a:latin typeface="Courier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EB30360-01C1-D2FA-CC37-981BFFE18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21335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Example; One Sample Bootstrap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C1EFF6F-5B50-409C-6503-98EE5F0714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465" y="1054489"/>
            <a:ext cx="4546079" cy="303452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0844C52-548F-D9D5-D557-60DEBE4017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1857" y="1101597"/>
            <a:ext cx="3957643" cy="29696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Bootstrap Confidence Intervals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462356" cy="3845674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Percentile method </a:t>
                </a:r>
                <a:r>
                  <a:rPr lang="en-US" dirty="0"/>
                  <a:t>is a simple algorithm for computing bootstrap CIs</a:t>
                </a:r>
              </a:p>
              <a:p>
                <a:pPr lvl="0"/>
                <a:r>
                  <a:rPr lang="en-US" dirty="0"/>
                  <a:t>Two sided CI percentile method:</a:t>
                </a:r>
              </a:p>
              <a:p>
                <a:pPr marL="685800" lvl="1" indent="-342900">
                  <a:buAutoNum type="arabicPeriod"/>
                </a:pPr>
                <a:r>
                  <a:rPr lang="en-US" dirty="0"/>
                  <a:t>Define confidence level, </a:t>
                </a:r>
                <a:r>
                  <a:rPr lang="en-US" dirty="0" err="1"/>
                  <a:t>eg.</a:t>
                </a:r>
                <a:r>
                  <a:rPr lang="en-US" dirty="0"/>
                  <a:t> 95% or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=0.05</m:t>
                    </m:r>
                  </m:oMath>
                </a14:m>
                <a:endParaRPr lang="en-US" dirty="0"/>
              </a:p>
              <a:p>
                <a:pPr marL="685800" lvl="1" indent="-342900">
                  <a:buAutoNum type="arabicPeriod"/>
                </a:pPr>
                <a:r>
                  <a:rPr lang="en-US" dirty="0"/>
                  <a:t>Sort b bootstrap samples,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:r>
                  <a:rPr lang="en-US" dirty="0"/>
                  <a:t>in ascending order</a:t>
                </a:r>
              </a:p>
              <a:p>
                <a:pPr marL="685800" lvl="1" indent="-342900">
                  <a:buAutoNum type="arabicPeriod"/>
                </a:pPr>
                <a:r>
                  <a:rPr lang="en-US" dirty="0"/>
                  <a:t>Lower CI index;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𝑙𝑜𝑤𝑒𝑟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𝑏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∗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𝛼</m:t>
                    </m:r>
                    <m:r>
                      <a:rPr lang="ar-AE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endParaRPr lang="ar-AE" dirty="0"/>
              </a:p>
              <a:p>
                <a:pPr lvl="1">
                  <a:buAutoNum type="arabicPeriod"/>
                </a:pPr>
                <a:r>
                  <a:rPr lang="en-US" dirty="0"/>
                  <a:t>Upper CI index;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𝑢𝑝𝑝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𝑒𝑟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/2</m:t>
                        </m:r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Percentile method is known to be biased</a:t>
                </a:r>
              </a:p>
              <a:p>
                <a:pPr lvl="1"/>
                <a:r>
                  <a:rPr lang="en-US" dirty="0"/>
                  <a:t>Bias correction methods available – See </a:t>
                </a:r>
                <a:r>
                  <a:rPr lang="en-US" dirty="0">
                    <a:hlinkClick r:id="rId2"/>
                  </a:rPr>
                  <a:t>Efron and </a:t>
                </a:r>
                <a:r>
                  <a:rPr lang="en-US" dirty="0" err="1">
                    <a:hlinkClick r:id="rId2"/>
                  </a:rPr>
                  <a:t>Hasti</a:t>
                </a:r>
                <a:r>
                  <a:rPr lang="en-US" dirty="0">
                    <a:hlinkClick r:id="rId2"/>
                  </a:rPr>
                  <a:t> (2016)</a:t>
                </a:r>
                <a:endParaRPr lang="en-US" dirty="0"/>
              </a:p>
              <a:p>
                <a:pPr lvl="0"/>
                <a:r>
                  <a:rPr lang="en-US" dirty="0" err="1"/>
                  <a:t>Efrom</a:t>
                </a:r>
                <a:r>
                  <a:rPr lang="en-US" dirty="0"/>
                  <a:t> and </a:t>
                </a:r>
                <a:r>
                  <a:rPr lang="en-US" dirty="0" err="1"/>
                  <a:t>Tibshirani</a:t>
                </a:r>
                <a:r>
                  <a:rPr lang="en-US" dirty="0"/>
                  <a:t> (1993) and Efron and </a:t>
                </a:r>
                <a:r>
                  <a:rPr lang="en-US" dirty="0" err="1"/>
                  <a:t>Hasti</a:t>
                </a:r>
                <a:r>
                  <a:rPr lang="en-US" dirty="0"/>
                  <a:t> (2016) using at least 2,000 bootstrap samples to estimate confidence intervals</a:t>
                </a:r>
              </a:p>
              <a:p>
                <a:pPr lvl="0"/>
                <a:r>
                  <a:rPr lang="en-US" dirty="0"/>
                  <a:t>Other authors recommend a larger number (e.g. 5,000-20,000) of resamples given low computer cost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462356" cy="3845674"/>
              </a:xfrm>
              <a:blipFill>
                <a:blip r:embed="rId3"/>
                <a:stretch>
                  <a:fillRect l="-937" t="-26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Bootstrap Confidence Intervals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Bootstrap confidence intervals are known to be biased!</a:t>
            </a:r>
          </a:p>
          <a:p>
            <a:pPr lvl="0"/>
            <a:r>
              <a:rPr dirty="0"/>
              <a:t>Often bootstrap CIs are overly optimistic</a:t>
            </a:r>
          </a:p>
          <a:p>
            <a:pPr lvl="0"/>
            <a:r>
              <a:rPr dirty="0"/>
              <a:t>Bias can be significant for asymmetric distributions</a:t>
            </a:r>
          </a:p>
          <a:p>
            <a:r>
              <a:rPr dirty="0"/>
              <a:t>In practice, bias</a:t>
            </a:r>
            <a:r>
              <a:rPr lang="en-US" dirty="0"/>
              <a:t> correction</a:t>
            </a:r>
            <a:r>
              <a:rPr dirty="0"/>
              <a:t> </a:t>
            </a:r>
            <a:r>
              <a:rPr lang="en-US" dirty="0"/>
              <a:t>can be </a:t>
            </a:r>
            <a:r>
              <a:rPr dirty="0"/>
              <a:t>applied</a:t>
            </a:r>
            <a:r>
              <a:rPr lang="en-US" dirty="0"/>
              <a:t> – See </a:t>
            </a:r>
            <a:r>
              <a:rPr lang="en-US" dirty="0">
                <a:hlinkClick r:id="rId2"/>
              </a:rPr>
              <a:t>Efron and Hasti (2016)</a:t>
            </a:r>
            <a:endParaRPr lang="en-US" dirty="0"/>
          </a:p>
          <a:p>
            <a:pPr lvl="0"/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Why Not Just Use a One-Sample t-test?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4789424" cy="3394472"/>
          </a:xfrm>
        </p:spPr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lang="en-US" dirty="0"/>
              <a:t>A one-sample t-test is strictly valid for Normal distributions</a:t>
            </a:r>
          </a:p>
          <a:p>
            <a:r>
              <a:rPr lang="en-US" dirty="0"/>
              <a:t>One-sample t-test can be run quickly and with little code</a:t>
            </a:r>
          </a:p>
          <a:p>
            <a:r>
              <a:rPr lang="en-US" dirty="0"/>
              <a:t>Do we care if the distribution of the sample Normal? </a:t>
            </a:r>
          </a:p>
          <a:p>
            <a:r>
              <a:rPr lang="en-US" dirty="0"/>
              <a:t>By the CLT we know the sampling distribution of the mean estimate is Normal</a:t>
            </a:r>
          </a:p>
          <a:p>
            <a:r>
              <a:rPr lang="en-US" dirty="0"/>
              <a:t>The bootstrap distribution works for the sample distribution of any statistic</a:t>
            </a:r>
          </a:p>
          <a:p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D9DDF4-5E33-D3CE-9CA2-C35CEDDC0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9778" y="1821351"/>
            <a:ext cx="3779520" cy="257183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653970" cy="351829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dirty="0"/>
              <a:t>Bootstrap distribution of </a:t>
            </a:r>
            <a:r>
              <a:rPr lang="en-US" sz="1800" dirty="0"/>
              <a:t>10</a:t>
            </a:r>
            <a:r>
              <a:rPr sz="1800" dirty="0"/>
              <a:t>000 mean estimates </a:t>
            </a:r>
            <a:r>
              <a:rPr lang="en-US" sz="1800" dirty="0"/>
              <a:t>of Math score </a:t>
            </a:r>
            <a:r>
              <a:rPr sz="1800" dirty="0"/>
              <a:t>with confidence intervals</a:t>
            </a:r>
          </a:p>
          <a:p>
            <a:pPr lvl="0" indent="0">
              <a:buNone/>
            </a:pPr>
            <a:r>
              <a:rPr sz="1800" dirty="0">
                <a:latin typeface="Courier"/>
              </a:rPr>
              <a:t>## bootstrap point estimate =  52.64</a:t>
            </a:r>
          </a:p>
          <a:p>
            <a:pPr lvl="0" indent="0">
              <a:buNone/>
            </a:pPr>
            <a:r>
              <a:rPr sz="1800" dirty="0">
                <a:latin typeface="Courier"/>
              </a:rPr>
              <a:t>## At alpha = 0.05, lower and upper bootstrap confidence intervals =  51.</a:t>
            </a:r>
            <a:r>
              <a:rPr lang="en-US" sz="1800" dirty="0">
                <a:latin typeface="Courier"/>
              </a:rPr>
              <a:t>38</a:t>
            </a:r>
            <a:r>
              <a:rPr sz="1800" dirty="0">
                <a:latin typeface="Courier"/>
              </a:rPr>
              <a:t>    53.9</a:t>
            </a:r>
            <a:r>
              <a:rPr lang="en-US" sz="1800" dirty="0">
                <a:latin typeface="Courier"/>
              </a:rPr>
              <a:t>6</a:t>
            </a:r>
            <a:endParaRPr sz="1800" dirty="0">
              <a:latin typeface="Courier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21BD3DB-53BB-E8A7-1936-2716879E2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21335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Example; One Sample Bootstrap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5276CF4-C540-B685-9C06-4091D3E554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4206" y="1371445"/>
            <a:ext cx="4999794" cy="328504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653970" cy="3861195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sz="1800" dirty="0"/>
              <a:t>How can we interpret this result? </a:t>
            </a:r>
            <a:endParaRPr sz="1800" dirty="0"/>
          </a:p>
          <a:p>
            <a:pPr lvl="0" indent="0">
              <a:buNone/>
            </a:pPr>
            <a:r>
              <a:rPr sz="1800" dirty="0">
                <a:latin typeface="Courier"/>
              </a:rPr>
              <a:t>## bootstrap point estimate =  52.64</a:t>
            </a:r>
          </a:p>
          <a:p>
            <a:pPr lvl="0" indent="0">
              <a:buNone/>
            </a:pPr>
            <a:r>
              <a:rPr sz="1800" dirty="0">
                <a:latin typeface="Courier"/>
              </a:rPr>
              <a:t>## At alpha = 0.05, lower and upper bootstrap confidence intervals =  51.</a:t>
            </a:r>
            <a:r>
              <a:rPr lang="en-US" sz="1800" dirty="0">
                <a:latin typeface="Courier"/>
              </a:rPr>
              <a:t>38</a:t>
            </a:r>
            <a:r>
              <a:rPr sz="1800" dirty="0">
                <a:latin typeface="Courier"/>
              </a:rPr>
              <a:t>    53.9</a:t>
            </a:r>
            <a:r>
              <a:rPr lang="en-US" sz="1800" dirty="0">
                <a:latin typeface="Courier"/>
              </a:rPr>
              <a:t>6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The limits of the CI have the same sign and the CI does not include 0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With 95% confidence we can say the </a:t>
            </a:r>
            <a:r>
              <a:rPr lang="en-US" sz="1800" b="1" dirty="0"/>
              <a:t>mean is significantly different from 0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We can </a:t>
            </a:r>
            <a:r>
              <a:rPr lang="en-US" sz="1800" b="1" dirty="0"/>
              <a:t>reject the null hypothesis </a:t>
            </a:r>
            <a:r>
              <a:rPr lang="en-US" sz="1800" dirty="0"/>
              <a:t>that the mean is 0</a:t>
            </a:r>
            <a:endParaRPr sz="180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21BD3DB-53BB-E8A7-1936-2716879E2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21335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Example; One Sample Bootstrap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5276CF4-C540-B685-9C06-4091D3E554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4206" y="1371445"/>
            <a:ext cx="4999794" cy="3285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946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67293-AB25-066C-9E42-DFE0D09C3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B90382-A00D-9924-95B5-759B18B833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Two Sample Bootstrap Algorithm</a:t>
            </a:r>
          </a:p>
        </p:txBody>
      </p:sp>
    </p:spTree>
    <p:extLst>
      <p:ext uri="{BB962C8B-B14F-4D97-AF65-F5344CB8AC3E}">
        <p14:creationId xmlns:p14="http://schemas.microsoft.com/office/powerpoint/2010/main" val="4923950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Two Sample Bootstrap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How can we apply the bootstrap algorithm for two-sample statistics?</a:t>
            </a:r>
          </a:p>
          <a:p>
            <a:pPr lvl="0"/>
            <a:r>
              <a:rPr dirty="0"/>
              <a:t>Example, difference of means of two independently sampled populations</a:t>
            </a:r>
          </a:p>
          <a:p>
            <a:pPr lvl="0"/>
            <a:r>
              <a:rPr dirty="0"/>
              <a:t>How to generate bootstrap samples?</a:t>
            </a:r>
          </a:p>
          <a:p>
            <a:pPr lvl="0"/>
            <a:r>
              <a:rPr dirty="0"/>
              <a:t>Can we just sample the concatenation of the two samples?</a:t>
            </a:r>
          </a:p>
          <a:p>
            <a:pPr lvl="0"/>
            <a:r>
              <a:rPr b="1" dirty="0"/>
              <a:t>No!</a:t>
            </a:r>
          </a:p>
          <a:p>
            <a:pPr lvl="1"/>
            <a:r>
              <a:rPr dirty="0"/>
              <a:t>There is no guarantee of a correct number of resamples for each group</a:t>
            </a:r>
          </a:p>
          <a:p>
            <a:pPr lvl="1"/>
            <a:r>
              <a:rPr dirty="0"/>
              <a:t>Imbalanced sampling leads to bias</a:t>
            </a:r>
          </a:p>
          <a:p>
            <a:pPr lvl="0"/>
            <a:r>
              <a:rPr dirty="0"/>
              <a:t>Must </a:t>
            </a:r>
            <a:r>
              <a:rPr b="1" dirty="0"/>
              <a:t>independently </a:t>
            </a:r>
            <a:r>
              <a:rPr lang="en-US" b="1" dirty="0"/>
              <a:t>re</a:t>
            </a:r>
            <a:r>
              <a:rPr b="1" dirty="0"/>
              <a:t>sample the two </a:t>
            </a:r>
            <a:r>
              <a:rPr lang="en-US" b="1" dirty="0"/>
              <a:t>sets of observations</a:t>
            </a:r>
            <a:endParaRPr dirty="0"/>
          </a:p>
          <a:p>
            <a:pPr lvl="0"/>
            <a:r>
              <a:rPr dirty="0"/>
              <a:t>Compute the statistic from the two </a:t>
            </a:r>
            <a:r>
              <a:rPr lang="en-US" dirty="0"/>
              <a:t>independent re</a:t>
            </a:r>
            <a:r>
              <a:rPr dirty="0"/>
              <a:t>samples</a:t>
            </a:r>
          </a:p>
        </p:txBody>
      </p:sp>
    </p:spTree>
    <p:extLst>
      <p:ext uri="{BB962C8B-B14F-4D97-AF65-F5344CB8AC3E}">
        <p14:creationId xmlns:p14="http://schemas.microsoft.com/office/powerpoint/2010/main" val="2183649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Two Sample Bootstrap</a:t>
            </a:r>
            <a:r>
              <a:rPr lang="en-US" dirty="0"/>
              <a:t> Algorithm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Example: algorithm to compute difference of means:</a:t>
            </a:r>
          </a:p>
          <a:p>
            <a:pPr marL="342900" lvl="0" indent="-342900">
              <a:buAutoNum type="arabicPeriod"/>
            </a:pPr>
            <a:r>
              <a:rPr lang="en-US" dirty="0"/>
              <a:t>From original observations of length n and m, </a:t>
            </a:r>
            <a:r>
              <a:rPr b="1" dirty="0"/>
              <a:t>Bernoulli sample</a:t>
            </a:r>
            <a:r>
              <a:rPr dirty="0"/>
              <a:t> n</a:t>
            </a:r>
            <a:r>
              <a:rPr lang="en-US" dirty="0"/>
              <a:t> and m</a:t>
            </a:r>
            <a:r>
              <a:rPr dirty="0"/>
              <a:t> </a:t>
            </a:r>
            <a:r>
              <a:rPr lang="en-US" dirty="0"/>
              <a:t>values respectively</a:t>
            </a:r>
            <a:r>
              <a:rPr dirty="0"/>
              <a:t> </a:t>
            </a:r>
            <a:r>
              <a:rPr b="1" dirty="0"/>
              <a:t>with replacement</a:t>
            </a:r>
            <a:r>
              <a:rPr dirty="0"/>
              <a:t> </a:t>
            </a:r>
            <a:endParaRPr lang="en-US" dirty="0"/>
          </a:p>
          <a:p>
            <a:pPr lvl="1"/>
            <a:r>
              <a:rPr dirty="0"/>
              <a:t>The number of resamples for each </a:t>
            </a:r>
            <a:r>
              <a:rPr lang="en-US" dirty="0"/>
              <a:t>set of observations</a:t>
            </a:r>
            <a:r>
              <a:rPr dirty="0"/>
              <a:t> is the number of samples </a:t>
            </a:r>
            <a:r>
              <a:rPr lang="en-US" dirty="0"/>
              <a:t>in</a:t>
            </a:r>
            <a:r>
              <a:rPr dirty="0"/>
              <a:t> </a:t>
            </a:r>
            <a:r>
              <a:rPr lang="en-US" dirty="0"/>
              <a:t>each</a:t>
            </a:r>
            <a:r>
              <a:rPr dirty="0"/>
              <a:t> </a:t>
            </a:r>
            <a:r>
              <a:rPr lang="en-US" dirty="0"/>
              <a:t>set of observations</a:t>
            </a:r>
            <a:endParaRPr dirty="0"/>
          </a:p>
          <a:p>
            <a:pPr marL="342900" lvl="0" indent="-342900">
              <a:buAutoNum type="arabicPeriod"/>
            </a:pPr>
            <a:r>
              <a:rPr dirty="0"/>
              <a:t>Compute the two-sample statistic; e.g. difference of means</a:t>
            </a:r>
          </a:p>
          <a:p>
            <a:pPr marL="342900" lvl="0" indent="-342900">
              <a:buAutoNum type="arabicPeriod"/>
            </a:pPr>
            <a:r>
              <a:rPr lang="en-US" dirty="0"/>
              <a:t>Repeat steps 1 and 2 to accumulate the required number of bootstrap samples</a:t>
            </a:r>
          </a:p>
          <a:p>
            <a:pPr marL="342900" lvl="0" indent="-342900">
              <a:buAutoNum type="arabicPeriod"/>
            </a:pPr>
            <a:r>
              <a:rPr lang="en-US" dirty="0"/>
              <a:t>The mean of the bootstrap distribution is the bootstrap point estimate of the two-sample statistic</a:t>
            </a:r>
          </a:p>
          <a:p>
            <a:pPr marL="342900" lvl="0" indent="-342900">
              <a:buAutoNum type="arabicPeriod"/>
            </a:pP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83599" cy="871538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Example, </a:t>
            </a:r>
            <a:r>
              <a:rPr sz="3200" b="0" dirty="0"/>
              <a:t>Two Sample Bootstrap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135743"/>
            <a:ext cx="8519885" cy="1204686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200" dirty="0"/>
              <a:t>Example; find the bootstrap distribution of the difference in math scores </a:t>
            </a:r>
            <a:r>
              <a:rPr lang="en-US" sz="2200" dirty="0"/>
              <a:t>of different </a:t>
            </a:r>
            <a:r>
              <a:rPr sz="2200" dirty="0"/>
              <a:t>SES students</a:t>
            </a:r>
            <a:endParaRPr lang="en-US" sz="22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200" dirty="0"/>
              <a:t>Is this difference statistically significant?  </a:t>
            </a:r>
            <a:endParaRPr sz="2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31D218-1BBF-B9AB-8E37-64ADD45DF1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171" y="2495550"/>
            <a:ext cx="7779657" cy="2500177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345"/>
            <a:ext cx="8229600" cy="467030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Example, Two Sample Bootstrap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2050" y="529375"/>
            <a:ext cx="7232073" cy="4172857"/>
          </a:xfrm>
        </p:spPr>
        <p:txBody>
          <a:bodyPr>
            <a:noAutofit/>
          </a:bodyPr>
          <a:lstStyle/>
          <a:p>
            <a:pPr lvl="0" indent="0">
              <a:buNone/>
            </a:pPr>
            <a:r>
              <a:rPr sz="1100" b="1" dirty="0">
                <a:solidFill>
                  <a:srgbClr val="007020"/>
                </a:solidFill>
                <a:latin typeface="Courier"/>
              </a:rPr>
              <a:t>def</a:t>
            </a:r>
            <a:r>
              <a:rPr sz="1100" dirty="0">
                <a:latin typeface="Courier"/>
              </a:rPr>
              <a:t> </a:t>
            </a:r>
            <a:r>
              <a:rPr sz="1100" dirty="0" err="1">
                <a:latin typeface="Courier"/>
              </a:rPr>
              <a:t>two_boot_two_stat</a:t>
            </a:r>
            <a:r>
              <a:rPr sz="1100" dirty="0">
                <a:latin typeface="Courier"/>
              </a:rPr>
              <a:t>(sample_1, sample_2, b, statistic_1, </a:t>
            </a:r>
            <a:r>
              <a:rPr sz="1100" dirty="0" err="1">
                <a:latin typeface="Courier"/>
              </a:rPr>
              <a:t>two_samp_statistic</a:t>
            </a:r>
            <a:r>
              <a:rPr sz="1100" dirty="0">
                <a:latin typeface="Courier"/>
              </a:rPr>
              <a:t>):</a:t>
            </a:r>
            <a:br>
              <a:rPr sz="1100" dirty="0"/>
            </a:br>
            <a:r>
              <a:rPr sz="1100" dirty="0">
                <a:latin typeface="Courier"/>
              </a:rPr>
              <a:t>    </a:t>
            </a:r>
            <a:r>
              <a:rPr sz="1100" i="1" dirty="0">
                <a:solidFill>
                  <a:srgbClr val="60A0B0"/>
                </a:solidFill>
                <a:latin typeface="Courier"/>
              </a:rPr>
              <a:t>'''</a:t>
            </a:r>
            <a:br>
              <a:rPr sz="1100" dirty="0"/>
            </a:br>
            <a:r>
              <a:rPr sz="1100" i="1" dirty="0">
                <a:solidFill>
                  <a:srgbClr val="60A0B0"/>
                </a:solidFill>
                <a:latin typeface="Courier"/>
              </a:rPr>
              <a:t>    Function computes two sample and two statistic bootstrap estimate.   </a:t>
            </a:r>
            <a:br>
              <a:rPr sz="1100" dirty="0"/>
            </a:br>
            <a:r>
              <a:rPr sz="1100" i="1" dirty="0">
                <a:solidFill>
                  <a:srgbClr val="60A0B0"/>
                </a:solidFill>
                <a:latin typeface="Courier"/>
              </a:rPr>
              <a:t>    - sample_1 and sample_2, independent </a:t>
            </a:r>
            <a:r>
              <a:rPr sz="1100" i="1" dirty="0" err="1">
                <a:solidFill>
                  <a:srgbClr val="60A0B0"/>
                </a:solidFill>
                <a:latin typeface="Courier"/>
              </a:rPr>
              <a:t>obervation</a:t>
            </a:r>
            <a:r>
              <a:rPr sz="1100" i="1" dirty="0">
                <a:solidFill>
                  <a:srgbClr val="60A0B0"/>
                </a:solidFill>
                <a:latin typeface="Courier"/>
              </a:rPr>
              <a:t> vectors   </a:t>
            </a:r>
            <a:br>
              <a:rPr sz="1100" dirty="0"/>
            </a:br>
            <a:r>
              <a:rPr sz="1100" i="1" dirty="0">
                <a:solidFill>
                  <a:srgbClr val="60A0B0"/>
                </a:solidFill>
                <a:latin typeface="Courier"/>
              </a:rPr>
              <a:t>    - b, number of bootstrap samples to compute</a:t>
            </a:r>
            <a:br>
              <a:rPr sz="1100" dirty="0"/>
            </a:br>
            <a:r>
              <a:rPr sz="1100" i="1" dirty="0">
                <a:solidFill>
                  <a:srgbClr val="60A0B0"/>
                </a:solidFill>
                <a:latin typeface="Courier"/>
              </a:rPr>
              <a:t>    - statistic 1, statistic applied to the two independent bootstrap samples</a:t>
            </a:r>
            <a:br>
              <a:rPr sz="1100" dirty="0"/>
            </a:br>
            <a:r>
              <a:rPr sz="1100" i="1" dirty="0">
                <a:solidFill>
                  <a:srgbClr val="60A0B0"/>
                </a:solidFill>
                <a:latin typeface="Courier"/>
              </a:rPr>
              <a:t>    - </a:t>
            </a:r>
            <a:r>
              <a:rPr sz="1100" i="1" dirty="0" err="1">
                <a:solidFill>
                  <a:srgbClr val="60A0B0"/>
                </a:solidFill>
                <a:latin typeface="Courier"/>
              </a:rPr>
              <a:t>two_sample_statistic</a:t>
            </a:r>
            <a:r>
              <a:rPr sz="1100" i="1" dirty="0">
                <a:solidFill>
                  <a:srgbClr val="60A0B0"/>
                </a:solidFill>
                <a:latin typeface="Courier"/>
              </a:rPr>
              <a:t>, statistic applied to the independent bootstrap statistics</a:t>
            </a:r>
            <a:br>
              <a:rPr sz="1100" dirty="0"/>
            </a:br>
            <a:r>
              <a:rPr sz="1100" i="1" dirty="0">
                <a:solidFill>
                  <a:srgbClr val="60A0B0"/>
                </a:solidFill>
                <a:latin typeface="Courier"/>
              </a:rPr>
              <a:t>    '''</a:t>
            </a:r>
            <a:br>
              <a:rPr sz="1100" dirty="0"/>
            </a:br>
            <a:r>
              <a:rPr sz="1100" dirty="0">
                <a:latin typeface="Courier"/>
              </a:rPr>
              <a:t>    </a:t>
            </a:r>
            <a:r>
              <a:rPr sz="1100" dirty="0" err="1">
                <a:latin typeface="Courier"/>
              </a:rPr>
              <a:t>two_boot_values</a:t>
            </a:r>
            <a:r>
              <a:rPr sz="1100" dirty="0">
                <a:latin typeface="Courier"/>
              </a:rPr>
              <a:t> </a:t>
            </a:r>
            <a:r>
              <a:rPr sz="1100" dirty="0">
                <a:solidFill>
                  <a:srgbClr val="666666"/>
                </a:solidFill>
                <a:latin typeface="Courier"/>
              </a:rPr>
              <a:t>=</a:t>
            </a:r>
            <a:r>
              <a:rPr sz="1100" dirty="0">
                <a:latin typeface="Courier"/>
              </a:rPr>
              <a:t> []</a:t>
            </a:r>
            <a:br>
              <a:rPr sz="1100" dirty="0"/>
            </a:br>
            <a:r>
              <a:rPr sz="1100" dirty="0">
                <a:latin typeface="Courier"/>
              </a:rPr>
              <a:t>    n_samps_1 </a:t>
            </a:r>
            <a:r>
              <a:rPr sz="1100" dirty="0">
                <a:solidFill>
                  <a:srgbClr val="666666"/>
                </a:solidFill>
                <a:latin typeface="Courier"/>
              </a:rPr>
              <a:t>=</a:t>
            </a:r>
            <a:r>
              <a:rPr sz="1100" dirty="0">
                <a:latin typeface="Courier"/>
              </a:rPr>
              <a:t> </a:t>
            </a:r>
            <a:r>
              <a:rPr sz="1100" dirty="0" err="1">
                <a:solidFill>
                  <a:srgbClr val="008000"/>
                </a:solidFill>
                <a:latin typeface="Courier"/>
              </a:rPr>
              <a:t>len</a:t>
            </a:r>
            <a:r>
              <a:rPr sz="1100" dirty="0">
                <a:latin typeface="Courier"/>
              </a:rPr>
              <a:t>(sample_1)</a:t>
            </a:r>
            <a:br>
              <a:rPr sz="1100" dirty="0"/>
            </a:br>
            <a:r>
              <a:rPr sz="1100" dirty="0">
                <a:latin typeface="Courier"/>
              </a:rPr>
              <a:t>    n_samps_2 </a:t>
            </a:r>
            <a:r>
              <a:rPr sz="1100" dirty="0">
                <a:solidFill>
                  <a:srgbClr val="666666"/>
                </a:solidFill>
                <a:latin typeface="Courier"/>
              </a:rPr>
              <a:t>=</a:t>
            </a:r>
            <a:r>
              <a:rPr sz="1100" dirty="0">
                <a:latin typeface="Courier"/>
              </a:rPr>
              <a:t> </a:t>
            </a:r>
            <a:r>
              <a:rPr sz="1100" dirty="0" err="1">
                <a:solidFill>
                  <a:srgbClr val="008000"/>
                </a:solidFill>
                <a:latin typeface="Courier"/>
              </a:rPr>
              <a:t>len</a:t>
            </a:r>
            <a:r>
              <a:rPr sz="1100" dirty="0">
                <a:latin typeface="Courier"/>
              </a:rPr>
              <a:t>(sample_2)</a:t>
            </a:r>
            <a:br>
              <a:rPr sz="1100" dirty="0"/>
            </a:br>
            <a:r>
              <a:rPr sz="1100" dirty="0">
                <a:latin typeface="Courier"/>
              </a:rPr>
              <a:t>    </a:t>
            </a:r>
            <a:r>
              <a:rPr sz="1100" b="1" dirty="0">
                <a:solidFill>
                  <a:srgbClr val="007020"/>
                </a:solidFill>
                <a:latin typeface="Courier"/>
              </a:rPr>
              <a:t>for</a:t>
            </a:r>
            <a:r>
              <a:rPr sz="1100" dirty="0">
                <a:latin typeface="Courier"/>
              </a:rPr>
              <a:t> _ </a:t>
            </a:r>
            <a:r>
              <a:rPr sz="1100" b="1" dirty="0">
                <a:solidFill>
                  <a:srgbClr val="007020"/>
                </a:solidFill>
                <a:latin typeface="Courier"/>
              </a:rPr>
              <a:t>in</a:t>
            </a:r>
            <a:r>
              <a:rPr sz="1100" dirty="0">
                <a:latin typeface="Courier"/>
              </a:rPr>
              <a:t> </a:t>
            </a:r>
            <a:r>
              <a:rPr sz="1100" dirty="0">
                <a:solidFill>
                  <a:srgbClr val="008000"/>
                </a:solidFill>
                <a:latin typeface="Courier"/>
              </a:rPr>
              <a:t>range</a:t>
            </a:r>
            <a:r>
              <a:rPr sz="1100" dirty="0">
                <a:latin typeface="Courier"/>
              </a:rPr>
              <a:t>(b):  </a:t>
            </a:r>
            <a:br>
              <a:rPr sz="1100" dirty="0"/>
            </a:br>
            <a:r>
              <a:rPr sz="1100" dirty="0">
                <a:latin typeface="Courier"/>
              </a:rPr>
              <a:t>        </a:t>
            </a:r>
            <a:r>
              <a:rPr sz="1100" i="1" dirty="0">
                <a:solidFill>
                  <a:srgbClr val="60A0B0"/>
                </a:solidFill>
                <a:latin typeface="Courier"/>
              </a:rPr>
              <a:t>## Heavy </a:t>
            </a:r>
            <a:r>
              <a:rPr sz="1100" i="1" dirty="0" err="1">
                <a:solidFill>
                  <a:srgbClr val="60A0B0"/>
                </a:solidFill>
                <a:latin typeface="Courier"/>
              </a:rPr>
              <a:t>lisfting</a:t>
            </a:r>
            <a:r>
              <a:rPr sz="1100" i="1" dirty="0">
                <a:solidFill>
                  <a:srgbClr val="60A0B0"/>
                </a:solidFill>
                <a:latin typeface="Courier"/>
              </a:rPr>
              <a:t> is done here. First, the two independent bootstrap estimates</a:t>
            </a:r>
            <a:br>
              <a:rPr sz="1100" dirty="0"/>
            </a:br>
            <a:r>
              <a:rPr sz="1100" dirty="0">
                <a:latin typeface="Courier"/>
              </a:rPr>
              <a:t>        </a:t>
            </a:r>
            <a:r>
              <a:rPr sz="1100" i="1" dirty="0">
                <a:solidFill>
                  <a:srgbClr val="60A0B0"/>
                </a:solidFill>
                <a:latin typeface="Courier"/>
              </a:rPr>
              <a:t>## are computed from independent bootstrap resamples. Second, the statistic </a:t>
            </a:r>
            <a:br>
              <a:rPr sz="1100" dirty="0"/>
            </a:br>
            <a:r>
              <a:rPr sz="1100" dirty="0">
                <a:latin typeface="Courier"/>
              </a:rPr>
              <a:t>        </a:t>
            </a:r>
            <a:r>
              <a:rPr sz="1100" i="1" dirty="0">
                <a:solidFill>
                  <a:srgbClr val="60A0B0"/>
                </a:solidFill>
                <a:latin typeface="Courier"/>
              </a:rPr>
              <a:t>## of the two bootstrap estimates is computed.  </a:t>
            </a:r>
            <a:br>
              <a:rPr sz="1100" dirty="0"/>
            </a:br>
            <a:r>
              <a:rPr sz="1100" dirty="0">
                <a:latin typeface="Courier"/>
              </a:rPr>
              <a:t>        boot_estimate_1 </a:t>
            </a:r>
            <a:r>
              <a:rPr sz="1100" dirty="0">
                <a:solidFill>
                  <a:srgbClr val="666666"/>
                </a:solidFill>
                <a:latin typeface="Courier"/>
              </a:rPr>
              <a:t>=</a:t>
            </a:r>
            <a:r>
              <a:rPr sz="1100" dirty="0">
                <a:latin typeface="Courier"/>
              </a:rPr>
              <a:t> statistic_1(</a:t>
            </a:r>
            <a:r>
              <a:rPr sz="1100" dirty="0" err="1">
                <a:latin typeface="Courier"/>
              </a:rPr>
              <a:t>nr.choice</a:t>
            </a:r>
            <a:r>
              <a:rPr sz="1100" dirty="0">
                <a:latin typeface="Courier"/>
              </a:rPr>
              <a:t>(sample_1, size</a:t>
            </a:r>
            <a:r>
              <a:rPr sz="1100" dirty="0">
                <a:solidFill>
                  <a:srgbClr val="666666"/>
                </a:solidFill>
                <a:latin typeface="Courier"/>
              </a:rPr>
              <a:t>=</a:t>
            </a:r>
            <a:r>
              <a:rPr sz="1100" dirty="0">
                <a:latin typeface="Courier"/>
              </a:rPr>
              <a:t>n_samps_1, replace</a:t>
            </a:r>
            <a:r>
              <a:rPr sz="1100" dirty="0">
                <a:solidFill>
                  <a:srgbClr val="666666"/>
                </a:solidFill>
                <a:latin typeface="Courier"/>
              </a:rPr>
              <a:t>=</a:t>
            </a:r>
            <a:r>
              <a:rPr sz="1100" dirty="0">
                <a:solidFill>
                  <a:srgbClr val="19177C"/>
                </a:solidFill>
                <a:latin typeface="Courier"/>
              </a:rPr>
              <a:t>True</a:t>
            </a:r>
            <a:r>
              <a:rPr sz="1100" dirty="0">
                <a:latin typeface="Courier"/>
              </a:rPr>
              <a:t>))</a:t>
            </a:r>
            <a:br>
              <a:rPr sz="1100" dirty="0"/>
            </a:br>
            <a:r>
              <a:rPr sz="1100" dirty="0">
                <a:latin typeface="Courier"/>
              </a:rPr>
              <a:t>        boot_estimate_2 </a:t>
            </a:r>
            <a:r>
              <a:rPr sz="1100" dirty="0">
                <a:solidFill>
                  <a:srgbClr val="666666"/>
                </a:solidFill>
                <a:latin typeface="Courier"/>
              </a:rPr>
              <a:t>=</a:t>
            </a:r>
            <a:r>
              <a:rPr sz="1100" dirty="0">
                <a:latin typeface="Courier"/>
              </a:rPr>
              <a:t> statistic_1(</a:t>
            </a:r>
            <a:r>
              <a:rPr sz="1100" dirty="0" err="1">
                <a:latin typeface="Courier"/>
              </a:rPr>
              <a:t>nr.choice</a:t>
            </a:r>
            <a:r>
              <a:rPr sz="1100" dirty="0">
                <a:latin typeface="Courier"/>
              </a:rPr>
              <a:t>(sample_2, size</a:t>
            </a:r>
            <a:r>
              <a:rPr sz="1100" dirty="0">
                <a:solidFill>
                  <a:srgbClr val="666666"/>
                </a:solidFill>
                <a:latin typeface="Courier"/>
              </a:rPr>
              <a:t>=</a:t>
            </a:r>
            <a:r>
              <a:rPr sz="1100" dirty="0">
                <a:latin typeface="Courier"/>
              </a:rPr>
              <a:t>n_samps_2, replace</a:t>
            </a:r>
            <a:r>
              <a:rPr sz="1100" dirty="0">
                <a:solidFill>
                  <a:srgbClr val="666666"/>
                </a:solidFill>
                <a:latin typeface="Courier"/>
              </a:rPr>
              <a:t>=</a:t>
            </a:r>
            <a:r>
              <a:rPr sz="1100" dirty="0">
                <a:solidFill>
                  <a:srgbClr val="19177C"/>
                </a:solidFill>
                <a:latin typeface="Courier"/>
              </a:rPr>
              <a:t>True</a:t>
            </a:r>
            <a:r>
              <a:rPr sz="1100" dirty="0">
                <a:latin typeface="Courier"/>
              </a:rPr>
              <a:t>))</a:t>
            </a:r>
            <a:br>
              <a:rPr sz="1100" dirty="0"/>
            </a:br>
            <a:r>
              <a:rPr sz="1100" dirty="0">
                <a:latin typeface="Courier"/>
              </a:rPr>
              <a:t>        </a:t>
            </a:r>
            <a:r>
              <a:rPr sz="1100" dirty="0" err="1">
                <a:latin typeface="Courier"/>
              </a:rPr>
              <a:t>two_boot_values.append</a:t>
            </a:r>
            <a:r>
              <a:rPr sz="1100" dirty="0">
                <a:latin typeface="Courier"/>
              </a:rPr>
              <a:t>(</a:t>
            </a:r>
            <a:r>
              <a:rPr sz="1100" dirty="0" err="1">
                <a:latin typeface="Courier"/>
              </a:rPr>
              <a:t>two_samp_statistic</a:t>
            </a:r>
            <a:r>
              <a:rPr sz="1100" dirty="0">
                <a:latin typeface="Courier"/>
              </a:rPr>
              <a:t>(boot_estimate_1, boot_estimate_2))</a:t>
            </a:r>
            <a:br>
              <a:rPr sz="1100" dirty="0"/>
            </a:br>
            <a:r>
              <a:rPr sz="1100" dirty="0">
                <a:latin typeface="Courier"/>
              </a:rPr>
              <a:t>    </a:t>
            </a:r>
            <a:r>
              <a:rPr sz="1100" dirty="0" err="1">
                <a:latin typeface="Courier"/>
              </a:rPr>
              <a:t>boot_estimate</a:t>
            </a:r>
            <a:r>
              <a:rPr sz="1100" dirty="0">
                <a:latin typeface="Courier"/>
              </a:rPr>
              <a:t> </a:t>
            </a:r>
            <a:r>
              <a:rPr sz="1100" dirty="0">
                <a:solidFill>
                  <a:srgbClr val="666666"/>
                </a:solidFill>
                <a:latin typeface="Courier"/>
              </a:rPr>
              <a:t>=</a:t>
            </a:r>
            <a:r>
              <a:rPr sz="1100" dirty="0">
                <a:latin typeface="Courier"/>
              </a:rPr>
              <a:t> </a:t>
            </a:r>
            <a:r>
              <a:rPr sz="1100" dirty="0" err="1">
                <a:latin typeface="Courier"/>
              </a:rPr>
              <a:t>np.mean</a:t>
            </a:r>
            <a:r>
              <a:rPr sz="1100" dirty="0">
                <a:latin typeface="Courier"/>
              </a:rPr>
              <a:t>(</a:t>
            </a:r>
            <a:r>
              <a:rPr sz="1100" dirty="0" err="1">
                <a:latin typeface="Courier"/>
              </a:rPr>
              <a:t>two_boot_values</a:t>
            </a:r>
            <a:r>
              <a:rPr sz="1100" dirty="0">
                <a:latin typeface="Courier"/>
              </a:rPr>
              <a:t>)</a:t>
            </a:r>
            <a:br>
              <a:rPr sz="1100" dirty="0"/>
            </a:br>
            <a:r>
              <a:rPr sz="1100" dirty="0">
                <a:latin typeface="Courier"/>
              </a:rPr>
              <a:t>    </a:t>
            </a:r>
            <a:r>
              <a:rPr sz="1100" dirty="0">
                <a:solidFill>
                  <a:srgbClr val="008000"/>
                </a:solidFill>
                <a:latin typeface="Courier"/>
              </a:rPr>
              <a:t>print</a:t>
            </a:r>
            <a:r>
              <a:rPr sz="1100" dirty="0">
                <a:latin typeface="Courier"/>
              </a:rPr>
              <a:t>(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'bootstrap point estimate = {:6.2f}'</a:t>
            </a:r>
            <a:r>
              <a:rPr sz="1100" dirty="0">
                <a:latin typeface="Courier"/>
              </a:rPr>
              <a:t>.</a:t>
            </a:r>
            <a:r>
              <a:rPr sz="1100" dirty="0">
                <a:solidFill>
                  <a:srgbClr val="008000"/>
                </a:solidFill>
                <a:latin typeface="Courier"/>
              </a:rPr>
              <a:t>format</a:t>
            </a:r>
            <a:r>
              <a:rPr sz="1100" dirty="0">
                <a:latin typeface="Courier"/>
              </a:rPr>
              <a:t>(</a:t>
            </a:r>
            <a:r>
              <a:rPr sz="1100" dirty="0" err="1">
                <a:latin typeface="Courier"/>
              </a:rPr>
              <a:t>boot_estimate</a:t>
            </a:r>
            <a:r>
              <a:rPr sz="1100" dirty="0">
                <a:latin typeface="Courier"/>
              </a:rPr>
              <a:t>))</a:t>
            </a:r>
            <a:br>
              <a:rPr sz="1100" dirty="0"/>
            </a:br>
            <a:r>
              <a:rPr sz="1100" dirty="0">
                <a:latin typeface="Courier"/>
              </a:rPr>
              <a:t>    </a:t>
            </a:r>
            <a:r>
              <a:rPr sz="1100" b="1" dirty="0">
                <a:solidFill>
                  <a:srgbClr val="007020"/>
                </a:solidFill>
                <a:latin typeface="Courier"/>
              </a:rPr>
              <a:t>return</a:t>
            </a:r>
            <a:r>
              <a:rPr sz="1100" dirty="0">
                <a:latin typeface="Courier"/>
              </a:rPr>
              <a:t>(</a:t>
            </a:r>
            <a:r>
              <a:rPr sz="1100" dirty="0" err="1">
                <a:latin typeface="Courier"/>
              </a:rPr>
              <a:t>boot_estimate</a:t>
            </a:r>
            <a:r>
              <a:rPr sz="1100" dirty="0">
                <a:latin typeface="Courier"/>
              </a:rPr>
              <a:t>, </a:t>
            </a:r>
            <a:r>
              <a:rPr sz="1100" dirty="0" err="1">
                <a:latin typeface="Courier"/>
              </a:rPr>
              <a:t>two_boot_values</a:t>
            </a:r>
            <a:r>
              <a:rPr sz="1100" dirty="0">
                <a:latin typeface="Courier"/>
              </a:rPr>
              <a:t>)  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D9CA91-DC29-C773-9089-13F8584A964B}"/>
              </a:ext>
            </a:extLst>
          </p:cNvPr>
          <p:cNvSpPr txBox="1"/>
          <p:nvPr/>
        </p:nvSpPr>
        <p:spPr>
          <a:xfrm>
            <a:off x="20781" y="811283"/>
            <a:ext cx="202415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Iterate over number of bootstrap resamples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 dirty="0"/>
              <a:t>Draw resamples independently from both samples </a:t>
            </a:r>
            <a:r>
              <a:rPr lang="en-US" dirty="0"/>
              <a:t>and Append to lists of bootstrap samples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Compute bootstrap statistic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9E14C69-0F7B-0BC6-F1AD-5E9CC0574F1F}"/>
              </a:ext>
            </a:extLst>
          </p:cNvPr>
          <p:cNvCxnSpPr>
            <a:cxnSpLocks/>
          </p:cNvCxnSpPr>
          <p:nvPr/>
        </p:nvCxnSpPr>
        <p:spPr>
          <a:xfrm>
            <a:off x="1550324" y="1425633"/>
            <a:ext cx="993371" cy="120534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496A208-91D0-D78D-C628-EC62D58C79A3}"/>
              </a:ext>
            </a:extLst>
          </p:cNvPr>
          <p:cNvCxnSpPr>
            <a:cxnSpLocks/>
          </p:cNvCxnSpPr>
          <p:nvPr/>
        </p:nvCxnSpPr>
        <p:spPr>
          <a:xfrm>
            <a:off x="1862050" y="3491345"/>
            <a:ext cx="989215" cy="14963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4D341C4-85B9-7790-70A2-AB3B7FA28CC1}"/>
              </a:ext>
            </a:extLst>
          </p:cNvPr>
          <p:cNvCxnSpPr>
            <a:cxnSpLocks/>
          </p:cNvCxnSpPr>
          <p:nvPr/>
        </p:nvCxnSpPr>
        <p:spPr>
          <a:xfrm>
            <a:off x="1413164" y="4526280"/>
            <a:ext cx="1101436" cy="17595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4FD2B7F-543E-9424-B67C-0B25B919FFC8}"/>
              </a:ext>
            </a:extLst>
          </p:cNvPr>
          <p:cNvCxnSpPr>
            <a:cxnSpLocks/>
          </p:cNvCxnSpPr>
          <p:nvPr/>
        </p:nvCxnSpPr>
        <p:spPr>
          <a:xfrm>
            <a:off x="1816331" y="3491345"/>
            <a:ext cx="677486" cy="5486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F87472C-8AFC-46E5-0EB0-CCFF5FE458FB}"/>
              </a:ext>
            </a:extLst>
          </p:cNvPr>
          <p:cNvCxnSpPr>
            <a:cxnSpLocks/>
          </p:cNvCxnSpPr>
          <p:nvPr/>
        </p:nvCxnSpPr>
        <p:spPr>
          <a:xfrm>
            <a:off x="1816331" y="3491345"/>
            <a:ext cx="540326" cy="89777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58628" cy="510042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sz="3300" b="0" dirty="0"/>
              <a:t>Example, Two Sample Bootstrap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2" y="1076326"/>
            <a:ext cx="5439228" cy="3518297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2000" dirty="0"/>
              <a:t>Compute and display the bootstrap distribution of the difference </a:t>
            </a:r>
            <a:r>
              <a:rPr lang="en-US" sz="2000" dirty="0"/>
              <a:t>of means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000" dirty="0"/>
              <a:t>Test significance of Math scores for low and medium SES students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000" dirty="0"/>
              <a:t>10000 bootstrap samples of difference of means</a:t>
            </a:r>
            <a:endParaRPr sz="2000" dirty="0"/>
          </a:p>
          <a:p>
            <a:pPr lvl="0" indent="0">
              <a:buNone/>
            </a:pPr>
            <a:r>
              <a:rPr sz="2000" dirty="0">
                <a:latin typeface="Courier"/>
              </a:rPr>
              <a:t>## bootstrap point estimate =  -3.0</a:t>
            </a:r>
            <a:r>
              <a:rPr lang="en-US" sz="2000" dirty="0">
                <a:latin typeface="Courier"/>
              </a:rPr>
              <a:t>1</a:t>
            </a:r>
            <a:endParaRPr sz="2000" dirty="0">
              <a:latin typeface="Courier"/>
            </a:endParaRPr>
          </a:p>
          <a:p>
            <a:pPr lvl="0" indent="0">
              <a:buNone/>
            </a:pPr>
            <a:r>
              <a:rPr sz="2000" dirty="0">
                <a:latin typeface="Courier"/>
              </a:rPr>
              <a:t>## At alpha = 0.05, lower and upper bootstrap confidence intervals =  -6.</a:t>
            </a:r>
            <a:r>
              <a:rPr lang="en-US" sz="2000" dirty="0">
                <a:latin typeface="Courier"/>
              </a:rPr>
              <a:t>08</a:t>
            </a:r>
            <a:r>
              <a:rPr sz="2000" dirty="0">
                <a:latin typeface="Courier"/>
              </a:rPr>
              <a:t>     0.</a:t>
            </a:r>
            <a:r>
              <a:rPr lang="en-US" sz="2000" dirty="0">
                <a:latin typeface="Courier"/>
              </a:rPr>
              <a:t>18</a:t>
            </a:r>
            <a:endParaRPr sz="2000" dirty="0">
              <a:latin typeface="Courier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BC90591-F254-F8B0-D316-053670C803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3036" y="841829"/>
            <a:ext cx="2831050" cy="427627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58628" cy="510042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sz="3300" b="0" dirty="0"/>
              <a:t>Example, Two Sample Bootstrap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2" y="1076326"/>
            <a:ext cx="5439228" cy="3518297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How can we interpret this result? </a:t>
            </a:r>
          </a:p>
          <a:p>
            <a:pPr lvl="0" indent="0">
              <a:buNone/>
            </a:pPr>
            <a:r>
              <a:rPr sz="2000" dirty="0">
                <a:latin typeface="Courier"/>
              </a:rPr>
              <a:t>## bootstrap point estimate =  -3.0</a:t>
            </a:r>
            <a:r>
              <a:rPr lang="en-US" sz="2000" dirty="0">
                <a:latin typeface="Courier"/>
              </a:rPr>
              <a:t>1</a:t>
            </a:r>
            <a:endParaRPr sz="2000" dirty="0">
              <a:latin typeface="Courier"/>
            </a:endParaRPr>
          </a:p>
          <a:p>
            <a:pPr lvl="0" indent="0">
              <a:buNone/>
            </a:pPr>
            <a:r>
              <a:rPr sz="2000" dirty="0">
                <a:latin typeface="Courier"/>
              </a:rPr>
              <a:t>## At alpha = 0.05, lower and upper bootstrap confidence intervals =  -6.</a:t>
            </a:r>
            <a:r>
              <a:rPr lang="en-US" sz="2000" dirty="0">
                <a:latin typeface="Courier"/>
              </a:rPr>
              <a:t>08</a:t>
            </a:r>
            <a:r>
              <a:rPr sz="2000" dirty="0">
                <a:latin typeface="Courier"/>
              </a:rPr>
              <a:t>     0.</a:t>
            </a:r>
            <a:r>
              <a:rPr lang="en-US" sz="2000" dirty="0">
                <a:latin typeface="Courier"/>
              </a:rPr>
              <a:t>18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CI limits have opposite signs and the CI includes 0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Within 95% confidence </a:t>
            </a:r>
            <a:r>
              <a:rPr lang="en-US" sz="2000" b="1" dirty="0"/>
              <a:t>we cannot say there is a significant difference</a:t>
            </a:r>
            <a:r>
              <a:rPr lang="en-US" sz="2000" dirty="0"/>
              <a:t> in means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We </a:t>
            </a:r>
            <a:r>
              <a:rPr lang="en-US" sz="2000" b="1" dirty="0"/>
              <a:t>cannot reject the null hypothesis! </a:t>
            </a:r>
            <a:endParaRPr sz="2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BC90591-F254-F8B0-D316-053670C803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3036" y="841829"/>
            <a:ext cx="2831050" cy="4276271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9CFCDA7-92CB-3D43-019F-E7E9A5CC5B92}"/>
              </a:ext>
            </a:extLst>
          </p:cNvPr>
          <p:cNvCxnSpPr>
            <a:cxnSpLocks/>
          </p:cNvCxnSpPr>
          <p:nvPr/>
        </p:nvCxnSpPr>
        <p:spPr>
          <a:xfrm flipV="1">
            <a:off x="5519468" y="2938549"/>
            <a:ext cx="2880544" cy="34497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583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Why Not Just Use a Two-Sample t-test?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5561584" cy="3394472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dirty="0"/>
              <a:t>A two-sample t-test is strictly valid for Normal distributions</a:t>
            </a:r>
          </a:p>
          <a:p>
            <a:r>
              <a:rPr lang="en-US" dirty="0"/>
              <a:t>The difference of means is clearly Normally distributed, per the CLT! </a:t>
            </a:r>
          </a:p>
          <a:p>
            <a:r>
              <a:rPr lang="en-US" dirty="0"/>
              <a:t>But other statistics do not have Normal distributions </a:t>
            </a:r>
          </a:p>
          <a:p>
            <a:r>
              <a:rPr lang="en-US" dirty="0"/>
              <a:t>Can try to find specialized tests and validate assumptions</a:t>
            </a:r>
          </a:p>
          <a:p>
            <a:r>
              <a:rPr lang="en-US" dirty="0"/>
              <a:t>Or just bootstrap!</a:t>
            </a:r>
          </a:p>
          <a:p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51016B-EF06-B502-C284-1C2C0CEFEF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3036" y="841829"/>
            <a:ext cx="2831050" cy="4276271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5ED11F1-64FF-9941-DD15-4C4CE433F317}"/>
              </a:ext>
            </a:extLst>
          </p:cNvPr>
          <p:cNvCxnSpPr>
            <a:cxnSpLocks/>
          </p:cNvCxnSpPr>
          <p:nvPr/>
        </p:nvCxnSpPr>
        <p:spPr>
          <a:xfrm>
            <a:off x="5286894" y="2394081"/>
            <a:ext cx="2527070" cy="121779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B0DBB20-E2E7-B946-3705-44D00A0DB950}"/>
              </a:ext>
            </a:extLst>
          </p:cNvPr>
          <p:cNvCxnSpPr>
            <a:cxnSpLocks/>
          </p:cNvCxnSpPr>
          <p:nvPr/>
        </p:nvCxnSpPr>
        <p:spPr>
          <a:xfrm>
            <a:off x="5286894" y="2394081"/>
            <a:ext cx="1778924" cy="831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3594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9B1C8-7AD7-7653-0F81-EF7217391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E711FB-672F-9E1F-D2C8-7203219F8A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2816795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643028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Bootstrap estimation is widely useful and requires minimal assumption</a:t>
            </a:r>
          </a:p>
          <a:p>
            <a:pPr lvl="0"/>
            <a:r>
              <a:rPr dirty="0"/>
              <a:t>Bootstrap distribution comprise</a:t>
            </a:r>
            <a:r>
              <a:rPr lang="en-US" dirty="0"/>
              <a:t>s</a:t>
            </a:r>
            <a:r>
              <a:rPr dirty="0"/>
              <a:t> values of </a:t>
            </a:r>
            <a:r>
              <a:rPr lang="en-US" dirty="0"/>
              <a:t>a</a:t>
            </a:r>
            <a:r>
              <a:rPr dirty="0"/>
              <a:t> statistic computed from bootstrap resamples of the original observations (data sample)</a:t>
            </a:r>
          </a:p>
          <a:p>
            <a:pPr lvl="0"/>
            <a:r>
              <a:rPr dirty="0"/>
              <a:t>Computing bootstrap distribution requires </a:t>
            </a:r>
            <a:r>
              <a:rPr b="1" dirty="0"/>
              <a:t>no assumptions about population distribution!</a:t>
            </a:r>
          </a:p>
          <a:p>
            <a:pPr lvl="1"/>
            <a:r>
              <a:rPr dirty="0"/>
              <a:t>Bootstrap resampling substitutes computer power for paper and pencil statistician power</a:t>
            </a:r>
          </a:p>
          <a:p>
            <a:pPr lvl="0"/>
            <a:r>
              <a:rPr dirty="0"/>
              <a:t>Bootstrap resampling estimates the </a:t>
            </a:r>
            <a:r>
              <a:rPr b="1" dirty="0"/>
              <a:t>bootstrap distribution</a:t>
            </a:r>
            <a:r>
              <a:rPr dirty="0"/>
              <a:t> of a statistic</a:t>
            </a:r>
          </a:p>
          <a:p>
            <a:pPr lvl="1"/>
            <a:r>
              <a:rPr dirty="0"/>
              <a:t>Compute point estimate of the statistic, or bootstrap estimate</a:t>
            </a:r>
          </a:p>
          <a:p>
            <a:pPr lvl="1"/>
            <a:r>
              <a:rPr lang="en-US" dirty="0"/>
              <a:t>Compute </a:t>
            </a:r>
            <a:r>
              <a:rPr dirty="0"/>
              <a:t>bootstrap confidence interval from the bootstrap distribution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06714"/>
            <a:ext cx="8229600" cy="3693885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There are several variations of the basi</a:t>
            </a:r>
            <a:r>
              <a:rPr lang="en-US" dirty="0"/>
              <a:t>c</a:t>
            </a:r>
            <a:r>
              <a:rPr dirty="0"/>
              <a:t> nonparametric bootstrap algorithm</a:t>
            </a:r>
          </a:p>
          <a:p>
            <a:pPr lvl="0"/>
            <a:r>
              <a:rPr dirty="0"/>
              <a:t>One sample bootstrap</a:t>
            </a:r>
          </a:p>
          <a:p>
            <a:pPr lvl="1"/>
            <a:r>
              <a:rPr dirty="0"/>
              <a:t>Inference on single population</a:t>
            </a:r>
            <a:endParaRPr lang="en-US" dirty="0"/>
          </a:p>
          <a:p>
            <a:pPr lvl="1"/>
            <a:r>
              <a:rPr lang="en-US" dirty="0"/>
              <a:t>One sample statistics</a:t>
            </a:r>
            <a:endParaRPr dirty="0"/>
          </a:p>
          <a:p>
            <a:pPr lvl="0"/>
            <a:r>
              <a:rPr dirty="0"/>
              <a:t>Two sample bootstrap</a:t>
            </a:r>
          </a:p>
          <a:p>
            <a:pPr lvl="1"/>
            <a:r>
              <a:rPr dirty="0"/>
              <a:t>Inference on different populations</a:t>
            </a:r>
            <a:endParaRPr lang="en-US" dirty="0"/>
          </a:p>
          <a:p>
            <a:pPr lvl="1"/>
            <a:r>
              <a:rPr lang="en-US" dirty="0"/>
              <a:t>Two sample statistics</a:t>
            </a:r>
            <a:endParaRPr dirty="0"/>
          </a:p>
          <a:p>
            <a:pPr lvl="0"/>
            <a:r>
              <a:rPr dirty="0"/>
              <a:t>Special cases</a:t>
            </a:r>
          </a:p>
          <a:p>
            <a:pPr lvl="1"/>
            <a:r>
              <a:rPr dirty="0"/>
              <a:t>Correlation coefficients - part of your assignment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Re-sampling methods are general and powerful but, there is no magic involved! There are pitfalls!</a:t>
                </a:r>
              </a:p>
              <a:p>
                <a:pPr lvl="0"/>
                <a:r>
                  <a:rPr dirty="0"/>
                  <a:t>If a sample is biased, the resampled statistic estimate </a:t>
                </a:r>
                <a:r>
                  <a:rPr lang="en-US" dirty="0"/>
                  <a:t>is</a:t>
                </a:r>
                <a:r>
                  <a:rPr dirty="0"/>
                  <a:t> biased</a:t>
                </a:r>
              </a:p>
              <a:p>
                <a:pPr lvl="1"/>
                <a:r>
                  <a:rPr dirty="0"/>
                  <a:t>Results can be no better than the sample you start with</a:t>
                </a:r>
              </a:p>
              <a:p>
                <a:pPr lvl="1"/>
                <a:r>
                  <a:rPr dirty="0"/>
                  <a:t>Example; the bootstrap estimate of mean is the unbiased sample estimate, </a:t>
                </a:r>
                <a14:m>
                  <m:oMath xmlns:m="http://schemas.openxmlformats.org/officeDocument/2006/math">
                    <m:acc>
                      <m:accPr>
                        <m:chr m:val="‾"/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dirty="0"/>
                  <a:t>, not the population parameter,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The sample variance and C</a:t>
                </a:r>
                <a:r>
                  <a:rPr lang="en-US" dirty="0"/>
                  <a:t>I</a:t>
                </a:r>
                <a:r>
                  <a:rPr dirty="0"/>
                  <a:t>s can be no better than the sample distribution allows</a:t>
                </a:r>
              </a:p>
              <a:p>
                <a:pPr lvl="1"/>
                <a:r>
                  <a:rPr dirty="0"/>
                  <a:t>Be suspicious of overly optimistic confidence intervals</a:t>
                </a:r>
              </a:p>
              <a:p>
                <a:pPr lvl="0"/>
                <a:r>
                  <a:rPr dirty="0"/>
                  <a:t>Are computationally intensive, but often highly parallelizable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2334" r="-815" b="-12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3834</TotalTime>
  <Words>2810</Words>
  <Application>Microsoft Office PowerPoint</Application>
  <PresentationFormat>On-screen Show (16:9)</PresentationFormat>
  <Paragraphs>293</Paragraphs>
  <Slides>37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2" baseType="lpstr">
      <vt:lpstr>Arial</vt:lpstr>
      <vt:lpstr>Calibri</vt:lpstr>
      <vt:lpstr>Cambria Math</vt:lpstr>
      <vt:lpstr>Courier</vt:lpstr>
      <vt:lpstr>Office Theme</vt:lpstr>
      <vt:lpstr>Introduction to Nonparametric Bootstrap Methods</vt:lpstr>
      <vt:lpstr>Introduction</vt:lpstr>
      <vt:lpstr>Types of Resampling Methods</vt:lpstr>
      <vt:lpstr>Nonparametric vs. Parametric Statistical Model</vt:lpstr>
      <vt:lpstr>Nonparametric vs. Parametric Statistical Model</vt:lpstr>
      <vt:lpstr>PowerPoint Presentation</vt:lpstr>
      <vt:lpstr>General Characteristics of Nonparametric Resampling Methods</vt:lpstr>
      <vt:lpstr>Pitfalls of Resampling Methods</vt:lpstr>
      <vt:lpstr>Point Estimates vs. Distribution Estimates</vt:lpstr>
      <vt:lpstr>Bootstrap Distribution</vt:lpstr>
      <vt:lpstr>Bootstrap Distribution</vt:lpstr>
      <vt:lpstr>Bootstrap Distribution</vt:lpstr>
      <vt:lpstr>PowerPoint Presentation</vt:lpstr>
      <vt:lpstr>One Sample Bootstrap Algorithm</vt:lpstr>
      <vt:lpstr>PowerPoint Presentation</vt:lpstr>
      <vt:lpstr>Properties of the Bootstrap Algorithm</vt:lpstr>
      <vt:lpstr>Example; One Sample Bootstrap</vt:lpstr>
      <vt:lpstr>Example; One Sample Bootstrap</vt:lpstr>
      <vt:lpstr>Example; One Sample Bootstrap</vt:lpstr>
      <vt:lpstr>Example; One Sample Bootstrap</vt:lpstr>
      <vt:lpstr>Bootstrap Confidence Intervals</vt:lpstr>
      <vt:lpstr>Bootstrap Confidence Intervals</vt:lpstr>
      <vt:lpstr>Why Not Just Use a One-Sample t-test?</vt:lpstr>
      <vt:lpstr>Example; One Sample Bootstrap</vt:lpstr>
      <vt:lpstr>Example; One Sample Bootstrap</vt:lpstr>
      <vt:lpstr>PowerPoint Presentation</vt:lpstr>
      <vt:lpstr>Two Sample Bootstrap</vt:lpstr>
      <vt:lpstr>Two Sample Bootstrap Algorithm</vt:lpstr>
      <vt:lpstr>Example, Two Sample Bootstrap</vt:lpstr>
      <vt:lpstr>Example, Two Sample Bootstrap</vt:lpstr>
      <vt:lpstr>Example, Two Sample Bootstrap</vt:lpstr>
      <vt:lpstr>Example, Two Sample Bootstrap</vt:lpstr>
      <vt:lpstr>Why Not Just Use a Two-Sample t-test?</vt:lpstr>
      <vt:lpstr>PowerPoint Presentation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Nonparametric Bootstrap Methods</dc:title>
  <dc:creator>Steve Elston</dc:creator>
  <cp:keywords/>
  <cp:lastModifiedBy>Stephen Elston</cp:lastModifiedBy>
  <cp:revision>91</cp:revision>
  <dcterms:created xsi:type="dcterms:W3CDTF">2024-08-16T02:27:29Z</dcterms:created>
  <dcterms:modified xsi:type="dcterms:W3CDTF">2026-09-17T17:45:18Z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10/09/2023</vt:lpwstr>
  </property>
  <property fmtid="{D5CDD505-2E9C-101B-9397-08002B2CF9AE}" pid="3" name="output">
    <vt:lpwstr/>
  </property>
</Properties>
</file>