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37" r:id="rId2"/>
    <p:sldId id="257" r:id="rId3"/>
    <p:sldId id="258" r:id="rId4"/>
    <p:sldId id="259" r:id="rId5"/>
    <p:sldId id="260" r:id="rId6"/>
    <p:sldId id="353" r:id="rId7"/>
    <p:sldId id="261" r:id="rId8"/>
    <p:sldId id="345" r:id="rId9"/>
    <p:sldId id="262" r:id="rId10"/>
    <p:sldId id="263" r:id="rId11"/>
    <p:sldId id="354" r:id="rId12"/>
    <p:sldId id="364" r:id="rId13"/>
    <p:sldId id="341" r:id="rId14"/>
    <p:sldId id="264" r:id="rId15"/>
    <p:sldId id="348" r:id="rId16"/>
    <p:sldId id="266" r:id="rId17"/>
    <p:sldId id="267" r:id="rId18"/>
    <p:sldId id="343" r:id="rId19"/>
    <p:sldId id="268" r:id="rId20"/>
    <p:sldId id="342" r:id="rId21"/>
    <p:sldId id="269" r:id="rId22"/>
    <p:sldId id="355" r:id="rId23"/>
    <p:sldId id="270" r:id="rId24"/>
    <p:sldId id="347" r:id="rId25"/>
    <p:sldId id="271" r:id="rId26"/>
    <p:sldId id="272" r:id="rId27"/>
    <p:sldId id="273" r:id="rId28"/>
    <p:sldId id="344" r:id="rId29"/>
    <p:sldId id="274" r:id="rId30"/>
    <p:sldId id="356" r:id="rId31"/>
    <p:sldId id="275" r:id="rId32"/>
    <p:sldId id="276" r:id="rId33"/>
    <p:sldId id="277" r:id="rId34"/>
    <p:sldId id="278" r:id="rId35"/>
    <p:sldId id="357" r:id="rId36"/>
    <p:sldId id="279" r:id="rId37"/>
    <p:sldId id="280" r:id="rId38"/>
    <p:sldId id="281" r:id="rId39"/>
    <p:sldId id="282" r:id="rId40"/>
    <p:sldId id="358" r:id="rId41"/>
    <p:sldId id="283" r:id="rId42"/>
    <p:sldId id="359" r:id="rId43"/>
    <p:sldId id="284" r:id="rId44"/>
    <p:sldId id="285" r:id="rId45"/>
    <p:sldId id="286" r:id="rId46"/>
    <p:sldId id="360" r:id="rId47"/>
    <p:sldId id="287" r:id="rId48"/>
    <p:sldId id="288" r:id="rId49"/>
    <p:sldId id="289" r:id="rId50"/>
    <p:sldId id="290" r:id="rId51"/>
    <p:sldId id="291" r:id="rId52"/>
    <p:sldId id="292" r:id="rId53"/>
    <p:sldId id="361" r:id="rId54"/>
    <p:sldId id="293" r:id="rId55"/>
    <p:sldId id="294" r:id="rId56"/>
    <p:sldId id="349" r:id="rId57"/>
    <p:sldId id="350" r:id="rId58"/>
    <p:sldId id="295" r:id="rId59"/>
    <p:sldId id="296" r:id="rId60"/>
    <p:sldId id="297" r:id="rId61"/>
    <p:sldId id="298" r:id="rId62"/>
    <p:sldId id="362" r:id="rId63"/>
    <p:sldId id="299" r:id="rId64"/>
    <p:sldId id="352" r:id="rId65"/>
    <p:sldId id="300" r:id="rId66"/>
    <p:sldId id="363" r:id="rId67"/>
    <p:sldId id="301" r:id="rId68"/>
    <p:sldId id="351" r:id="rId69"/>
    <p:sldId id="302" r:id="rId7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87" autoAdjust="0"/>
    <p:restoredTop sz="86446" autoAdjust="0"/>
  </p:normalViewPr>
  <p:slideViewPr>
    <p:cSldViewPr snapToGrid="0" snapToObjects="1">
      <p:cViewPr varScale="1">
        <p:scale>
          <a:sx n="85" d="100"/>
          <a:sy n="85" d="100"/>
        </p:scale>
        <p:origin x="626" y="2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otexts.com/fpp2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robjhyndman.com/hyndsight/" TargetMode="External"/><Relationship Id="rId2" Type="http://schemas.openxmlformats.org/officeDocument/2006/relationships/hyperlink" Target="https://otexts.com/fpp2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wiley.com/en-se/Time+Series+Analysis%3A+Forecasting+and+Control%2C+5th+Edition-p-9781118675021" TargetMode="External"/><Relationship Id="rId4" Type="http://schemas.openxmlformats.org/officeDocument/2006/relationships/hyperlink" Target="https://www.routledge.com/The-Analysis-of-Time-Series-An-Introduction-with-R/Chatfield-Xing/p/book/9781498795630?source=shoppingads&amp;locale=en-USD&amp;gad_source=1&amp;gclid=CjwKCAjw-JG5BhBZEiwAt7JR65xNFNmWxLaSszQBe5wLfUsgc_Axgntemm5Ag6saCZbca9B6Oq9zDBoCkF4QAvD_BwE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sfu.ca/~baa7/Teaching/econ818/StationarityAR2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atsmodels.org/dev/examples/notebooks/generated/statespace_seasonal.html" TargetMode="External"/><Relationship Id="rId2" Type="http://schemas.openxmlformats.org/officeDocument/2006/relationships/hyperlink" Target="https://facebook.github.io/prophet/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tatsmodels.org/dev/examples/notebooks/generated/statespace_sarimax_stata.html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otexts.com/fpp2/bootstrap.html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406.16964v1#:~:text=We%20then%20ablate%20three%20top,in%20both%20training%20and%20inference." TargetMode="External"/><Relationship Id="rId2" Type="http://schemas.openxmlformats.org/officeDocument/2006/relationships/hyperlink" Target="https://arxiv.org/abs/2205.13504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abs/1905.10437" TargetMode="External"/><Relationship Id="rId5" Type="http://schemas.openxmlformats.org/officeDocument/2006/relationships/hyperlink" Target="https://arxiv.org/abs/2201.12886" TargetMode="External"/><Relationship Id="rId4" Type="http://schemas.openxmlformats.org/officeDocument/2006/relationships/hyperlink" Target="https://www.sciencedirect.com/science/article/abs/pii/S0301421522003226?casa_token=l625vypvRzwAAAAA:TWDeS0vkE6Vz6xdS0Qr5mbl7JeAQh0e_unPkfPfWe81BisEK0P_Hk5f6l_lSu0nYrqpA4yN1UA" TargetMode="Externa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Forecasting and Time Series Models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Are Time Series Useful?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/>
              <a:t>Data are often time-ordered</a:t>
            </a:r>
          </a:p>
          <a:p>
            <a:pPr lvl="0"/>
            <a:r>
              <a:rPr dirty="0"/>
              <a:t>Estimates </a:t>
            </a:r>
            <a:r>
              <a:rPr lang="en-US" dirty="0"/>
              <a:t>show that </a:t>
            </a:r>
            <a:r>
              <a:rPr dirty="0"/>
              <a:t>30% of data science problems include time series data</a:t>
            </a:r>
          </a:p>
          <a:p>
            <a:pPr lvl="0"/>
            <a:r>
              <a:rPr dirty="0"/>
              <a:t>Must use specific time series models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Why Are Time Series Useful?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i="1" dirty="0"/>
              <a:t>“It’s tough to make predictions, especially about the future!”</a:t>
            </a:r>
          </a:p>
          <a:p>
            <a:pPr marL="0" lvl="0" indent="0">
              <a:buNone/>
            </a:pPr>
            <a:r>
              <a:rPr i="1" dirty="0"/>
              <a:t>Karl Kristian </a:t>
            </a:r>
            <a:r>
              <a:rPr i="1" dirty="0" err="1"/>
              <a:t>Steincke</a:t>
            </a:r>
            <a:r>
              <a:rPr i="1" dirty="0"/>
              <a:t>, Danish politician, ca 1937</a:t>
            </a:r>
          </a:p>
          <a:p>
            <a:pPr lvl="0"/>
            <a:r>
              <a:rPr b="1" dirty="0"/>
              <a:t>Demand forecasting:</a:t>
            </a:r>
            <a:r>
              <a:rPr dirty="0"/>
              <a:t> Electricity production, Internet bandwidth, Traffic management, Inventory management, sales forecasting</a:t>
            </a:r>
          </a:p>
          <a:p>
            <a:pPr lvl="0"/>
            <a:r>
              <a:rPr b="1" dirty="0"/>
              <a:t>Medicine:</a:t>
            </a:r>
            <a:r>
              <a:rPr dirty="0"/>
              <a:t> Time dependent treatment effects, EKG, EEG</a:t>
            </a:r>
          </a:p>
          <a:p>
            <a:pPr lvl="0"/>
            <a:r>
              <a:rPr b="1" dirty="0"/>
              <a:t>Engineering and Science:</a:t>
            </a:r>
            <a:r>
              <a:rPr dirty="0"/>
              <a:t> Signal analysis, Analysis of physical processes</a:t>
            </a:r>
          </a:p>
          <a:p>
            <a:pPr lvl="0"/>
            <a:r>
              <a:rPr b="1" dirty="0"/>
              <a:t>Capital markets and economics:</a:t>
            </a:r>
            <a:r>
              <a:rPr dirty="0"/>
              <a:t> Seasonal unemployment, Price/return series, Risk analysis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Are Time Series Data Different?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Models must account for time series behavior</a:t>
            </a:r>
          </a:p>
          <a:p>
            <a:pPr lvl="0"/>
            <a:r>
              <a:rPr dirty="0"/>
              <a:t>Most statistical and machine learning assume data samples are </a:t>
            </a:r>
            <a:r>
              <a:rPr b="1" dirty="0"/>
              <a:t>independent identically distributed (</a:t>
            </a:r>
            <a:r>
              <a:rPr b="1" dirty="0" err="1"/>
              <a:t>iid</a:t>
            </a:r>
            <a:r>
              <a:rPr b="1" dirty="0"/>
              <a:t>)</a:t>
            </a:r>
          </a:p>
          <a:p>
            <a:pPr lvl="0"/>
            <a:r>
              <a:rPr dirty="0"/>
              <a:t>But, this is not the case for time series data</a:t>
            </a:r>
          </a:p>
          <a:p>
            <a:pPr lvl="0"/>
            <a:r>
              <a:rPr dirty="0"/>
              <a:t>Time series data exhibit </a:t>
            </a:r>
            <a:r>
              <a:rPr b="1" dirty="0"/>
              <a:t>Serial correlation</a:t>
            </a:r>
          </a:p>
          <a:p>
            <a:pPr lvl="1"/>
            <a:r>
              <a:rPr dirty="0"/>
              <a:t>Serial correlation of values</a:t>
            </a:r>
          </a:p>
          <a:p>
            <a:pPr lvl="1"/>
            <a:r>
              <a:rPr dirty="0"/>
              <a:t>Serial correlation of </a:t>
            </a:r>
            <a:r>
              <a:rPr lang="en-US" dirty="0"/>
              <a:t>model </a:t>
            </a:r>
            <a:r>
              <a:rPr dirty="0"/>
              <a:t>errors</a:t>
            </a:r>
          </a:p>
          <a:p>
            <a:pPr lvl="1"/>
            <a:r>
              <a:rPr dirty="0"/>
              <a:t>Violate </a:t>
            </a:r>
            <a:r>
              <a:rPr dirty="0" err="1"/>
              <a:t>iid</a:t>
            </a:r>
            <a:r>
              <a:rPr dirty="0"/>
              <a:t> assumptions of many statistical and ML Models</a:t>
            </a:r>
            <a:br>
              <a:rPr dirty="0"/>
            </a:br>
            <a:r>
              <a:rPr dirty="0"/>
              <a:t>`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Properties of Time 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68188"/>
            <a:ext cx="8229600" cy="4061012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Fundamental elements of time series</a:t>
            </a:r>
          </a:p>
          <a:p>
            <a:pPr lvl="0"/>
            <a:r>
              <a:rPr dirty="0"/>
              <a:t>Fundamental components which cannot be predicted</a:t>
            </a:r>
          </a:p>
          <a:p>
            <a:pPr lvl="1"/>
            <a:r>
              <a:rPr dirty="0"/>
              <a:t>White noise</a:t>
            </a:r>
          </a:p>
          <a:p>
            <a:pPr lvl="1"/>
            <a:r>
              <a:rPr dirty="0"/>
              <a:t>Random walks</a:t>
            </a:r>
          </a:p>
          <a:p>
            <a:pPr lvl="0"/>
            <a:r>
              <a:rPr lang="en-US" dirty="0"/>
              <a:t>Nonstationary predictable components</a:t>
            </a:r>
          </a:p>
          <a:p>
            <a:pPr lvl="1"/>
            <a:r>
              <a:rPr lang="en-US" dirty="0"/>
              <a:t>Trend</a:t>
            </a:r>
          </a:p>
          <a:p>
            <a:pPr lvl="1"/>
            <a:r>
              <a:rPr lang="en-US" dirty="0"/>
              <a:t>Seasonal components</a:t>
            </a:r>
          </a:p>
          <a:p>
            <a:pPr lvl="0"/>
            <a:r>
              <a:rPr dirty="0"/>
              <a:t>Autocorrelation and partial autocorrelation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Fundamental properties of stationary time series   </a:t>
            </a:r>
            <a:endParaRPr dirty="0"/>
          </a:p>
          <a:p>
            <a:pPr lvl="0"/>
            <a:r>
              <a:rPr dirty="0"/>
              <a:t>Differencing to transform to stationarity</a:t>
            </a:r>
          </a:p>
          <a:p>
            <a:pPr lvl="1"/>
            <a:r>
              <a:rPr dirty="0"/>
              <a:t>Seasonal differencing</a:t>
            </a:r>
          </a:p>
          <a:p>
            <a:pPr lvl="1"/>
            <a:r>
              <a:rPr dirty="0"/>
              <a:t>Non-seasonal differencing</a:t>
            </a:r>
          </a:p>
          <a:p>
            <a:pPr lvl="0"/>
            <a:r>
              <a:rPr dirty="0"/>
              <a:t>Stationarity </a:t>
            </a:r>
            <a:r>
              <a:rPr lang="en-US" dirty="0"/>
              <a:t>tests </a:t>
            </a:r>
            <a:endParaRPr dirty="0"/>
          </a:p>
          <a:p>
            <a:pPr lvl="1"/>
            <a:r>
              <a:rPr dirty="0"/>
              <a:t>augmented Dicky-Fuller test</a:t>
            </a:r>
          </a:p>
          <a:p>
            <a:pPr lvl="1"/>
            <a:r>
              <a:rPr dirty="0"/>
              <a:t>KPSS test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0800F-0CC7-0D8C-6CE8-87258E3EF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/>
              <a:t>Introduction to Forecasting</a:t>
            </a:r>
          </a:p>
        </p:txBody>
      </p:sp>
    </p:spTree>
    <p:extLst>
      <p:ext uri="{BB962C8B-B14F-4D97-AF65-F5344CB8AC3E}">
        <p14:creationId xmlns:p14="http://schemas.microsoft.com/office/powerpoint/2010/main" val="3882197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Time Series Forecasting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00449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b="1" dirty="0"/>
              <a:t>Forecasting</a:t>
            </a:r>
            <a:r>
              <a:rPr dirty="0"/>
              <a:t> is the </a:t>
            </a:r>
            <a:r>
              <a:rPr lang="en-US" dirty="0"/>
              <a:t>goal of much of time series analysis</a:t>
            </a:r>
            <a:endParaRPr dirty="0"/>
          </a:p>
          <a:p>
            <a:pPr lvl="0"/>
            <a:r>
              <a:rPr lang="en-US" dirty="0"/>
              <a:t>Forecasting models attempt to predict future values conditional on past observations </a:t>
            </a:r>
          </a:p>
          <a:p>
            <a:pPr lvl="0"/>
            <a:r>
              <a:rPr lang="en-US" dirty="0"/>
              <a:t>Here, we focus on </a:t>
            </a:r>
            <a:r>
              <a:rPr lang="en-US" b="1" dirty="0"/>
              <a:t>linear </a:t>
            </a:r>
            <a:r>
              <a:rPr b="1" dirty="0"/>
              <a:t>ARIMA and SARIMAX models</a:t>
            </a:r>
            <a:r>
              <a:rPr lang="en-US" b="1" dirty="0"/>
              <a:t> </a:t>
            </a:r>
          </a:p>
          <a:p>
            <a:pPr lvl="1"/>
            <a:r>
              <a:rPr lang="en-US" dirty="0"/>
              <a:t>Models support inference</a:t>
            </a:r>
          </a:p>
          <a:p>
            <a:pPr lvl="1"/>
            <a:r>
              <a:rPr lang="en-US" dirty="0"/>
              <a:t>Work for many nonstationary time series </a:t>
            </a:r>
          </a:p>
          <a:p>
            <a:pPr lvl="0"/>
            <a:r>
              <a:rPr lang="en-US" dirty="0"/>
              <a:t>Many alternatives  </a:t>
            </a:r>
          </a:p>
          <a:p>
            <a:pPr lvl="1"/>
            <a:r>
              <a:rPr lang="en-US" dirty="0"/>
              <a:t>Expert judgement or subjective forecasting is widely applied, e.g. an experienced purchasing manager</a:t>
            </a:r>
          </a:p>
          <a:p>
            <a:pPr lvl="1"/>
            <a:r>
              <a:rPr lang="en-US" dirty="0"/>
              <a:t>Exponential smoothing Holt-Winters models create robust </a:t>
            </a:r>
            <a:r>
              <a:rPr lang="en-US" dirty="0" err="1"/>
              <a:t>forcasts</a:t>
            </a:r>
            <a:r>
              <a:rPr lang="en-US" dirty="0"/>
              <a:t>; see Chapter 7 of </a:t>
            </a:r>
            <a:r>
              <a:rPr lang="en-US" dirty="0">
                <a:hlinkClick r:id="rId2"/>
              </a:rPr>
              <a:t>Hyndman and </a:t>
            </a:r>
            <a:r>
              <a:rPr lang="en-US" dirty="0" err="1">
                <a:hlinkClick r:id="rId2"/>
              </a:rPr>
              <a:t>Athanaosopoulos</a:t>
            </a:r>
            <a:r>
              <a:rPr lang="en-US" dirty="0">
                <a:hlinkClick r:id="rId2"/>
              </a:rPr>
              <a:t>, 3rd edition</a:t>
            </a:r>
            <a:endParaRPr lang="en-US" dirty="0"/>
          </a:p>
          <a:p>
            <a:pPr lvl="1"/>
            <a:r>
              <a:rPr lang="en-US" dirty="0"/>
              <a:t>To date, LSTM models and LLM models, have not been shown to provide significantly better forecasts than conventional models in general cases  </a:t>
            </a:r>
            <a:endParaRPr dirty="0"/>
          </a:p>
          <a:p>
            <a:pPr lvl="0"/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E188F-BD20-1C63-0229-A4FC247EB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CBA13-1849-4070-8E1F-5958C6B3D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Time Series Forecasting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240AD4-96AA-E2CF-68E1-1BDF1F53F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Large and growing volume of time series modeling and forecasting software and literature</a:t>
            </a:r>
            <a:endParaRPr dirty="0"/>
          </a:p>
          <a:p>
            <a:pPr lvl="0"/>
            <a:r>
              <a:rPr dirty="0"/>
              <a:t>For comprehensive introduction see </a:t>
            </a:r>
            <a:r>
              <a:rPr dirty="0">
                <a:hlinkClick r:id="rId2"/>
              </a:rPr>
              <a:t>Forecasting: Principles and Practice, Hyndman and </a:t>
            </a:r>
            <a:r>
              <a:rPr dirty="0" err="1">
                <a:hlinkClick r:id="rId2"/>
              </a:rPr>
              <a:t>Athanaosopoulos</a:t>
            </a:r>
            <a:r>
              <a:rPr dirty="0">
                <a:hlinkClick r:id="rId2"/>
              </a:rPr>
              <a:t>, 3rd edition, 2018</a:t>
            </a:r>
            <a:r>
              <a:rPr dirty="0"/>
              <a:t>, available as book or free online</a:t>
            </a:r>
          </a:p>
          <a:p>
            <a:pPr lvl="0"/>
            <a:r>
              <a:rPr dirty="0">
                <a:hlinkClick r:id="rId3"/>
              </a:rPr>
              <a:t>Rob </a:t>
            </a:r>
            <a:r>
              <a:rPr lang="en-US" dirty="0">
                <a:hlinkClick r:id="rId3"/>
              </a:rPr>
              <a:t>H</a:t>
            </a:r>
            <a:r>
              <a:rPr dirty="0">
                <a:hlinkClick r:id="rId3"/>
              </a:rPr>
              <a:t>yndman’s blog</a:t>
            </a:r>
            <a:r>
              <a:rPr dirty="0"/>
              <a:t> is a source of many interesting ideas and example in time series analysis</a:t>
            </a:r>
            <a:endParaRPr lang="en-US" dirty="0"/>
          </a:p>
          <a:p>
            <a:pPr lvl="0"/>
            <a:r>
              <a:rPr lang="en-US" dirty="0"/>
              <a:t>Another applied source, </a:t>
            </a:r>
            <a:r>
              <a:rPr lang="en-US" dirty="0">
                <a:hlinkClick r:id="rId4"/>
              </a:rPr>
              <a:t>The Analysis of Time Series, Chatfield and Xing, 2019</a:t>
            </a:r>
            <a:endParaRPr lang="en-US" dirty="0"/>
          </a:p>
          <a:p>
            <a:pPr lvl="0"/>
            <a:r>
              <a:rPr lang="en-US" dirty="0"/>
              <a:t>The long-time go-to text for theory by </a:t>
            </a:r>
            <a:r>
              <a:rPr lang="en-US" dirty="0">
                <a:hlinkClick r:id="rId5"/>
              </a:rPr>
              <a:t>Box, Jenkins, Reinsel and Ljung, now in the 5</a:t>
            </a:r>
            <a:r>
              <a:rPr lang="en-US" baseline="30000" dirty="0">
                <a:hlinkClick r:id="rId5"/>
              </a:rPr>
              <a:t>th</a:t>
            </a:r>
            <a:r>
              <a:rPr lang="en-US" dirty="0">
                <a:hlinkClick r:id="rId5"/>
              </a:rPr>
              <a:t> edition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54252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</a:t>
            </a:r>
            <a:r>
              <a:rPr lang="en-US"/>
              <a:t>m</a:t>
            </a:r>
            <a:r>
              <a:t>e Series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624512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The </a:t>
            </a:r>
            <a:r>
              <a:rPr b="1" dirty="0"/>
              <a:t>ARIMA model</a:t>
            </a:r>
            <a:r>
              <a:rPr dirty="0"/>
              <a:t> </a:t>
            </a:r>
            <a:r>
              <a:rPr lang="en-US" dirty="0"/>
              <a:t>for time series comprises </a:t>
            </a:r>
            <a:r>
              <a:rPr dirty="0"/>
              <a:t>three components:</a:t>
            </a:r>
          </a:p>
          <a:p>
            <a:pPr lvl="0"/>
            <a:r>
              <a:rPr dirty="0"/>
              <a:t>Autoregressive component (AR) accounts for partial autocorrelation</a:t>
            </a:r>
          </a:p>
          <a:p>
            <a:pPr lvl="1"/>
            <a:r>
              <a:rPr dirty="0"/>
              <a:t>Serial correlation of observations</a:t>
            </a:r>
          </a:p>
          <a:p>
            <a:pPr lvl="0"/>
            <a:r>
              <a:rPr dirty="0"/>
              <a:t>Integrat</a:t>
            </a:r>
            <a:r>
              <a:rPr lang="en-US" dirty="0"/>
              <a:t>i</a:t>
            </a:r>
            <a:r>
              <a:rPr dirty="0"/>
              <a:t>ve component (I) accounts random walks and trend</a:t>
            </a:r>
            <a:endParaRPr lang="en-US" dirty="0"/>
          </a:p>
          <a:p>
            <a:pPr lvl="1"/>
            <a:r>
              <a:rPr lang="en-US" dirty="0"/>
              <a:t>Differencing provides stationary series for AR and MA components</a:t>
            </a:r>
            <a:endParaRPr dirty="0"/>
          </a:p>
          <a:p>
            <a:pPr lvl="0"/>
            <a:r>
              <a:rPr dirty="0"/>
              <a:t>Moving Average (MA) accounts for autocorrelation</a:t>
            </a:r>
          </a:p>
          <a:p>
            <a:pPr lvl="1"/>
            <a:r>
              <a:rPr dirty="0"/>
              <a:t>Serial correlation of model error</a:t>
            </a:r>
            <a:endParaRPr lang="en-US" dirty="0"/>
          </a:p>
          <a:p>
            <a:r>
              <a:rPr lang="en-US" dirty="0"/>
              <a:t>ARIMA models are often called Box-Jenkins models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Time Series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56446"/>
            <a:ext cx="8229600" cy="3904129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Many types of time series models</a:t>
            </a:r>
          </a:p>
          <a:p>
            <a:pPr lvl="0"/>
            <a:r>
              <a:rPr b="1" dirty="0"/>
              <a:t>SARIMA</a:t>
            </a:r>
            <a:r>
              <a:rPr dirty="0"/>
              <a:t>: seasonal autoregressive integrative moving average, adds seasonal components</a:t>
            </a:r>
          </a:p>
          <a:p>
            <a:pPr lvl="1"/>
            <a:r>
              <a:rPr b="1" dirty="0"/>
              <a:t>seasonal AR</a:t>
            </a:r>
            <a:r>
              <a:rPr dirty="0"/>
              <a:t> accounts for serial correlation of seasonal values</a:t>
            </a:r>
          </a:p>
          <a:p>
            <a:pPr lvl="1"/>
            <a:r>
              <a:rPr lang="en-US" b="1" dirty="0"/>
              <a:t>S</a:t>
            </a:r>
            <a:r>
              <a:rPr b="1" dirty="0"/>
              <a:t>easonal</a:t>
            </a:r>
            <a:r>
              <a:rPr lang="en-US" b="1" dirty="0"/>
              <a:t> differencing</a:t>
            </a:r>
            <a:r>
              <a:rPr b="1" dirty="0"/>
              <a:t> </a:t>
            </a:r>
            <a:r>
              <a:rPr dirty="0"/>
              <a:t>accounts for random walk and trend of seasonal components</a:t>
            </a:r>
          </a:p>
          <a:p>
            <a:pPr lvl="1"/>
            <a:r>
              <a:rPr b="1" dirty="0"/>
              <a:t>seasonal MA</a:t>
            </a:r>
            <a:r>
              <a:rPr dirty="0"/>
              <a:t> accounts for seasonal serial correlation of errors</a:t>
            </a:r>
          </a:p>
          <a:p>
            <a:pPr lvl="0"/>
            <a:r>
              <a:rPr b="1" dirty="0"/>
              <a:t>SARIMAX:</a:t>
            </a:r>
            <a:r>
              <a:rPr dirty="0"/>
              <a:t> seasonal autoregressive integrative moving average with </a:t>
            </a:r>
            <a:r>
              <a:rPr b="1" dirty="0"/>
              <a:t>exogenous variables</a:t>
            </a:r>
          </a:p>
          <a:p>
            <a:pPr lvl="1"/>
            <a:r>
              <a:rPr dirty="0"/>
              <a:t>Add effect of external factors</a:t>
            </a:r>
          </a:p>
          <a:p>
            <a:pPr lvl="1"/>
            <a:r>
              <a:rPr dirty="0"/>
              <a:t>Example; effect of specific holiday</a:t>
            </a:r>
          </a:p>
          <a:p>
            <a:pPr lvl="1"/>
            <a:r>
              <a:rPr dirty="0"/>
              <a:t>Example; effect arising from </a:t>
            </a:r>
            <a:r>
              <a:rPr lang="en-US" dirty="0"/>
              <a:t>independent </a:t>
            </a:r>
            <a:r>
              <a:rPr dirty="0"/>
              <a:t>factors not incorporated in endogenous variable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C8104-E80B-B291-FB19-26C8A1E8F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43B942-0D0A-14BA-5AE1-0DEED82B6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/>
              <a:t>Autoregressive Model</a:t>
            </a:r>
          </a:p>
        </p:txBody>
      </p:sp>
    </p:spTree>
    <p:extLst>
      <p:ext uri="{BB962C8B-B14F-4D97-AF65-F5344CB8AC3E}">
        <p14:creationId xmlns:p14="http://schemas.microsoft.com/office/powerpoint/2010/main" val="3356144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2226A-074D-EE3E-C4AB-4FF337384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ECB8E-8045-9FFE-E080-7D0011C74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Autoregressive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88A265-8B02-07D4-90A6-823FB37FC7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3610" y="1015667"/>
                <a:ext cx="8229600" cy="392185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Autoregressive model</a:t>
                </a:r>
                <a:r>
                  <a:rPr lang="en-US" dirty="0"/>
                  <a:t> relates past observed values to the current value</a:t>
                </a:r>
              </a:p>
              <a:p>
                <a:pPr lvl="0"/>
                <a:r>
                  <a:rPr lang="en-US" dirty="0"/>
                  <a:t>An autoregressive model of order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𝐴𝑅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dirty="0"/>
                  <a:t> uses the last p observations to predict the next value: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is the observation at the </a:t>
                </a:r>
                <a:r>
                  <a:rPr lang="en-US" i="1" dirty="0"/>
                  <a:t>t</a:t>
                </a:r>
                <a:r>
                  <a:rPr lang="en-US" dirty="0"/>
                  <a:t> time step 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model coefficient at </a:t>
                </a:r>
                <a:r>
                  <a:rPr lang="en-US" i="1" dirty="0"/>
                  <a:t>k</a:t>
                </a:r>
                <a:r>
                  <a:rPr lang="en-US" dirty="0"/>
                  <a:t>th lag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is the noise term</a:t>
                </a:r>
                <a:endParaRPr lang="ar-AE" dirty="0"/>
              </a:p>
              <a:p>
                <a:pPr marL="342900" lvl="1" indent="0">
                  <a:buNone/>
                </a:pPr>
                <a:endParaRPr lang="en-US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88A265-8B02-07D4-90A6-823FB37FC7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3610" y="1015667"/>
                <a:ext cx="8229600" cy="3921854"/>
              </a:xfrm>
              <a:blipFill>
                <a:blip r:embed="rId2"/>
                <a:stretch>
                  <a:fillRect l="-1185" t="-1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6599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44B00-2CEB-46C2-CD68-A566AB426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29D9B-9A58-4CEE-B53F-26AC36788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Autoregressive Model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281CB2CE-434E-6D66-7DD8-095C63C70C5B}"/>
              </a:ext>
            </a:extLst>
          </p:cNvPr>
          <p:cNvSpPr txBox="1"/>
          <p:nvPr/>
        </p:nvSpPr>
        <p:spPr>
          <a:xfrm>
            <a:off x="1999209" y="4229772"/>
            <a:ext cx="5216236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400" dirty="0"/>
              <a:t>Illustration of the AR(2)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568DFC0-A3A5-2BB4-9041-C48D1F1F6BC4}"/>
                  </a:ext>
                </a:extLst>
              </p:cNvPr>
              <p:cNvSpPr/>
              <p:nvPr/>
            </p:nvSpPr>
            <p:spPr>
              <a:xfrm>
                <a:off x="6026728" y="2652099"/>
                <a:ext cx="897774" cy="889462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568DFC0-A3A5-2BB4-9041-C48D1F1F6B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728" y="2652099"/>
                <a:ext cx="897774" cy="889462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89EC6252-0A49-B273-DA59-75626C8E02FC}"/>
                  </a:ext>
                </a:extLst>
              </p:cNvPr>
              <p:cNvSpPr/>
              <p:nvPr/>
            </p:nvSpPr>
            <p:spPr>
              <a:xfrm>
                <a:off x="3610495" y="2652099"/>
                <a:ext cx="897774" cy="889462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89EC6252-0A49-B273-DA59-75626C8E02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495" y="2652099"/>
                <a:ext cx="897774" cy="889462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9D5E5178-5BE1-68BF-10BA-01FA84D522EB}"/>
                  </a:ext>
                </a:extLst>
              </p:cNvPr>
              <p:cNvSpPr/>
              <p:nvPr/>
            </p:nvSpPr>
            <p:spPr>
              <a:xfrm>
                <a:off x="1194262" y="2652099"/>
                <a:ext cx="897774" cy="889462"/>
              </a:xfrm>
              <a:prstGeom prst="ellipse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9D5E5178-5BE1-68BF-10BA-01FA84D52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4262" y="2652099"/>
                <a:ext cx="897774" cy="889462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92126E5-77F5-B500-76EF-6AB53D23E0A8}"/>
                  </a:ext>
                </a:extLst>
              </p:cNvPr>
              <p:cNvSpPr txBox="1"/>
              <p:nvPr/>
            </p:nvSpPr>
            <p:spPr>
              <a:xfrm>
                <a:off x="4508270" y="3507971"/>
                <a:ext cx="43582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92126E5-77F5-B500-76EF-6AB53D23E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8270" y="3507971"/>
                <a:ext cx="4358240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c 11">
            <a:extLst>
              <a:ext uri="{FF2B5EF4-FFF2-40B4-BE49-F238E27FC236}">
                <a16:creationId xmlns:a16="http://schemas.microsoft.com/office/drawing/2014/main" id="{CA261A37-D446-1975-7807-E06AA0F2032B}"/>
              </a:ext>
            </a:extLst>
          </p:cNvPr>
          <p:cNvSpPr/>
          <p:nvPr/>
        </p:nvSpPr>
        <p:spPr>
          <a:xfrm rot="19447016">
            <a:off x="2947082" y="2404485"/>
            <a:ext cx="3633691" cy="2727914"/>
          </a:xfrm>
          <a:prstGeom prst="arc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c 12">
            <a:extLst>
              <a:ext uri="{FF2B5EF4-FFF2-40B4-BE49-F238E27FC236}">
                <a16:creationId xmlns:a16="http://schemas.microsoft.com/office/drawing/2014/main" id="{BC041336-9317-47F0-D18B-102BAB19ED85}"/>
              </a:ext>
            </a:extLst>
          </p:cNvPr>
          <p:cNvSpPr/>
          <p:nvPr/>
        </p:nvSpPr>
        <p:spPr>
          <a:xfrm rot="19303106">
            <a:off x="-416122" y="1996665"/>
            <a:ext cx="7807424" cy="6179435"/>
          </a:xfrm>
          <a:prstGeom prst="arc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F8A3268-F6E8-8D53-61B4-8E71EDE1400F}"/>
                  </a:ext>
                </a:extLst>
              </p:cNvPr>
              <p:cNvSpPr txBox="1"/>
              <p:nvPr/>
            </p:nvSpPr>
            <p:spPr>
              <a:xfrm>
                <a:off x="4849091" y="2270783"/>
                <a:ext cx="120118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F8A3268-F6E8-8D53-61B4-8E71EDE14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9091" y="2270783"/>
                <a:ext cx="1201187" cy="461665"/>
              </a:xfrm>
              <a:prstGeom prst="rect">
                <a:avLst/>
              </a:prstGeom>
              <a:blipFill>
                <a:blip r:embed="rId6"/>
                <a:stretch>
                  <a:fillRect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E6D85BD-4480-62D5-0AA9-C18C026E58C2}"/>
                  </a:ext>
                </a:extLst>
              </p:cNvPr>
              <p:cNvSpPr txBox="1"/>
              <p:nvPr/>
            </p:nvSpPr>
            <p:spPr>
              <a:xfrm>
                <a:off x="3713754" y="1650087"/>
                <a:ext cx="120118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E6D85BD-4480-62D5-0AA9-C18C026E58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3754" y="1650087"/>
                <a:ext cx="1201187" cy="461665"/>
              </a:xfrm>
              <a:prstGeom prst="rect">
                <a:avLst/>
              </a:prstGeom>
              <a:blipFill>
                <a:blip r:embed="rId7"/>
                <a:stretch>
                  <a:fillRect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6308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Autoregressive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13610" y="1015667"/>
                <a:ext cx="8229600" cy="3921854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Autoregressive model</a:t>
                </a:r>
                <a:r>
                  <a:rPr lang="en-US" dirty="0"/>
                  <a:t> relates past observed values to the current value</a:t>
                </a:r>
              </a:p>
              <a:p>
                <a:pPr lvl="0"/>
                <a:r>
                  <a:rPr lang="en-US" dirty="0"/>
                  <a:t>An autoregressive model of order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𝐴𝑅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dirty="0"/>
                  <a:t> uses the last p observations to predict the next value: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>
                    <a:latin typeface="Cambria Math" panose="02040503050406030204" pitchFamily="18" charset="0"/>
                  </a:rPr>
                  <a:t>AR model accounts for the serial correlation of observations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Can analytically compute the expectation and variance of a stationary AR(1) process 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i="1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ar-A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p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ar-AE" i="1">
                          <a:latin typeface="Cambria Math" panose="02040503050406030204" pitchFamily="18" charset="0"/>
                        </a:rPr>
                        <m:t>,   </m:t>
                      </m:r>
                      <m:sSubSup>
                        <m:sSub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ar-A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𝑉𝑎𝑟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dirty="0"/>
                  <a:t>, the variance of the AR process is </a:t>
                </a:r>
                <a:r>
                  <a:rPr lang="en-US" b="1" dirty="0"/>
                  <a:t>inflated</a:t>
                </a:r>
                <a:r>
                  <a:rPr lang="en-US" dirty="0"/>
                  <a:t>!</a:t>
                </a:r>
                <a:endParaRPr lang="ar-AE" dirty="0"/>
              </a:p>
              <a:p>
                <a:pPr marL="342900" lvl="1" indent="0">
                  <a:buNone/>
                </a:pPr>
                <a:endParaRPr lang="en-US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3610" y="1015667"/>
                <a:ext cx="8229600" cy="3921854"/>
              </a:xfrm>
              <a:blipFill>
                <a:blip r:embed="rId2"/>
                <a:stretch>
                  <a:fillRect l="-815" t="-1711" r="-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03374-324A-4F82-B97F-2DAAA31AC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C93FC-1D09-EC55-8F6C-4AA561DCC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Autoregressive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98B878-F8FC-92A0-4F78-26B0B264F5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3610" y="1015667"/>
                <a:ext cx="8229600" cy="3921854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Autoregressive model</a:t>
                </a:r>
                <a:r>
                  <a:rPr lang="en-US" dirty="0"/>
                  <a:t> relates past observations to the current value</a:t>
                </a:r>
              </a:p>
              <a:p>
                <a:pPr lvl="0"/>
                <a:r>
                  <a:rPr lang="en-US" dirty="0"/>
                  <a:t>An autoregressive model of order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𝐴𝑅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dirty="0"/>
                  <a:t> uses the last p observations to predict the next value: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An AR process has the following properties: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always, the first coefficient of the PACF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Order of process,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, is number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shock at any time will affect the result as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AR model has </a:t>
                </a:r>
                <a:r>
                  <a:rPr lang="en-US" b="1" dirty="0"/>
                  <a:t>constant coefficients,</a:t>
                </a:r>
                <a:r>
                  <a:rPr lang="en-US" dirty="0"/>
                  <a:t> </a:t>
                </a:r>
                <a:r>
                  <a:rPr lang="en-US" b="1" dirty="0"/>
                  <a:t>only defined for stationary time series!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98B878-F8FC-92A0-4F78-26B0B264F5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3610" y="1015667"/>
                <a:ext cx="8229600" cy="3921854"/>
              </a:xfrm>
              <a:blipFill>
                <a:blip r:embed="rId2"/>
                <a:stretch>
                  <a:fillRect l="-963" t="-20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5216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Autoregressive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59224"/>
                <a:ext cx="8229600" cy="4011787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estimate the coefficients of the AR model?</a:t>
                </a:r>
              </a:p>
              <a:p>
                <a:r>
                  <a:rPr lang="en-US" dirty="0"/>
                  <a:t>AR model is a </a:t>
                </a:r>
                <a:r>
                  <a:rPr lang="en-US" b="1" dirty="0"/>
                  <a:t>linear model!</a:t>
                </a:r>
              </a:p>
              <a:p>
                <a:pPr lvl="0"/>
                <a:r>
                  <a:rPr lang="en-US" dirty="0"/>
                  <a:t>Example: Model matrix of AR(3) model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⋮,     ⋮,     ⋮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,    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,    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,    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    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,    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,    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For coefficient vector,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𝛷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find least squares solution to model: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𝛷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59224"/>
                <a:ext cx="8229600" cy="4011787"/>
              </a:xfrm>
              <a:blipFill>
                <a:blip r:embed="rId2"/>
                <a:stretch>
                  <a:fillRect l="-741" t="-1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Autoregressive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59224"/>
                <a:ext cx="8229600" cy="4123764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can rewrite the AR(1) model in terms of exceptions: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sz="1400" b="0" i="1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𝑛𝑜𝑤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:endParaRPr lang="en-US" sz="1300" b="0" dirty="0"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The AR(1) model is unstable for the roots of the model polynomial,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dirty="0"/>
                  <a:t>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l-GR" dirty="0"/>
              </a:p>
              <a:p>
                <a:pPr lvl="0"/>
                <a:r>
                  <a:rPr lang="en-US" dirty="0"/>
                  <a:t>Is a stable AR(1) process 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, </a:t>
                </a:r>
                <a:r>
                  <a:rPr lang="en-US" b="1" dirty="0"/>
                  <a:t>not a unit root!</a:t>
                </a:r>
              </a:p>
              <a:p>
                <a:pPr lvl="0"/>
                <a:r>
                  <a:rPr lang="en-US" dirty="0"/>
                  <a:t>Violation of this condition leads to an unstable model!</a:t>
                </a:r>
              </a:p>
              <a:p>
                <a:pPr lvl="0"/>
                <a:r>
                  <a:rPr lang="en-US" dirty="0"/>
                  <a:t>AR(1) model with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has unit root and is a random walk</a:t>
                </a:r>
                <a:r>
                  <a:rPr lang="ar-AE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59224"/>
                <a:ext cx="8229600" cy="4123764"/>
              </a:xfrm>
              <a:blipFill>
                <a:blip r:embed="rId2"/>
                <a:stretch>
                  <a:fillRect l="-444" t="-14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60B4F-395C-EEFE-F9F5-6F7A517A9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C1B8F-7553-9678-093D-1DB1F351C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 Autoregressive Model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0C1FB46A-1CD7-6CF0-ED5F-1441977AEB44}"/>
              </a:ext>
            </a:extLst>
          </p:cNvPr>
          <p:cNvSpPr txBox="1"/>
          <p:nvPr/>
        </p:nvSpPr>
        <p:spPr>
          <a:xfrm>
            <a:off x="5092317" y="4229771"/>
            <a:ext cx="3998261" cy="767345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sz="2400" dirty="0"/>
              <a:t>Stationarity of</a:t>
            </a:r>
            <a:r>
              <a:rPr sz="2400" dirty="0"/>
              <a:t> AR(2) model</a:t>
            </a:r>
            <a:endParaRPr lang="en-US" sz="2400" dirty="0"/>
          </a:p>
          <a:p>
            <a:pPr marL="0" lvl="0" indent="0" algn="ctr">
              <a:buNone/>
            </a:pPr>
            <a:r>
              <a:rPr lang="en-US" sz="1200" dirty="0">
                <a:hlinkClick r:id="rId2"/>
              </a:rPr>
              <a:t>From lecture notes by David E. Giles, Simon Fraser University </a:t>
            </a:r>
            <a:endParaRPr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5F6F64-4A9C-E56B-920F-DBB1392089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2317" y="1063229"/>
            <a:ext cx="3998262" cy="316654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Placeholder 3">
                <a:extLst>
                  <a:ext uri="{FF2B5EF4-FFF2-40B4-BE49-F238E27FC236}">
                    <a16:creationId xmlns:a16="http://schemas.microsoft.com/office/drawing/2014/main" id="{8B2FA9DA-3A4D-38DB-604E-81F480CFD99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0" y="1076326"/>
                <a:ext cx="4535905" cy="3997698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Three conditions on the coefficients of a </a:t>
                </a:r>
                <a:r>
                  <a:rPr lang="en-US" sz="2000" b="1" dirty="0"/>
                  <a:t>stationary and stable AR(2)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&gt;−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700" dirty="0"/>
              </a:p>
              <a:p>
                <a:pPr marL="0" indent="0">
                  <a:buNone/>
                </a:pPr>
                <a:r>
                  <a:rPr lang="en-US" sz="2000" dirty="0"/>
                  <a:t>Gives </a:t>
                </a:r>
                <a:r>
                  <a:rPr lang="en-US" sz="2000" b="1" dirty="0"/>
                  <a:t>triangle of stationary and stability</a:t>
                </a:r>
                <a:r>
                  <a:rPr lang="en-US" sz="2000" dirty="0"/>
                  <a:t> for an AR(2) model</a:t>
                </a:r>
              </a:p>
              <a:p>
                <a:r>
                  <a:rPr lang="en-US" sz="2000" dirty="0"/>
                  <a:t>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lvl="1"/>
                <a:r>
                  <a:rPr lang="en-US" sz="1700" dirty="0"/>
                  <a:t>Above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700" dirty="0"/>
                  <a:t> triangle get explosive non-oscillatory behavior </a:t>
                </a:r>
              </a:p>
              <a:p>
                <a:pPr lvl="1"/>
                <a:r>
                  <a:rPr lang="en-US" sz="1700" dirty="0"/>
                  <a:t>For the bottom of the triangle get non-explosive oscillatory behavior </a:t>
                </a:r>
              </a:p>
              <a:p>
                <a:r>
                  <a:rPr lang="en-US" sz="2000" dirty="0"/>
                  <a:t>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000" dirty="0"/>
                  <a:t> get explosive oscillatory behavior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dirty="0">
                  <a:latin typeface="Courier"/>
                </a:endParaRPr>
              </a:p>
            </p:txBody>
          </p:sp>
        </mc:Choice>
        <mc:Fallback xmlns="">
          <p:sp>
            <p:nvSpPr>
              <p:cNvPr id="6" name="Text Placeholder 3">
                <a:extLst>
                  <a:ext uri="{FF2B5EF4-FFF2-40B4-BE49-F238E27FC236}">
                    <a16:creationId xmlns:a16="http://schemas.microsoft.com/office/drawing/2014/main" id="{8B2FA9DA-3A4D-38DB-604E-81F480CFD9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76326"/>
                <a:ext cx="4535905" cy="3997698"/>
              </a:xfrm>
              <a:prstGeom prst="rect">
                <a:avLst/>
              </a:prstGeom>
              <a:blipFill>
                <a:blip r:embed="rId4"/>
                <a:stretch>
                  <a:fillRect l="-1210" t="-1527" r="-1344" b="-13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720A14-0587-1CD4-E0A6-7815A02860D3}"/>
              </a:ext>
            </a:extLst>
          </p:cNvPr>
          <p:cNvCxnSpPr>
            <a:cxnSpLocks/>
          </p:cNvCxnSpPr>
          <p:nvPr/>
        </p:nvCxnSpPr>
        <p:spPr>
          <a:xfrm flipV="1">
            <a:off x="4471737" y="2935705"/>
            <a:ext cx="1832810" cy="11314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A0AFAD8-2BB5-3152-65BA-09D645B1D978}"/>
              </a:ext>
            </a:extLst>
          </p:cNvPr>
          <p:cNvCxnSpPr>
            <a:cxnSpLocks/>
          </p:cNvCxnSpPr>
          <p:nvPr/>
        </p:nvCxnSpPr>
        <p:spPr>
          <a:xfrm flipV="1">
            <a:off x="4630271" y="3501439"/>
            <a:ext cx="1446429" cy="10309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0A3D86-7635-A427-A59A-098C2AFCC2E1}"/>
                  </a:ext>
                </a:extLst>
              </p:cNvPr>
              <p:cNvSpPr txBox="1"/>
              <p:nvPr/>
            </p:nvSpPr>
            <p:spPr>
              <a:xfrm>
                <a:off x="7301839" y="1112870"/>
                <a:ext cx="3898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0A3D86-7635-A427-A59A-098C2AFCC2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839" y="1112870"/>
                <a:ext cx="389878" cy="369332"/>
              </a:xfrm>
              <a:prstGeom prst="rect">
                <a:avLst/>
              </a:prstGeom>
              <a:blipFill>
                <a:blip r:embed="rId5"/>
                <a:stretch>
                  <a:fillRect l="-4688" r="-312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D13F0F-637C-A375-E0FB-1AA810AD4D95}"/>
                  </a:ext>
                </a:extLst>
              </p:cNvPr>
              <p:cNvSpPr txBox="1"/>
              <p:nvPr/>
            </p:nvSpPr>
            <p:spPr>
              <a:xfrm>
                <a:off x="5483731" y="2023129"/>
                <a:ext cx="3898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D13F0F-637C-A375-E0FB-1AA810AD4D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3731" y="2023129"/>
                <a:ext cx="389878" cy="369332"/>
              </a:xfrm>
              <a:prstGeom prst="rect">
                <a:avLst/>
              </a:prstGeom>
              <a:blipFill>
                <a:blip r:embed="rId6"/>
                <a:stretch>
                  <a:fillRect l="-4688" r="-156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8B01785-6FF5-7791-8441-0803F46266EF}"/>
              </a:ext>
            </a:extLst>
          </p:cNvPr>
          <p:cNvCxnSpPr>
            <a:cxnSpLocks/>
          </p:cNvCxnSpPr>
          <p:nvPr/>
        </p:nvCxnSpPr>
        <p:spPr>
          <a:xfrm flipV="1">
            <a:off x="4471737" y="1772653"/>
            <a:ext cx="1238867" cy="16242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298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5037512" cy="51426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2800" b="0" dirty="0"/>
              <a:t>Example: </a:t>
            </a:r>
            <a:r>
              <a:rPr sz="2800" b="0" dirty="0"/>
              <a:t>Autoregressive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0" y="1076326"/>
                <a:ext cx="4491789" cy="3968916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Examples of stationary (no unit root) AR models   </a:t>
                </a:r>
              </a:p>
              <a:p>
                <a:pPr marL="457200" lvl="0" indent="-457200">
                  <a:buFont typeface="+mj-lt"/>
                  <a:buAutoNum type="arabicPeriod"/>
                </a:pPr>
                <a:r>
                  <a:rPr lang="en-US" sz="2000" dirty="0"/>
                  <a:t>AR(1) model, </a:t>
                </a:r>
                <a:r>
                  <a:rPr lang="en-US" sz="2000" dirty="0" err="1"/>
                  <a:t>coef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d>
                  </m:oMath>
                </a14:m>
                <a:endParaRPr lang="en-US" sz="20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000" dirty="0"/>
                  <a:t>AR(1) model, </a:t>
                </a:r>
                <a:r>
                  <a:rPr lang="en-US" sz="2000" dirty="0" err="1"/>
                  <a:t>coef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d>
                  </m:oMath>
                </a14:m>
                <a:r>
                  <a:rPr lang="en-US" sz="2000" dirty="0"/>
                  <a:t>, </a:t>
                </a:r>
                <a:r>
                  <a:rPr lang="en-US" sz="2000" dirty="0">
                    <a:solidFill>
                      <a:srgbClr val="C00000"/>
                    </a:solidFill>
                  </a:rPr>
                  <a:t>near oscillatory behavior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000" dirty="0"/>
                  <a:t>AR(2) model, </a:t>
                </a:r>
                <a:r>
                  <a:rPr lang="en-US" sz="2000" dirty="0" err="1"/>
                  <a:t>coef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en-US" sz="20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000" dirty="0"/>
                  <a:t>AR(2) model, </a:t>
                </a:r>
                <a:r>
                  <a:rPr lang="en-US" sz="2000" dirty="0" err="1"/>
                  <a:t>coef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lang="en-US" sz="2000" dirty="0"/>
                  <a:t>, </a:t>
                </a:r>
                <a:r>
                  <a:rPr lang="en-US" sz="2000" dirty="0">
                    <a:solidFill>
                      <a:srgbClr val="C00000"/>
                    </a:solidFill>
                  </a:rPr>
                  <a:t>near oscillatory behavior</a:t>
                </a:r>
              </a:p>
              <a:p>
                <a:r>
                  <a:rPr lang="en-US" sz="1800" dirty="0"/>
                  <a:t>The </a:t>
                </a:r>
                <a:r>
                  <a:rPr lang="en-US" sz="1800" dirty="0" err="1"/>
                  <a:t>Statsmodels</a:t>
                </a:r>
                <a:r>
                  <a:rPr lang="en-US" sz="1800" dirty="0"/>
                  <a:t> convention is to explicitly prepend the 1.0 to the coefficient vector, and the nonzero lag coefficients need to be negated </a:t>
                </a:r>
              </a:p>
              <a:p>
                <a:pPr marL="457200" lvl="0" indent="-457200">
                  <a:buFont typeface="+mj-lt"/>
                  <a:buAutoNum type="arabicPeriod"/>
                </a:pPr>
                <a:endParaRPr lang="en-US" sz="2000" dirty="0"/>
              </a:p>
              <a:p>
                <a:pPr marL="0" lvl="0" indent="0">
                  <a:buNone/>
                </a:pPr>
                <a:endParaRPr dirty="0">
                  <a:latin typeface="Courier"/>
                </a:endParaRP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0" y="1076326"/>
                <a:ext cx="4491789" cy="3968916"/>
              </a:xfrm>
              <a:blipFill>
                <a:blip r:embed="rId2"/>
                <a:stretch>
                  <a:fillRect l="-1493" t="-922" r="-1221" b="-13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0AFD587-2E4F-6FDB-CC96-0A27B9099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1" y="85165"/>
            <a:ext cx="3048010" cy="500294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0ABC413-9CFD-AA7C-920E-81C168732E03}"/>
              </a:ext>
            </a:extLst>
          </p:cNvPr>
          <p:cNvCxnSpPr>
            <a:cxnSpLocks/>
          </p:cNvCxnSpPr>
          <p:nvPr/>
        </p:nvCxnSpPr>
        <p:spPr>
          <a:xfrm flipV="1">
            <a:off x="4455459" y="2167304"/>
            <a:ext cx="1259542" cy="1724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83E784C-C268-A2A2-F54D-BCEFABF04F17}"/>
              </a:ext>
            </a:extLst>
          </p:cNvPr>
          <p:cNvCxnSpPr>
            <a:cxnSpLocks/>
          </p:cNvCxnSpPr>
          <p:nvPr/>
        </p:nvCxnSpPr>
        <p:spPr>
          <a:xfrm>
            <a:off x="4679576" y="3523129"/>
            <a:ext cx="975266" cy="812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769C23E-FBE3-9E27-C15A-D14B451B1607}"/>
              </a:ext>
            </a:extLst>
          </p:cNvPr>
          <p:cNvCxnSpPr>
            <a:cxnSpLocks/>
          </p:cNvCxnSpPr>
          <p:nvPr/>
        </p:nvCxnSpPr>
        <p:spPr>
          <a:xfrm flipV="1">
            <a:off x="4167037" y="1017989"/>
            <a:ext cx="1547964" cy="92242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7C1AEA2-B52F-A178-6390-332C7602D5AE}"/>
              </a:ext>
            </a:extLst>
          </p:cNvPr>
          <p:cNvCxnSpPr>
            <a:cxnSpLocks/>
          </p:cNvCxnSpPr>
          <p:nvPr/>
        </p:nvCxnSpPr>
        <p:spPr>
          <a:xfrm>
            <a:off x="4679576" y="2938367"/>
            <a:ext cx="975266" cy="348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B7BA0-0BFF-C3F8-BDC8-34648CBF2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C0DD9-376F-FD40-6705-F6802EAEC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740" y="279992"/>
            <a:ext cx="6053344" cy="51426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2800" b="0" dirty="0"/>
              <a:t>Example:</a:t>
            </a:r>
            <a:r>
              <a:rPr sz="2800" b="0" dirty="0"/>
              <a:t> Autoregressive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A336281-2EDC-2F3B-9609-1A6AD5D1F294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521624" y="768088"/>
                <a:ext cx="4374571" cy="130183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Example AR time series ACF and PACF</a:t>
                </a:r>
              </a:p>
              <a:p>
                <a:pPr marL="457200" lvl="0" indent="-457200">
                  <a:buFont typeface="+mj-lt"/>
                  <a:buAutoNum type="arabicPeriod"/>
                </a:pPr>
                <a:r>
                  <a:rPr lang="en-US" sz="2000" dirty="0"/>
                  <a:t>AR(1) model, </a:t>
                </a:r>
                <a:r>
                  <a:rPr lang="en-US" sz="2000" dirty="0" err="1"/>
                  <a:t>coef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d>
                  </m:oMath>
                </a14:m>
                <a:endParaRPr lang="en-US" sz="20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000" dirty="0">
                    <a:solidFill>
                      <a:srgbClr val="C00000"/>
                    </a:solidFill>
                  </a:rPr>
                  <a:t>AR(1) model, </a:t>
                </a:r>
                <a:r>
                  <a:rPr lang="en-US" sz="2000" dirty="0" err="1">
                    <a:solidFill>
                      <a:srgbClr val="C00000"/>
                    </a:solidFill>
                  </a:rPr>
                  <a:t>coef</a:t>
                </a:r>
                <a:r>
                  <a:rPr lang="en-US" sz="20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−</m:t>
                        </m:r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d>
                  </m:oMath>
                </a14:m>
                <a:endParaRPr lang="en-US" sz="2000" dirty="0">
                  <a:solidFill>
                    <a:srgbClr val="C00000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sz="2000" dirty="0"/>
              </a:p>
              <a:p>
                <a:pPr marL="457200" lvl="0" indent="-457200">
                  <a:buFont typeface="+mj-lt"/>
                  <a:buAutoNum type="arabicPeriod"/>
                </a:pPr>
                <a:endParaRPr lang="en-US" sz="2000" dirty="0"/>
              </a:p>
              <a:p>
                <a:pPr marL="0" lvl="0" indent="0">
                  <a:buNone/>
                </a:pPr>
                <a:endParaRPr dirty="0">
                  <a:latin typeface="Courier"/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0A336281-2EDC-2F3B-9609-1A6AD5D1F2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521624" y="768088"/>
                <a:ext cx="4374571" cy="1301830"/>
              </a:xfrm>
              <a:blipFill>
                <a:blip r:embed="rId2"/>
                <a:stretch>
                  <a:fillRect l="-1534" t="-2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Placeholder 3">
                <a:extLst>
                  <a:ext uri="{FF2B5EF4-FFF2-40B4-BE49-F238E27FC236}">
                    <a16:creationId xmlns:a16="http://schemas.microsoft.com/office/drawing/2014/main" id="{C268BE85-9433-2AE0-F1EF-9E85FF47E16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39235" y="768088"/>
                <a:ext cx="4504765" cy="114063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10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9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7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7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5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3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2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ar-AE" sz="2000" dirty="0"/>
              </a:p>
              <a:p>
                <a:pPr marL="457200" indent="-457200">
                  <a:buFont typeface="+mj-lt"/>
                  <a:buAutoNum type="arabicPeriod" startAt="3"/>
                </a:pPr>
                <a:r>
                  <a:rPr lang="en-US" sz="2000" dirty="0"/>
                  <a:t>AR(2) model, </a:t>
                </a:r>
                <a:r>
                  <a:rPr lang="en-US" sz="2000" dirty="0" err="1"/>
                  <a:t>coef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ar-AE" sz="2000" dirty="0"/>
              </a:p>
              <a:p>
                <a:pPr marL="457200" indent="-457200">
                  <a:buFont typeface="+mj-lt"/>
                  <a:buAutoNum type="arabicPeriod" startAt="3"/>
                </a:pPr>
                <a:r>
                  <a:rPr lang="en-US" sz="2000" dirty="0">
                    <a:solidFill>
                      <a:srgbClr val="C00000"/>
                    </a:solidFill>
                  </a:rPr>
                  <a:t>AR(2) model, </a:t>
                </a:r>
                <a:r>
                  <a:rPr lang="en-US" sz="2000" dirty="0" err="1">
                    <a:solidFill>
                      <a:srgbClr val="C00000"/>
                    </a:solidFill>
                  </a:rPr>
                  <a:t>coef</a:t>
                </a:r>
                <a:r>
                  <a:rPr lang="en-US" sz="20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−</m:t>
                        </m:r>
                        <m:r>
                          <a:rPr lang="ar-AE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ar-AE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ar-AE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ar-AE" sz="2000" dirty="0"/>
              </a:p>
              <a:p>
                <a:pPr marL="457200" indent="-457200">
                  <a:buFont typeface="+mj-lt"/>
                  <a:buAutoNum type="arabicPeriod" startAt="3"/>
                </a:pPr>
                <a:endParaRPr lang="ar-AE" sz="2000" dirty="0"/>
              </a:p>
              <a:p>
                <a:endParaRPr lang="ar-AE" dirty="0">
                  <a:latin typeface="Courier"/>
                </a:endParaRPr>
              </a:p>
            </p:txBody>
          </p:sp>
        </mc:Choice>
        <mc:Fallback xmlns="">
          <p:sp>
            <p:nvSpPr>
              <p:cNvPr id="7" name="Text Placeholder 3">
                <a:extLst>
                  <a:ext uri="{FF2B5EF4-FFF2-40B4-BE49-F238E27FC236}">
                    <a16:creationId xmlns:a16="http://schemas.microsoft.com/office/drawing/2014/main" id="{C268BE85-9433-2AE0-F1EF-9E85FF47E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235" y="768088"/>
                <a:ext cx="4504765" cy="1140636"/>
              </a:xfrm>
              <a:prstGeom prst="rect">
                <a:avLst/>
              </a:prstGeom>
              <a:blipFill>
                <a:blip r:embed="rId3"/>
                <a:stretch>
                  <a:fillRect l="-1488" b="-8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C0F3B802-CF2E-036F-1A4F-CD734A9B26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764" y="1956603"/>
            <a:ext cx="3835962" cy="30871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C0711D-E1C6-2235-7FAD-76332DA6D7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1535" y="1965159"/>
            <a:ext cx="3746073" cy="3078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3765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 Autoregressive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44484" y="1151966"/>
                <a:ext cx="3678381" cy="3991534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 model summary for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𝐴𝑅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series:</a:t>
                </a:r>
              </a:p>
              <a:p>
                <a:pPr lvl="0"/>
                <a:r>
                  <a:rPr lang="en-US" dirty="0"/>
                  <a:t>Cannot reject hypothesis that series has 0 mean</a:t>
                </a:r>
              </a:p>
              <a:p>
                <a:pPr lvl="0"/>
                <a:r>
                  <a:rPr lang="en-US" dirty="0"/>
                  <a:t>Both AR coefficients are statistically significant</a:t>
                </a:r>
              </a:p>
              <a:p>
                <a:pPr lvl="0"/>
                <a:r>
                  <a:rPr lang="en-US" dirty="0"/>
                  <a:t>Estimated parameter values are close to actual values</a:t>
                </a:r>
              </a:p>
              <a:p>
                <a:pPr lvl="0"/>
                <a:r>
                  <a:rPr lang="en-US" dirty="0"/>
                  <a:t>Actual values are well within the Cis</a:t>
                </a:r>
              </a:p>
              <a:p>
                <a:pPr lvl="0"/>
                <a:r>
                  <a:rPr lang="en-US" dirty="0"/>
                  <a:t>Ljung-Box test rejects null hypothesis of statistically significant serial correlation of residuals</a:t>
                </a:r>
                <a:br>
                  <a:rPr lang="en-US" dirty="0"/>
                </a:b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4484" y="1151966"/>
                <a:ext cx="3678381" cy="3991534"/>
              </a:xfrm>
              <a:blipFill>
                <a:blip r:embed="rId2"/>
                <a:stretch>
                  <a:fillRect l="-1490" t="-1985" r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3D286D2-5A87-733F-208F-654BDA09F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7671" y="1549523"/>
            <a:ext cx="4735881" cy="330095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7155248-EEF1-C288-16B6-F0F2A3D06FFA}"/>
              </a:ext>
            </a:extLst>
          </p:cNvPr>
          <p:cNvCxnSpPr>
            <a:cxnSpLocks/>
          </p:cNvCxnSpPr>
          <p:nvPr/>
        </p:nvCxnSpPr>
        <p:spPr>
          <a:xfrm>
            <a:off x="3343835" y="2442882"/>
            <a:ext cx="3738369" cy="8146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28A35F5-BACC-63A2-B9A1-381742F96FE5}"/>
              </a:ext>
            </a:extLst>
          </p:cNvPr>
          <p:cNvCxnSpPr>
            <a:cxnSpLocks/>
          </p:cNvCxnSpPr>
          <p:nvPr/>
        </p:nvCxnSpPr>
        <p:spPr>
          <a:xfrm>
            <a:off x="4002741" y="2988426"/>
            <a:ext cx="1184401" cy="386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FA9B66D-1698-9621-DCBD-7C090CAD148E}"/>
              </a:ext>
            </a:extLst>
          </p:cNvPr>
          <p:cNvCxnSpPr>
            <a:cxnSpLocks/>
          </p:cNvCxnSpPr>
          <p:nvPr/>
        </p:nvCxnSpPr>
        <p:spPr>
          <a:xfrm>
            <a:off x="3904129" y="3474720"/>
            <a:ext cx="384748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DC6A706-9097-B3CB-BADE-AA1306105D05}"/>
              </a:ext>
            </a:extLst>
          </p:cNvPr>
          <p:cNvCxnSpPr>
            <a:cxnSpLocks/>
          </p:cNvCxnSpPr>
          <p:nvPr/>
        </p:nvCxnSpPr>
        <p:spPr>
          <a:xfrm>
            <a:off x="3801035" y="1956588"/>
            <a:ext cx="3281169" cy="11822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693C6E-61CB-D272-3658-4ECC6DC4A100}"/>
              </a:ext>
            </a:extLst>
          </p:cNvPr>
          <p:cNvCxnSpPr>
            <a:cxnSpLocks/>
          </p:cNvCxnSpPr>
          <p:nvPr/>
        </p:nvCxnSpPr>
        <p:spPr>
          <a:xfrm flipV="1">
            <a:off x="3727938" y="3928003"/>
            <a:ext cx="639733" cy="3274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5B636-1EB2-F1ED-B613-1F004DEE9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36DB81-41CF-A27F-4323-FE75AD4979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/>
              <a:t>Moving Average Model</a:t>
            </a:r>
          </a:p>
        </p:txBody>
      </p:sp>
    </p:spTree>
    <p:extLst>
      <p:ext uri="{BB962C8B-B14F-4D97-AF65-F5344CB8AC3E}">
        <p14:creationId xmlns:p14="http://schemas.microsoft.com/office/powerpoint/2010/main" val="35791882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 Moving Average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 </a:t>
                </a:r>
                <a:r>
                  <a:rPr lang="en-US" b="1" dirty="0"/>
                  <a:t>moving average</a:t>
                </a:r>
                <a:r>
                  <a:rPr lang="en-US" dirty="0"/>
                  <a:t> model of order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𝑀𝐴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, predicts the next </a:t>
                </a:r>
                <a:r>
                  <a:rPr lang="en-US" dirty="0" err="1"/>
                  <a:t>obsered</a:t>
                </a:r>
                <a:r>
                  <a:rPr lang="en-US" dirty="0"/>
                  <a:t> value using the last </a:t>
                </a:r>
                <a:r>
                  <a:rPr lang="en-US" i="1" dirty="0"/>
                  <a:t>q</a:t>
                </a:r>
                <a:r>
                  <a:rPr lang="en-US" dirty="0"/>
                  <a:t> noise terms: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the observation at time </a:t>
                </a:r>
                <a:r>
                  <a:rPr lang="en-US" i="1" dirty="0">
                    <a:latin typeface="Cambria Math" panose="02040503050406030204" pitchFamily="18" charset="0"/>
                  </a:rPr>
                  <a:t>t 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model coefficient at lag </a:t>
                </a:r>
                <a:r>
                  <a:rPr lang="en-US" i="1" dirty="0"/>
                  <a:t>k</a:t>
                </a:r>
                <a:r>
                  <a:rPr lang="en-US" dirty="0"/>
                  <a:t> 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, value drawn from a </a:t>
                </a:r>
                <a:r>
                  <a:rPr lang="en-US" b="1" dirty="0"/>
                  <a:t>purely random process</a:t>
                </a:r>
                <a:r>
                  <a:rPr lang="en-US" dirty="0"/>
                  <a:t>, or</a:t>
                </a:r>
                <a:r>
                  <a:rPr lang="en-US" b="1" dirty="0"/>
                  <a:t> </a:t>
                </a:r>
                <a:r>
                  <a:rPr lang="en-US" dirty="0"/>
                  <a:t>innovation, at time </a:t>
                </a:r>
                <a:r>
                  <a:rPr lang="en-US" i="1" dirty="0"/>
                  <a:t>t</a:t>
                </a:r>
                <a:endParaRPr lang="ar-AE" i="1" dirty="0"/>
              </a:p>
              <a:p>
                <a:pPr lvl="0"/>
                <a:r>
                  <a:rPr lang="en-US" dirty="0"/>
                  <a:t>MA model accounts for the serial correlation of errors</a:t>
                </a:r>
              </a:p>
              <a:p>
                <a:r>
                  <a:rPr lang="en-US" dirty="0"/>
                  <a:t>Variance of  MA process is </a:t>
                </a:r>
                <a:r>
                  <a:rPr lang="en-US" b="1" dirty="0"/>
                  <a:t>inflated</a:t>
                </a:r>
                <a:r>
                  <a:rPr lang="en-US" dirty="0"/>
                  <a:t>   </a:t>
                </a:r>
              </a:p>
              <a:p>
                <a:pPr lvl="1"/>
                <a:r>
                  <a:rPr lang="en-US" dirty="0"/>
                  <a:t>Can compute expectation and variance for MA process 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b="0" dirty="0"/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667" t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6013C-1B28-9557-47F8-99D9023D4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F6AAA-7C23-4E17-F1FF-B909C41FD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Moving Average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4F6677-F642-A628-64B5-8DE71E1EDB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 </a:t>
                </a:r>
                <a:r>
                  <a:rPr lang="en-US" b="1" dirty="0"/>
                  <a:t>moving average</a:t>
                </a:r>
                <a:r>
                  <a:rPr lang="en-US" dirty="0"/>
                  <a:t> model of order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𝑀𝐴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, predicts the next </a:t>
                </a:r>
                <a:r>
                  <a:rPr lang="en-US" dirty="0" err="1"/>
                  <a:t>obsered</a:t>
                </a:r>
                <a:r>
                  <a:rPr lang="en-US" dirty="0"/>
                  <a:t> value using the last </a:t>
                </a:r>
                <a:r>
                  <a:rPr lang="en-US" i="1" dirty="0"/>
                  <a:t>q</a:t>
                </a:r>
                <a:r>
                  <a:rPr lang="en-US" dirty="0"/>
                  <a:t> noise terms: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An MA process has the following properties:</a:t>
                </a:r>
              </a:p>
              <a:p>
                <a:pPr lvl="1"/>
                <a:r>
                  <a:rPr lang="en-US" dirty="0"/>
                  <a:t>For autocorrelation,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always</a:t>
                </a:r>
              </a:p>
              <a:p>
                <a:pPr lvl="1"/>
                <a:r>
                  <a:rPr lang="en-US" dirty="0"/>
                  <a:t>Order of MA process is number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Shocks die off quickly in MA processes</a:t>
                </a:r>
              </a:p>
              <a:p>
                <a:pPr lvl="0"/>
                <a:r>
                  <a:rPr lang="en-US" b="1" dirty="0"/>
                  <a:t>MA model assumes stationary time series</a:t>
                </a:r>
              </a:p>
              <a:p>
                <a:pPr lvl="1"/>
                <a:r>
                  <a:rPr lang="en-US" dirty="0"/>
                  <a:t>Coefficients are constant in time</a:t>
                </a:r>
              </a:p>
              <a:p>
                <a:pPr lvl="1"/>
                <a:r>
                  <a:rPr lang="en-US" dirty="0"/>
                  <a:t>Polynomial must not have unit root!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4F6677-F642-A628-64B5-8DE71E1EDB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1111" t="-2284" b="-24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155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Moving Average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 </a:t>
                </a:r>
                <a:r>
                  <a:rPr lang="en-US" b="1" dirty="0"/>
                  <a:t>moving average</a:t>
                </a:r>
                <a:r>
                  <a:rPr lang="en-US" dirty="0"/>
                  <a:t> model of order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𝑀𝐴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uses the last q error terms or shocks,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We can also write the MA model in terms of estimated 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Therefore, the error at time </a:t>
                </a:r>
                <a:r>
                  <a:rPr lang="en-US" i="1" dirty="0"/>
                  <a:t>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      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i="1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616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Moving Average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23364"/>
                <a:ext cx="8229600" cy="3975847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understand the MA model?</a:t>
                </a:r>
              </a:p>
              <a:p>
                <a:pPr lvl="0"/>
                <a:r>
                  <a:rPr lang="en-US" dirty="0"/>
                  <a:t>Model matrix of MA(2) model for zero-centered time series,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⋮,     ⋮,     ⋮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,    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,    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,    </m:t>
                                </m:r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    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,    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,    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MA model is a </a:t>
                </a:r>
                <a:r>
                  <a:rPr lang="en-US" b="1" dirty="0"/>
                  <a:t>nonlinear model!</a:t>
                </a:r>
                <a:r>
                  <a:rPr lang="en-US" dirty="0"/>
                  <a:t>; must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at each time step</a:t>
                </a:r>
              </a:p>
              <a:p>
                <a:pPr lvl="0"/>
                <a:r>
                  <a:rPr lang="en-US" dirty="0"/>
                  <a:t>The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dependents on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,...,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are </a:t>
                </a:r>
                <a:r>
                  <a:rPr lang="en-US" b="1" dirty="0"/>
                  <a:t>unobservable</a:t>
                </a:r>
                <a:r>
                  <a:rPr lang="en-US" dirty="0"/>
                  <a:t>!</a:t>
                </a:r>
              </a:p>
              <a:p>
                <a:pPr lvl="0"/>
                <a:r>
                  <a:rPr lang="en-US" dirty="0"/>
                  <a:t>So, fitting requires </a:t>
                </a:r>
                <a:r>
                  <a:rPr lang="en-US" b="1" dirty="0"/>
                  <a:t>nonlinear iteratively </a:t>
                </a:r>
                <a:r>
                  <a:rPr lang="en-US" b="1" dirty="0" err="1"/>
                  <a:t>rewieighted</a:t>
                </a:r>
                <a:r>
                  <a:rPr lang="en-US" b="1" dirty="0"/>
                  <a:t> least squares</a:t>
                </a:r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23364"/>
                <a:ext cx="8229600" cy="3975847"/>
              </a:xfrm>
              <a:blipFill>
                <a:blip r:embed="rId2"/>
                <a:stretch>
                  <a:fillRect l="-741" t="-2144" b="-13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5325978" cy="613360"/>
          </a:xfrm>
        </p:spPr>
        <p:txBody>
          <a:bodyPr>
            <a:normAutofit fontScale="90000"/>
          </a:bodyPr>
          <a:lstStyle/>
          <a:p>
            <a:pPr marL="0" lvl="0" indent="0" algn="ctr">
              <a:buNone/>
            </a:pPr>
            <a:r>
              <a:rPr lang="en-US" sz="3200" b="0" dirty="0"/>
              <a:t>Example:</a:t>
            </a:r>
            <a:r>
              <a:rPr sz="3200" b="0" dirty="0"/>
              <a:t> Moving Average Model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EDBEDB-850F-34F5-1160-CF66EE0FA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7353" y="204787"/>
            <a:ext cx="2906973" cy="48026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Placeholder 3">
                <a:extLst>
                  <a:ext uri="{FF2B5EF4-FFF2-40B4-BE49-F238E27FC236}">
                    <a16:creationId xmlns:a16="http://schemas.microsoft.com/office/drawing/2014/main" id="{E429D31B-578E-80AE-6EF9-5E242EC7E556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0" y="1076326"/>
                <a:ext cx="4620126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Examples of stationary (no unit root) MA models   </a:t>
                </a:r>
              </a:p>
              <a:p>
                <a:pPr marL="457200" lvl="0" indent="-457200">
                  <a:buFont typeface="+mj-lt"/>
                  <a:buAutoNum type="arabicPeriod"/>
                </a:pPr>
                <a:r>
                  <a:rPr lang="en-US" sz="2000" dirty="0"/>
                  <a:t>MA(1) model, </a:t>
                </a:r>
                <a:r>
                  <a:rPr lang="en-US" sz="2000" dirty="0" err="1"/>
                  <a:t>coef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75</m:t>
                        </m:r>
                      </m:e>
                    </m:d>
                  </m:oMath>
                </a14:m>
                <a:endParaRPr lang="en-US" sz="20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000" dirty="0"/>
                  <a:t>MA(1) model, </a:t>
                </a:r>
                <a:r>
                  <a:rPr lang="en-US" sz="2000" dirty="0" err="1"/>
                  <a:t>coef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75</m:t>
                        </m:r>
                      </m:e>
                    </m:d>
                  </m:oMath>
                </a14:m>
                <a:endParaRPr lang="en-US" sz="2000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000" dirty="0"/>
                  <a:t>MA(2) model, </a:t>
                </a:r>
                <a:r>
                  <a:rPr lang="en-US" sz="2000" dirty="0" err="1"/>
                  <a:t>coef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en-US" sz="20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000" dirty="0"/>
                  <a:t>MA(2) model, </a:t>
                </a:r>
                <a:r>
                  <a:rPr lang="en-US" sz="2000" dirty="0" err="1"/>
                  <a:t>coef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en-US" sz="2000" dirty="0"/>
              </a:p>
              <a:p>
                <a:r>
                  <a:rPr lang="en-US" sz="1800" dirty="0"/>
                  <a:t>The </a:t>
                </a:r>
                <a:r>
                  <a:rPr lang="en-US" sz="1800" dirty="0" err="1"/>
                  <a:t>Statsmodels</a:t>
                </a:r>
                <a:r>
                  <a:rPr lang="en-US" sz="1800" dirty="0"/>
                  <a:t> convention is to explicitly prepend the 1.0 to the coefficient vector</a:t>
                </a:r>
              </a:p>
              <a:p>
                <a:pPr marL="457200" lvl="0" indent="-457200">
                  <a:buFont typeface="+mj-lt"/>
                  <a:buAutoNum type="arabicPeriod"/>
                </a:pPr>
                <a:endParaRPr lang="en-US" sz="2000" dirty="0"/>
              </a:p>
              <a:p>
                <a:pPr marL="0" lvl="0" indent="0">
                  <a:buNone/>
                </a:pPr>
                <a:endParaRPr dirty="0">
                  <a:latin typeface="Courier"/>
                </a:endParaRPr>
              </a:p>
            </p:txBody>
          </p:sp>
        </mc:Choice>
        <mc:Fallback xmlns="">
          <p:sp>
            <p:nvSpPr>
              <p:cNvPr id="9" name="Text Placeholder 3">
                <a:extLst>
                  <a:ext uri="{FF2B5EF4-FFF2-40B4-BE49-F238E27FC236}">
                    <a16:creationId xmlns:a16="http://schemas.microsoft.com/office/drawing/2014/main" id="{E429D31B-578E-80AE-6EF9-5E242EC7E5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0" y="1076326"/>
                <a:ext cx="4620126" cy="3518297"/>
              </a:xfrm>
              <a:blipFill>
                <a:blip r:embed="rId3"/>
                <a:stretch>
                  <a:fillRect l="-1451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E7EFAD0-BEB3-A762-6903-1133A4CB32A5}"/>
              </a:ext>
            </a:extLst>
          </p:cNvPr>
          <p:cNvCxnSpPr>
            <a:cxnSpLocks/>
          </p:cNvCxnSpPr>
          <p:nvPr/>
        </p:nvCxnSpPr>
        <p:spPr>
          <a:xfrm flipV="1">
            <a:off x="4442012" y="1044388"/>
            <a:ext cx="1707776" cy="8830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3FA3367-23AC-DCC6-DA45-BC6C8C62D67F}"/>
              </a:ext>
            </a:extLst>
          </p:cNvPr>
          <p:cNvCxnSpPr>
            <a:cxnSpLocks/>
          </p:cNvCxnSpPr>
          <p:nvPr/>
        </p:nvCxnSpPr>
        <p:spPr>
          <a:xfrm flipV="1">
            <a:off x="4572000" y="1976718"/>
            <a:ext cx="1452282" cy="3361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3B7C9F2-46BC-D724-B673-995EB06D2FF2}"/>
              </a:ext>
            </a:extLst>
          </p:cNvPr>
          <p:cNvCxnSpPr>
            <a:cxnSpLocks/>
          </p:cNvCxnSpPr>
          <p:nvPr/>
        </p:nvCxnSpPr>
        <p:spPr>
          <a:xfrm>
            <a:off x="4724400" y="2671482"/>
            <a:ext cx="1268506" cy="4527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A890A0C-A751-C418-0CD3-1DF05C9FC016}"/>
              </a:ext>
            </a:extLst>
          </p:cNvPr>
          <p:cNvCxnSpPr>
            <a:cxnSpLocks/>
          </p:cNvCxnSpPr>
          <p:nvPr/>
        </p:nvCxnSpPr>
        <p:spPr>
          <a:xfrm>
            <a:off x="4836459" y="3216089"/>
            <a:ext cx="1116106" cy="11362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2D478-9DBA-83DE-37D0-698FD5E7A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EE03A-962E-0662-F1D6-E54ACD740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740" y="279992"/>
            <a:ext cx="6053344" cy="514264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2800" b="0" dirty="0"/>
              <a:t>Example:</a:t>
            </a:r>
            <a:r>
              <a:rPr sz="2800" b="0" dirty="0"/>
              <a:t> </a:t>
            </a:r>
            <a:r>
              <a:rPr lang="en-US" sz="2800" b="0" dirty="0"/>
              <a:t>Moving Average</a:t>
            </a:r>
            <a:r>
              <a:rPr sz="2800" b="0" dirty="0"/>
              <a:t>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4D745C60-B318-9178-1BF9-8CAA0015DC76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521624" y="768088"/>
                <a:ext cx="4374571" cy="130183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Example AR time series ACF and PACF</a:t>
                </a:r>
              </a:p>
              <a:p>
                <a:pPr marL="457200" lvl="0" indent="-457200">
                  <a:buFont typeface="+mj-lt"/>
                  <a:buAutoNum type="arabicPeriod"/>
                </a:pPr>
                <a:r>
                  <a:rPr lang="en-US" sz="2000" dirty="0"/>
                  <a:t>MA(1) model, </a:t>
                </a:r>
                <a:r>
                  <a:rPr lang="en-US" sz="2000" dirty="0" err="1"/>
                  <a:t>coef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075</m:t>
                        </m:r>
                      </m:e>
                    </m:d>
                  </m:oMath>
                </a14:m>
                <a:endParaRPr lang="en-US" sz="20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000" dirty="0"/>
                  <a:t>MA(1) model, </a:t>
                </a:r>
                <a:r>
                  <a:rPr lang="en-US" sz="2000" dirty="0" err="1"/>
                  <a:t>coef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75</m:t>
                        </m:r>
                      </m:e>
                    </m:d>
                  </m:oMath>
                </a14:m>
                <a:endParaRPr lang="en-US" sz="200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sz="2000" dirty="0"/>
              </a:p>
              <a:p>
                <a:pPr marL="457200" lvl="0" indent="-457200">
                  <a:buFont typeface="+mj-lt"/>
                  <a:buAutoNum type="arabicPeriod"/>
                </a:pPr>
                <a:endParaRPr lang="en-US" sz="2000" dirty="0"/>
              </a:p>
              <a:p>
                <a:pPr marL="0" lvl="0" indent="0">
                  <a:buNone/>
                </a:pPr>
                <a:endParaRPr dirty="0">
                  <a:latin typeface="Courier"/>
                </a:endParaRP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4D745C60-B318-9178-1BF9-8CAA0015DC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521624" y="768088"/>
                <a:ext cx="4374571" cy="1301830"/>
              </a:xfrm>
              <a:blipFill>
                <a:blip r:embed="rId2"/>
                <a:stretch>
                  <a:fillRect l="-1534" t="-2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Placeholder 3">
                <a:extLst>
                  <a:ext uri="{FF2B5EF4-FFF2-40B4-BE49-F238E27FC236}">
                    <a16:creationId xmlns:a16="http://schemas.microsoft.com/office/drawing/2014/main" id="{14D85094-9656-3FE7-6ED4-3DE7B28E9F7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48200" y="768088"/>
                <a:ext cx="4455459" cy="114063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10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9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7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7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5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3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2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ar-AE" sz="2000" dirty="0"/>
              </a:p>
              <a:p>
                <a:pPr marL="457200" indent="-457200">
                  <a:buFont typeface="+mj-lt"/>
                  <a:buAutoNum type="arabicPeriod" startAt="3"/>
                </a:pPr>
                <a:r>
                  <a:rPr lang="en-US" sz="2000" dirty="0"/>
                  <a:t>MA(2) model, </a:t>
                </a:r>
                <a:r>
                  <a:rPr lang="en-US" sz="2000" dirty="0" err="1"/>
                  <a:t>coef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ar-AE" sz="2000" dirty="0"/>
              </a:p>
              <a:p>
                <a:pPr marL="457200" indent="-457200">
                  <a:buFont typeface="+mj-lt"/>
                  <a:buAutoNum type="arabicPeriod" startAt="3"/>
                </a:pPr>
                <a:r>
                  <a:rPr lang="en-US" sz="2000" dirty="0"/>
                  <a:t>MA(2) model, </a:t>
                </a:r>
                <a:r>
                  <a:rPr lang="en-US" sz="2000" dirty="0" err="1"/>
                  <a:t>coef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, −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 sz="200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ar-AE" sz="2000" dirty="0"/>
              </a:p>
              <a:p>
                <a:pPr marL="457200" indent="-457200">
                  <a:buFont typeface="+mj-lt"/>
                  <a:buAutoNum type="arabicPeriod" startAt="3"/>
                </a:pPr>
                <a:endParaRPr lang="ar-AE" sz="2000" dirty="0"/>
              </a:p>
              <a:p>
                <a:endParaRPr lang="ar-AE" dirty="0">
                  <a:latin typeface="Courier"/>
                </a:endParaRPr>
              </a:p>
            </p:txBody>
          </p:sp>
        </mc:Choice>
        <mc:Fallback xmlns="">
          <p:sp>
            <p:nvSpPr>
              <p:cNvPr id="7" name="Text Placeholder 3">
                <a:extLst>
                  <a:ext uri="{FF2B5EF4-FFF2-40B4-BE49-F238E27FC236}">
                    <a16:creationId xmlns:a16="http://schemas.microsoft.com/office/drawing/2014/main" id="{14D85094-9656-3FE7-6ED4-3DE7B28E9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8200" y="768088"/>
                <a:ext cx="4455459" cy="1140636"/>
              </a:xfrm>
              <a:prstGeom prst="rect">
                <a:avLst/>
              </a:prstGeom>
              <a:blipFill>
                <a:blip r:embed="rId3"/>
                <a:stretch>
                  <a:fillRect l="-1507" b="-8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8B1D9E0-0EAB-9E13-4E47-4767F4CCDE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584" y="1945105"/>
            <a:ext cx="3857151" cy="31342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064FB0E-BF80-2152-8D67-B8377630D1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7327" y="1908724"/>
            <a:ext cx="3912352" cy="319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063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16DCC4A-A76A-5E58-6D94-C7318AE9C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2283" y="1452412"/>
            <a:ext cx="4937237" cy="349517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Example:</a:t>
            </a:r>
            <a:r>
              <a:rPr dirty="0"/>
              <a:t> Moving Average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C8DC2DC-D82B-F13D-F4DD-1C9865241F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4484" y="986118"/>
                <a:ext cx="3678381" cy="3911117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 model summary for MA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series:</a:t>
                </a:r>
              </a:p>
              <a:p>
                <a:pPr lvl="0"/>
                <a:r>
                  <a:rPr lang="en-US" dirty="0"/>
                  <a:t>Mean is not statistically significant away from 0</a:t>
                </a:r>
              </a:p>
              <a:p>
                <a:pPr lvl="0"/>
                <a:r>
                  <a:rPr lang="en-US" dirty="0"/>
                  <a:t>Both MA coefficients are statistically significant</a:t>
                </a:r>
              </a:p>
              <a:p>
                <a:pPr lvl="0"/>
                <a:r>
                  <a:rPr lang="en-US" dirty="0"/>
                  <a:t>Estimated parameter values are close to actual values</a:t>
                </a:r>
              </a:p>
              <a:p>
                <a:pPr lvl="0"/>
                <a:r>
                  <a:rPr lang="en-US" dirty="0"/>
                  <a:t>Actual values are well within the Cis</a:t>
                </a:r>
              </a:p>
              <a:p>
                <a:pPr lvl="0"/>
                <a:r>
                  <a:rPr lang="en-US" dirty="0"/>
                  <a:t>Ljung-Box test rejects null hypothesis of  statistically significant serial correlation of residuals</a:t>
                </a:r>
                <a:br>
                  <a:rPr lang="en-US" dirty="0"/>
                </a:br>
                <a:endParaRPr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C8DC2DC-D82B-F13D-F4DD-1C9865241F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4484" y="986118"/>
                <a:ext cx="3678381" cy="3911117"/>
              </a:xfrm>
              <a:blipFill>
                <a:blip r:embed="rId3"/>
                <a:stretch>
                  <a:fillRect l="-1490" t="-2028" r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117C03D-FF2A-7655-3645-2A8AED8C6F83}"/>
              </a:ext>
            </a:extLst>
          </p:cNvPr>
          <p:cNvCxnSpPr>
            <a:cxnSpLocks/>
          </p:cNvCxnSpPr>
          <p:nvPr/>
        </p:nvCxnSpPr>
        <p:spPr>
          <a:xfrm>
            <a:off x="3388659" y="2290482"/>
            <a:ext cx="3486926" cy="11338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207D0AD-9B65-1BCF-6A3E-3F2162D16E5D}"/>
              </a:ext>
            </a:extLst>
          </p:cNvPr>
          <p:cNvCxnSpPr>
            <a:cxnSpLocks/>
          </p:cNvCxnSpPr>
          <p:nvPr/>
        </p:nvCxnSpPr>
        <p:spPr>
          <a:xfrm>
            <a:off x="3727938" y="2792506"/>
            <a:ext cx="1193199" cy="6318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96503E7-C1D9-42EA-AA92-28EA1E9638AD}"/>
              </a:ext>
            </a:extLst>
          </p:cNvPr>
          <p:cNvCxnSpPr>
            <a:cxnSpLocks/>
          </p:cNvCxnSpPr>
          <p:nvPr/>
        </p:nvCxnSpPr>
        <p:spPr>
          <a:xfrm flipV="1">
            <a:off x="2286000" y="3474720"/>
            <a:ext cx="5382126" cy="5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39C262-E52F-FCC3-5D4B-9B504D27EBE1}"/>
              </a:ext>
            </a:extLst>
          </p:cNvPr>
          <p:cNvCxnSpPr>
            <a:cxnSpLocks/>
          </p:cNvCxnSpPr>
          <p:nvPr/>
        </p:nvCxnSpPr>
        <p:spPr>
          <a:xfrm>
            <a:off x="3299012" y="1806388"/>
            <a:ext cx="3576573" cy="13148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E6F7373-3DF7-7848-D1A4-9E9430666B7B}"/>
              </a:ext>
            </a:extLst>
          </p:cNvPr>
          <p:cNvCxnSpPr>
            <a:cxnSpLocks/>
          </p:cNvCxnSpPr>
          <p:nvPr/>
        </p:nvCxnSpPr>
        <p:spPr>
          <a:xfrm flipV="1">
            <a:off x="3727938" y="3959266"/>
            <a:ext cx="384345" cy="1335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27C15-A35D-06EF-C434-E744BF372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49A9DE-0002-1202-17FB-6DBC240A93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algn="ctr"/>
            <a:r>
              <a:rPr lang="en-US" sz="3600" dirty="0"/>
              <a:t>Autoregressive Moving Average and ARIMA  Models</a:t>
            </a:r>
          </a:p>
        </p:txBody>
      </p:sp>
    </p:spTree>
    <p:extLst>
      <p:ext uri="{BB962C8B-B14F-4D97-AF65-F5344CB8AC3E}">
        <p14:creationId xmlns:p14="http://schemas.microsoft.com/office/powerpoint/2010/main" val="26815777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Autoregressive Moving Average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43000"/>
                <a:ext cx="8229600" cy="3965331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can combine AR and MA terms to create the </a:t>
                </a:r>
                <a:r>
                  <a:rPr lang="en-US" b="1" dirty="0"/>
                  <a:t>autoregressive moving average (ARMA)</a:t>
                </a:r>
                <a:r>
                  <a:rPr lang="en-US" dirty="0"/>
                  <a:t> model of order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ar-AE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,…,+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We can rearrange terms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,…,−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Define a backshift operator of order k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time shifts to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0"/>
                <a:r>
                  <a:rPr lang="en-US" dirty="0"/>
                  <a:t>Can write as polynomial equation in terms of coefficient vectors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𝛷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i="1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𝛩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,⋯,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ar-AE" dirty="0"/>
                </a:br>
                <a:endParaRPr lang="ar-AE" dirty="0"/>
              </a:p>
              <a:p>
                <a:pPr lvl="0"/>
                <a:r>
                  <a:rPr lang="en-US" dirty="0"/>
                  <a:t>ARMA can be written as an equation in these polynomials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𝛷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𝛩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stationary series,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𝛷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𝛩</m:t>
                    </m:r>
                  </m:oMath>
                </a14:m>
                <a:r>
                  <a:rPr lang="en-US" dirty="0"/>
                  <a:t> must not have unit roots!</a:t>
                </a:r>
                <a:endParaRPr lang="ar-A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43000"/>
                <a:ext cx="8229600" cy="3965331"/>
              </a:xfrm>
              <a:blipFill>
                <a:blip r:embed="rId2"/>
                <a:stretch>
                  <a:fillRect l="-667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ARIMA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An</a:t>
            </a:r>
            <a:r>
              <a:rPr dirty="0"/>
              <a:t> integrative </a:t>
            </a:r>
            <a:r>
              <a:rPr lang="en-US" dirty="0"/>
              <a:t>term </a:t>
            </a:r>
            <a:r>
              <a:rPr dirty="0"/>
              <a:t>addresses </a:t>
            </a:r>
            <a:r>
              <a:rPr lang="en-US" dirty="0"/>
              <a:t>some</a:t>
            </a:r>
            <a:r>
              <a:rPr dirty="0"/>
              <a:t> non-stationary components of a time series</a:t>
            </a:r>
          </a:p>
          <a:p>
            <a:pPr lvl="0"/>
            <a:r>
              <a:rPr dirty="0"/>
              <a:t>Random walks</a:t>
            </a:r>
          </a:p>
          <a:p>
            <a:pPr lvl="0"/>
            <a:r>
              <a:rPr dirty="0"/>
              <a:t>Trends</a:t>
            </a:r>
          </a:p>
          <a:p>
            <a:pPr lvl="0"/>
            <a:r>
              <a:rPr dirty="0"/>
              <a:t>Based on difference operator</a:t>
            </a:r>
          </a:p>
          <a:p>
            <a:pPr lvl="1"/>
            <a:r>
              <a:rPr dirty="0"/>
              <a:t>Typically first order </a:t>
            </a:r>
            <a:r>
              <a:rPr lang="en-US" dirty="0"/>
              <a:t>s</a:t>
            </a:r>
            <a:r>
              <a:rPr dirty="0"/>
              <a:t>easonal and non-seasonal differences</a:t>
            </a:r>
          </a:p>
          <a:p>
            <a:pPr lvl="1"/>
            <a:r>
              <a:rPr b="1" dirty="0"/>
              <a:t>Is deterministic</a:t>
            </a:r>
            <a:r>
              <a:rPr dirty="0"/>
              <a:t>, no model coefficient to estimate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ARIMA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The </a:t>
            </a:r>
            <a:r>
              <a:rPr b="1" dirty="0"/>
              <a:t>autoregressive integrative moving average (ARIMA)</a:t>
            </a:r>
            <a:r>
              <a:rPr dirty="0"/>
              <a:t> model includes AR, integrative and MA terms</a:t>
            </a:r>
          </a:p>
          <a:p>
            <a:pPr lvl="0"/>
            <a:r>
              <a:rPr dirty="0"/>
              <a:t>The order of an ARIMA is specified as (</a:t>
            </a:r>
            <a:r>
              <a:rPr dirty="0" err="1"/>
              <a:t>p,d,q</a:t>
            </a:r>
            <a:r>
              <a:rPr dirty="0"/>
              <a:t>)</a:t>
            </a:r>
          </a:p>
          <a:p>
            <a:pPr lvl="1"/>
            <a:r>
              <a:rPr dirty="0"/>
              <a:t>p is the AR order</a:t>
            </a:r>
          </a:p>
          <a:p>
            <a:pPr lvl="1"/>
            <a:r>
              <a:rPr dirty="0"/>
              <a:t>d is the order of differencing</a:t>
            </a:r>
          </a:p>
          <a:p>
            <a:pPr lvl="1"/>
            <a:r>
              <a:rPr dirty="0"/>
              <a:t>q is the MA order</a:t>
            </a:r>
          </a:p>
          <a:p>
            <a:pPr lvl="0"/>
            <a:r>
              <a:rPr dirty="0"/>
              <a:t>The integrative term transforms</a:t>
            </a:r>
            <a:r>
              <a:rPr lang="en-US" dirty="0"/>
              <a:t> time series with</a:t>
            </a:r>
            <a:r>
              <a:rPr dirty="0"/>
              <a:t> trend and random walks to </a:t>
            </a:r>
            <a:r>
              <a:rPr lang="en-US" dirty="0"/>
              <a:t>stationarity </a:t>
            </a:r>
            <a:endParaRPr dirty="0"/>
          </a:p>
          <a:p>
            <a:pPr lvl="0"/>
            <a:r>
              <a:rPr lang="en-US" dirty="0"/>
              <a:t>First order differencing d</a:t>
            </a:r>
            <a:r>
              <a:rPr dirty="0"/>
              <a:t>oes not account for seasonal effect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ARIMA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</a:t>
                </a:r>
                <a:r>
                  <a:rPr b="1" dirty="0"/>
                  <a:t>autoregressive integrative moving average (ARIMA)</a:t>
                </a:r>
                <a:r>
                  <a:rPr dirty="0"/>
                  <a:t> model includes AR, integrative and MA terms</a:t>
                </a:r>
              </a:p>
              <a:p>
                <a:pPr lvl="0"/>
                <a:r>
                  <a:rPr dirty="0"/>
                  <a:t>Formulate an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𝐴𝑅𝐼𝑀𝐴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dirty="0"/>
                  <a:t> model</a:t>
                </a:r>
              </a:p>
              <a:p>
                <a:pPr lvl="0"/>
                <a:r>
                  <a:rPr dirty="0"/>
                  <a:t>Start with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𝐴𝑅𝑀𝐴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𝐴𝑅𝐼𝑀𝐴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dirty="0"/>
                  <a:t> model: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lvl="0"/>
                <a:r>
                  <a:rPr lang="en-US" dirty="0"/>
                  <a:t>Add</a:t>
                </a:r>
                <a:r>
                  <a:rPr dirty="0"/>
                  <a:t> the first difference of the observations,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to find the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𝐴𝑅𝐼𝑀𝐴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dirty="0"/>
                  <a:t> model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Appl</a:t>
                </a:r>
                <a:r>
                  <a:rPr lang="en-US" dirty="0"/>
                  <a:t>y</a:t>
                </a:r>
                <a:r>
                  <a:rPr dirty="0"/>
                  <a:t> same algebra</a:t>
                </a:r>
                <a:r>
                  <a:rPr lang="en-US" dirty="0"/>
                  <a:t> recessively to</a:t>
                </a:r>
                <a:r>
                  <a:rPr dirty="0"/>
                  <a:t> polynomial formulations for higher order ARIMA models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6A2B1-94D1-EEDD-AA35-7C7374963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65438-6682-2D35-CB58-AF6FFA2B2C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/>
              <a:t>Seasonal Models</a:t>
            </a:r>
          </a:p>
        </p:txBody>
      </p:sp>
    </p:spTree>
    <p:extLst>
      <p:ext uri="{BB962C8B-B14F-4D97-AF65-F5344CB8AC3E}">
        <p14:creationId xmlns:p14="http://schemas.microsoft.com/office/powerpoint/2010/main" val="41341577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Seasonal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06904"/>
            <a:ext cx="8229600" cy="3753853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Several possible seasonal models</a:t>
            </a:r>
          </a:p>
          <a:p>
            <a:pPr lvl="0"/>
            <a:r>
              <a:rPr dirty="0"/>
              <a:t>Seasonal effects can be periodic or single event (e.g. holiday, game day, etc.)</a:t>
            </a:r>
          </a:p>
          <a:p>
            <a:pPr lvl="0"/>
            <a:r>
              <a:rPr dirty="0"/>
              <a:t>Linear regression model to find effect for each time step in period</a:t>
            </a:r>
          </a:p>
          <a:p>
            <a:pPr lvl="0"/>
            <a:r>
              <a:rPr dirty="0"/>
              <a:t>STL decomposition</a:t>
            </a:r>
          </a:p>
          <a:p>
            <a:pPr lvl="0"/>
            <a:r>
              <a:rPr dirty="0"/>
              <a:t>Fourier decomposition</a:t>
            </a:r>
          </a:p>
          <a:p>
            <a:pPr lvl="1"/>
            <a:r>
              <a:rPr lang="en-US" dirty="0"/>
              <a:t>A</a:t>
            </a:r>
            <a:r>
              <a:rPr dirty="0"/>
              <a:t>ccommodates multiple periods of seasonality</a:t>
            </a:r>
          </a:p>
          <a:p>
            <a:pPr lvl="1"/>
            <a:r>
              <a:rPr dirty="0"/>
              <a:t>Used by </a:t>
            </a:r>
            <a:r>
              <a:rPr dirty="0">
                <a:hlinkClick r:id="rId2"/>
              </a:rPr>
              <a:t>PROFIT model</a:t>
            </a:r>
            <a:r>
              <a:rPr dirty="0"/>
              <a:t>, </a:t>
            </a:r>
            <a:r>
              <a:rPr dirty="0" err="1">
                <a:hlinkClick r:id="rId3"/>
              </a:rPr>
              <a:t>Statsmodels</a:t>
            </a:r>
            <a:r>
              <a:rPr dirty="0"/>
              <a:t> and others</a:t>
            </a:r>
          </a:p>
          <a:p>
            <a:pPr lvl="0"/>
            <a:r>
              <a:rPr dirty="0"/>
              <a:t>SARIMAX, the S term</a:t>
            </a:r>
            <a:r>
              <a:rPr lang="en-US" dirty="0"/>
              <a:t>, </a:t>
            </a:r>
            <a:r>
              <a:rPr dirty="0"/>
              <a:t>requires:</a:t>
            </a:r>
          </a:p>
          <a:p>
            <a:pPr lvl="1"/>
            <a:r>
              <a:rPr dirty="0"/>
              <a:t>Known period of the cycle or time of seasonal event</a:t>
            </a:r>
          </a:p>
          <a:p>
            <a:pPr lvl="1"/>
            <a:r>
              <a:rPr dirty="0"/>
              <a:t>Additive or logarithmic transformation</a:t>
            </a:r>
            <a:r>
              <a:rPr lang="en-US" dirty="0"/>
              <a:t> (multiplicative)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SARIMA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The SARIMA model adds seasonal and exogenous terms</a:t>
            </a:r>
          </a:p>
          <a:p>
            <a:r>
              <a:rPr lang="en-US" dirty="0"/>
              <a:t>Order of </a:t>
            </a:r>
            <a:r>
              <a:rPr lang="en-US" b="1" dirty="0"/>
              <a:t>multiplicative SARIMA model </a:t>
            </a:r>
            <a:r>
              <a:rPr lang="en-US" dirty="0"/>
              <a:t>is specified as (</a:t>
            </a:r>
            <a:r>
              <a:rPr lang="en-US" dirty="0" err="1"/>
              <a:t>p,d,q</a:t>
            </a:r>
            <a:r>
              <a:rPr lang="en-US" dirty="0"/>
              <a:t>)(P,D,Q,S)</a:t>
            </a:r>
          </a:p>
          <a:p>
            <a:r>
              <a:rPr dirty="0"/>
              <a:t>ARIMA terms are same, (</a:t>
            </a:r>
            <a:r>
              <a:rPr dirty="0" err="1"/>
              <a:t>p,d,q</a:t>
            </a:r>
            <a:r>
              <a:rPr dirty="0"/>
              <a:t>)</a:t>
            </a:r>
          </a:p>
          <a:p>
            <a:pPr lvl="0"/>
            <a:r>
              <a:rPr dirty="0"/>
              <a:t>Seasonal terms:</a:t>
            </a:r>
          </a:p>
          <a:p>
            <a:pPr lvl="1"/>
            <a:r>
              <a:rPr lang="en-US" dirty="0"/>
              <a:t>Seasonal </a:t>
            </a:r>
            <a:r>
              <a:rPr dirty="0"/>
              <a:t>ARIMA model, order (P,D,Q,S)</a:t>
            </a:r>
          </a:p>
          <a:p>
            <a:pPr lvl="1"/>
            <a:r>
              <a:rPr dirty="0"/>
              <a:t>Must specify period, S, seasonal difference order, D</a:t>
            </a:r>
            <a:endParaRPr lang="en-US" dirty="0"/>
          </a:p>
          <a:p>
            <a:pPr lvl="1"/>
            <a:r>
              <a:rPr lang="en-US" dirty="0"/>
              <a:t>P is seasonal AR order</a:t>
            </a:r>
          </a:p>
          <a:p>
            <a:pPr lvl="1"/>
            <a:r>
              <a:rPr lang="en-US" dirty="0"/>
              <a:t>Q is seasonal MA order</a:t>
            </a:r>
            <a:endParaRPr dirty="0"/>
          </a:p>
          <a:p>
            <a:pPr lvl="0"/>
            <a:r>
              <a:rPr dirty="0"/>
              <a:t>See </a:t>
            </a:r>
            <a:r>
              <a:rPr dirty="0" err="1">
                <a:hlinkClick r:id="rId2"/>
              </a:rPr>
              <a:t>Statsmodels</a:t>
            </a:r>
            <a:r>
              <a:rPr dirty="0">
                <a:hlinkClick r:id="rId2"/>
              </a:rPr>
              <a:t> State Space User Guide</a:t>
            </a:r>
            <a:r>
              <a:rPr dirty="0"/>
              <a:t> for more details and examples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SARIMA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SARIMA model can be formulated as an additive or a multiplicative model</a:t>
                </a:r>
              </a:p>
              <a:p>
                <a:pPr lvl="0"/>
                <a:r>
                  <a:rPr dirty="0"/>
                  <a:t>Additive model can be expressed: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𝑆𝐴𝑅𝐼𝑀𝐴</m:t>
                    </m:r>
                    <m:d>
                      <m:dPr>
                        <m:begChr m:val="["/>
                        <m:endChr m:val="]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  <m:r>
                          <a:rPr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d>
                      </m:e>
                    </m:d>
                  </m:oMath>
                </a14:m>
                <a:endParaRPr dirty="0"/>
              </a:p>
              <a:p>
                <a:pPr lvl="0"/>
                <a:r>
                  <a:rPr dirty="0"/>
                  <a:t>Multiplicative model can be expressed: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𝑆𝐴𝑅𝐼𝑀𝐴</m:t>
                    </m:r>
                    <m:d>
                      <m:dPr>
                        <m:begChr m:val="["/>
                        <m:endChr m:val="]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d>
                      </m:e>
                    </m:d>
                  </m:oMath>
                </a14:m>
                <a:endParaRPr dirty="0"/>
              </a:p>
              <a:p>
                <a:pPr lvl="0"/>
                <a:r>
                  <a:rPr dirty="0"/>
                  <a:t>Example, a multiplicative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𝑆𝐴𝑅𝐼𝑀𝐴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dirty="0"/>
                  <a:t> model: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𝛷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𝛩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Continue same </a:t>
                </a:r>
                <a:r>
                  <a:rPr lang="en-US" dirty="0"/>
                  <a:t>recursive </a:t>
                </a:r>
                <a:r>
                  <a:rPr dirty="0"/>
                  <a:t>algebra to find the polynomial of any </a:t>
                </a:r>
                <a14:m>
                  <m:oMath xmlns:m="http://schemas.openxmlformats.org/officeDocument/2006/math"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dirty="0"/>
                  <a:t> order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b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SARIMAX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</a:t>
                </a:r>
                <a:r>
                  <a:rPr lang="en-US" dirty="0"/>
                  <a:t> derive</a:t>
                </a:r>
                <a:r>
                  <a:rPr dirty="0"/>
                  <a:t> SARIMAX model </a:t>
                </a:r>
                <a:r>
                  <a:rPr lang="en-US" dirty="0"/>
                  <a:t>start with polynomial equation of the SARIMA model</a:t>
                </a:r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r>
                  <a:rPr dirty="0"/>
                  <a:t> are the AR non-seasonal and seasonal </a:t>
                </a:r>
                <a:r>
                  <a:rPr lang="en-US" dirty="0"/>
                  <a:t>polynomials</a:t>
                </a:r>
                <a:endParaRPr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</m:oMath>
                </a14:m>
                <a:r>
                  <a:rPr dirty="0"/>
                  <a:t> are the MA non-seasonal and seasonal </a:t>
                </a:r>
                <a:r>
                  <a:rPr lang="en-US" dirty="0"/>
                  <a:t>polynomials</a:t>
                </a:r>
                <a:endParaRPr dirty="0"/>
              </a:p>
              <a:p>
                <a:pPr lvl="0"/>
                <a14:m>
                  <m:oMath xmlns:m="http://schemas.openxmlformats.org/officeDocument/2006/math"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dirty="0"/>
                  <a:t> are the non-seasonal and seasonal differencing operators</a:t>
                </a:r>
              </a:p>
              <a:p>
                <a:pPr lvl="0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dirty="0"/>
                  <a:t> is the trend </a:t>
                </a:r>
                <a:r>
                  <a:rPr lang="en-US" dirty="0"/>
                  <a:t>function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A4590-046E-DEB5-6686-A2CA706DA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2A839-ED8D-03E6-5CB3-32C499A96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algn="ctr"/>
            <a:r>
              <a:rPr lang="en-US" sz="3600" dirty="0"/>
              <a:t>Seasonal Model with Exogenous Variables</a:t>
            </a:r>
          </a:p>
        </p:txBody>
      </p:sp>
    </p:spTree>
    <p:extLst>
      <p:ext uri="{BB962C8B-B14F-4D97-AF65-F5344CB8AC3E}">
        <p14:creationId xmlns:p14="http://schemas.microsoft.com/office/powerpoint/2010/main" val="36296238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SARIMAX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SARIMAX model </a:t>
                </a:r>
                <a:r>
                  <a:rPr lang="en-US" dirty="0"/>
                  <a:t>can include </a:t>
                </a:r>
                <a:r>
                  <a:rPr lang="en-US" b="1" dirty="0"/>
                  <a:t>exogenous variables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leading to a new system of equations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acc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ar-AE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ar-AE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Time series model with </a:t>
                </a:r>
                <a:r>
                  <a:rPr lang="en-US" b="1" dirty="0"/>
                  <a:t>latent variable,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ar-AE" b="1" i="1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endParaRPr lang="ar-AE" b="1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acts as the intercept term for the regression model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coefficient vector,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, of </a:t>
                </a:r>
                <a:r>
                  <a:rPr lang="en-US" b="1" dirty="0"/>
                  <a:t>effect sizes</a:t>
                </a:r>
                <a:r>
                  <a:rPr lang="en-US" dirty="0"/>
                  <a:t> for the exogenous variables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 b="-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B914C-B2ED-01BA-8EE8-35B77BF1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D60B7-5542-F7A3-A54F-954963AB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/>
              <a:t>Forecasting with ARIMA</a:t>
            </a:r>
          </a:p>
        </p:txBody>
      </p:sp>
    </p:spTree>
    <p:extLst>
      <p:ext uri="{BB962C8B-B14F-4D97-AF65-F5344CB8AC3E}">
        <p14:creationId xmlns:p14="http://schemas.microsoft.com/office/powerpoint/2010/main" val="15981429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Forecasting with the ARIMA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Goal of forecasting is to compute a point estimates,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time steps in the future</a:t>
                </a:r>
              </a:p>
              <a:p>
                <a:pPr lvl="0"/>
                <a:r>
                  <a:rPr lang="en-US" dirty="0"/>
                  <a:t>Fit the model with time series history,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</m:t>
                        </m:r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Example, compute a forecast for a time series with an ARIMA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model </a:t>
                </a:r>
                <a:r>
                  <a:rPr lang="en-US" i="1" dirty="0"/>
                  <a:t>H</a:t>
                </a:r>
                <a:r>
                  <a:rPr lang="en-US" dirty="0"/>
                  <a:t> time steps ahead </a:t>
                </a:r>
              </a:p>
              <a:p>
                <a:pPr lvl="1"/>
                <a:r>
                  <a:rPr lang="en-US" dirty="0"/>
                  <a:t>Recursively apply a one step ahead forecast to compute forecasts </a:t>
                </a:r>
                <a:r>
                  <a:rPr lang="en-US" i="1" dirty="0"/>
                  <a:t>H</a:t>
                </a:r>
                <a:r>
                  <a:rPr lang="en-US" dirty="0"/>
                  <a:t> times </a:t>
                </a:r>
                <a:endParaRPr lang="ar-AE" dirty="0"/>
              </a:p>
              <a:p>
                <a:pPr lvl="0"/>
                <a:r>
                  <a:rPr lang="en-US" dirty="0"/>
                  <a:t>For the forecasted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we have no error estimate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unknown: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Forecasting with the ARIMA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Goal of forecasting is to compute a point estimates,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time steps in the future</a:t>
                </a:r>
              </a:p>
              <a:p>
                <a:pPr lvl="0"/>
                <a:r>
                  <a:rPr lang="en-US" dirty="0"/>
                  <a:t>Example, use ARIMA(2,1,1) model: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Advancing one time step ahead and setting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 the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forecast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Additional step ahead forecasts computed recursively</a:t>
                </a:r>
              </a:p>
              <a:p>
                <a:pPr lvl="1"/>
                <a:r>
                  <a:rPr lang="en-US" dirty="0"/>
                  <a:t>Recursion uses predictions from previous forecast steps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693" b="-2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Forecasting with the ARIMA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Two step ahead forecast is computed using a recursive relationship</a:t>
                </a:r>
              </a:p>
              <a:p>
                <a:pPr lvl="0"/>
                <a:r>
                  <a:rPr lang="en-US" dirty="0"/>
                  <a:t>But, no way to compute the error terms beyond the current observation at time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Replace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the last known value,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ar-A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Take recursion one more step,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dirty="0"/>
                  <a:t>, set error terms,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Continue this recursion for as many time steps as desired</a:t>
                </a:r>
              </a:p>
              <a:p>
                <a:pPr lvl="0"/>
                <a:r>
                  <a:rPr lang="en-US" dirty="0"/>
                  <a:t>Same recursive algebra used to forecast with higher order ARIMA models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B0698-E312-8EA8-C4D6-BF04FEA05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5E5D24-04A5-3FA2-5834-2F14B149B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algn="ctr"/>
            <a:r>
              <a:rPr lang="en-US" sz="3600" dirty="0"/>
              <a:t>Evaluating and Comparing Time Series Models</a:t>
            </a:r>
          </a:p>
        </p:txBody>
      </p:sp>
    </p:spTree>
    <p:extLst>
      <p:ext uri="{BB962C8B-B14F-4D97-AF65-F5344CB8AC3E}">
        <p14:creationId xmlns:p14="http://schemas.microsoft.com/office/powerpoint/2010/main" val="6828250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and Comparing Time Series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27847"/>
                <a:ext cx="8229600" cy="4077290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How can we evaluate time series models?</a:t>
                </a:r>
              </a:p>
              <a:p>
                <a:pPr lvl="0"/>
                <a:r>
                  <a:rPr b="1" dirty="0"/>
                  <a:t>Confidence intervals</a:t>
                </a:r>
              </a:p>
              <a:p>
                <a:pPr lvl="1"/>
                <a:r>
                  <a:rPr lang="en-US" dirty="0"/>
                  <a:t>Uncertainty in model parameters </a:t>
                </a:r>
              </a:p>
              <a:p>
                <a:pPr lvl="1"/>
                <a:r>
                  <a:rPr dirty="0"/>
                  <a:t>Fit to observations</a:t>
                </a:r>
              </a:p>
              <a:p>
                <a:pPr lvl="1"/>
                <a:r>
                  <a:rPr lang="en-US" dirty="0"/>
                  <a:t>Confidence interval of f</a:t>
                </a:r>
                <a:r>
                  <a:rPr dirty="0"/>
                  <a:t>orecast</a:t>
                </a:r>
              </a:p>
              <a:p>
                <a:pPr lvl="0"/>
                <a:r>
                  <a:rPr b="1" dirty="0"/>
                  <a:t>RMSE</a:t>
                </a:r>
                <a:r>
                  <a:rPr dirty="0"/>
                  <a:t>; compare forecast to actual values</a:t>
                </a:r>
              </a:p>
              <a:p>
                <a:pPr lvl="1"/>
                <a:r>
                  <a:rPr dirty="0"/>
                  <a:t>Fit to observations</a:t>
                </a:r>
                <a:r>
                  <a:rPr lang="en-US" dirty="0"/>
                  <a:t> in back-testing</a:t>
                </a:r>
                <a:endParaRPr dirty="0"/>
              </a:p>
              <a:p>
                <a:pPr lvl="1"/>
                <a:r>
                  <a:rPr dirty="0"/>
                  <a:t>Forecast</a:t>
                </a:r>
                <a:r>
                  <a:rPr lang="en-US" dirty="0"/>
                  <a:t> fit actual values once observed  </a:t>
                </a:r>
                <a:endParaRPr dirty="0"/>
              </a:p>
              <a:p>
                <a:pPr lvl="0"/>
                <a:r>
                  <a:rPr dirty="0"/>
                  <a:t>Could use </a:t>
                </a:r>
                <a:r>
                  <a:rPr b="1" dirty="0"/>
                  <a:t>log-likelihood</a:t>
                </a:r>
                <a:r>
                  <a:rPr dirty="0"/>
                  <a:t>;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𝑚𝑜𝑑𝑒𝑙</m:t>
                    </m:r>
                    <m:r>
                      <a:rPr>
                        <a:latin typeface="Cambria Math" panose="02040503050406030204" pitchFamily="18" charset="0"/>
                      </a:rPr>
                      <m:t> </m:t>
                    </m:r>
                    <m:r>
                      <a:rPr>
                        <a:latin typeface="Cambria Math" panose="02040503050406030204" pitchFamily="18" charset="0"/>
                      </a:rPr>
                      <m:t>𝑝𝑎𝑟𝑎𝑚𝑒𝑡𝑒𝑟𝑠</m:t>
                    </m:r>
                  </m:oMath>
                </a14:m>
                <a:endParaRPr dirty="0"/>
              </a:p>
              <a:p>
                <a:pPr lvl="1"/>
                <a:r>
                  <a:rPr dirty="0"/>
                  <a:t>Use </a:t>
                </a:r>
                <a:r>
                  <a:rPr b="1" dirty="0"/>
                  <a:t>score function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=−</m:t>
                    </m:r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  <m:r>
                      <a:rPr>
                        <a:latin typeface="Cambria Math" panose="02040503050406030204" pitchFamily="18" charset="0"/>
                      </a:rPr>
                      <m:t> </m:t>
                    </m:r>
                    <m:r>
                      <a:rPr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𝑙𝑖𝑘𝑒𝑙𝑖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𝑜𝑜𝑑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=−</m:t>
                    </m:r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  <m:r>
                      <a:rPr>
                        <a:latin typeface="Cambria Math" panose="02040503050406030204" pitchFamily="18" charset="0"/>
                      </a:rPr>
                      <m:t> </m:t>
                    </m:r>
                    <m:r>
                      <a:rPr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endParaRPr dirty="0"/>
              </a:p>
              <a:p>
                <a:pPr lvl="1"/>
                <a:r>
                  <a:rPr dirty="0"/>
                  <a:t>But, score decreases with model complexity</a:t>
                </a:r>
              </a:p>
              <a:p>
                <a:pPr lvl="0"/>
                <a:r>
                  <a:rPr dirty="0"/>
                  <a:t>Need to</a:t>
                </a:r>
                <a:r>
                  <a:rPr lang="en-US" dirty="0"/>
                  <a:t> apply degree of freedom</a:t>
                </a:r>
                <a:r>
                  <a:rPr dirty="0"/>
                  <a:t> adjust</a:t>
                </a:r>
                <a:r>
                  <a:rPr lang="en-US" dirty="0"/>
                  <a:t>ment</a:t>
                </a:r>
                <a:r>
                  <a:rPr dirty="0"/>
                  <a:t> for number of model parameters</a:t>
                </a:r>
              </a:p>
              <a:p>
                <a:pPr lvl="1"/>
                <a:r>
                  <a:rPr dirty="0"/>
                  <a:t>We always prefer simpler models; fewer parameters to </a:t>
                </a:r>
                <a:r>
                  <a:rPr lang="en-US" dirty="0"/>
                  <a:t>fit</a:t>
                </a:r>
                <a:endParaRPr dirty="0"/>
              </a:p>
              <a:p>
                <a:pPr lvl="1"/>
                <a:r>
                  <a:rPr b="1" dirty="0" err="1"/>
                  <a:t>Akaki</a:t>
                </a:r>
                <a:r>
                  <a:rPr b="1" dirty="0"/>
                  <a:t> Information Criteria (AIC)</a:t>
                </a:r>
                <a:endParaRPr dirty="0"/>
              </a:p>
              <a:p>
                <a:pPr lvl="1"/>
                <a:r>
                  <a:rPr b="1" dirty="0"/>
                  <a:t>Bayes Information Criteria (BIC)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27847"/>
                <a:ext cx="8229600" cy="4077290"/>
              </a:xfrm>
              <a:blipFill>
                <a:blip r:embed="rId2"/>
                <a:stretch>
                  <a:fillRect l="-444" t="-14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Forecast Confidence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For </a:t>
                </a:r>
                <a:r>
                  <a:rPr dirty="0"/>
                  <a:t>any forecast, the first question should be ‘what are the errors’?</a:t>
                </a:r>
              </a:p>
              <a:p>
                <a:pPr lvl="0"/>
                <a:r>
                  <a:rPr dirty="0"/>
                  <a:t>Forecast</a:t>
                </a:r>
                <a:r>
                  <a:rPr lang="en-US" dirty="0"/>
                  <a:t>s</a:t>
                </a:r>
                <a:r>
                  <a:rPr dirty="0"/>
                  <a:t> are </a:t>
                </a:r>
                <a:r>
                  <a:rPr b="1" dirty="0"/>
                  <a:t>extrapolations</a:t>
                </a:r>
                <a:r>
                  <a:rPr dirty="0"/>
                  <a:t> of the model into the future</a:t>
                </a:r>
              </a:p>
              <a:p>
                <a:r>
                  <a:rPr lang="en-US" dirty="0"/>
                  <a:t>The forecast is a </a:t>
                </a:r>
                <a:r>
                  <a:rPr lang="en-US" b="1" dirty="0"/>
                  <a:t>point estimate</a:t>
                </a:r>
                <a:r>
                  <a:rPr lang="en-US" dirty="0"/>
                  <a:t>, with a </a:t>
                </a:r>
                <a:r>
                  <a:rPr lang="en-US" b="1" dirty="0"/>
                  <a:t>confidence interval</a:t>
                </a:r>
                <a:r>
                  <a:rPr lang="en-US" dirty="0"/>
                  <a:t>. </a:t>
                </a:r>
              </a:p>
              <a:p>
                <a:pPr lvl="0"/>
                <a:r>
                  <a:rPr dirty="0"/>
                  <a:t>Cannot use the residuals,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/>
              </a:p>
              <a:p>
                <a:pPr lvl="1"/>
                <a:r>
                  <a:rPr dirty="0"/>
                  <a:t>Errors must reflect the uncertainty beyond the range of available observations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Forecast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80923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Several </a:t>
            </a:r>
            <a:r>
              <a:rPr lang="en-US" dirty="0"/>
              <a:t>methods </a:t>
            </a:r>
            <a:r>
              <a:rPr dirty="0"/>
              <a:t>commonly used to compute confidence intervals:</a:t>
            </a:r>
          </a:p>
          <a:p>
            <a:pPr lvl="0"/>
            <a:r>
              <a:rPr b="1" dirty="0"/>
              <a:t>Theoretical sampling distribution:</a:t>
            </a:r>
          </a:p>
          <a:p>
            <a:pPr lvl="1"/>
            <a:r>
              <a:rPr dirty="0"/>
              <a:t>Compute confidence intervals from a theoretical sampling distribution</a:t>
            </a:r>
          </a:p>
          <a:p>
            <a:pPr lvl="1"/>
            <a:r>
              <a:rPr dirty="0"/>
              <a:t>Deriving a suitable distribution can be difficult</a:t>
            </a:r>
            <a:r>
              <a:rPr lang="en-US" dirty="0"/>
              <a:t>, assume Normal distribution</a:t>
            </a:r>
            <a:endParaRPr dirty="0"/>
          </a:p>
          <a:p>
            <a:pPr lvl="1"/>
            <a:r>
              <a:rPr dirty="0"/>
              <a:t>Actual sampling distribution is invariably different</a:t>
            </a:r>
          </a:p>
          <a:p>
            <a:pPr lvl="0"/>
            <a:r>
              <a:rPr b="1" dirty="0"/>
              <a:t>Bootstrap resampling:</a:t>
            </a:r>
          </a:p>
          <a:p>
            <a:pPr lvl="1"/>
            <a:r>
              <a:rPr dirty="0"/>
              <a:t>Use bootstrap resampling to compute a non-parametric sampling distribution</a:t>
            </a:r>
          </a:p>
          <a:p>
            <a:pPr lvl="1"/>
            <a:r>
              <a:rPr dirty="0"/>
              <a:t>Bootstrap resampling of time series requires </a:t>
            </a:r>
            <a:r>
              <a:rPr lang="en-US" dirty="0">
                <a:hlinkClick r:id="rId2"/>
              </a:rPr>
              <a:t>block re</a:t>
            </a:r>
            <a:r>
              <a:rPr dirty="0">
                <a:hlinkClick r:id="rId2"/>
              </a:rPr>
              <a:t>sampling methods</a:t>
            </a:r>
            <a:endParaRPr dirty="0"/>
          </a:p>
          <a:p>
            <a:pPr lvl="1"/>
            <a:r>
              <a:rPr dirty="0"/>
              <a:t>Confidence intervals are computed from </a:t>
            </a:r>
            <a:r>
              <a:rPr dirty="0" err="1"/>
              <a:t>emperical</a:t>
            </a:r>
            <a:r>
              <a:rPr dirty="0"/>
              <a:t> sampling distribution</a:t>
            </a:r>
          </a:p>
          <a:p>
            <a:pPr lvl="0"/>
            <a:r>
              <a:rPr b="1" dirty="0"/>
              <a:t>Back-testing:</a:t>
            </a:r>
          </a:p>
          <a:p>
            <a:pPr lvl="1"/>
            <a:r>
              <a:rPr dirty="0"/>
              <a:t>Time series model is trained on a portion of the data</a:t>
            </a:r>
          </a:p>
          <a:p>
            <a:pPr lvl="1"/>
            <a:r>
              <a:rPr dirty="0"/>
              <a:t>Forecasts are made </a:t>
            </a:r>
            <a:r>
              <a:rPr lang="en-US" dirty="0"/>
              <a:t>several</a:t>
            </a:r>
            <a:r>
              <a:rPr dirty="0"/>
              <a:t> time steps ahead, and errors calculated</a:t>
            </a:r>
            <a:r>
              <a:rPr lang="en-US" dirty="0"/>
              <a:t> based on held-back observations</a:t>
            </a:r>
            <a:endParaRPr dirty="0"/>
          </a:p>
          <a:p>
            <a:pPr lvl="1"/>
            <a:r>
              <a:rPr lang="en-US" dirty="0"/>
              <a:t>T</a:t>
            </a:r>
            <a:r>
              <a:rPr dirty="0"/>
              <a:t>he training and forecast windows</a:t>
            </a:r>
            <a:r>
              <a:rPr lang="en-US" dirty="0"/>
              <a:t> are moved </a:t>
            </a:r>
            <a:r>
              <a:rPr lang="en-US" i="1" dirty="0"/>
              <a:t>n</a:t>
            </a:r>
            <a:r>
              <a:rPr lang="en-US" dirty="0"/>
              <a:t> steps forward</a:t>
            </a:r>
            <a:endParaRPr dirty="0"/>
          </a:p>
          <a:p>
            <a:pPr lvl="1"/>
            <a:r>
              <a:rPr dirty="0"/>
              <a:t>Sampling distribution and the confidence intervals are computed</a:t>
            </a:r>
          </a:p>
          <a:p>
            <a:pPr lvl="1"/>
            <a:r>
              <a:rPr dirty="0"/>
              <a:t>Compute RMSE, MAE, etc. from the back test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and Comparing Time Series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Akaki Information criteria, AIC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𝐴𝐼𝐶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685800" lvl="2" indent="0">
                  <a:buNone/>
                </a:pPr>
                <a:r>
                  <a:rPr lang="en-US" dirty="0"/>
                  <a:t>Where</a:t>
                </a:r>
              </a:p>
              <a:p>
                <a:pPr marL="685800" lvl="2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| </m:t>
                        </m:r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the likelihood given the estimated model parameters,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endParaRPr lang="en-US" dirty="0"/>
              </a:p>
              <a:p>
                <a:pPr marL="685800" lvl="2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the observed time series   </a:t>
                </a:r>
              </a:p>
              <a:p>
                <a:pPr marL="685800" lvl="2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the number of model parameters </a:t>
                </a:r>
              </a:p>
              <a:p>
                <a:r>
                  <a:rPr lang="en-US" dirty="0"/>
                  <a:t>Model with lowest AIC is best</a:t>
                </a:r>
              </a:p>
              <a:p>
                <a:pPr lvl="0"/>
                <a:r>
                  <a:rPr lang="en-US" dirty="0"/>
                  <a:t>AIC penalizes the score function for the complexity of the model by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and Comparing Time Series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Bayes Information criteria, BIC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𝐵𝐼𝐶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ar-AE" b="0" dirty="0"/>
              </a:p>
              <a:p>
                <a:pPr marL="685800" lvl="2" indent="0">
                  <a:buNone/>
                </a:pPr>
                <a:r>
                  <a:rPr lang="en-US" dirty="0"/>
                  <a:t>Where</a:t>
                </a:r>
              </a:p>
              <a:p>
                <a:pPr marL="685800" lvl="2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acc>
                    <m:r>
                      <a:rPr lang="ar-A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 | </m:t>
                        </m:r>
                        <m:acc>
                          <m:accPr>
                            <m:chr m:val="̂"/>
                            <m:ctrlPr>
                              <a:rPr lang="ar-AE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likelihood given the estimated model parameters,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endParaRPr lang="ar-AE" dirty="0"/>
              </a:p>
              <a:p>
                <a:pPr marL="685800" lvl="2" indent="0">
                  <a:buNone/>
                </a:pPr>
                <a14:m>
                  <m:oMath xmlns:m="http://schemas.openxmlformats.org/officeDocument/2006/math">
                    <m:r>
                      <a:rPr lang="ar-AE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observed time series   </a:t>
                </a:r>
              </a:p>
              <a:p>
                <a:pPr marL="685800" lvl="2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number of model parameters </a:t>
                </a:r>
              </a:p>
              <a:p>
                <a:pPr marL="685800" lvl="2" indent="0">
                  <a:buNone/>
                </a:pPr>
                <a:r>
                  <a:rPr lang="en-US" i="1" dirty="0"/>
                  <a:t>n</a:t>
                </a:r>
                <a:r>
                  <a:rPr lang="en-US" dirty="0"/>
                  <a:t> number of observations   </a:t>
                </a:r>
              </a:p>
              <a:p>
                <a:pPr lvl="0"/>
                <a:r>
                  <a:rPr lang="en-US" dirty="0"/>
                  <a:t>BIC penalizes the score function for the complexity of the model,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BIC adjusts for number of samples used to fit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model parameters</a:t>
                </a:r>
              </a:p>
              <a:p>
                <a:pPr lvl="0"/>
                <a:r>
                  <a:rPr lang="en-US" dirty="0"/>
                  <a:t>Model with lowest BIC is best</a:t>
                </a:r>
              </a:p>
              <a:p>
                <a:pPr lvl="0"/>
                <a:r>
                  <a:rPr lang="en-US" dirty="0"/>
                  <a:t>BIC is often preferred to AIC for time series models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 b="-1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Evaluating and Comparing Time Series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90600"/>
                <a:ext cx="8229600" cy="4061011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Can compare and select models using BIC or AIC</a:t>
                </a:r>
              </a:p>
              <a:p>
                <a:pPr lvl="0"/>
                <a:r>
                  <a:rPr dirty="0"/>
                  <a:t>Backwards step-wise model selection</a:t>
                </a:r>
              </a:p>
              <a:p>
                <a:pPr marL="685800" lvl="1" indent="-342900">
                  <a:buAutoNum type="arabicPeriod"/>
                </a:pPr>
                <a:r>
                  <a:rPr dirty="0"/>
                  <a:t>Start with initial order of the model; e.g. </a:t>
                </a:r>
                <a14:m>
                  <m:oMath xmlns:m="http://schemas.openxmlformats.org/officeDocument/2006/math"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endParaRPr dirty="0"/>
              </a:p>
              <a:p>
                <a:pPr marL="685800" lvl="1" indent="-342900">
                  <a:buAutoNum type="arabicPeriod"/>
                </a:pPr>
                <a:r>
                  <a:rPr dirty="0"/>
                  <a:t>Fit the model parameters</a:t>
                </a:r>
              </a:p>
              <a:p>
                <a:pPr marL="685800" lvl="1" indent="-342900">
                  <a:buAutoNum type="arabicPeriod"/>
                </a:pPr>
                <a:r>
                  <a:rPr dirty="0"/>
                  <a:t>compute the BIC, and if </a:t>
                </a:r>
                <a:r>
                  <a:rPr lang="en-US" dirty="0"/>
                  <a:t>lower is </a:t>
                </a:r>
                <a:r>
                  <a:rPr dirty="0"/>
                  <a:t>a better model</a:t>
                </a:r>
              </a:p>
              <a:p>
                <a:pPr marL="685800" lvl="1" indent="-342900">
                  <a:buAutoNum type="arabicPeriod"/>
                </a:pPr>
                <a:r>
                  <a:rPr dirty="0"/>
                  <a:t>R</a:t>
                </a:r>
                <a:r>
                  <a:rPr lang="en-US" dirty="0"/>
                  <a:t>ound-robin r</a:t>
                </a:r>
                <a:r>
                  <a:rPr dirty="0"/>
                  <a:t>educe the order of one model component</a:t>
                </a:r>
              </a:p>
              <a:p>
                <a:pPr marL="685800" lvl="1" indent="-342900">
                  <a:buAutoNum type="arabicPeriod"/>
                </a:pPr>
                <a:r>
                  <a:rPr dirty="0"/>
                  <a:t>Repeat steps 2, 3 and 4 until no further improvement</a:t>
                </a:r>
              </a:p>
              <a:p>
                <a:pPr lvl="0"/>
                <a:r>
                  <a:rPr dirty="0"/>
                  <a:t>Tips for comparing models:</a:t>
                </a:r>
              </a:p>
              <a:p>
                <a:pPr lvl="1"/>
                <a:r>
                  <a:rPr dirty="0"/>
                  <a:t>BIC and AIC are approximations; small changes (3rd or 4th decimal) are not important</a:t>
                </a:r>
              </a:p>
              <a:p>
                <a:pPr lvl="1"/>
                <a:r>
                  <a:rPr dirty="0"/>
                  <a:t>If close tie pick the simpler (lower order) </a:t>
                </a:r>
                <a:r>
                  <a:rPr lang="en-US" dirty="0"/>
                  <a:t>model</a:t>
                </a:r>
                <a:endParaRPr dirty="0"/>
              </a:p>
              <a:p>
                <a:pPr lvl="1"/>
                <a:r>
                  <a:rPr dirty="0"/>
                  <a:t>Often best to consider integrative terms,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dirty="0"/>
                  <a:t>, separately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90600"/>
                <a:ext cx="8229600" cy="4061011"/>
              </a:xfrm>
              <a:blipFill>
                <a:blip r:embed="rId2"/>
                <a:stretch>
                  <a:fillRect l="-963" t="-1952" r="-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B0CAE-A5BE-2776-AF79-60B089920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D904C8-515A-1CD5-DF89-1A1148FBE7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/>
              <a:t>SARIMA Example</a:t>
            </a:r>
          </a:p>
        </p:txBody>
      </p:sp>
    </p:spTree>
    <p:extLst>
      <p:ext uri="{BB962C8B-B14F-4D97-AF65-F5344CB8AC3E}">
        <p14:creationId xmlns:p14="http://schemas.microsoft.com/office/powerpoint/2010/main" val="14970261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4074694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b="0" dirty="0"/>
              <a:t>SARIMA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110916"/>
            <a:ext cx="4074694" cy="3483707"/>
          </a:xfrm>
        </p:spPr>
        <p:txBody>
          <a:bodyPr/>
          <a:lstStyle/>
          <a:p>
            <a:pPr marL="0" lvl="0" indent="0">
              <a:buNone/>
            </a:pPr>
            <a:r>
              <a:rPr lang="en-US" sz="2000" dirty="0"/>
              <a:t>Forecasting example dataset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Three time series from Australia 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Chocolate production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Beer production 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Electricity production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Series have nonlinear trend component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Notice increase in seasonal variation with trend of series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1A40C3-DC8A-7F61-CB4E-F3F66F010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991" y="234616"/>
            <a:ext cx="4336546" cy="46742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138989"/>
            <a:ext cx="3966410" cy="345563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000" dirty="0"/>
              <a:t>Log transform to multiplicative model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Account for seasonal dependency on trend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After log transformation seasonal variation is near constant </a:t>
            </a:r>
            <a:endParaRPr sz="200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C9D00FF-DE40-2487-53DF-462C91349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4074694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b="0" dirty="0"/>
              <a:t>SARIMA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784458-3B3F-273A-327C-FFA15023B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348" y="1528009"/>
            <a:ext cx="4753462" cy="23375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C3576-D8FC-7A69-673A-CA22E7330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F053AEF2-E5F2-7938-A9A6-454D03052863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138989"/>
                <a:ext cx="3966410" cy="2458453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Apply seasonal and nonseasonal differencing to remove nonstationary components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Apply product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150" dirty="0"/>
                  <a:t>Test for stationarity of difference series</a:t>
                </a:r>
                <a:endParaRPr sz="2150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F053AEF2-E5F2-7938-A9A6-454D030528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138989"/>
                <a:ext cx="3966410" cy="2458453"/>
              </a:xfrm>
              <a:blipFill>
                <a:blip r:embed="rId2"/>
                <a:stretch>
                  <a:fillRect l="-1690" t="-14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1">
            <a:extLst>
              <a:ext uri="{FF2B5EF4-FFF2-40B4-BE49-F238E27FC236}">
                <a16:creationId xmlns:a16="http://schemas.microsoft.com/office/drawing/2014/main" id="{8F3EA306-8270-1504-CA94-77B1DCE6D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4074694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b="0" dirty="0"/>
              <a:t>SARIMA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D8CC62-64CD-0A87-4043-5FDF7D7F2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7095" y="1138989"/>
            <a:ext cx="4916905" cy="23055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191498-0F82-4D11-9909-E22F4C3278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799" y="3909702"/>
            <a:ext cx="7772980" cy="55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3922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ABDCB-3A15-9BDB-1A10-F59DBBD51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5B0C32-8340-AAE6-798C-256695BA80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138989"/>
            <a:ext cx="3966410" cy="245845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000" dirty="0"/>
              <a:t>Verify the statistical properties of the difference series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ACF and PACF show serial correlation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Nonseasonal dependency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Seasonal dependency</a:t>
            </a:r>
            <a:endParaRPr lang="en-US" sz="160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02BA42E-C454-5A9E-28B7-C3AAFECC4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4074694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b="0" dirty="0"/>
              <a:t>SARIMA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4A827F-67AD-22D2-0DBA-5B8527382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510" y="223141"/>
            <a:ext cx="3165232" cy="23486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09F0C2-D43D-856B-8122-A6770053A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5772" y="2636654"/>
            <a:ext cx="3165232" cy="235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960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SARIMA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Placeholder 3">
                <a:extLst>
                  <a:ext uri="{FF2B5EF4-FFF2-40B4-BE49-F238E27FC236}">
                    <a16:creationId xmlns:a16="http://schemas.microsoft.com/office/drawing/2014/main" id="{D6362714-3E01-CCDF-1B14-1787CBB9702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1" y="1138989"/>
                <a:ext cx="3966410" cy="3657215"/>
              </a:xfrm>
              <a:prstGeom prst="rect">
                <a:avLst/>
              </a:prstGeom>
            </p:spPr>
            <p:txBody>
              <a:bodyPr>
                <a:normAutofit lnSpcReduction="10000"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Stepwise hyperparameter search for SARIMA parameters by minimum BIC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Based on EDA, fix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0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Lowest BIC model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b="0" dirty="0"/>
                  <a:t>BIC is nearly identical </a:t>
                </a:r>
                <a:r>
                  <a:rPr lang="en-US" sz="2000" dirty="0"/>
                  <a:t>for</a:t>
                </a:r>
                <a:r>
                  <a:rPr lang="en-US" sz="2000" b="0" dirty="0"/>
                  <a:t> simpler model </a:t>
                </a:r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b="0" dirty="0"/>
              </a:p>
              <a:p>
                <a:r>
                  <a:rPr lang="en-US" sz="2000" b="0" dirty="0"/>
                  <a:t>We choose the more parsimonious (simpler) model </a:t>
                </a:r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6" name="Text Placeholder 3">
                <a:extLst>
                  <a:ext uri="{FF2B5EF4-FFF2-40B4-BE49-F238E27FC236}">
                    <a16:creationId xmlns:a16="http://schemas.microsoft.com/office/drawing/2014/main" id="{D6362714-3E01-CCDF-1B14-1787CBB97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1" y="1138989"/>
                <a:ext cx="3966410" cy="3657215"/>
              </a:xfrm>
              <a:prstGeom prst="rect">
                <a:avLst/>
              </a:prstGeom>
              <a:blipFill>
                <a:blip r:embed="rId2"/>
                <a:stretch>
                  <a:fillRect l="-1536" t="-1833" r="-19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211378A-22DD-111C-FDE6-835B988AC0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757" y="1200149"/>
            <a:ext cx="4621558" cy="3556489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8E66082-2C86-34CF-4A35-454F0A589752}"/>
              </a:ext>
            </a:extLst>
          </p:cNvPr>
          <p:cNvCxnSpPr>
            <a:cxnSpLocks/>
          </p:cNvCxnSpPr>
          <p:nvPr/>
        </p:nvCxnSpPr>
        <p:spPr>
          <a:xfrm flipV="1">
            <a:off x="4259873" y="2294792"/>
            <a:ext cx="312127" cy="4308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DAE98A2-D0A1-7E6A-CD5A-1B1733C6A84A}"/>
              </a:ext>
            </a:extLst>
          </p:cNvPr>
          <p:cNvCxnSpPr>
            <a:cxnSpLocks/>
          </p:cNvCxnSpPr>
          <p:nvPr/>
        </p:nvCxnSpPr>
        <p:spPr>
          <a:xfrm flipV="1">
            <a:off x="4259873" y="1951892"/>
            <a:ext cx="2730012" cy="17540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SARIMA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F62EC2-2101-80D8-5DA6-F669EB81D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312" y="1063229"/>
            <a:ext cx="5355421" cy="33461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Placeholder 3">
                <a:extLst>
                  <a:ext uri="{FF2B5EF4-FFF2-40B4-BE49-F238E27FC236}">
                    <a16:creationId xmlns:a16="http://schemas.microsoft.com/office/drawing/2014/main" id="{2731FA73-A93E-9A4C-1FCF-049218D07A8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1" y="1138989"/>
                <a:ext cx="3125664" cy="3683592"/>
              </a:xfrm>
              <a:prstGeom prst="rect">
                <a:avLst/>
              </a:prstGeom>
            </p:spPr>
            <p:txBody>
              <a:bodyPr>
                <a:normAutofit lnSpcReduction="10000"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Fit the parsimonious model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Coefficients are all significant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Small standard error and CIs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Ljung-Box test </a:t>
                </a:r>
                <a:r>
                  <a:rPr lang="en-US" sz="2000" dirty="0" err="1"/>
                  <a:t>regects</a:t>
                </a:r>
                <a:r>
                  <a:rPr lang="en-US" sz="2000" dirty="0"/>
                  <a:t> null hypothesis of significant serial correlation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Overall a good model fit!</a:t>
                </a:r>
                <a:endParaRPr lang="en-US" sz="1600" dirty="0"/>
              </a:p>
            </p:txBody>
          </p:sp>
        </mc:Choice>
        <mc:Fallback xmlns="">
          <p:sp>
            <p:nvSpPr>
              <p:cNvPr id="8" name="Text Placeholder 3">
                <a:extLst>
                  <a:ext uri="{FF2B5EF4-FFF2-40B4-BE49-F238E27FC236}">
                    <a16:creationId xmlns:a16="http://schemas.microsoft.com/office/drawing/2014/main" id="{2731FA73-A93E-9A4C-1FCF-049218D07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1" y="1138989"/>
                <a:ext cx="3125664" cy="3683592"/>
              </a:xfrm>
              <a:prstGeom prst="rect">
                <a:avLst/>
              </a:prstGeom>
              <a:blipFill>
                <a:blip r:embed="rId3"/>
                <a:stretch>
                  <a:fillRect l="-1949" t="-1821" r="-390" b="-2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AFDDE5-4550-8293-E30C-E7A22FEF2D9B}"/>
              </a:ext>
            </a:extLst>
          </p:cNvPr>
          <p:cNvCxnSpPr>
            <a:cxnSpLocks/>
          </p:cNvCxnSpPr>
          <p:nvPr/>
        </p:nvCxnSpPr>
        <p:spPr>
          <a:xfrm>
            <a:off x="2831123" y="2325565"/>
            <a:ext cx="3657600" cy="835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E87103D-7BE4-031A-9941-B83B4F4FD6DB}"/>
              </a:ext>
            </a:extLst>
          </p:cNvPr>
          <p:cNvCxnSpPr>
            <a:cxnSpLocks/>
          </p:cNvCxnSpPr>
          <p:nvPr/>
        </p:nvCxnSpPr>
        <p:spPr>
          <a:xfrm>
            <a:off x="3455894" y="2846294"/>
            <a:ext cx="182431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6374290-DD1C-AC12-E680-7CECFBF67124}"/>
              </a:ext>
            </a:extLst>
          </p:cNvPr>
          <p:cNvCxnSpPr>
            <a:cxnSpLocks/>
          </p:cNvCxnSpPr>
          <p:nvPr/>
        </p:nvCxnSpPr>
        <p:spPr>
          <a:xfrm flipV="1">
            <a:off x="3407019" y="3402623"/>
            <a:ext cx="347296" cy="2769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5618284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000" dirty="0"/>
              <a:t>Examine the fit of the prediction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Last 12 months of observations have been held back from training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Compare 12-month forecasts to the held-back observations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Fit looks good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Notice confidence interval increases with forecast time steps  </a:t>
            </a:r>
            <a:endParaRPr sz="2000" dirty="0">
              <a:latin typeface="Courier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1A979A0-C45E-7A3A-D1FA-588798B1C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669" y="148738"/>
            <a:ext cx="4312627" cy="67077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SARIMA Example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7A75BB1-5F9A-63E7-FA8B-E2C52C3ABA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988" y="80168"/>
            <a:ext cx="2622813" cy="49878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4409341" cy="60850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b="0" dirty="0"/>
              <a:t>SARIMA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4114799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000" dirty="0"/>
              <a:t>Examine the residuals of the forecasts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Residuals are approximately Normally distributed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Residuals have no statistically significant ACF for lag &gt; 0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Residuals have no statistically significant PACF for lag &gt; 0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Short test period, with small number of samples, 12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57B409A-3DCC-B898-EE0B-6913F6A29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245" y="1021740"/>
            <a:ext cx="4293209" cy="39169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BB716-B439-BB7A-4AF4-30CB2A4A3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EA3EF5-B59D-D0A7-53F7-E6781471F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/>
              <a:t>PROFIT Model</a:t>
            </a:r>
          </a:p>
        </p:txBody>
      </p:sp>
    </p:spTree>
    <p:extLst>
      <p:ext uri="{BB962C8B-B14F-4D97-AF65-F5344CB8AC3E}">
        <p14:creationId xmlns:p14="http://schemas.microsoft.com/office/powerpoint/2010/main" val="24773136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PROFIT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The PROFIT model from Meta Research is a </a:t>
            </a:r>
            <a:r>
              <a:rPr b="1" dirty="0"/>
              <a:t>deterministic model</a:t>
            </a:r>
            <a:r>
              <a:rPr dirty="0"/>
              <a:t> well suited for some business forecasting</a:t>
            </a:r>
            <a:r>
              <a:rPr lang="en-US" dirty="0"/>
              <a:t> problems</a:t>
            </a:r>
            <a:endParaRPr dirty="0"/>
          </a:p>
          <a:p>
            <a:pPr lvl="0"/>
            <a:r>
              <a:rPr dirty="0"/>
              <a:t>Uses a sophisticated piece-wise linear trend model</a:t>
            </a:r>
          </a:p>
          <a:p>
            <a:pPr lvl="1"/>
            <a:r>
              <a:rPr dirty="0"/>
              <a:t>Trend computed between breakpoints</a:t>
            </a:r>
          </a:p>
          <a:p>
            <a:pPr lvl="1"/>
            <a:r>
              <a:rPr dirty="0"/>
              <a:t>Breakpoints found with Bayesian model</a:t>
            </a:r>
          </a:p>
          <a:p>
            <a:pPr lvl="1"/>
            <a:r>
              <a:rPr dirty="0"/>
              <a:t>Complex trend model </a:t>
            </a:r>
            <a:r>
              <a:rPr b="1" dirty="0"/>
              <a:t>confounded by random walks</a:t>
            </a:r>
          </a:p>
          <a:p>
            <a:pPr lvl="0"/>
            <a:r>
              <a:rPr dirty="0"/>
              <a:t>Multi-seasonal component modeled by Fourier decomposition</a:t>
            </a:r>
          </a:p>
          <a:p>
            <a:pPr lvl="1"/>
            <a:r>
              <a:rPr dirty="0"/>
              <a:t>Multiple harmonics per seasonal period</a:t>
            </a:r>
          </a:p>
          <a:p>
            <a:pPr lvl="1"/>
            <a:r>
              <a:rPr dirty="0"/>
              <a:t>Flexible modeling of complex seasonal patterns</a:t>
            </a:r>
          </a:p>
          <a:p>
            <a:pPr lvl="0"/>
            <a:r>
              <a:rPr dirty="0"/>
              <a:t>Supports exogenous variables</a:t>
            </a:r>
          </a:p>
          <a:p>
            <a:pPr lvl="0"/>
            <a:r>
              <a:rPr dirty="0"/>
              <a:t>PROFIT model assumes residual is non-informative</a:t>
            </a:r>
            <a:endParaRPr lang="en-US" dirty="0"/>
          </a:p>
          <a:p>
            <a:pPr lvl="0"/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0E8F2-7E40-23B5-F4EF-691698124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2A51C-6F06-1F2C-C082-B5597CB23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PROFIT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B8D4F5-BF83-5010-A413-56DD447860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838014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PROFIT model from Meta Research is a </a:t>
                </a:r>
                <a:r>
                  <a:rPr lang="en-US" b="1" dirty="0"/>
                  <a:t>deterministic model</a:t>
                </a:r>
                <a:r>
                  <a:rPr lang="en-US" dirty="0"/>
                  <a:t> well suited for some business forecasting</a:t>
                </a:r>
              </a:p>
              <a:p>
                <a:pPr lvl="0"/>
                <a:r>
                  <a:rPr lang="en-US" dirty="0"/>
                  <a:t>Multi-seasonal component modeled by Fourier decomposition</a:t>
                </a:r>
              </a:p>
              <a:p>
                <a:pPr lvl="0"/>
                <a:r>
                  <a:rPr lang="en-US" dirty="0"/>
                  <a:t>For component with period, </a:t>
                </a:r>
                <a:r>
                  <a:rPr lang="en-US" i="1" dirty="0"/>
                  <a:t>p</a:t>
                </a:r>
                <a:r>
                  <a:rPr lang="en-US" dirty="0"/>
                  <a:t>, we can write the </a:t>
                </a:r>
                <a:r>
                  <a:rPr lang="en-US" b="1" dirty="0"/>
                  <a:t>harmonics</a:t>
                </a:r>
                <a:r>
                  <a:rPr lang="en-US" dirty="0"/>
                  <a:t>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𝑘𝑡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    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𝑘𝑡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,..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In most cases, 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n-US" dirty="0"/>
                  <a:t> to limit model complexity </a:t>
                </a:r>
              </a:p>
              <a:p>
                <a:r>
                  <a:rPr lang="en-US" dirty="0"/>
                  <a:t>Example; a time series with hourly (period=24) and day of the week (period=7*24=168) periods, the harmonics are written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𝑘𝑡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24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𝑘𝑡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</m:e>
                      </m:func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𝑘𝑡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168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𝑘𝑡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168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,..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/>
                  <a:t>=4 there are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en-US" dirty="0"/>
                  <a:t> coefficients to estimate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B8D4F5-BF83-5010-A413-56DD447860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838014"/>
              </a:xfrm>
              <a:blipFill>
                <a:blip r:embed="rId2"/>
                <a:stretch>
                  <a:fillRect l="-741" t="-2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1646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PROFIT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 PROFIT model from Meta Research is a </a:t>
            </a:r>
            <a:r>
              <a:rPr b="1" dirty="0"/>
              <a:t>deterministic model</a:t>
            </a:r>
            <a:r>
              <a:rPr dirty="0"/>
              <a:t> well suited for some business forecasting</a:t>
            </a:r>
            <a:r>
              <a:rPr lang="en-US" dirty="0"/>
              <a:t> problems</a:t>
            </a:r>
            <a:endParaRPr dirty="0"/>
          </a:p>
          <a:p>
            <a:pPr lvl="0"/>
            <a:r>
              <a:rPr dirty="0"/>
              <a:t>PROFIT model </a:t>
            </a:r>
            <a:r>
              <a:rPr b="1" dirty="0"/>
              <a:t>assumes residual is non-informative</a:t>
            </a:r>
          </a:p>
          <a:p>
            <a:pPr lvl="1"/>
            <a:r>
              <a:rPr lang="en-US" b="1" dirty="0"/>
              <a:t>Model assumes no stochastic components in time series!</a:t>
            </a:r>
          </a:p>
          <a:p>
            <a:pPr lvl="1"/>
            <a:r>
              <a:rPr dirty="0"/>
              <a:t>ACF and PACF must have no significant nonzero lags</a:t>
            </a:r>
          </a:p>
          <a:p>
            <a:pPr lvl="0"/>
            <a:r>
              <a:rPr dirty="0"/>
              <a:t>If significant ACF and PACF use SARIMAX</a:t>
            </a:r>
          </a:p>
          <a:p>
            <a:pPr lvl="1"/>
            <a:r>
              <a:rPr dirty="0"/>
              <a:t>Uses information in stationary residual</a:t>
            </a:r>
          </a:p>
          <a:p>
            <a:pPr lvl="1"/>
            <a:r>
              <a:rPr dirty="0"/>
              <a:t>Gives </a:t>
            </a:r>
            <a:r>
              <a:rPr b="1" dirty="0"/>
              <a:t>superior results for time series with stochastic components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B208F-7505-996A-9EB7-970F6B374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47FA17-0E18-B5C8-858E-72BA7C07D1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/>
              <a:t>Future Directions and Summary</a:t>
            </a:r>
          </a:p>
        </p:txBody>
      </p:sp>
    </p:spTree>
    <p:extLst>
      <p:ext uri="{BB962C8B-B14F-4D97-AF65-F5344CB8AC3E}">
        <p14:creationId xmlns:p14="http://schemas.microsoft.com/office/powerpoint/2010/main" val="391823367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Future Directions For Forecasting Models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763748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There is an ongoing explosion of research in forecasting models </a:t>
            </a:r>
            <a:endParaRPr dirty="0"/>
          </a:p>
          <a:p>
            <a:pPr lvl="0"/>
            <a:r>
              <a:rPr lang="en-US" dirty="0"/>
              <a:t>As of now, there is little evidence that deep NN models outperform properly applied conventional models </a:t>
            </a:r>
          </a:p>
          <a:p>
            <a:pPr lvl="1"/>
            <a:r>
              <a:rPr lang="en-US" dirty="0">
                <a:hlinkClick r:id="rId2"/>
              </a:rPr>
              <a:t>Are Transformers Effective for Time Series Forecasting?, Zeng, et. al., 2022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Are LLMs Actually Useful for Forecasting?, Tan, et. al., 2024</a:t>
            </a:r>
            <a:endParaRPr lang="en-US" dirty="0"/>
          </a:p>
          <a:p>
            <a:pPr lvl="1"/>
            <a:r>
              <a:rPr lang="en-US" b="0" i="0" dirty="0">
                <a:solidFill>
                  <a:srgbClr val="1F1F1F"/>
                </a:solidFill>
                <a:effectLst/>
                <a:latin typeface="ElsevierGulliver"/>
                <a:hlinkClick r:id="rId4"/>
              </a:rPr>
              <a:t>A comparative assessment of SARIMA, LSTM RNN and Fb Prophet models   forecast total and peak monthly energy demand for India, </a:t>
            </a:r>
            <a:r>
              <a:rPr lang="en-US" b="0" i="0" dirty="0">
                <a:solidFill>
                  <a:srgbClr val="1F1F1F"/>
                </a:solidFill>
                <a:effectLst/>
                <a:latin typeface="ElsevierSans"/>
                <a:hlinkClick r:id="rId4"/>
              </a:rPr>
              <a:t>Chaturvedi, et.al., 2022</a:t>
            </a:r>
            <a:endParaRPr dirty="0"/>
          </a:p>
          <a:p>
            <a:pPr lvl="0"/>
            <a:r>
              <a:rPr lang="en-US" dirty="0"/>
              <a:t>There are a number of promising research directions including,  </a:t>
            </a:r>
          </a:p>
          <a:p>
            <a:pPr lvl="1"/>
            <a:r>
              <a:rPr lang="en-US" i="0" dirty="0">
                <a:solidFill>
                  <a:srgbClr val="000000"/>
                </a:solidFill>
                <a:effectLst/>
                <a:latin typeface="Lucida Grande"/>
                <a:hlinkClick r:id="rId5"/>
              </a:rPr>
              <a:t>N-</a:t>
            </a:r>
            <a:r>
              <a:rPr lang="en-US" i="0" dirty="0" err="1">
                <a:solidFill>
                  <a:srgbClr val="000000"/>
                </a:solidFill>
                <a:effectLst/>
                <a:latin typeface="Lucida Grande"/>
                <a:hlinkClick r:id="rId5"/>
              </a:rPr>
              <a:t>HiTS</a:t>
            </a:r>
            <a:r>
              <a:rPr lang="en-US" i="0" dirty="0">
                <a:solidFill>
                  <a:srgbClr val="000000"/>
                </a:solidFill>
                <a:effectLst/>
                <a:latin typeface="Lucida Grande"/>
                <a:hlinkClick r:id="rId5"/>
              </a:rPr>
              <a:t>: Neural Hierarchical Interpolation for Time Series Forecasting, </a:t>
            </a:r>
            <a:r>
              <a:rPr lang="en-US" i="0" dirty="0" err="1">
                <a:solidFill>
                  <a:srgbClr val="000000"/>
                </a:solidFill>
                <a:effectLst/>
                <a:latin typeface="Lucida Grande"/>
                <a:hlinkClick r:id="rId5"/>
              </a:rPr>
              <a:t>Challu</a:t>
            </a:r>
            <a:r>
              <a:rPr lang="en-US" i="0" dirty="0">
                <a:solidFill>
                  <a:srgbClr val="000000"/>
                </a:solidFill>
                <a:effectLst/>
                <a:latin typeface="Lucida Grande"/>
                <a:hlinkClick r:id="rId5"/>
              </a:rPr>
              <a:t>, et.al. </a:t>
            </a:r>
            <a:r>
              <a:rPr lang="en-US" dirty="0">
                <a:solidFill>
                  <a:srgbClr val="000000"/>
                </a:solidFill>
                <a:latin typeface="Lucida Grande"/>
                <a:hlinkClick r:id="rId5"/>
              </a:rPr>
              <a:t>20</a:t>
            </a:r>
            <a:r>
              <a:rPr lang="en-US" dirty="0">
                <a:solidFill>
                  <a:srgbClr val="000000"/>
                </a:solidFill>
                <a:latin typeface="Lucida Grande"/>
              </a:rPr>
              <a:t>20</a:t>
            </a:r>
          </a:p>
          <a:p>
            <a:pPr lvl="1"/>
            <a:r>
              <a:rPr lang="en-US" i="0" dirty="0">
                <a:solidFill>
                  <a:srgbClr val="000000"/>
                </a:solidFill>
                <a:effectLst/>
                <a:latin typeface="Lucida Grande"/>
                <a:hlinkClick r:id="rId6"/>
              </a:rPr>
              <a:t>N-BEATS: Neural basis expansion analysis for interpretable time series forecasting, </a:t>
            </a:r>
            <a:r>
              <a:rPr lang="en-US" i="0" dirty="0" err="1">
                <a:solidFill>
                  <a:srgbClr val="000000"/>
                </a:solidFill>
                <a:effectLst/>
                <a:latin typeface="Lucida Grande"/>
                <a:hlinkClick r:id="rId6"/>
              </a:rPr>
              <a:t>Oreshkin</a:t>
            </a:r>
            <a:r>
              <a:rPr lang="en-US" dirty="0">
                <a:solidFill>
                  <a:srgbClr val="000000"/>
                </a:solidFill>
                <a:latin typeface="Lucida Grande"/>
                <a:hlinkClick r:id="rId6"/>
              </a:rPr>
              <a:t>, et. al., 2020</a:t>
            </a:r>
            <a:endParaRPr lang="en-US" dirty="0">
              <a:solidFill>
                <a:srgbClr val="000000"/>
              </a:solidFill>
              <a:latin typeface="Lucida Grande"/>
            </a:endParaRPr>
          </a:p>
          <a:p>
            <a:pPr lvl="1"/>
            <a:endParaRPr lang="en-US" i="0" dirty="0">
              <a:solidFill>
                <a:srgbClr val="000000"/>
              </a:solidFill>
              <a:effectLst/>
              <a:latin typeface="Lucida Grande"/>
            </a:endParaRPr>
          </a:p>
          <a:p>
            <a:pPr lvl="1"/>
            <a:endParaRPr lang="en-US" dirty="0">
              <a:solidFill>
                <a:srgbClr val="000000"/>
              </a:solidFill>
              <a:latin typeface="Lucida Grande"/>
            </a:endParaRPr>
          </a:p>
          <a:p>
            <a:pPr lvl="1"/>
            <a:endParaRPr lang="en-US" i="0" dirty="0">
              <a:solidFill>
                <a:srgbClr val="000000"/>
              </a:solidFill>
              <a:effectLst/>
              <a:latin typeface="Lucida Grande"/>
            </a:endParaRPr>
          </a:p>
          <a:p>
            <a:pPr lvl="1"/>
            <a:endParaRPr lang="en-US" dirty="0"/>
          </a:p>
          <a:p>
            <a:pPr lvl="0"/>
            <a:endParaRPr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FD9A0-0928-AFE2-F3B3-FDF272787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205DC-DF42-D372-208B-33F9E3E9D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D9DE6-1078-2A5F-D747-576DD73AF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Time series models must account for serial correlation</a:t>
            </a:r>
          </a:p>
          <a:p>
            <a:pPr lvl="0"/>
            <a:r>
              <a:rPr dirty="0"/>
              <a:t>e.g. ARIMA and SARIMAX</a:t>
            </a:r>
          </a:p>
          <a:p>
            <a:pPr lvl="0"/>
            <a:r>
              <a:rPr dirty="0"/>
              <a:t>AR components for serial correlation of values</a:t>
            </a:r>
          </a:p>
          <a:p>
            <a:pPr lvl="0"/>
            <a:r>
              <a:rPr dirty="0"/>
              <a:t>MA components for serial correlation of errors</a:t>
            </a:r>
          </a:p>
          <a:p>
            <a:pPr lvl="0"/>
            <a:r>
              <a:rPr dirty="0"/>
              <a:t>Integrative components for random walk and trend, I</a:t>
            </a:r>
          </a:p>
          <a:p>
            <a:pPr lvl="0"/>
            <a:r>
              <a:rPr dirty="0"/>
              <a:t>Seasonal, (P,D,Q,S)</a:t>
            </a:r>
          </a:p>
          <a:p>
            <a:pPr lvl="0"/>
            <a:r>
              <a:rPr dirty="0"/>
              <a:t>Exogenous variables, X</a:t>
            </a:r>
          </a:p>
        </p:txBody>
      </p:sp>
    </p:spTree>
    <p:extLst>
      <p:ext uri="{BB962C8B-B14F-4D97-AF65-F5344CB8AC3E}">
        <p14:creationId xmlns:p14="http://schemas.microsoft.com/office/powerpoint/2010/main" val="35642235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Evaluation and model comparison</a:t>
            </a:r>
          </a:p>
          <a:p>
            <a:pPr lvl="0"/>
            <a:r>
              <a:rPr dirty="0"/>
              <a:t>RMSE</a:t>
            </a:r>
          </a:p>
          <a:p>
            <a:pPr lvl="0"/>
            <a:r>
              <a:rPr dirty="0"/>
              <a:t>AIC and BIC, penalize score function for model complexity</a:t>
            </a:r>
          </a:p>
          <a:p>
            <a:pPr lvl="0"/>
            <a:r>
              <a:rPr dirty="0"/>
              <a:t>Use BIC (or AIC) to perform backwards step-wise model selection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3505</TotalTime>
  <Words>4216</Words>
  <Application>Microsoft Office PowerPoint</Application>
  <PresentationFormat>On-screen Show (16:9)</PresentationFormat>
  <Paragraphs>514</Paragraphs>
  <Slides>69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7" baseType="lpstr">
      <vt:lpstr>Arial</vt:lpstr>
      <vt:lpstr>Calibri</vt:lpstr>
      <vt:lpstr>Cambria Math</vt:lpstr>
      <vt:lpstr>Courier</vt:lpstr>
      <vt:lpstr>ElsevierGulliver</vt:lpstr>
      <vt:lpstr>ElsevierSans</vt:lpstr>
      <vt:lpstr>Lucida Grande</vt:lpstr>
      <vt:lpstr>Office Theme</vt:lpstr>
      <vt:lpstr>Forecasting and Time Series Models</vt:lpstr>
      <vt:lpstr>Why Are Time Series Useful?</vt:lpstr>
      <vt:lpstr>Why Are Time Series Useful?</vt:lpstr>
      <vt:lpstr>Why Are Time Series Data Different?</vt:lpstr>
      <vt:lpstr>Properties of Time Series</vt:lpstr>
      <vt:lpstr>PowerPoint Presentation</vt:lpstr>
      <vt:lpstr>Time Series Forecasting Models</vt:lpstr>
      <vt:lpstr>Time Series Forecasting Models</vt:lpstr>
      <vt:lpstr>Time Series Models</vt:lpstr>
      <vt:lpstr>Time Series Models</vt:lpstr>
      <vt:lpstr>PowerPoint Presentation</vt:lpstr>
      <vt:lpstr>The Autoregressive Model</vt:lpstr>
      <vt:lpstr>The Autoregressive Model</vt:lpstr>
      <vt:lpstr>The Autoregressive Model</vt:lpstr>
      <vt:lpstr>The Autoregressive Model</vt:lpstr>
      <vt:lpstr>The Autoregressive Model</vt:lpstr>
      <vt:lpstr>The Autoregressive Model</vt:lpstr>
      <vt:lpstr>The Autoregressive Model</vt:lpstr>
      <vt:lpstr>Example: Autoregressive Model</vt:lpstr>
      <vt:lpstr>Example: Autoregressive Model</vt:lpstr>
      <vt:lpstr>The Autoregressive Model</vt:lpstr>
      <vt:lpstr>PowerPoint Presentation</vt:lpstr>
      <vt:lpstr>The Moving Average Model</vt:lpstr>
      <vt:lpstr>The Moving Average Model</vt:lpstr>
      <vt:lpstr>The Moving Average Model</vt:lpstr>
      <vt:lpstr>The Moving Average Model</vt:lpstr>
      <vt:lpstr>Example: Moving Average Model</vt:lpstr>
      <vt:lpstr>Example: Moving Average Model</vt:lpstr>
      <vt:lpstr>Example: Moving Average Model</vt:lpstr>
      <vt:lpstr>PowerPoint Presentation</vt:lpstr>
      <vt:lpstr>Autoregressive Moving Average Model</vt:lpstr>
      <vt:lpstr>The ARIMA Model</vt:lpstr>
      <vt:lpstr>The ARIMA Model</vt:lpstr>
      <vt:lpstr>The ARIMA Model</vt:lpstr>
      <vt:lpstr>PowerPoint Presentation</vt:lpstr>
      <vt:lpstr>Seasonal Models</vt:lpstr>
      <vt:lpstr>SARIMA Model</vt:lpstr>
      <vt:lpstr>SARIMA Model</vt:lpstr>
      <vt:lpstr>SARIMAX Model</vt:lpstr>
      <vt:lpstr>PowerPoint Presentation</vt:lpstr>
      <vt:lpstr>SARIMAX Model</vt:lpstr>
      <vt:lpstr>PowerPoint Presentation</vt:lpstr>
      <vt:lpstr>Forecasting with the ARIMA model</vt:lpstr>
      <vt:lpstr>Forecasting with the ARIMA model</vt:lpstr>
      <vt:lpstr>Forecasting with the ARIMA model</vt:lpstr>
      <vt:lpstr>PowerPoint Presentation</vt:lpstr>
      <vt:lpstr>Evaluating and Comparing Time Series Models</vt:lpstr>
      <vt:lpstr>Forecast Confidence Intervals</vt:lpstr>
      <vt:lpstr>Forecast Confidence Intervals</vt:lpstr>
      <vt:lpstr>Evaluating and Comparing Time Series Models</vt:lpstr>
      <vt:lpstr>Evaluating and Comparing Time Series Models</vt:lpstr>
      <vt:lpstr>Evaluating and Comparing Time Series Models</vt:lpstr>
      <vt:lpstr>PowerPoint Presentation</vt:lpstr>
      <vt:lpstr>SARIMA Example</vt:lpstr>
      <vt:lpstr>SARIMA Example</vt:lpstr>
      <vt:lpstr>SARIMA Example</vt:lpstr>
      <vt:lpstr>SARIMA Example</vt:lpstr>
      <vt:lpstr>SARIMA Example</vt:lpstr>
      <vt:lpstr>SARIMA Example</vt:lpstr>
      <vt:lpstr>SARIMA Example</vt:lpstr>
      <vt:lpstr>SARIMA Example</vt:lpstr>
      <vt:lpstr>PowerPoint Presentation</vt:lpstr>
      <vt:lpstr>PROFIT Model</vt:lpstr>
      <vt:lpstr>PROFIT Model</vt:lpstr>
      <vt:lpstr>PROFIT Model</vt:lpstr>
      <vt:lpstr>PowerPoint Presentation</vt:lpstr>
      <vt:lpstr>Future Directions For Forecasting Models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 with Time Series Data</dc:title>
  <dc:creator>Steve Elston</dc:creator>
  <cp:keywords/>
  <cp:lastModifiedBy>Stephen Elston</cp:lastModifiedBy>
  <cp:revision>207</cp:revision>
  <dcterms:created xsi:type="dcterms:W3CDTF">2024-08-17T14:38:43Z</dcterms:created>
  <dcterms:modified xsi:type="dcterms:W3CDTF">2025-11-11T15:16:03Z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11/20/2023</vt:lpwstr>
  </property>
  <property fmtid="{D5CDD505-2E9C-101B-9397-08002B2CF9AE}" pid="3" name="output">
    <vt:lpwstr/>
  </property>
</Properties>
</file>